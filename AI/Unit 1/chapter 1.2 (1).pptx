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56" r:id="rId2"/>
    <p:sldId id="283" r:id="rId3"/>
    <p:sldId id="308" r:id="rId4"/>
    <p:sldId id="309" r:id="rId5"/>
    <p:sldId id="310" r:id="rId6"/>
    <p:sldId id="311" r:id="rId7"/>
    <p:sldId id="379" r:id="rId8"/>
    <p:sldId id="409" r:id="rId9"/>
    <p:sldId id="410" r:id="rId10"/>
    <p:sldId id="405" r:id="rId11"/>
    <p:sldId id="398" r:id="rId12"/>
    <p:sldId id="407" r:id="rId13"/>
    <p:sldId id="413" r:id="rId14"/>
    <p:sldId id="406" r:id="rId15"/>
    <p:sldId id="408" r:id="rId16"/>
    <p:sldId id="400" r:id="rId17"/>
    <p:sldId id="401" r:id="rId18"/>
    <p:sldId id="402" r:id="rId19"/>
    <p:sldId id="380" r:id="rId20"/>
    <p:sldId id="403" r:id="rId21"/>
    <p:sldId id="411" r:id="rId22"/>
    <p:sldId id="412" r:id="rId23"/>
    <p:sldId id="414" r:id="rId24"/>
    <p:sldId id="415" r:id="rId25"/>
    <p:sldId id="416" r:id="rId26"/>
    <p:sldId id="417" r:id="rId27"/>
    <p:sldId id="418" r:id="rId28"/>
    <p:sldId id="419" r:id="rId29"/>
    <p:sldId id="423" r:id="rId30"/>
    <p:sldId id="420" r:id="rId31"/>
    <p:sldId id="421" r:id="rId32"/>
    <p:sldId id="313" r:id="rId33"/>
    <p:sldId id="422" r:id="rId34"/>
    <p:sldId id="404" r:id="rId35"/>
    <p:sldId id="385" r:id="rId36"/>
    <p:sldId id="373" r:id="rId37"/>
    <p:sldId id="374" r:id="rId38"/>
    <p:sldId id="375" r:id="rId39"/>
    <p:sldId id="377" r:id="rId40"/>
    <p:sldId id="396" r:id="rId41"/>
    <p:sldId id="305" r:id="rId42"/>
  </p:sldIdLst>
  <p:sldSz cx="9144000" cy="5143500" type="screen16x9"/>
  <p:notesSz cx="6858000" cy="9144000"/>
  <p:embeddedFontLst>
    <p:embeddedFont>
      <p:font typeface="Vladimir Script" panose="03050402040407070305" pitchFamily="66" charset="0"/>
      <p:regular r:id="rId45"/>
    </p:embeddedFont>
    <p:embeddedFont>
      <p:font typeface="Calibri" panose="020F0502020204030204" pitchFamily="34" charset="0"/>
      <p:regular r:id="rId46"/>
      <p:bold r:id="rId47"/>
      <p:italic r:id="rId48"/>
      <p:boldItalic r:id="rId49"/>
    </p:embeddedFont>
    <p:embeddedFont>
      <p:font typeface="Arial Black" panose="020B0A04020102020204" pitchFamily="34" charset="0"/>
      <p:bold r:id="rId50"/>
    </p:embeddedFont>
    <p:embeddedFont>
      <p:font typeface="Cambria" panose="02040503050406030204" pitchFamily="18" charset="0"/>
      <p:regular r:id="rId51"/>
      <p:bold r:id="rId52"/>
      <p:italic r:id="rId53"/>
      <p:boldItalic r:id="rId54"/>
    </p:embeddedFont>
    <p:embeddedFont>
      <p:font typeface="Lato" panose="020B0604020202020204" charset="0"/>
      <p:regular r:id="rId55"/>
      <p:bold r:id="rId56"/>
      <p:italic r:id="rId57"/>
      <p:boldItalic r:id="rId58"/>
    </p:embeddedFont>
    <p:embeddedFont>
      <p:font typeface="Rockwell" panose="02060603020205020403" pitchFamily="18" charset="0"/>
      <p:regular r:id="rId59"/>
      <p:bold r:id="rId60"/>
      <p:italic r:id="rId61"/>
      <p:boldItalic r:id="rId6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0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04" autoAdjust="0"/>
  </p:normalViewPr>
  <p:slideViewPr>
    <p:cSldViewPr snapToGrid="0">
      <p:cViewPr varScale="1">
        <p:scale>
          <a:sx n="108" d="100"/>
          <a:sy n="108" d="100"/>
        </p:scale>
        <p:origin x="730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5" Type="http://schemas.openxmlformats.org/officeDocument/2006/relationships/slide" Target="slides/slide4.xml"/><Relationship Id="rId61" Type="http://schemas.openxmlformats.org/officeDocument/2006/relationships/font" Target="fonts/font17.fntdata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80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62" Type="http://schemas.openxmlformats.org/officeDocument/2006/relationships/font" Target="fonts/font18.fntdata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52" Type="http://schemas.openxmlformats.org/officeDocument/2006/relationships/font" Target="fonts/font8.fntdata"/><Relationship Id="rId60" Type="http://schemas.openxmlformats.org/officeDocument/2006/relationships/font" Target="fonts/font16.fntdata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9B809D-6ED6-587F-BB95-5957722B98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F80FB5-5BC0-7B8E-8E12-B22202F8E8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62F495-7282-46A0-973C-B2C5688CF36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1B4BEF-1062-CF90-94F5-0D84A30E08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B9952C-A29B-EE9B-C695-68271854775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E412C-8FF0-451F-B78D-23681CAA4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23505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4F22B2D-5F79-437B-A011-BBC47D7BB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65DE9DE-CAE0-65AA-61A3-2DA78D76F1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3530DD55-91C2-3B5A-5142-0DACDB3C90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71817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14C13F4-FB1C-C20C-026B-CE5D32314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A6557A7-7A72-CF03-86A2-E7BE372A41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73E7F3F2-ED29-5428-E7DD-EFE3B240A9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89313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043034-63D9-A039-93E5-1764AB279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C57E03B-6D6D-B7F8-237E-E7CF90C06A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1306E5B-8032-D26B-CD43-5AED70BC6F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370996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9D894A85-83AF-7440-397E-527B5482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9C2093A-3BD4-9A88-C5E2-F7C31E7A08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6DECF4C-468D-CCE2-03E4-E19F9D8253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66495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rtl="0" fontAlgn="base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Artificial Intelligence is composed of two words 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Artificial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 and 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Intelligence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, where Artificial defines </a:t>
            </a:r>
            <a:r>
              <a:rPr lang="en-US" sz="1200" b="0" i="1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"man-made,"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 and intelligence defines </a:t>
            </a:r>
            <a:r>
              <a:rPr lang="en-US" sz="1200" b="0" i="1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"thinking power"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, hence AI means </a:t>
            </a:r>
            <a:r>
              <a:rPr lang="en-US" sz="1200" b="0" i="1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"a man-made thinking power.“</a:t>
            </a:r>
          </a:p>
          <a:p>
            <a:pPr rtl="0" fontAlgn="base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Artificial Intelligence exists when a machine can have human based skills such as learning, reasoning, and solving problems</a:t>
            </a:r>
          </a:p>
          <a:p>
            <a:pPr rtl="0" fontAlgn="base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Rockwell" panose="02060603020205020403" pitchFamily="18" charset="0"/>
            </a:endParaRPr>
          </a:p>
          <a:p>
            <a:pPr rtl="0" fontAlgn="base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dirty="0"/>
              <a:t>Eight definitions of AI, laid out along two dimensions. The definitions on top are concerned </a:t>
            </a:r>
            <a:r>
              <a:rPr lang="en-US" b="1" dirty="0"/>
              <a:t>with thought processes and reasoning, </a:t>
            </a:r>
            <a:r>
              <a:rPr lang="en-US" dirty="0"/>
              <a:t>whereas the ones on the </a:t>
            </a:r>
            <a:r>
              <a:rPr lang="en-US" b="1" dirty="0"/>
              <a:t>bottom address behavior</a:t>
            </a:r>
            <a:r>
              <a:rPr lang="en-US" dirty="0"/>
              <a:t>. The definitions on the left measure success in terms of fidelity to </a:t>
            </a:r>
            <a:r>
              <a:rPr lang="en-US" b="1" dirty="0"/>
              <a:t>human performance</a:t>
            </a:r>
            <a:r>
              <a:rPr lang="en-US" dirty="0"/>
              <a:t>, whereas </a:t>
            </a:r>
            <a:r>
              <a:rPr lang="en-US" b="1" dirty="0"/>
              <a:t>RATIONALITY the ones on the right measure against an ideal performance measure</a:t>
            </a:r>
            <a:r>
              <a:rPr lang="en-US" dirty="0"/>
              <a:t>, called rationality. A system is rational if it does the “right thing,” given what it knows.</a:t>
            </a:r>
          </a:p>
          <a:p>
            <a:pPr rtl="0" fontAlgn="base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dirty="0"/>
              <a:t>THE FOUNDATIONS OF ARTIFICIAL INTELLIGENCE</a:t>
            </a:r>
          </a:p>
          <a:p>
            <a:pPr rtl="0" fontAlgn="base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dirty="0"/>
              <a:t>Philosophy • Can formal rules be used to draw valid conclusions? • How does the mind arise from a physical brain? • Where does knowledge come from? • How does knowledge lead to action?</a:t>
            </a:r>
          </a:p>
          <a:p>
            <a:pPr rtl="0" fontAlgn="base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dirty="0"/>
              <a:t>Mathematics • What are the formal rules to draw valid conclusions? • What can be computed? • How do we reason with uncertain information?</a:t>
            </a:r>
          </a:p>
          <a:p>
            <a:pPr rtl="0" fontAlgn="base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endParaRPr lang="en-US" sz="1200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rtl="0" fontAlgn="base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dirty="0"/>
              <a:t>Economics • How should we make decisions so as to maximize payoff? • How should we do this when others may not go along? • How should we do this when the payoff may be far in the future?</a:t>
            </a:r>
            <a:endParaRPr lang="en-US" sz="1200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rtl="0" fontAlgn="base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dirty="0"/>
              <a:t>Neuroscience • How do brains process information?</a:t>
            </a:r>
            <a:endParaRPr lang="en-US" sz="1200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rtl="0" fontAlgn="base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dirty="0"/>
              <a:t>Psychology • How do humans and animals think and act?</a:t>
            </a:r>
            <a:endParaRPr lang="en-US" sz="1200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rtl="0" fontAlgn="base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dirty="0"/>
              <a:t>Computer engineering • How can we build an efficient computer?</a:t>
            </a:r>
            <a:endParaRPr lang="en-US" sz="1200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rtl="0" fontAlgn="base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dirty="0"/>
              <a:t>Control theory and cybernetics • How can artifacts operate under their own control?</a:t>
            </a:r>
          </a:p>
          <a:p>
            <a:pPr rtl="0" fontAlgn="base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dirty="0"/>
              <a:t>Linguistics • How does language relate to thought?</a:t>
            </a:r>
            <a:endParaRPr lang="en-US" sz="1200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1588" y="9721850"/>
            <a:ext cx="3076575" cy="511175"/>
          </a:xfrm>
          <a:prstGeom prst="rect">
            <a:avLst/>
          </a:prstGeom>
        </p:spPr>
        <p:txBody>
          <a:bodyPr/>
          <a:lstStyle/>
          <a:p>
            <a:fld id="{9A503EA0-C788-D447-B8B6-EF9D00D7B489}" type="slidenum">
              <a:rPr lang="he-IL" altLang="en-US" smtClean="0"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98712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D719017-413C-E084-E2D7-E01DFE04D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84AA064-F1C3-5A91-F1FB-E84E642AA9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5E868B8-E61F-AC38-ECA5-FAE08C8F20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695375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D719017-413C-E084-E2D7-E01DFE04D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84AA064-F1C3-5A91-F1FB-E84E642AA9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5E868B8-E61F-AC38-ECA5-FAE08C8F20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53925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D719017-413C-E084-E2D7-E01DFE04D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84AA064-F1C3-5A91-F1FB-E84E642AA9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5E868B8-E61F-AC38-ECA5-FAE08C8F20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292304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FA77362-E813-B9D1-32D3-5E9C3D023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EE8BD31-C77D-61D3-5FCD-173896A901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411DAC1-C9A2-9CDC-559C-2193D54D16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971716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817DC0F-94B4-8791-4D78-14CFC851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A28406BF-38F5-13DE-5BC5-EA4A3B07D4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80C7E46A-048B-8AB5-E0FF-1CC7DE1512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139994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22B56442-3C7C-962E-3BDA-37D85BE1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B525C3B-8460-D113-DAF7-49D9569CAD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9997AB6D-ABCC-1690-248D-DADEB28988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563032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2EA5CA5-6785-8D65-5F10-0981FA005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5AA2EA74-CD63-B572-D9EE-548ED51846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DAFBCA2B-AD55-3BF9-7430-F09A1B4D4F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84010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19998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By: Pramod Vishwakarma (E9758)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252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3" r:id="rId13"/>
    <p:sldLayoutId id="2147483664" r:id="rId14"/>
  </p:sldLayoutIdLst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oursera.org/learn/ai-search" TargetMode="External"/><Relationship Id="rId3" Type="http://schemas.openxmlformats.org/officeDocument/2006/relationships/hyperlink" Target="https://nptel.ac.in/courses/106106126" TargetMode="External"/><Relationship Id="rId7" Type="http://schemas.openxmlformats.org/officeDocument/2006/relationships/hyperlink" Target="https://www.coursera.org/learn/machine-learning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coursera.org/learn/ai-for-everyone" TargetMode="External"/><Relationship Id="rId5" Type="http://schemas.openxmlformats.org/officeDocument/2006/relationships/hyperlink" Target="https://nptel.ac.in/courses/106106139" TargetMode="External"/><Relationship Id="rId10" Type="http://schemas.openxmlformats.org/officeDocument/2006/relationships/hyperlink" Target="https://cs221.stanford.edu/" TargetMode="External"/><Relationship Id="rId4" Type="http://schemas.openxmlformats.org/officeDocument/2006/relationships/hyperlink" Target="https://nptel.ac.in/courses/106105077" TargetMode="External"/><Relationship Id="rId9" Type="http://schemas.openxmlformats.org/officeDocument/2006/relationships/hyperlink" Target="https://inst.eecs.berkeley.edu/~cs188/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14350" y="664368"/>
            <a:ext cx="8213400" cy="4075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</a:t>
            </a:r>
            <a:r>
              <a:rPr lang="en-IN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ENGINEERING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AIT-CSE (AIML)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CS221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: B.E. CSE (AIML)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6</a:t>
            </a:r>
            <a:r>
              <a:rPr lang="en-IN" sz="2000" b="0" i="0" u="none" strike="noStrike" cap="none" baseline="300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th</a:t>
            </a:r>
            <a:r>
              <a:rPr lang="en-IN" sz="2000" b="0" i="0" u="none" strike="noStrike" cap="none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 </a:t>
            </a:r>
            <a:r>
              <a:rPr lang="en-IN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Semester 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Artificial </a:t>
            </a:r>
            <a:r>
              <a:rPr lang="en-US" sz="2000" b="1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Intelligence</a:t>
            </a: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(23CSH-378</a:t>
            </a: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1                                 Chapter No. </a:t>
            </a:r>
            <a:r>
              <a:rPr lang="en-US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1.2                    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Lecture No. </a:t>
            </a:r>
            <a:r>
              <a:rPr lang="en-US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 to 10</a:t>
            </a: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Search Strategies in </a:t>
            </a:r>
            <a:r>
              <a:rPr lang="en-US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Prabhjot Kaur (E16646)                                                                 Assistant Professor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Jan-May </a:t>
            </a:r>
            <a:r>
              <a:rPr lang="en-IN" sz="16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2026</a:t>
            </a: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2BF4C75-B6D5-0F71-7046-B3B05669B5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AE4A14-02B1-C18D-9874-FFC261FDEE0A}"/>
              </a:ext>
            </a:extLst>
          </p:cNvPr>
          <p:cNvSpPr txBox="1">
            <a:spLocks/>
          </p:cNvSpPr>
          <p:nvPr/>
        </p:nvSpPr>
        <p:spPr>
          <a:xfrm>
            <a:off x="36285" y="65313"/>
            <a:ext cx="9056915" cy="806675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 OBJECTIVES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0D0D4-31AB-9369-35E4-0090B3DE8E31}"/>
              </a:ext>
            </a:extLst>
          </p:cNvPr>
          <p:cNvSpPr/>
          <p:nvPr/>
        </p:nvSpPr>
        <p:spPr>
          <a:xfrm>
            <a:off x="385500" y="892662"/>
            <a:ext cx="8508076" cy="4162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course aims to:</a:t>
            </a:r>
          </a:p>
          <a:p>
            <a:pPr marL="457200" lvl="0" indent="-276225" algn="just">
              <a:lnSpc>
                <a:spcPct val="150000"/>
              </a:lnSpc>
              <a:buFont typeface="+mj-lt"/>
              <a:buAutoNum type="arabicParenR"/>
            </a:pPr>
            <a:r>
              <a:rPr lang="en-US" sz="16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an architecture and components of expert systems and distinguish them from conventional programming approaches.	</a:t>
            </a:r>
          </a:p>
          <a:p>
            <a:pPr marL="457200" lvl="0" indent="-276225" algn="just">
              <a:lnSpc>
                <a:spcPct val="150000"/>
              </a:lnSpc>
              <a:buFont typeface="+mj-lt"/>
              <a:buAutoNum type="arabicParenR"/>
            </a:pPr>
            <a:r>
              <a:rPr lang="en-US" sz="16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knowledge representation and knowledge acquisition techniques for designing intelligent and rule-based systems.	</a:t>
            </a:r>
          </a:p>
          <a:p>
            <a:pPr marL="457200" lvl="0" indent="-276225" algn="just">
              <a:lnSpc>
                <a:spcPct val="150000"/>
              </a:lnSpc>
              <a:buFont typeface="+mj-lt"/>
              <a:buAutoNum type="arabicParenR"/>
            </a:pPr>
            <a:r>
              <a:rPr lang="en-US" sz="16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 inference mechanisms and explanation systems used in expert systems for effective decision making.	</a:t>
            </a:r>
          </a:p>
          <a:p>
            <a:pPr marL="457200" lvl="0" indent="-276225" algn="just">
              <a:lnSpc>
                <a:spcPct val="150000"/>
              </a:lnSpc>
              <a:buFont typeface="+mj-lt"/>
              <a:buAutoNum type="arabicParenR"/>
            </a:pPr>
            <a:r>
              <a:rPr lang="en-US" sz="16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AI planning approaches, including classical, hierarchical, and multi-agent planning for real-world problem solving.	</a:t>
            </a:r>
          </a:p>
          <a:p>
            <a:pPr marL="457200" lvl="0" indent="-276225" algn="just">
              <a:lnSpc>
                <a:spcPct val="150000"/>
              </a:lnSpc>
              <a:buFont typeface="+mj-lt"/>
              <a:buAutoNum type="arabicParenR"/>
            </a:pPr>
            <a:r>
              <a:rPr lang="en-US" sz="16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 AI applications in robotics and computer vision, including path planning, obstacle avoidance, object detection, and SLAM using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OpenCV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4A61545-6A4D-7017-B491-26E651BDF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EF9DA49-4951-E941-E241-14B3A2DD2F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859386"/>
              </p:ext>
            </p:extLst>
          </p:nvPr>
        </p:nvGraphicFramePr>
        <p:xfrm>
          <a:off x="370114" y="1343576"/>
          <a:ext cx="8523462" cy="548640"/>
        </p:xfrm>
        <a:graphic>
          <a:graphicData uri="http://schemas.openxmlformats.org/drawingml/2006/table">
            <a:tbl>
              <a:tblPr firstRow="1" firstCol="1" bandRow="1"/>
              <a:tblGrid>
                <a:gridCol w="696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6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4871">
                <a:tc>
                  <a:txBody>
                    <a:bodyPr/>
                    <a:lstStyle/>
                    <a:p>
                      <a:pPr marL="0" marR="53975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b="1" dirty="0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Calibri"/>
                          <a:cs typeface="Arial"/>
                        </a:rPr>
                        <a:t>CO1</a:t>
                      </a:r>
                      <a:endParaRPr lang="en-US" sz="1800" dirty="0">
                        <a:solidFill>
                          <a:schemeClr val="bg2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430"/>
                        </a:spcBef>
                        <a:spcAft>
                          <a:spcPts val="0"/>
                        </a:spcAft>
                        <a:tabLst>
                          <a:tab pos="408305" algn="l"/>
                        </a:tabLst>
                      </a:pPr>
                      <a:r>
                        <a:rPr lang="en-US" sz="1800" dirty="0" smtClean="0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Recall the fundamental concepts of AI, including intelligent agents, problem-solving approaches, and search strategies.</a:t>
                      </a:r>
                      <a:endParaRPr lang="en-US" sz="1800" dirty="0">
                        <a:solidFill>
                          <a:schemeClr val="bg2"/>
                        </a:solidFill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AF2C682-CBF0-7E25-04B3-5860944E6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843755"/>
              </p:ext>
            </p:extLst>
          </p:nvPr>
        </p:nvGraphicFramePr>
        <p:xfrm>
          <a:off x="370114" y="1903851"/>
          <a:ext cx="8523462" cy="548640"/>
        </p:xfrm>
        <a:graphic>
          <a:graphicData uri="http://schemas.openxmlformats.org/drawingml/2006/table">
            <a:tbl>
              <a:tblPr firstRow="1" firstCol="1" bandRow="1"/>
              <a:tblGrid>
                <a:gridCol w="696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6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4871">
                <a:tc>
                  <a:txBody>
                    <a:bodyPr/>
                    <a:lstStyle/>
                    <a:p>
                      <a:pPr marL="0" marR="53975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b="1" dirty="0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Calibri"/>
                          <a:cs typeface="Arial"/>
                        </a:rPr>
                        <a:t>CO2</a:t>
                      </a:r>
                      <a:endParaRPr lang="en-US" sz="1800" dirty="0">
                        <a:solidFill>
                          <a:schemeClr val="bg2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430"/>
                        </a:spcBef>
                        <a:spcAft>
                          <a:spcPts val="0"/>
                        </a:spcAft>
                        <a:tabLst>
                          <a:tab pos="408305" algn="l"/>
                        </a:tabLst>
                      </a:pPr>
                      <a:r>
                        <a:rPr lang="en-US" sz="1800" dirty="0" smtClean="0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Illustrate the various search techniques, including uninformed and heuristic-based methods, to solve AI-related problems.</a:t>
                      </a:r>
                      <a:endParaRPr lang="en-US" sz="1800" dirty="0">
                        <a:solidFill>
                          <a:schemeClr val="bg2"/>
                        </a:solidFill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F9FA6A1-E183-6583-0A92-556DD6E08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06464"/>
              </p:ext>
            </p:extLst>
          </p:nvPr>
        </p:nvGraphicFramePr>
        <p:xfrm>
          <a:off x="370114" y="2464126"/>
          <a:ext cx="8523462" cy="548640"/>
        </p:xfrm>
        <a:graphic>
          <a:graphicData uri="http://schemas.openxmlformats.org/drawingml/2006/table">
            <a:tbl>
              <a:tblPr firstRow="1" firstCol="1" bandRow="1"/>
              <a:tblGrid>
                <a:gridCol w="696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6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515">
                <a:tc>
                  <a:txBody>
                    <a:bodyPr/>
                    <a:lstStyle/>
                    <a:p>
                      <a:pPr marL="0" marR="53975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b="1" dirty="0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Calibri"/>
                          <a:cs typeface="Arial"/>
                        </a:rPr>
                        <a:t>CO3</a:t>
                      </a:r>
                      <a:endParaRPr lang="en-US" sz="1800" dirty="0">
                        <a:solidFill>
                          <a:schemeClr val="bg2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430"/>
                        </a:spcBef>
                        <a:spcAft>
                          <a:spcPts val="0"/>
                        </a:spcAft>
                        <a:tabLst>
                          <a:tab pos="408305" algn="l"/>
                        </a:tabLst>
                      </a:pPr>
                      <a:r>
                        <a:rPr lang="en-US" sz="1800" dirty="0" smtClean="0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Implement rule-based systems using forward and backward chaining for decision-making and learning.</a:t>
                      </a:r>
                      <a:endParaRPr lang="en-US" sz="1800" dirty="0">
                        <a:solidFill>
                          <a:schemeClr val="bg2"/>
                        </a:solidFill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E480C33-6C30-CAFC-63F4-B97B14E40A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381419"/>
              </p:ext>
            </p:extLst>
          </p:nvPr>
        </p:nvGraphicFramePr>
        <p:xfrm>
          <a:off x="370114" y="3024401"/>
          <a:ext cx="8523462" cy="548640"/>
        </p:xfrm>
        <a:graphic>
          <a:graphicData uri="http://schemas.openxmlformats.org/drawingml/2006/table">
            <a:tbl>
              <a:tblPr firstRow="1" firstCol="1" bandRow="1"/>
              <a:tblGrid>
                <a:gridCol w="696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6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4871">
                <a:tc>
                  <a:txBody>
                    <a:bodyPr/>
                    <a:lstStyle/>
                    <a:p>
                      <a:pPr marL="0" marR="53975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b="1" dirty="0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Calibri"/>
                          <a:cs typeface="Arial"/>
                        </a:rPr>
                        <a:t>CO4</a:t>
                      </a:r>
                      <a:endParaRPr lang="en-US" sz="1800" dirty="0">
                        <a:solidFill>
                          <a:schemeClr val="bg2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430"/>
                        </a:spcBef>
                        <a:spcAft>
                          <a:spcPts val="0"/>
                        </a:spcAft>
                        <a:tabLst>
                          <a:tab pos="408305" algn="l"/>
                        </a:tabLst>
                      </a:pPr>
                      <a:r>
                        <a:rPr lang="en-US" sz="1800" dirty="0" smtClean="0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Analyze and evaluate different knowledge representation techniques, logic programming, and reasoning methods in AI.</a:t>
                      </a:r>
                      <a:endParaRPr lang="en-US" sz="1800" dirty="0">
                        <a:solidFill>
                          <a:schemeClr val="bg2"/>
                        </a:solidFill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B770020-E808-C51E-98C3-E13DADE63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606574"/>
              </p:ext>
            </p:extLst>
          </p:nvPr>
        </p:nvGraphicFramePr>
        <p:xfrm>
          <a:off x="370114" y="3584676"/>
          <a:ext cx="8523462" cy="548640"/>
        </p:xfrm>
        <a:graphic>
          <a:graphicData uri="http://schemas.openxmlformats.org/drawingml/2006/table">
            <a:tbl>
              <a:tblPr firstRow="1" firstCol="1" bandRow="1"/>
              <a:tblGrid>
                <a:gridCol w="696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6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4871">
                <a:tc>
                  <a:txBody>
                    <a:bodyPr/>
                    <a:lstStyle/>
                    <a:p>
                      <a:pPr marL="0" marR="53975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800" b="1" dirty="0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Calibri"/>
                          <a:cs typeface="Arial"/>
                        </a:rPr>
                        <a:t>CO5</a:t>
                      </a:r>
                      <a:endParaRPr lang="en-US" sz="1800" dirty="0">
                        <a:solidFill>
                          <a:schemeClr val="bg2"/>
                        </a:solidFill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430"/>
                        </a:spcBef>
                        <a:spcAft>
                          <a:spcPts val="0"/>
                        </a:spcAft>
                        <a:tabLst>
                          <a:tab pos="408305" algn="l"/>
                        </a:tabLst>
                      </a:pPr>
                      <a:r>
                        <a:rPr lang="en-US" sz="1800" dirty="0" smtClean="0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Times New Roman"/>
                          <a:cs typeface="Arial"/>
                        </a:rPr>
                        <a:t>Design and implement uncertainty handling techniques, including probabilistic reasoning, fuzzy logic, and Bayesian networks.</a:t>
                      </a:r>
                      <a:endParaRPr lang="en-US" sz="1800" dirty="0">
                        <a:solidFill>
                          <a:schemeClr val="bg2"/>
                        </a:solidFill>
                        <a:effectLst/>
                        <a:latin typeface="Times New Roman"/>
                        <a:ea typeface="Times New Roman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964D7DB-49E2-0809-DAE7-02B55DB97E82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D54E92-E639-32C0-A586-5312C258AEC0}"/>
              </a:ext>
            </a:extLst>
          </p:cNvPr>
          <p:cNvSpPr txBox="1">
            <a:spLocks/>
          </p:cNvSpPr>
          <p:nvPr/>
        </p:nvSpPr>
        <p:spPr>
          <a:xfrm>
            <a:off x="36285" y="65313"/>
            <a:ext cx="9056915" cy="806675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 OUTCOMES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E5231A-4FC6-A6AC-94D4-178AF49865FC}"/>
              </a:ext>
            </a:extLst>
          </p:cNvPr>
          <p:cNvSpPr/>
          <p:nvPr/>
        </p:nvSpPr>
        <p:spPr>
          <a:xfrm>
            <a:off x="254001" y="910187"/>
            <a:ext cx="8639575" cy="464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completion of this course, the students shall be able to:</a:t>
            </a:r>
          </a:p>
        </p:txBody>
      </p:sp>
      <p:pic>
        <p:nvPicPr>
          <p:cNvPr id="17" name="Graphic 16" descr="Chevron arrows with solid fill">
            <a:extLst>
              <a:ext uri="{FF2B5EF4-FFF2-40B4-BE49-F238E27FC236}">
                <a16:creationId xmlns:a16="http://schemas.microsoft.com/office/drawing/2014/main" id="{AF23AD74-45C8-B11F-E1A2-6C388C2AE5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49828" y="1510650"/>
            <a:ext cx="346172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911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2ABA1C71-5597-1CAF-83DC-D1B0724D0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D13D930-9507-CC43-84EB-91691F0190B3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F199A5-4917-785C-8A51-52FAF96C8446}"/>
              </a:ext>
            </a:extLst>
          </p:cNvPr>
          <p:cNvSpPr txBox="1">
            <a:spLocks/>
          </p:cNvSpPr>
          <p:nvPr/>
        </p:nvSpPr>
        <p:spPr>
          <a:xfrm>
            <a:off x="36285" y="65313"/>
            <a:ext cx="9056915" cy="806675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Unit-I Syllabus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166E992-8616-65C5-081E-F77864CBB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183988"/>
              </p:ext>
            </p:extLst>
          </p:nvPr>
        </p:nvGraphicFramePr>
        <p:xfrm>
          <a:off x="229850" y="1070345"/>
          <a:ext cx="8663726" cy="3920808"/>
        </p:xfrm>
        <a:graphic>
          <a:graphicData uri="http://schemas.openxmlformats.org/drawingml/2006/table">
            <a:tbl>
              <a:tblPr>
                <a:tableStyleId>{97377635-EB9D-4884-B79A-0D259F93817B}</a:tableStyleId>
              </a:tblPr>
              <a:tblGrid>
                <a:gridCol w="1620721">
                  <a:extLst>
                    <a:ext uri="{9D8B030D-6E8A-4147-A177-3AD203B41FA5}">
                      <a16:colId xmlns:a16="http://schemas.microsoft.com/office/drawing/2014/main" val="1126371409"/>
                    </a:ext>
                  </a:extLst>
                </a:gridCol>
                <a:gridCol w="5239658">
                  <a:extLst>
                    <a:ext uri="{9D8B030D-6E8A-4147-A177-3AD203B41FA5}">
                      <a16:colId xmlns:a16="http://schemas.microsoft.com/office/drawing/2014/main" val="1782746869"/>
                    </a:ext>
                  </a:extLst>
                </a:gridCol>
                <a:gridCol w="1803347">
                  <a:extLst>
                    <a:ext uri="{9D8B030D-6E8A-4147-A177-3AD203B41FA5}">
                      <a16:colId xmlns:a16="http://schemas.microsoft.com/office/drawing/2014/main" val="3681176613"/>
                    </a:ext>
                  </a:extLst>
                </a:gridCol>
              </a:tblGrid>
              <a:tr h="4820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u="none" strike="noStrike" dirty="0"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Unit-1</a:t>
                      </a:r>
                      <a:endParaRPr lang="en-IN" sz="1600" b="1" i="0" u="none" strike="noStrike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864" marR="4864" marT="4864" marB="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u="none" strike="noStrike" dirty="0"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Regression</a:t>
                      </a:r>
                      <a:endParaRPr lang="en-IN" sz="1600" b="1" i="0" u="none" strike="noStrike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864" marR="4864" marT="4864" marB="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u="none" strike="noStrike" dirty="0"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Contact Hours: 15</a:t>
                      </a:r>
                      <a:endParaRPr lang="en-IN" sz="1600" b="1" i="0" u="none" strike="noStrike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864" marR="4864" marT="4864" marB="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659567"/>
                  </a:ext>
                </a:extLst>
              </a:tr>
              <a:tr h="8576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u="none" strike="noStrike" dirty="0" smtClean="0"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Introduction to AI</a:t>
                      </a:r>
                      <a:endParaRPr lang="en-IN" sz="1600" b="1" i="0" u="none" strike="noStrike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864" marR="4864" marT="4864" marB="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1600" u="none" strike="noStrike" dirty="0" smtClean="0"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Introduction, AI problems, foundation of AI and history of AI intelligent agents: Agents and Environments, the concept of rationality, the nature of environments, structure of agents, problem solving agents, problem formulation.</a:t>
                      </a:r>
                      <a:endParaRPr lang="en-US" sz="1600" b="0" i="0" u="none" strike="noStrike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864" marR="4864" marT="4864" marB="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4525967"/>
                  </a:ext>
                </a:extLst>
              </a:tr>
              <a:tr h="8576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u="none" strike="noStrike" dirty="0" smtClean="0"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Search Strategies in AI</a:t>
                      </a:r>
                      <a:endParaRPr lang="en-IN" sz="1600" b="1" i="0" u="none" strike="noStrike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864" marR="4864" marT="4864" marB="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1600" u="none" strike="noStrike" dirty="0" smtClean="0"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State Space Representation, uniformed search strategies – Breadth first search, depth first Search. Informed Search Strategies (Heuristic search) Hill climbing, A*, AO* Algorithms, Problem reduction, Constraint Satisfaction Problems (CSP) </a:t>
                      </a:r>
                      <a:endParaRPr lang="en-US" sz="1600" b="0" i="0" u="none" strike="noStrike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864" marR="4864" marT="4864" marB="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8748859"/>
                  </a:ext>
                </a:extLst>
              </a:tr>
              <a:tr h="743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 smtClean="0"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Game Playing and Adversarial Search</a:t>
                      </a:r>
                      <a:endParaRPr lang="en-IN" sz="1600" b="1" i="0" u="none" strike="noStrike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864" marR="4864" marT="4864" marB="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IN" sz="1600" u="none" strike="noStrike" dirty="0" smtClean="0"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Introduction, Adversarial Search Algorithms: Mini-Max Algorithm, Optimal Strategies for Game Playing, Alpha-Beta Pruning (Optimization of Mini-Max),Move Ordering and Efficiency Improvements, Game Trees and State Representation, Real-World Applications of Game AI</a:t>
                      </a:r>
                      <a:endParaRPr lang="en-IN" sz="1600" b="0" i="0" u="none" strike="noStrike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864" marR="4864" marT="4864" marB="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209939"/>
                  </a:ext>
                </a:extLst>
              </a:tr>
              <a:tr h="7431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 smtClean="0"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Self-Study</a:t>
                      </a:r>
                      <a:endParaRPr lang="en-IN" sz="1600" b="1" i="0" u="none" strike="noStrike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864" marR="4864" marT="4864" marB="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1600" b="0" i="0" u="none" strike="noStrike" dirty="0" smtClean="0">
                          <a:solidFill>
                            <a:schemeClr val="bg2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Backtracking, local search, and arc consistency techniques, Designing heuristics for strategic decision-making, Probabilistic decision-making in game AI</a:t>
                      </a:r>
                      <a:endParaRPr lang="en-IN" sz="1600" b="0" i="0" u="none" strike="noStrike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864" marR="4864" marT="4864" marB="0" anchor="ctr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588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206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7722E90B-B4A7-48D2-134C-7BE9400BC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8581164-F321-1B9B-5200-D60D63C15EEF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AEDE0E-C752-EC85-96D1-82A2D2EF1B33}"/>
              </a:ext>
            </a:extLst>
          </p:cNvPr>
          <p:cNvSpPr txBox="1">
            <a:spLocks/>
          </p:cNvSpPr>
          <p:nvPr/>
        </p:nvSpPr>
        <p:spPr>
          <a:xfrm>
            <a:off x="36285" y="65313"/>
            <a:ext cx="9056915" cy="806675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SUGGESTIVE READINGS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49" y="1013102"/>
            <a:ext cx="7563293" cy="390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86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D2933D2-A694-4C02-9490-F8DF1D65E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AAB8138-C22D-D138-96A2-E61790B95501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D457F1-73E5-C92E-69E7-B0F511A25100}"/>
              </a:ext>
            </a:extLst>
          </p:cNvPr>
          <p:cNvSpPr txBox="1">
            <a:spLocks/>
          </p:cNvSpPr>
          <p:nvPr/>
        </p:nvSpPr>
        <p:spPr>
          <a:xfrm>
            <a:off x="36285" y="65313"/>
            <a:ext cx="9056915" cy="806675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of Contents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A4B515-1583-F553-4D7C-021764E7BA41}"/>
              </a:ext>
            </a:extLst>
          </p:cNvPr>
          <p:cNvSpPr/>
          <p:nvPr/>
        </p:nvSpPr>
        <p:spPr>
          <a:xfrm>
            <a:off x="197783" y="1033556"/>
            <a:ext cx="869579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 Space 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Representation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Uniformed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strategies 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(BFS,DFS)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Informed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Strategies (Heuristic search) </a:t>
            </a:r>
            <a:endParaRPr lang="en-US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*, AO* 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Algorithms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reduction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Constraint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Satisfaction Problems (CSP)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3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711" y="363899"/>
            <a:ext cx="7886700" cy="671003"/>
          </a:xfrm>
        </p:spPr>
        <p:txBody>
          <a:bodyPr/>
          <a:lstStyle/>
          <a:p>
            <a:r>
              <a:rPr lang="en-US" sz="40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 Space Representation: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05" y="1112874"/>
            <a:ext cx="8378454" cy="3912782"/>
          </a:xfrm>
        </p:spPr>
        <p:txBody>
          <a:bodyPr>
            <a:noAutofit/>
          </a:bodyPr>
          <a:lstStyle/>
          <a:p>
            <a:pPr marL="146050" indent="0" algn="just" fontAlgn="base">
              <a:lnSpc>
                <a:spcPct val="160000"/>
              </a:lnSpc>
              <a:buNone/>
            </a:pPr>
            <a:r>
              <a:rPr lang="en-US" sz="20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 </a:t>
            </a: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space is the set of all possible states from the initial state to the goal state through valid operations</a:t>
            </a:r>
            <a:r>
              <a:rPr lang="en-US" sz="20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46050" indent="0" algn="just" fontAlgn="base">
              <a:lnSpc>
                <a:spcPct val="160000"/>
              </a:lnSpc>
              <a:buNone/>
            </a:pPr>
            <a:r>
              <a:rPr lang="en-US" sz="2000" b="1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Components:</a:t>
            </a:r>
          </a:p>
          <a:p>
            <a:pPr algn="just" fontAlgn="base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en-US" sz="20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 State</a:t>
            </a:r>
          </a:p>
          <a:p>
            <a:pPr algn="just" fontAlgn="base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en-US" sz="20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 State</a:t>
            </a:r>
          </a:p>
          <a:p>
            <a:pPr algn="just" fontAlgn="base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en-US" sz="20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Operators</a:t>
            </a:r>
          </a:p>
          <a:p>
            <a:pPr algn="just" fontAlgn="base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en-US" sz="20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 Space Graph                                                </a:t>
            </a:r>
          </a:p>
          <a:p>
            <a:pPr algn="just" fontAlgn="base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en-US" sz="20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 Cost</a:t>
            </a:r>
            <a:endParaRPr lang="en-US" sz="2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0813-634B-403A-824A-4F332B97447E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" y="0"/>
            <a:ext cx="708721" cy="116596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427" y="1942214"/>
            <a:ext cx="4271933" cy="260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265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0813-634B-403A-824A-4F332B97447E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" y="0"/>
            <a:ext cx="708721" cy="116596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67" y="305685"/>
            <a:ext cx="7483746" cy="457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2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0813-634B-403A-824A-4F332B97447E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" y="1"/>
            <a:ext cx="578328" cy="73010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633" y="414387"/>
            <a:ext cx="7763669" cy="447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690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711" y="363899"/>
            <a:ext cx="7886700" cy="671003"/>
          </a:xfrm>
        </p:spPr>
        <p:txBody>
          <a:bodyPr/>
          <a:lstStyle/>
          <a:p>
            <a:r>
              <a:rPr lang="en-US" sz="40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Uninformed Search: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05" y="1112874"/>
            <a:ext cx="8378454" cy="3912782"/>
          </a:xfrm>
        </p:spPr>
        <p:txBody>
          <a:bodyPr>
            <a:noAutofit/>
          </a:bodyPr>
          <a:lstStyle/>
          <a:p>
            <a:pPr marL="146050" indent="0" algn="just" fontAlgn="base">
              <a:lnSpc>
                <a:spcPct val="1600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without using extra problem </a:t>
            </a:r>
            <a:r>
              <a:rPr lang="en-US" sz="20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knowledge.</a:t>
            </a:r>
            <a:endParaRPr lang="en-US" sz="2000" b="1" dirty="0" smtClean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46050" indent="0" algn="just" fontAlgn="base">
              <a:lnSpc>
                <a:spcPct val="160000"/>
              </a:lnSpc>
              <a:buNone/>
            </a:pPr>
            <a:r>
              <a:rPr lang="en-US" sz="2000" b="1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Type:</a:t>
            </a:r>
          </a:p>
          <a:p>
            <a:pPr algn="just" fontAlgn="base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en-US" sz="20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Breath First Search</a:t>
            </a:r>
          </a:p>
          <a:p>
            <a:pPr algn="just" fontAlgn="base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en-US" sz="20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Depth </a:t>
            </a: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Search</a:t>
            </a:r>
          </a:p>
          <a:p>
            <a:pPr marL="146050" indent="0" algn="just" fontAlgn="base">
              <a:lnSpc>
                <a:spcPct val="160000"/>
              </a:lnSpc>
              <a:buNone/>
            </a:pPr>
            <a:r>
              <a:rPr lang="en-US" sz="20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0813-634B-403A-824A-4F332B97447E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" y="0"/>
            <a:ext cx="708721" cy="116596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031" y="1779182"/>
            <a:ext cx="5606600" cy="273611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57279" y="4361876"/>
            <a:ext cx="82102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AI, BFS is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and optimal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but memory-expensive, while DFS is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memory-efficient but not reliable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211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0813-634B-403A-824A-4F332B97447E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" y="1"/>
            <a:ext cx="549974" cy="90479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383969" y="298510"/>
            <a:ext cx="52854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BFS – BREADTH FIRST 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326066" y="1148316"/>
            <a:ext cx="450111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Definition: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Explores all nodes at current depth before going deeper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(Shallowest node)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Uses: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Guaranteed solution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Finds shortest path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182" y="1204689"/>
            <a:ext cx="3820632" cy="315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547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0813-634B-403A-824A-4F332B97447E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" y="1"/>
            <a:ext cx="549974" cy="90479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38927" y="0"/>
            <a:ext cx="52578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BFS (Cont.…)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581052" y="829883"/>
            <a:ext cx="8229600" cy="4116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Explores the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 space level-by-level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Queue (FIFO)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frontier list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Guarantees finding a solution if one exists (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Finds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optimal solution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when step cost is uniform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Requires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very high memory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large state spaces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suitable when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branching factor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large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Good for problems where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 depth is small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AI uses</a:t>
            </a:r>
            <a:r>
              <a:rPr lang="en-US" altLang="en-US" sz="1600" b="1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--Shortest </a:t>
            </a:r>
            <a:r>
              <a:rPr lang="en-US" alt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 </a:t>
            </a:r>
            <a:r>
              <a:rPr lang="en-US" altLang="en-US" sz="16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--Robot </a:t>
            </a:r>
            <a:r>
              <a:rPr lang="en-US" alt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navigation in </a:t>
            </a:r>
            <a:r>
              <a:rPr lang="en-US" altLang="en-US" sz="16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--Puzzle </a:t>
            </a:r>
            <a:r>
              <a:rPr lang="en-US" alt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problems</a:t>
            </a:r>
          </a:p>
        </p:txBody>
      </p:sp>
    </p:spTree>
    <p:extLst>
      <p:ext uri="{BB962C8B-B14F-4D97-AF65-F5344CB8AC3E}">
        <p14:creationId xmlns:p14="http://schemas.microsoft.com/office/powerpoint/2010/main" val="3128934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442" y="1480671"/>
            <a:ext cx="3777457" cy="2355833"/>
          </a:xfrm>
        </p:spPr>
        <p:txBody>
          <a:bodyPr>
            <a:no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1500" dirty="0"/>
              <a:t/>
            </a:r>
            <a:br>
              <a:rPr lang="en-US" sz="1500" dirty="0"/>
            </a:br>
            <a:endParaRPr lang="en-US" sz="15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0813-634B-403A-824A-4F332B97447E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77EB3D-2349-404E-E1FD-065235BFC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030" y="546960"/>
            <a:ext cx="3644092" cy="15925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64D7C7-D1D1-FFF1-83A7-F44ECE2D345D}"/>
              </a:ext>
            </a:extLst>
          </p:cNvPr>
          <p:cNvSpPr txBox="1"/>
          <p:nvPr/>
        </p:nvSpPr>
        <p:spPr>
          <a:xfrm>
            <a:off x="574663" y="4058"/>
            <a:ext cx="4155597" cy="3514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700" b="1" dirty="0">
                <a:latin typeface="Tahoma_ay"/>
              </a:rPr>
              <a:t>Uniform-cost search </a:t>
            </a:r>
          </a:p>
          <a:p>
            <a:pPr>
              <a:lnSpc>
                <a:spcPct val="160000"/>
              </a:lnSpc>
            </a:pPr>
            <a:r>
              <a:rPr lang="en-US" sz="1350" b="1" dirty="0">
                <a:latin typeface="Tahoma_ay"/>
              </a:rPr>
              <a:t>•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Modified breadth-first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expands only the node with the least cost (using path g(n)). 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Breadth-first = uniform-cost search with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g(n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)=depth(n).</a:t>
            </a:r>
          </a:p>
          <a:p>
            <a:pPr>
              <a:lnSpc>
                <a:spcPct val="160000"/>
              </a:lnSpc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S to G, costs are marked (a). SAG is first solution (cost 11). </a:t>
            </a: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60000"/>
              </a:lnSpc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 does not recognize this as solution, because 11 &gt; 5 from B).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SBG as final solution (b).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9903CA-2819-E5C4-3561-90FD2B251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525" y="3823223"/>
            <a:ext cx="6967870" cy="113070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1" y="0"/>
            <a:ext cx="496094" cy="80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47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0813-634B-403A-824A-4F332B97447E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" y="1"/>
            <a:ext cx="549974" cy="90479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383969" y="298510"/>
            <a:ext cx="48205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DFS – DEPTH FIRST 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326066" y="1127051"/>
            <a:ext cx="450111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Definition:</a:t>
            </a:r>
          </a:p>
          <a:p>
            <a:pPr algn="just"/>
            <a:r>
              <a:rPr lang="en-IN" sz="2000" dirty="0"/>
              <a:t>Explores </a:t>
            </a:r>
            <a:r>
              <a:rPr lang="en-IN" sz="2000" b="1" dirty="0"/>
              <a:t>deepest node </a:t>
            </a:r>
            <a:r>
              <a:rPr lang="en-IN" sz="2000" dirty="0"/>
              <a:t>first. </a:t>
            </a:r>
            <a:r>
              <a:rPr lang="en-US" sz="2000" dirty="0" smtClean="0"/>
              <a:t>If </a:t>
            </a:r>
            <a:r>
              <a:rPr lang="en-US" sz="2000" dirty="0"/>
              <a:t>a node has no further children or leads to a dead-end, the algorithm backtracks to the nearest ancestor and explores remaining unvisited paths</a:t>
            </a:r>
            <a:r>
              <a:rPr lang="en-US" sz="2000" dirty="0" smtClean="0"/>
              <a:t>.</a:t>
            </a:r>
            <a:endParaRPr lang="en-IN" sz="2000" dirty="0" smtClean="0"/>
          </a:p>
          <a:p>
            <a:r>
              <a:rPr lang="en-US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Advantages: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 in deep problems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181" y="1290084"/>
            <a:ext cx="3796009" cy="325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07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0813-634B-403A-824A-4F332B97447E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" y="1"/>
            <a:ext cx="549974" cy="90479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355615" y="160011"/>
            <a:ext cx="35495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DFS(Cont.…)</a:t>
            </a: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52894" y="545553"/>
            <a:ext cx="7983407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Explores the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 space depth-wise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Stack / Recursion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guaranteed to find solution (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Incomplete for infinite spaces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Does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guarantee optimal solution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very little memory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Efficient when solution depth is unknown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get trapped in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loops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AI uses</a:t>
            </a:r>
            <a:r>
              <a:rPr lang="en-US" altLang="en-US" sz="1800" b="1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</a:t>
            </a:r>
            <a:r>
              <a:rPr lang="en-US" altLang="en-US" sz="16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Game </a:t>
            </a:r>
            <a:r>
              <a:rPr lang="en-US" alt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tree </a:t>
            </a:r>
            <a:r>
              <a:rPr lang="en-US" altLang="en-US" sz="16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--Backtracking problems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--Constraint </a:t>
            </a:r>
            <a:r>
              <a:rPr lang="en-US" alt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solving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66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0813-634B-403A-824A-4F332B97447E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" y="0"/>
            <a:ext cx="627946" cy="85769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69581" y="127591"/>
            <a:ext cx="27411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DFS vs BFS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0235" y="949386"/>
            <a:ext cx="2254101" cy="22474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to Use DFS: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Exploring All Paths:</a:t>
            </a: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20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(such as in maze solving)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Backtracking Problems</a:t>
            </a:r>
            <a:r>
              <a:rPr lang="en-US" sz="20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(like solving puzzles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874336" y="801820"/>
            <a:ext cx="245612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to Use BFS: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Shortest Path in Unweighted </a:t>
            </a:r>
            <a:r>
              <a:rPr lang="en-US" sz="2000" b="1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Shallow/Wide </a:t>
            </a:r>
            <a:r>
              <a:rPr lang="en-US" sz="2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Graphs: </a:t>
            </a:r>
            <a:endParaRPr lang="en-US" sz="2000" b="1" dirty="0" smtClean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Minimum </a:t>
            </a:r>
            <a:r>
              <a:rPr lang="en-US" sz="2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Moves or Steps</a:t>
            </a: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0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e.g., puzzles like Word Ladder) are better solved with BFS.</a:t>
            </a:r>
          </a:p>
        </p:txBody>
      </p:sp>
    </p:spTree>
    <p:extLst>
      <p:ext uri="{BB962C8B-B14F-4D97-AF65-F5344CB8AC3E}">
        <p14:creationId xmlns:p14="http://schemas.microsoft.com/office/powerpoint/2010/main" val="1235655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0813-634B-403A-824A-4F332B97447E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" y="0"/>
            <a:ext cx="708721" cy="89313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989193" y="138790"/>
            <a:ext cx="47949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Informed Search </a:t>
            </a: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3145" y="893135"/>
            <a:ext cx="360443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additional information called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heuristics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Heuristic Function:</a:t>
            </a:r>
          </a:p>
          <a:p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h(n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= estimated cost to goal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Distance in GPS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Tiles misplaced puzzle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0284" y="950675"/>
            <a:ext cx="4533014" cy="2814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Informed search uses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problem-specific knowledge (heuristics)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guide the search toward the goal efficiently.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Unlike uninformed search, it makes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intelligent decisions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about which node to explore next instead of exploring blindly.</a:t>
            </a:r>
          </a:p>
        </p:txBody>
      </p:sp>
    </p:spTree>
    <p:extLst>
      <p:ext uri="{BB962C8B-B14F-4D97-AF65-F5344CB8AC3E}">
        <p14:creationId xmlns:p14="http://schemas.microsoft.com/office/powerpoint/2010/main" val="2990610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0813-634B-403A-824A-4F332B97447E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" y="0"/>
            <a:ext cx="571239" cy="7198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31857" y="135406"/>
            <a:ext cx="59346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 Heuristic Function h(n)?</a:t>
            </a:r>
            <a:endParaRPr lang="en-IN" sz="32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6558" y="986118"/>
            <a:ext cx="4572000" cy="235295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heuristic function estimates the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 from node n to the goal state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Straight line distance in maps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of misplaced tiles in 8-puzzle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 function in games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540612" y="1063982"/>
            <a:ext cx="316391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algorithms select nodes using</a:t>
            </a:r>
            <a:r>
              <a:rPr lang="en-US" sz="20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000" b="1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f(n</a:t>
            </a:r>
            <a:r>
              <a:rPr lang="en-US" sz="2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= g(n) + h(n)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where:</a:t>
            </a:r>
            <a:b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g(n) </a:t>
            </a: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actual cost from start</a:t>
            </a:r>
            <a:b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h(n) </a:t>
            </a: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estimated cost to goal</a:t>
            </a:r>
            <a:b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f(n) </a:t>
            </a: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total estimated cost</a:t>
            </a:r>
            <a:endParaRPr lang="en-IN" sz="2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10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0F6FB-399A-4444-43CA-CCFF59D3E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02" y="1005577"/>
            <a:ext cx="8318748" cy="3627146"/>
          </a:xfrm>
        </p:spPr>
        <p:txBody>
          <a:bodyPr/>
          <a:lstStyle/>
          <a:p>
            <a:pPr marL="146050" indent="0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31F04-1419-8B40-9AA3-268061AE0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748C1-214E-5A42-AFB0-AA37B5C4913C}" type="slidenum">
              <a:rPr lang="en-US" altLang="en-US" smtClean="0"/>
              <a:t>19</a:t>
            </a:fld>
            <a:endParaRPr lang="en-US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" y="1"/>
            <a:ext cx="703663" cy="11576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667" y="209040"/>
            <a:ext cx="6492617" cy="464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024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2B5AE2F-CCD8-2425-76A1-141EC8820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06871" y="298439"/>
            <a:ext cx="59875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sz="3200" b="1" dirty="0">
                <a:solidFill>
                  <a:srgbClr val="2732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Greedy Best first search algorithm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586" y="1331945"/>
            <a:ext cx="446213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2732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US" sz="2000" dirty="0">
                <a:solidFill>
                  <a:srgbClr val="2732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search algorithm that attempts to find the </a:t>
            </a:r>
            <a:r>
              <a:rPr lang="en-US" sz="2000" b="1" dirty="0">
                <a:solidFill>
                  <a:srgbClr val="27323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promising path from a given starting point to a goal. </a:t>
            </a:r>
            <a:endParaRPr lang="en-US" sz="2000" b="1" dirty="0" smtClean="0">
              <a:solidFill>
                <a:srgbClr val="27323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 dirty="0" smtClean="0">
              <a:solidFill>
                <a:srgbClr val="27323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prioritizes paths that appear to be the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promising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regardless of whether or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they are actually the shortest path</a:t>
            </a:r>
            <a:r>
              <a:rPr lang="en-US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20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is repeated until the goal is reached.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162" y="1445258"/>
            <a:ext cx="3223819" cy="336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127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823" y="483144"/>
            <a:ext cx="7787479" cy="4266708"/>
          </a:xfrm>
        </p:spPr>
        <p:txBody>
          <a:bodyPr>
            <a:noAutofit/>
          </a:bodyPr>
          <a:lstStyle/>
          <a:p>
            <a:pPr marL="146050" indent="0" algn="just" fontAlgn="base">
              <a:lnSpc>
                <a:spcPct val="150000"/>
              </a:lnSpc>
              <a:buNone/>
            </a:pPr>
            <a:r>
              <a:rPr lang="en-US" sz="1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performance measure of Best-first search Algorithm:</a:t>
            </a:r>
          </a:p>
          <a:p>
            <a:pPr algn="just" fontAlgn="base">
              <a:lnSpc>
                <a:spcPct val="150000"/>
              </a:lnSpc>
            </a:pPr>
            <a:r>
              <a:rPr lang="en-US" sz="1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Completeness: </a:t>
            </a:r>
            <a:r>
              <a:rPr lang="en-US" sz="1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Best-first search is incomplete even in finite state space.</a:t>
            </a:r>
          </a:p>
          <a:p>
            <a:pPr algn="just" fontAlgn="base">
              <a:lnSpc>
                <a:spcPct val="150000"/>
              </a:lnSpc>
            </a:pPr>
            <a:r>
              <a:rPr lang="en-US" sz="1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Optimality: </a:t>
            </a:r>
            <a:r>
              <a:rPr lang="en-US" sz="1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does not provide an optimal solution.</a:t>
            </a:r>
          </a:p>
          <a:p>
            <a:pPr algn="just" fontAlgn="base">
              <a:lnSpc>
                <a:spcPct val="150000"/>
              </a:lnSpc>
            </a:pPr>
            <a:r>
              <a:rPr lang="en-US" sz="1400" b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first searches combines the advantage of BFS and DFS to find the best solution</a:t>
            </a:r>
            <a:r>
              <a:rPr lang="en-US" sz="1400" b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fontAlgn="base">
              <a:lnSpc>
                <a:spcPct val="150000"/>
              </a:lnSpc>
            </a:pPr>
            <a:r>
              <a:rPr lang="en-US" sz="1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sz="1400" b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 fontAlgn="base">
              <a:lnSpc>
                <a:spcPct val="150000"/>
              </a:lnSpc>
            </a:pPr>
            <a:r>
              <a:rPr lang="en-US" sz="1400" b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Fast</a:t>
            </a:r>
          </a:p>
          <a:p>
            <a:pPr algn="just" fontAlgn="base">
              <a:lnSpc>
                <a:spcPct val="150000"/>
              </a:lnSpc>
            </a:pPr>
            <a:r>
              <a:rPr lang="en-US" sz="1400" b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✔ </a:t>
            </a:r>
            <a:r>
              <a:rPr lang="en-US" sz="1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</a:p>
          <a:p>
            <a:pPr marL="0" indent="0" fontAlgn="base">
              <a:buNone/>
            </a:pP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n-US" sz="1400" b="1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</a:t>
            </a:r>
            <a:r>
              <a:rPr lang="en-US" sz="1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Best-first search</a:t>
            </a:r>
          </a:p>
          <a:p>
            <a:pPr algn="just" fontAlgn="base">
              <a:lnSpc>
                <a:spcPct val="150000"/>
              </a:lnSpc>
            </a:pPr>
            <a:r>
              <a:rPr lang="en-US" sz="1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BFS does not guarantees to reach the goal state.</a:t>
            </a:r>
          </a:p>
          <a:p>
            <a:pPr algn="just" fontAlgn="base">
              <a:lnSpc>
                <a:spcPct val="150000"/>
              </a:lnSpc>
            </a:pPr>
            <a:r>
              <a:rPr lang="en-US" sz="1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Since the best-first search is a greedy approach, it does not give an optimized solution.</a:t>
            </a:r>
          </a:p>
          <a:p>
            <a:pPr algn="just" fontAlgn="base">
              <a:lnSpc>
                <a:spcPct val="150000"/>
              </a:lnSpc>
            </a:pPr>
            <a:r>
              <a:rPr lang="en-US" sz="1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may cover a long distance in some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50813-634B-403A-824A-4F332B97447E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28727"/>
            <a:ext cx="524540" cy="84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28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488" y="273845"/>
            <a:ext cx="6337005" cy="541318"/>
          </a:xfrm>
        </p:spPr>
        <p:txBody>
          <a:bodyPr/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Hill Climbing</a:t>
            </a:r>
            <a:b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862" y="995432"/>
            <a:ext cx="3218120" cy="3668717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 search strategy:</a:t>
            </a:r>
          </a:p>
          <a:p>
            <a:pPr lvl="1" algn="just">
              <a:lnSpc>
                <a:spcPct val="150000"/>
              </a:lnSpc>
            </a:pP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Starts at an initial state, moves to neighbor with best improvement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Types: </a:t>
            </a:r>
            <a:r>
              <a:rPr lang="en-US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</a:t>
            </a: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Steepest-Ascent</a:t>
            </a: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Stochastic</a:t>
            </a:r>
            <a:endParaRPr lang="en-US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Drawbacks:</a:t>
            </a:r>
          </a:p>
          <a:p>
            <a:pPr lvl="1" algn="just">
              <a:lnSpc>
                <a:spcPct val="150000"/>
              </a:lnSpc>
            </a:pP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Gets stuck in </a:t>
            </a:r>
            <a:r>
              <a:rPr lang="en-US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 maxima</a:t>
            </a: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plateaus</a:t>
            </a: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or </a:t>
            </a:r>
            <a:r>
              <a:rPr lang="en-US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ridges</a:t>
            </a:r>
            <a:endParaRPr lang="en-US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1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16527" cy="995433"/>
          </a:xfrm>
          <a:prstGeom prst="rect">
            <a:avLst/>
          </a:prstGeom>
        </p:spPr>
      </p:pic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23E3C52D-5556-2611-1063-027A4040D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368" y="995432"/>
            <a:ext cx="4977633" cy="32930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6122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56B0C-B72D-C8AE-8D71-5DC8B677B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213" y="105124"/>
            <a:ext cx="6097451" cy="605114"/>
          </a:xfrm>
        </p:spPr>
        <p:txBody>
          <a:bodyPr/>
          <a:lstStyle/>
          <a:p>
            <a:r>
              <a:rPr lang="en-IN" sz="3200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Hill </a:t>
            </a:r>
            <a:r>
              <a:rPr lang="en-IN" sz="3200" b="1" i="0" dirty="0" smtClean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Climbing( Cont..)</a:t>
            </a:r>
            <a:endParaRPr lang="en-IN" sz="32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E01B0-1BD4-33D9-21EB-05BE1B2E2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395" y="666489"/>
            <a:ext cx="7635867" cy="1360786"/>
          </a:xfrm>
        </p:spPr>
        <p:txBody>
          <a:bodyPr>
            <a:noAutofit/>
          </a:bodyPr>
          <a:lstStyle/>
          <a:p>
            <a:pPr marL="146050" indent="0" algn="just">
              <a:lnSpc>
                <a:spcPct val="100000"/>
              </a:lnSpc>
              <a:buNone/>
            </a:pPr>
            <a:r>
              <a:rPr lang="en-US" sz="18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</a:t>
            </a:r>
            <a:r>
              <a:rPr lang="en-US" sz="1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variant of the generate-and-test algorithm It makes use of</a:t>
            </a:r>
            <a:br>
              <a:rPr lang="en-US" sz="1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greedy approach This means it keeps generating possible solutions until it finds the expected solution, and moves only in the direction which optimizes the cost function for it.</a:t>
            </a:r>
            <a:endParaRPr lang="en-IN" sz="1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6749E-3620-6F6D-4AD9-0775E6007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3B19C6-2793-063A-2EC1-99A6A80062BD}"/>
              </a:ext>
            </a:extLst>
          </p:cNvPr>
          <p:cNvSpPr txBox="1"/>
          <p:nvPr/>
        </p:nvSpPr>
        <p:spPr>
          <a:xfrm>
            <a:off x="472182" y="2027275"/>
            <a:ext cx="788669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Hill Climbing in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Hill Climbing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This examines one neighboring node at a time and selects the first one that optimizes the current cost to be the next node.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Steepest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Ascent Hill Climbing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examines all neighboring nodes and selects the one closest to the solution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Stochastic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Hill Climbing-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selects a neighboring node at random and decides whether to move to it or examine another.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5775"/>
            <a:ext cx="524540" cy="84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517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56B29-B4FA-443F-03E0-49B4221D4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247" y="71938"/>
            <a:ext cx="8087832" cy="570337"/>
          </a:xfrm>
        </p:spPr>
        <p:txBody>
          <a:bodyPr>
            <a:noAutofit/>
          </a:bodyPr>
          <a:lstStyle/>
          <a:p>
            <a:r>
              <a:rPr lang="en-US" sz="3200" b="1" i="0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Problems in different regions in Hill climbing</a:t>
            </a:r>
            <a:br>
              <a:rPr lang="en-US" sz="3200" b="1" i="0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AEA5B-C5EC-E2FD-E3D3-13D5A41EC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899" y="642275"/>
            <a:ext cx="8519799" cy="4241614"/>
          </a:xfrm>
        </p:spPr>
        <p:txBody>
          <a:bodyPr>
            <a:noAutofit/>
          </a:bodyPr>
          <a:lstStyle/>
          <a:p>
            <a:pPr marL="146050" indent="0" algn="just" fontAlgn="base">
              <a:buNone/>
            </a:pPr>
            <a:r>
              <a:rPr lang="en-US" sz="1600" b="0" i="0" dirty="0" smtClean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Hill </a:t>
            </a:r>
            <a:r>
              <a:rPr lang="en-US" sz="1600" b="0" i="0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climbing cannot reach the </a:t>
            </a:r>
            <a:r>
              <a:rPr lang="en-US" sz="1600" b="1" i="0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optimal/best state(global maximum) </a:t>
            </a:r>
            <a:r>
              <a:rPr lang="en-US" sz="1600" b="0" i="0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it enters any of the following regions : </a:t>
            </a:r>
            <a:endParaRPr lang="en-US" sz="1600" b="0" i="0" dirty="0" smtClean="0">
              <a:solidFill>
                <a:srgbClr val="273239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base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sz="1600" b="1" i="0" dirty="0" smtClean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 </a:t>
            </a:r>
            <a:r>
              <a:rPr lang="en-US" sz="1600" b="1" i="0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maximum: </a:t>
            </a:r>
            <a:r>
              <a:rPr lang="en-US" sz="1600" b="0" i="0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a local maximum all neighboring states have a value that is worse than the current state. Since hill-climbing uses a greedy approach, it will not move to the worse state and terminate itself. The process will end even though a better solution may exist. </a:t>
            </a:r>
            <a:br>
              <a:rPr lang="en-US" sz="1600" b="0" i="0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b="0" i="0" dirty="0" smtClean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600" b="1" i="0" dirty="0" smtClean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sz="1600" b="1" i="0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overcome the local maximum problem: </a:t>
            </a:r>
            <a:r>
              <a:rPr lang="en-US" sz="1600" b="0" i="0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Utilize the</a:t>
            </a:r>
            <a:r>
              <a:rPr lang="en-US" sz="1600" i="0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backtracking technique</a:t>
            </a:r>
            <a:r>
              <a:rPr lang="en-US" sz="1600" b="0" i="0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Maintain a list of visited states. If the search reaches an undesirable state, it can backtrack to the previous configuration and explore a new path</a:t>
            </a:r>
            <a:r>
              <a:rPr lang="en-US" sz="1600" b="0" i="0" dirty="0" smtClean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b="0" i="0" dirty="0">
              <a:solidFill>
                <a:srgbClr val="273239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sz="1600" b="1" i="0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Plateau: </a:t>
            </a:r>
            <a:r>
              <a:rPr lang="en-US" sz="1600" b="0" i="0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the plateau, all neighbors have the same value. Hence, it is not possible to select </a:t>
            </a:r>
            <a:r>
              <a:rPr lang="en-US" sz="1600" b="0" i="0" dirty="0" smtClean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best </a:t>
            </a:r>
            <a:r>
              <a:rPr lang="en-US" sz="1600" b="0" i="0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direction. </a:t>
            </a:r>
            <a:br>
              <a:rPr lang="en-US" sz="1600" b="0" i="0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b="0" i="0" dirty="0" smtClean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sz="1600" b="1" i="0" dirty="0" smtClean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sz="1600" b="1" i="0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overcome plateaus:</a:t>
            </a:r>
            <a:r>
              <a:rPr lang="en-US" sz="1600" b="0" i="0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Make a big jump. Randomly select a state far away from the current state. Chances are that we will land in a non-plateau region</a:t>
            </a:r>
            <a:r>
              <a:rPr lang="en-US" sz="1600" b="0" i="0" dirty="0" smtClean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b="0" i="0" dirty="0">
              <a:solidFill>
                <a:srgbClr val="273239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base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sz="1600" b="1" i="0" dirty="0" smtClean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Ridge: </a:t>
            </a:r>
            <a:r>
              <a:rPr lang="en-US" sz="1600" b="0" i="0" dirty="0" smtClean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Any point on a ridge can look like a peak because movement in all possible directions is downward. Hence the algorithm stops when it reaches this state. </a:t>
            </a:r>
            <a:br>
              <a:rPr lang="en-US" sz="1600" b="0" i="0" dirty="0" smtClean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b="0" i="0" dirty="0" smtClean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600" b="1" i="0" dirty="0" smtClean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overcome Ridge:</a:t>
            </a:r>
            <a:r>
              <a:rPr lang="en-US" sz="1600" b="0" i="0" dirty="0" smtClean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In this kind of obstacle, use two or more rules before testing. It implies moving in several directions at once.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CD12F3-BF56-07DB-270C-41C797718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30241" cy="69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994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043DE-137A-60BE-CB5A-4978BB9B7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676" y="713235"/>
            <a:ext cx="7886700" cy="4054027"/>
          </a:xfrm>
        </p:spPr>
        <p:txBody>
          <a:bodyPr>
            <a:noAutofit/>
          </a:bodyPr>
          <a:lstStyle/>
          <a:p>
            <a:pPr algn="l" fontAlgn="base">
              <a:lnSpc>
                <a:spcPct val="220000"/>
              </a:lnSpc>
              <a:buFont typeface="+mj-lt"/>
              <a:buAutoNum type="arabicPeriod"/>
            </a:pPr>
            <a:r>
              <a:rPr lang="en-US" sz="1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initial state- if goal state, stop and return success. Else, make initial state current.</a:t>
            </a:r>
          </a:p>
          <a:p>
            <a:pPr algn="l" fontAlgn="base">
              <a:lnSpc>
                <a:spcPct val="220000"/>
              </a:lnSpc>
              <a:buFont typeface="+mj-lt"/>
              <a:buAutoNum type="arabicPeriod"/>
            </a:pPr>
            <a:r>
              <a:rPr lang="en-US" sz="1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Loop until the solution reached or until no new operators left to apply to current state:</a:t>
            </a:r>
          </a:p>
          <a:p>
            <a:pPr marL="146050" indent="0" algn="l" fontAlgn="base">
              <a:lnSpc>
                <a:spcPct val="220000"/>
              </a:lnSpc>
              <a:buNone/>
            </a:pPr>
            <a:r>
              <a:rPr lang="en-US" sz="14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a</a:t>
            </a:r>
            <a:r>
              <a:rPr lang="en-US" sz="1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Select new operator to apply to the current producing new state.</a:t>
            </a:r>
          </a:p>
          <a:p>
            <a:pPr marL="146050" indent="0" algn="l" fontAlgn="base">
              <a:lnSpc>
                <a:spcPct val="220000"/>
              </a:lnSpc>
              <a:buNone/>
            </a:pPr>
            <a:r>
              <a:rPr lang="en-US" sz="14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b</a:t>
            </a:r>
            <a:r>
              <a:rPr lang="en-US" sz="1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Evaluate new state:</a:t>
            </a:r>
          </a:p>
          <a:p>
            <a:pPr algn="l" fontAlgn="base">
              <a:lnSpc>
                <a:spcPct val="220000"/>
              </a:lnSpc>
              <a:buFont typeface="Arial" panose="020B0604020202090204" pitchFamily="34" charset="0"/>
              <a:buChar char="•"/>
            </a:pPr>
            <a:r>
              <a:rPr lang="en-US" sz="1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a goal state, stop and return success.</a:t>
            </a:r>
          </a:p>
          <a:p>
            <a:pPr algn="l" fontAlgn="base">
              <a:lnSpc>
                <a:spcPct val="220000"/>
              </a:lnSpc>
              <a:buFont typeface="Arial" panose="020B0604020202090204" pitchFamily="34" charset="0"/>
              <a:buChar char="•"/>
            </a:pPr>
            <a:r>
              <a:rPr lang="en-US" sz="1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better than the current state, make it current state, proceed.</a:t>
            </a:r>
          </a:p>
          <a:p>
            <a:pPr algn="l" fontAlgn="base">
              <a:lnSpc>
                <a:spcPct val="220000"/>
              </a:lnSpc>
              <a:buFont typeface="Arial" panose="020B0604020202090204" pitchFamily="34" charset="0"/>
              <a:buChar char="•"/>
            </a:pPr>
            <a:r>
              <a:rPr lang="en-US" sz="1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if not better than the current state, continue until the solution reached.</a:t>
            </a:r>
          </a:p>
          <a:p>
            <a:pPr algn="l" fontAlgn="base">
              <a:lnSpc>
                <a:spcPct val="220000"/>
              </a:lnSpc>
              <a:buFont typeface="+mj-lt"/>
              <a:buAutoNum type="arabicPeriod" startAt="3"/>
            </a:pPr>
            <a:r>
              <a:rPr lang="en-US" sz="1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Exit.</a:t>
            </a:r>
          </a:p>
          <a:p>
            <a:pPr>
              <a:lnSpc>
                <a:spcPct val="220000"/>
              </a:lnSpc>
            </a:pPr>
            <a:endParaRPr lang="en-IN" sz="105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6B767F-D31B-E327-957E-2FC4FFDE9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19F361-B651-9C46-7A1E-125CD42B399E}"/>
              </a:ext>
            </a:extLst>
          </p:cNvPr>
          <p:cNvSpPr txBox="1"/>
          <p:nvPr/>
        </p:nvSpPr>
        <p:spPr>
          <a:xfrm>
            <a:off x="879824" y="126023"/>
            <a:ext cx="38268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ct val="220000"/>
              </a:lnSpc>
            </a:pPr>
            <a:r>
              <a:rPr lang="en-US" sz="2000" b="1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000" b="1" dirty="0" smtClean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lgorithm </a:t>
            </a:r>
            <a:r>
              <a:rPr lang="en-US" sz="2000" b="1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simple hill climbing.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055"/>
            <a:ext cx="701749" cy="81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098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4A7CD-64A4-33EE-2CC5-F968F09C2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018" y="273844"/>
            <a:ext cx="4298615" cy="653182"/>
          </a:xfrm>
        </p:spPr>
        <p:txBody>
          <a:bodyPr/>
          <a:lstStyle/>
          <a:p>
            <a:r>
              <a:rPr lang="en-IN" sz="32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A* Search Algorithm</a:t>
            </a:r>
            <a:br>
              <a:rPr lang="en-IN" sz="32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4BF6E-4A54-1C11-4F9E-64DE23ED0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72" y="1268017"/>
            <a:ext cx="8135178" cy="3386654"/>
          </a:xfrm>
        </p:spPr>
        <p:txBody>
          <a:bodyPr>
            <a:normAutofit/>
          </a:bodyPr>
          <a:lstStyle/>
          <a:p>
            <a:pPr algn="just" fontAlgn="base">
              <a:lnSpc>
                <a:spcPct val="150000"/>
              </a:lnSpc>
            </a:pPr>
            <a:r>
              <a:rPr lang="en-US" sz="16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A* search is the most widely used informed search algorithm where a node n is evaluated by combining values of the functions </a:t>
            </a:r>
            <a:r>
              <a:rPr lang="en-US" sz="1600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g(n)</a:t>
            </a:r>
            <a:r>
              <a:rPr lang="en-US" sz="16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z="1600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h(n)</a:t>
            </a:r>
            <a:r>
              <a:rPr lang="en-US" sz="16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The function </a:t>
            </a:r>
            <a:r>
              <a:rPr lang="en-US" sz="1600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g(n) is the path cost from the start/initial node to a node n </a:t>
            </a:r>
            <a:r>
              <a:rPr lang="en-US" sz="16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z="1600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h(n) is the estimated cost of the cheapest path from node n to the goal node.</a:t>
            </a:r>
            <a:r>
              <a:rPr lang="en-US" sz="16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Therefore, we have</a:t>
            </a: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n-US" sz="1600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                                                  f(n)=g(n)+h(n)</a:t>
            </a:r>
            <a:endParaRPr lang="en-US" sz="1600" b="0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base">
              <a:lnSpc>
                <a:spcPct val="150000"/>
              </a:lnSpc>
            </a:pPr>
            <a:r>
              <a:rPr lang="en-US" sz="1600" b="0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 </a:t>
            </a:r>
            <a:r>
              <a:rPr lang="en-US" sz="1600" b="1" i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f(n) is the estimated cost of the cheapest solution through n</a:t>
            </a:r>
            <a:r>
              <a:rPr lang="en-US" sz="1600" b="1" i="0" dirty="0" smtClean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46050" indent="0" algn="just" fontAlgn="base">
              <a:lnSpc>
                <a:spcPct val="150000"/>
              </a:lnSpc>
              <a:buNone/>
            </a:pPr>
            <a:endParaRPr lang="en-US" sz="16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46050" indent="0" algn="just" fontAlgn="base">
              <a:lnSpc>
                <a:spcPct val="150000"/>
              </a:lnSpc>
              <a:buNone/>
            </a:pPr>
            <a:r>
              <a:rPr lang="en-US" sz="1600" b="1" i="0" dirty="0" smtClean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</a:t>
            </a:r>
            <a:r>
              <a:rPr lang="en-US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A* is optimal and complete but requires high memory and a good heuristic.</a:t>
            </a:r>
            <a:endParaRPr lang="en-US" sz="1600" i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46050" indent="0">
              <a:lnSpc>
                <a:spcPct val="150000"/>
              </a:lnSpc>
              <a:buNone/>
            </a:pPr>
            <a:endParaRPr lang="en-IN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E3AAEA-DA13-C3A7-8DAD-FD07962C4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574158" cy="92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782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0C9A47-470D-8295-EEF2-E40AFE00C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F5C583-F049-FF98-E93F-58084052548E}"/>
              </a:ext>
            </a:extLst>
          </p:cNvPr>
          <p:cNvSpPr txBox="1"/>
          <p:nvPr/>
        </p:nvSpPr>
        <p:spPr>
          <a:xfrm>
            <a:off x="559982" y="690242"/>
            <a:ext cx="45720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 is the root node, and G is the goal node. Starting from the root node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and moving  towards its next successive nodes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 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In order to reach the goal node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calculate the f(n) value of node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S, 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and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using the evaluation equation i.e.</a:t>
            </a:r>
          </a:p>
          <a:p>
            <a:pPr algn="l" fontAlgn="base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f(n)=g(n)+h(n)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Calculation of f(n) for node S:</a:t>
            </a:r>
          </a:p>
          <a:p>
            <a:pPr algn="l" fontAlgn="base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f(S)=(distance from node S to S) + h(S)</a:t>
            </a:r>
          </a:p>
          <a:p>
            <a:pPr algn="l">
              <a:buFont typeface="Arial" panose="020B060402020209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0+10=10.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Calculation of f(n) for node A: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fontAlgn="base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f(A)=(distance from node S to A)+h(A)</a:t>
            </a:r>
          </a:p>
          <a:p>
            <a:pPr algn="l">
              <a:buFont typeface="Arial" panose="020B060402020209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2+12=14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Calculation of f(n) for node B: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fontAlgn="base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f(B)=(distance from node S to B)+h(B)</a:t>
            </a:r>
          </a:p>
          <a:p>
            <a:pPr algn="l">
              <a:buFont typeface="Arial" panose="020B060402020209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3+14=17</a:t>
            </a:r>
          </a:p>
          <a:p>
            <a:pPr algn="l" fontAlgn="base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Therefore, node A has the lowest f(n) value. Hence, node A will be explored to its next level nodes C and D and again calculate the lowest f(n) value. After calculating, the sequence we get is 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S-&gt;A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&gt;D-&gt;G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with f(n)=13(lowest value)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4C0211-B65A-52CA-D3A8-9BCFBFB88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191" y="1292953"/>
            <a:ext cx="3434759" cy="32768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79480D-5D32-3AB8-1786-011BB79E76BE}"/>
              </a:ext>
            </a:extLst>
          </p:cNvPr>
          <p:cNvSpPr txBox="1"/>
          <p:nvPr/>
        </p:nvSpPr>
        <p:spPr>
          <a:xfrm>
            <a:off x="559982" y="35644"/>
            <a:ext cx="70137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A* </a:t>
            </a:r>
            <a:r>
              <a:rPr lang="en-IN" sz="3200" b="1" dirty="0" smtClean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(Cont..)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50759"/>
            <a:ext cx="460744" cy="74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95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CB796-A4E8-66D5-E747-AE5143DCE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098" y="134679"/>
            <a:ext cx="8047204" cy="1148316"/>
          </a:xfrm>
        </p:spPr>
        <p:txBody>
          <a:bodyPr>
            <a:normAutofit fontScale="92500" lnSpcReduction="10000"/>
          </a:bodyPr>
          <a:lstStyle/>
          <a:p>
            <a:r>
              <a:rPr lang="en-US" sz="2000" b="1" u="sng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measure of A* search:</a:t>
            </a:r>
            <a:endParaRPr lang="en-US" sz="2000" b="1" u="sng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46050" indent="0">
              <a:lnSpc>
                <a:spcPct val="150000"/>
              </a:lnSpc>
              <a:buNone/>
            </a:pPr>
            <a:r>
              <a:rPr lang="en-US" sz="16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600" b="1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Completeness</a:t>
            </a:r>
            <a:r>
              <a:rPr lang="en-US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star(*) in A* search guarantees to reach the goal node.</a:t>
            </a:r>
          </a:p>
          <a:p>
            <a:pPr marL="146050" indent="0">
              <a:lnSpc>
                <a:spcPct val="150000"/>
              </a:lnSpc>
              <a:buNone/>
            </a:pPr>
            <a:r>
              <a:rPr lang="en-US" sz="16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600" b="1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Optimality</a:t>
            </a:r>
            <a:r>
              <a:rPr lang="en-US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underestimated cost will always give an optimal solution.</a:t>
            </a:r>
          </a:p>
          <a:p>
            <a:pPr marL="146050" indent="0">
              <a:lnSpc>
                <a:spcPct val="150000"/>
              </a:lnSpc>
              <a:buNone/>
            </a:pPr>
            <a:endParaRPr lang="en-US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0E149-BFF7-3B43-0D53-77C960401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9098" cy="78968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157" y="1485415"/>
            <a:ext cx="5669676" cy="336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90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04580"/>
            <a:ext cx="7886700" cy="477523"/>
          </a:xfrm>
        </p:spPr>
        <p:txBody>
          <a:bodyPr/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700" y="805144"/>
            <a:ext cx="5074132" cy="3830651"/>
          </a:xfrm>
        </p:spPr>
        <p:txBody>
          <a:bodyPr>
            <a:normAutofit/>
          </a:bodyPr>
          <a:lstStyle/>
          <a:p>
            <a:pPr algn="just"/>
            <a:r>
              <a:rPr lang="en-US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Reduction</a:t>
            </a: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technique of breaking a large complex problem into </a:t>
            </a:r>
            <a:r>
              <a:rPr lang="en-US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smaller sub-problems</a:t>
            </a: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solving each one independently, and then </a:t>
            </a:r>
            <a:r>
              <a:rPr lang="en-US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combining their solutions</a:t>
            </a: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solve the original problem</a:t>
            </a:r>
            <a:r>
              <a:rPr lang="en-US" sz="16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46050" indent="0" algn="just">
              <a:buNone/>
            </a:pPr>
            <a:endParaRPr lang="en-US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is Problem Reduction Needed?                              </a:t>
            </a:r>
          </a:p>
          <a:p>
            <a:pPr marL="546100" indent="-400050">
              <a:buFont typeface="+mj-lt"/>
              <a:buAutoNum type="romanUcPeriod"/>
            </a:pPr>
            <a:r>
              <a:rPr lang="en-US" sz="16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Simplifies </a:t>
            </a: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 problems</a:t>
            </a:r>
          </a:p>
          <a:p>
            <a:pPr marL="546100" indent="-400050">
              <a:buFont typeface="+mj-lt"/>
              <a:buAutoNum type="romanUcPeriod"/>
            </a:pPr>
            <a:r>
              <a:rPr lang="en-US" sz="16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 computational cost</a:t>
            </a:r>
          </a:p>
          <a:p>
            <a:pPr marL="546100" indent="-400050">
              <a:buFont typeface="+mj-lt"/>
              <a:buAutoNum type="romanUcPeriod"/>
            </a:pPr>
            <a:r>
              <a:rPr lang="en-US" sz="16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</a:t>
            </a: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clarity and design</a:t>
            </a:r>
          </a:p>
          <a:p>
            <a:pPr marL="546100" indent="-400050">
              <a:buFont typeface="+mj-lt"/>
              <a:buAutoNum type="romanUcPeriod"/>
            </a:pP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in systematic reasoning</a:t>
            </a:r>
          </a:p>
          <a:p>
            <a:pPr marL="546100" indent="-400050">
              <a:buFont typeface="+mj-lt"/>
              <a:buAutoNum type="romanUcPeriod"/>
            </a:pP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in planning &amp; expert systems</a:t>
            </a:r>
          </a:p>
          <a:p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25302" cy="68668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385832" y="886880"/>
            <a:ext cx="3200401" cy="22701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STEP-BY-STEP PROCESS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main goal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 into sub-goals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Solve sub-goals individually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 results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Obtain final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43154" y="3461766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reduction is implemented through </a:t>
            </a:r>
            <a:r>
              <a:rPr lang="en-US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AND-OR graphs</a:t>
            </a: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323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3135" y="113251"/>
            <a:ext cx="6941731" cy="605114"/>
          </a:xfrm>
        </p:spPr>
        <p:txBody>
          <a:bodyPr/>
          <a:lstStyle/>
          <a:p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AO*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60" y="718365"/>
            <a:ext cx="8224602" cy="4031486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AO* (And–Or Star) is a </a:t>
            </a:r>
            <a:r>
              <a:rPr lang="en-US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 search algorithm</a:t>
            </a: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used for problems that can be represented as </a:t>
            </a:r>
            <a:r>
              <a:rPr lang="en-US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AND–OR graphs</a:t>
            </a: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instead of simple </a:t>
            </a:r>
            <a:r>
              <a:rPr lang="en-US" sz="16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paths.</a:t>
            </a:r>
          </a:p>
          <a:p>
            <a:pPr>
              <a:lnSpc>
                <a:spcPct val="200000"/>
              </a:lnSpc>
            </a:pPr>
            <a:r>
              <a:rPr lang="en-US" sz="16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It’s </a:t>
            </a: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generalization of the A* algorithm — but while A* searches for the </a:t>
            </a:r>
            <a:r>
              <a:rPr lang="en-US" sz="1600" i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shortest path</a:t>
            </a: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a simple graph, AO* can find an </a:t>
            </a:r>
            <a:r>
              <a:rPr lang="en-US" sz="1600" i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optimal solution subgraph</a:t>
            </a: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problems where:</a:t>
            </a:r>
          </a:p>
          <a:p>
            <a:pPr marL="546100" indent="-400050">
              <a:lnSpc>
                <a:spcPct val="170000"/>
              </a:lnSpc>
              <a:buFont typeface="+mj-lt"/>
              <a:buAutoNum type="romanLcPeriod"/>
            </a:pP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nodes require </a:t>
            </a:r>
            <a:r>
              <a:rPr lang="en-US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</a:t>
            </a: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their children to be solved (</a:t>
            </a:r>
            <a:r>
              <a:rPr lang="en-US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nodes).</a:t>
            </a:r>
          </a:p>
          <a:p>
            <a:pPr marL="546100" indent="-400050">
              <a:lnSpc>
                <a:spcPct val="170000"/>
              </a:lnSpc>
              <a:buFont typeface="+mj-lt"/>
              <a:buAutoNum type="romanLcPeriod"/>
            </a:pP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nodes require </a:t>
            </a:r>
            <a:r>
              <a:rPr lang="en-US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one</a:t>
            </a: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child to be solved (</a:t>
            </a:r>
            <a:r>
              <a:rPr lang="en-US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nodes).</a:t>
            </a:r>
          </a:p>
          <a:p>
            <a:pPr marL="546100" indent="-400050">
              <a:lnSpc>
                <a:spcPct val="170000"/>
              </a:lnSpc>
              <a:buFont typeface="+mj-lt"/>
              <a:buAutoNum type="romanLcPeriod"/>
            </a:pP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is useful for </a:t>
            </a:r>
            <a:r>
              <a:rPr lang="en-US" sz="1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decomposition</a:t>
            </a: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(breaking problems into </a:t>
            </a:r>
            <a:r>
              <a:rPr lang="en-US" sz="16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 problems</a:t>
            </a:r>
            <a:r>
              <a:rPr lang="en-US" sz="16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546100" indent="-400050">
              <a:lnSpc>
                <a:spcPct val="170000"/>
              </a:lnSpc>
              <a:buFont typeface="+mj-lt"/>
              <a:buAutoNum type="romanLcPeriod"/>
            </a:pPr>
            <a:endParaRPr lang="en-US" sz="1600" dirty="0" smtClean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46050" indent="0">
              <a:lnSpc>
                <a:spcPct val="150000"/>
              </a:lnSpc>
              <a:buNone/>
            </a:pPr>
            <a:endParaRPr lang="en-IN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7451" cy="83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36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618" y="273844"/>
            <a:ext cx="6941731" cy="605114"/>
          </a:xfrm>
        </p:spPr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</a:t>
            </a: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*(Cont..)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396" y="946913"/>
            <a:ext cx="8224602" cy="3540027"/>
          </a:xfrm>
        </p:spPr>
        <p:txBody>
          <a:bodyPr>
            <a:normAutofit fontScale="70000" lnSpcReduction="20000"/>
          </a:bodyPr>
          <a:lstStyle/>
          <a:p>
            <a:pPr marL="146050" indent="0">
              <a:lnSpc>
                <a:spcPct val="170000"/>
              </a:lnSpc>
              <a:buNone/>
            </a:pPr>
            <a:r>
              <a:rPr lang="en-US" sz="3400" b="1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</a:t>
            </a:r>
            <a:r>
              <a:rPr lang="en-US" sz="3400" b="1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in:</a:t>
            </a:r>
          </a:p>
          <a:p>
            <a:pPr>
              <a:lnSpc>
                <a:spcPct val="170000"/>
              </a:lnSpc>
            </a:pPr>
            <a:r>
              <a:rPr lang="en-US" sz="3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Planning systems</a:t>
            </a:r>
          </a:p>
          <a:p>
            <a:pPr>
              <a:lnSpc>
                <a:spcPct val="170000"/>
              </a:lnSpc>
            </a:pPr>
            <a:r>
              <a:rPr lang="en-US" sz="3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reduction tasks</a:t>
            </a:r>
          </a:p>
          <a:p>
            <a:pPr>
              <a:lnSpc>
                <a:spcPct val="170000"/>
              </a:lnSpc>
            </a:pPr>
            <a:r>
              <a:rPr lang="en-US" sz="3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Game playing with complex goals</a:t>
            </a:r>
          </a:p>
          <a:p>
            <a:pPr>
              <a:lnSpc>
                <a:spcPct val="170000"/>
              </a:lnSpc>
            </a:pPr>
            <a:r>
              <a:rPr lang="en-US" sz="3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Natural language parsing</a:t>
            </a:r>
          </a:p>
          <a:p>
            <a:pPr>
              <a:lnSpc>
                <a:spcPct val="170000"/>
              </a:lnSpc>
            </a:pPr>
            <a:r>
              <a:rPr lang="en-US" sz="3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Diagnosis systems</a:t>
            </a:r>
          </a:p>
          <a:p>
            <a:pPr marL="146050" indent="0">
              <a:lnSpc>
                <a:spcPct val="170000"/>
              </a:lnSpc>
              <a:buNone/>
            </a:pPr>
            <a:endParaRPr lang="en-US" sz="1500" dirty="0" smtClean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0" indent="0">
              <a:lnSpc>
                <a:spcPct val="150000"/>
              </a:lnSpc>
              <a:buNone/>
            </a:pPr>
            <a:endParaRPr lang="en-IN" sz="1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500485" cy="8080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632" y="1372454"/>
            <a:ext cx="3373366" cy="311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03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2B5AE2F-CCD8-2425-76A1-141EC8820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9" y="412136"/>
            <a:ext cx="7520762" cy="442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257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25302" cy="686685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547518" y="679945"/>
            <a:ext cx="3343997" cy="3846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nodes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All successors must be solved to solve the node. (e.g., a task that needs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both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Step A and Step B done)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 nodes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Only one successor needs to be solved.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(e.g., choosing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either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Route A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Route B)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Like A*, 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g(n) +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heuristic estimate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h(n).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160687" y="456368"/>
            <a:ext cx="4324095" cy="4293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4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AO* is a </a:t>
            </a:r>
            <a:r>
              <a:rPr lang="en-US" sz="1400" b="1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 search algorithm</a:t>
            </a:r>
            <a:r>
              <a:rPr lang="en-US" sz="14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used for solving </a:t>
            </a:r>
            <a:r>
              <a:rPr lang="en-US" sz="1400" b="1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AND–OR graphs</a:t>
            </a:r>
            <a:r>
              <a:rPr lang="en-US" sz="14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(problems that can be broken into sub problems where some are “AND” conditions and others are “OR” choices).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 node</a:t>
            </a:r>
            <a:r>
              <a:rPr lang="en-US" sz="14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you can choose </a:t>
            </a:r>
            <a:r>
              <a:rPr lang="en-US" sz="1400" b="1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</a:t>
            </a:r>
            <a:r>
              <a:rPr lang="en-US" sz="14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the branches.</a:t>
            </a:r>
          </a:p>
          <a:p>
            <a:pPr>
              <a:lnSpc>
                <a:spcPct val="150000"/>
              </a:lnSpc>
            </a:pPr>
            <a:r>
              <a:rPr lang="en-US" sz="1400" b="1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node</a:t>
            </a:r>
            <a:r>
              <a:rPr lang="en-US" sz="14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you must solve </a:t>
            </a:r>
            <a:r>
              <a:rPr lang="en-US" sz="1400" b="1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</a:t>
            </a:r>
            <a:r>
              <a:rPr lang="en-US" sz="14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sub-branches together.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AO* tries to find the </a:t>
            </a:r>
            <a:r>
              <a:rPr lang="en-US" sz="1400" b="1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least-cost solution graph</a:t>
            </a:r>
            <a:r>
              <a:rPr lang="en-US" sz="14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not just a single path.</a:t>
            </a:r>
          </a:p>
          <a:p>
            <a:pPr algn="just">
              <a:lnSpc>
                <a:spcPct val="150000"/>
              </a:lnSpc>
            </a:pPr>
            <a:r>
              <a:rPr lang="en-US" sz="14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a generalization of A* for problems where solutions may require solving multiple sub problems in parallel.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Lato"/>
              <a:buNone/>
            </a:pPr>
            <a:endParaRPr lang="en-US" altLang="en-US" sz="1400" dirty="0" smtClean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26603" y="117392"/>
            <a:ext cx="31858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AO*(Cont..)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160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2B5AE2F-CCD8-2425-76A1-141EC8820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507" y="213379"/>
            <a:ext cx="56280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Constraint Satisfaction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455" y="857693"/>
            <a:ext cx="8059479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Constraint Satisfaction Problem (CSP)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mathematical problem in AI where: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must assign values to variables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Without violating any restrictions (constraints)</a:t>
            </a:r>
          </a:p>
          <a:p>
            <a:pPr algn="just"/>
            <a:r>
              <a:rPr lang="en-US" sz="16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--A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 satisfies all constraints</a:t>
            </a:r>
            <a:r>
              <a:rPr lang="en-US" sz="16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1600" b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algn="just"/>
            <a:r>
              <a:rPr lang="en-US" sz="16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Map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Coloring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= Regions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 = Colors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Constraints = Neighboring regions cannot have same </a:t>
            </a:r>
            <a:r>
              <a:rPr lang="en-US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</a:t>
            </a:r>
          </a:p>
          <a:p>
            <a:r>
              <a:rPr lang="en-US" sz="16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Sudoku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= Empty cells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 = {1 to 9}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Constraints = No repetition per row, column, </a:t>
            </a:r>
            <a:r>
              <a:rPr lang="en-US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AI, a CSP finds values for variables that satisfy all given constraints using systematic search and pruning techniques</a:t>
            </a:r>
            <a:r>
              <a:rPr lang="en-US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672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2E13E-03D7-2E7A-2B12-0311D9112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958" y="273844"/>
            <a:ext cx="7661342" cy="661821"/>
          </a:xfrm>
        </p:spPr>
        <p:txBody>
          <a:bodyPr/>
          <a:lstStyle/>
          <a:p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CSP SOLVING TECHNIQUES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7CB043-8501-7E60-2468-CF97320D8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" y="0"/>
            <a:ext cx="578328" cy="95144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46050" indent="0" algn="just">
              <a:lnSpc>
                <a:spcPct val="200000"/>
              </a:lnSpc>
              <a:buNone/>
            </a:pPr>
            <a:r>
              <a:rPr lang="en-US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Backtracking </a:t>
            </a:r>
            <a:r>
              <a:rPr lang="en-US" sz="1400" b="1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: </a:t>
            </a:r>
            <a:r>
              <a:rPr lang="en-US" sz="14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 </a:t>
            </a:r>
            <a:r>
              <a:rPr lang="en-US" sz="1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values one by one → go back if conflict.</a:t>
            </a:r>
          </a:p>
          <a:p>
            <a:pPr marL="146050" indent="0" algn="just">
              <a:lnSpc>
                <a:spcPct val="200000"/>
              </a:lnSpc>
              <a:buNone/>
            </a:pPr>
            <a:r>
              <a:rPr lang="en-US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2) Forward </a:t>
            </a:r>
            <a:r>
              <a:rPr lang="en-US" sz="1400" b="1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Checking :</a:t>
            </a:r>
            <a:r>
              <a:rPr lang="en-US" sz="14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 </a:t>
            </a:r>
            <a:r>
              <a:rPr lang="en-US" sz="1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invalid values from future variables early.</a:t>
            </a:r>
          </a:p>
          <a:p>
            <a:pPr marL="146050" indent="0" algn="just">
              <a:lnSpc>
                <a:spcPct val="200000"/>
              </a:lnSpc>
              <a:buNone/>
            </a:pPr>
            <a:r>
              <a:rPr lang="en-US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3) Arc Consistency (AC-3</a:t>
            </a:r>
            <a:r>
              <a:rPr lang="en-US" sz="1400" b="1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:</a:t>
            </a:r>
            <a:r>
              <a:rPr lang="en-US" sz="14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 </a:t>
            </a:r>
            <a:r>
              <a:rPr lang="en-US" sz="1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 every value in variable has valid support.</a:t>
            </a:r>
          </a:p>
          <a:p>
            <a:pPr marL="146050" indent="0" algn="just">
              <a:lnSpc>
                <a:spcPct val="200000"/>
              </a:lnSpc>
              <a:buNone/>
            </a:pPr>
            <a:r>
              <a:rPr lang="en-US" sz="1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4) Constraint </a:t>
            </a:r>
            <a:r>
              <a:rPr lang="en-US" sz="1400" b="1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Propagation :</a:t>
            </a:r>
            <a:r>
              <a:rPr lang="en-US" sz="1400" dirty="0" smtClean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Spread </a:t>
            </a:r>
            <a:r>
              <a:rPr lang="en-US" sz="1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restrictions across all variables.</a:t>
            </a:r>
          </a:p>
          <a:p>
            <a:pPr marL="146050" indent="0" algn="just">
              <a:lnSpc>
                <a:spcPct val="200000"/>
              </a:lnSpc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22630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4F1C1FB-C899-5DBE-C42F-B1D10C95C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25B2D-5E70-705A-DA8E-AA76A0A61FA6}"/>
              </a:ext>
            </a:extLst>
          </p:cNvPr>
          <p:cNvSpPr txBox="1">
            <a:spLocks/>
          </p:cNvSpPr>
          <p:nvPr/>
        </p:nvSpPr>
        <p:spPr>
          <a:xfrm>
            <a:off x="1396410" y="65314"/>
            <a:ext cx="6273210" cy="60808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 of the Lecture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20499" y="582102"/>
            <a:ext cx="797693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 Space Representation: AI problems are modelled as states, actions, initial state, and goal state.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Uninformed Search (BFS &amp; DFS): Uninformed search explores the state space without using any domain knowledge or heuristics, relying only on problem structure.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Informed Search (Heuristic): Uses knowledge (h(n)) to guide search toward goal efficiently.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Hill Climbing: Selects best neighbouring state but may get stuck at local maxima.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A* Algorithm: Uses f(n)=g(n)+h(n) for optimal and complete search with good heuristic.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AO* Algorithm: Works on AND-OR graphs and solves problems by decomposition.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Reduction: Breaks complex problem into smaller sub-tasks using AND-OR structure.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Constraint Satisfaction Problem (CSP): Solves problems using variables, domains, and constraints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4833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76E56EA3-16F5-E76E-14E4-37F3EB842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599D1-32E9-56EA-04F7-5C299DA2C714}"/>
              </a:ext>
            </a:extLst>
          </p:cNvPr>
          <p:cNvSpPr txBox="1">
            <a:spLocks/>
          </p:cNvSpPr>
          <p:nvPr/>
        </p:nvSpPr>
        <p:spPr>
          <a:xfrm>
            <a:off x="36285" y="65313"/>
            <a:ext cx="9056915" cy="806675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Lecture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18AC76-7B90-6FF0-0952-01F49F273CF9}"/>
              </a:ext>
            </a:extLst>
          </p:cNvPr>
          <p:cNvSpPr/>
          <p:nvPr/>
        </p:nvSpPr>
        <p:spPr>
          <a:xfrm>
            <a:off x="254001" y="1166042"/>
            <a:ext cx="863957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next lecture, we are going to cover:</a:t>
            </a:r>
          </a:p>
          <a:p>
            <a:pPr marL="536575" lvl="0" indent="-1984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Game Playing and Adversarial 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</a:t>
            </a:r>
          </a:p>
          <a:p>
            <a:pPr marL="536575" lvl="0" indent="-1984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Adversarial Search Algorithms: Mini-Max Algorithm, </a:t>
            </a:r>
            <a:endParaRPr lang="en-US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36575" lvl="0" indent="-1984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Optimal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Strategies for Game Playing, </a:t>
            </a:r>
            <a:endParaRPr lang="en-US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36575" lvl="0" indent="-1984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Alpha-Beta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Pruning (Optimization of Mini-Max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536575" lvl="0" indent="-1984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Real-World Applications of Game AI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356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7E035788-6F59-DCF3-2897-BC56C4CEB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89FB0CA-6899-88FD-503C-2C28AD374E57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4DB9DE-E12E-9A84-B19B-87EFEE3B7869}"/>
              </a:ext>
            </a:extLst>
          </p:cNvPr>
          <p:cNvSpPr txBox="1">
            <a:spLocks/>
          </p:cNvSpPr>
          <p:nvPr/>
        </p:nvSpPr>
        <p:spPr>
          <a:xfrm>
            <a:off x="36285" y="65313"/>
            <a:ext cx="9056915" cy="806675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Quiz/ FAQ’s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927368-5887-20F7-C08C-383823E01449}"/>
              </a:ext>
            </a:extLst>
          </p:cNvPr>
          <p:cNvSpPr/>
          <p:nvPr/>
        </p:nvSpPr>
        <p:spPr>
          <a:xfrm>
            <a:off x="353387" y="731627"/>
            <a:ext cx="8639575" cy="4619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do you mean by AI? Discuss its advantages and disadvantages.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 3 main applications of AI in Current era.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 the difference between strong AI and weak AI.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Describe the Turing Test and its relevance to AI.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real-world problems that can be solved using AI.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Illustrate how AI differs from conventional programming.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 AI with human intelligence in terms of reasoning and learning.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Critique the feasibility of achieving general AI.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Justify the importance of AI in the modern technological world.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338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2F170DA-4FB0-780A-165F-96871258C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6FD4E1-DE68-EDFC-57AF-3025781CAD01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43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9AD58F-AFA5-005A-FEC5-E7F0E57D909C}"/>
              </a:ext>
            </a:extLst>
          </p:cNvPr>
          <p:cNvSpPr txBox="1">
            <a:spLocks/>
          </p:cNvSpPr>
          <p:nvPr/>
        </p:nvSpPr>
        <p:spPr>
          <a:xfrm>
            <a:off x="900222" y="65313"/>
            <a:ext cx="7793835" cy="806675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Faculty-curated videos, NPTEL, Coursera, LinkedIn, or other relevant learning resources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DF2A59-6EAD-B15A-4AA6-7257F44129B9}"/>
              </a:ext>
            </a:extLst>
          </p:cNvPr>
          <p:cNvSpPr/>
          <p:nvPr/>
        </p:nvSpPr>
        <p:spPr>
          <a:xfrm>
            <a:off x="353387" y="1116424"/>
            <a:ext cx="863957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</a:t>
            </a:r>
            <a:r>
              <a:rPr lang="en-IN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nptel.ac.in/courses/106106126</a:t>
            </a:r>
            <a:r>
              <a:rPr lang="en-IN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</a:t>
            </a:r>
            <a:r>
              <a:rPr lang="en-IN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nptel.ac.in/courses/106105077</a:t>
            </a:r>
            <a:r>
              <a:rPr lang="en-IN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</a:t>
            </a:r>
            <a:r>
              <a:rPr lang="en-IN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nptel.ac.in/courses/106106139</a:t>
            </a:r>
            <a:r>
              <a:rPr lang="en-IN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</a:t>
            </a:r>
            <a:r>
              <a:rPr lang="en-IN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www.coursera.org/learn/ai-for-everyone</a:t>
            </a:r>
            <a:r>
              <a:rPr lang="en-IN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/>
              </a:rPr>
              <a:t>https://</a:t>
            </a:r>
            <a:r>
              <a:rPr lang="en-IN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/>
              </a:rPr>
              <a:t>www.coursera.org/learn/machine-learning</a:t>
            </a:r>
            <a:r>
              <a:rPr lang="en-IN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8"/>
              </a:rPr>
              <a:t>https://</a:t>
            </a:r>
            <a:r>
              <a:rPr lang="en-IN" sz="2000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8"/>
              </a:rPr>
              <a:t>www.coursera.org/learn/ai-search</a:t>
            </a:r>
            <a:endParaRPr lang="en-IN" sz="2000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9"/>
              </a:rPr>
              <a:t>https://inst.eecs.berkeley.edu/~cs188</a:t>
            </a:r>
            <a:r>
              <a:rPr lang="en-IN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9"/>
              </a:rPr>
              <a:t>/</a:t>
            </a:r>
            <a:endParaRPr lang="en-IN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10"/>
              </a:rPr>
              <a:t>https://cs221.stanford.edu</a:t>
            </a:r>
            <a:r>
              <a:rPr lang="en-IN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10"/>
              </a:rPr>
              <a:t>/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119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4000" b="1" i="0" u="none" strike="noStrike" cap="none" dirty="0" smtClean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Class-Wise </a:t>
              </a:r>
              <a:r>
                <a:rPr lang="en-IN" sz="4000" b="1" dirty="0" smtClean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44846" y="1399309"/>
            <a:ext cx="8614184" cy="1736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2600" b="0" i="0" u="none" strike="noStrike" cap="none" dirty="0" smtClean="0">
                <a:solidFill>
                  <a:schemeClr val="bg2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	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 smtClean="0"/>
              <a:t>11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860714"/>
            <a:ext cx="3922568" cy="392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684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0" y="1669143"/>
            <a:ext cx="9144000" cy="1685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Prabhjot.e16646@cumail.in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1909</TotalTime>
  <Words>2242</Words>
  <Application>Microsoft Office PowerPoint</Application>
  <PresentationFormat>On-screen Show (16:9)</PresentationFormat>
  <Paragraphs>348</Paragraphs>
  <Slides>41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3" baseType="lpstr">
      <vt:lpstr>Courier New</vt:lpstr>
      <vt:lpstr>Vladimir Script</vt:lpstr>
      <vt:lpstr>Tahoma_ay</vt:lpstr>
      <vt:lpstr>Times New Roman</vt:lpstr>
      <vt:lpstr>Wingdings</vt:lpstr>
      <vt:lpstr>Calibri</vt:lpstr>
      <vt:lpstr>Arial Black</vt:lpstr>
      <vt:lpstr>Arial</vt:lpstr>
      <vt:lpstr>Cambria</vt:lpstr>
      <vt:lpstr>Lato</vt:lpstr>
      <vt:lpstr>Rockwell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State Space Representation:</vt:lpstr>
      <vt:lpstr>PowerPoint Presentation</vt:lpstr>
      <vt:lpstr>PowerPoint Presentation</vt:lpstr>
      <vt:lpstr>Uninformed Search: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Hill Climbing </vt:lpstr>
      <vt:lpstr>Hill Climbing( Cont..)</vt:lpstr>
      <vt:lpstr>Problems in different regions in Hill climbing </vt:lpstr>
      <vt:lpstr>PowerPoint Presentation</vt:lpstr>
      <vt:lpstr>A* Search Algorithm </vt:lpstr>
      <vt:lpstr>PowerPoint Presentation</vt:lpstr>
      <vt:lpstr>PowerPoint Presentation</vt:lpstr>
      <vt:lpstr>Problem Reduction</vt:lpstr>
      <vt:lpstr>AO* Algorithm</vt:lpstr>
      <vt:lpstr>AO*(Cont..)</vt:lpstr>
      <vt:lpstr>PowerPoint Presentation</vt:lpstr>
      <vt:lpstr>PowerPoint Presentation</vt:lpstr>
      <vt:lpstr>PowerPoint Presentation</vt:lpstr>
      <vt:lpstr>SIMPLE CSP SOLVING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HP</cp:lastModifiedBy>
  <cp:revision>286</cp:revision>
  <dcterms:modified xsi:type="dcterms:W3CDTF">2025-12-04T10:25:30Z</dcterms:modified>
</cp:coreProperties>
</file>