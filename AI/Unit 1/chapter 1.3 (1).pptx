
<file path=[Content_Types].xml><?xml version="1.0" encoding="utf-8"?>
<Types xmlns="http://schemas.openxmlformats.org/package/2006/content-types">
  <Default Extension="png" ContentType="image/png"/>
  <Default Extension="jfif" ContentType="image/jpe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1"/>
  </p:notesMasterIdLst>
  <p:handoutMasterIdLst>
    <p:handoutMasterId r:id="rId42"/>
  </p:handoutMasterIdLst>
  <p:sldIdLst>
    <p:sldId id="256" r:id="rId2"/>
    <p:sldId id="283" r:id="rId3"/>
    <p:sldId id="308" r:id="rId4"/>
    <p:sldId id="309" r:id="rId5"/>
    <p:sldId id="310" r:id="rId6"/>
    <p:sldId id="311" r:id="rId7"/>
    <p:sldId id="379" r:id="rId8"/>
    <p:sldId id="425" r:id="rId9"/>
    <p:sldId id="426" r:id="rId10"/>
    <p:sldId id="427" r:id="rId11"/>
    <p:sldId id="428" r:id="rId12"/>
    <p:sldId id="429" r:id="rId13"/>
    <p:sldId id="430" r:id="rId14"/>
    <p:sldId id="431" r:id="rId15"/>
    <p:sldId id="432" r:id="rId16"/>
    <p:sldId id="433" r:id="rId17"/>
    <p:sldId id="434" r:id="rId18"/>
    <p:sldId id="435" r:id="rId19"/>
    <p:sldId id="436" r:id="rId20"/>
    <p:sldId id="437" r:id="rId21"/>
    <p:sldId id="438" r:id="rId22"/>
    <p:sldId id="439" r:id="rId23"/>
    <p:sldId id="440" r:id="rId24"/>
    <p:sldId id="441" r:id="rId25"/>
    <p:sldId id="442" r:id="rId26"/>
    <p:sldId id="443" r:id="rId27"/>
    <p:sldId id="444" r:id="rId28"/>
    <p:sldId id="445" r:id="rId29"/>
    <p:sldId id="446" r:id="rId30"/>
    <p:sldId id="447" r:id="rId31"/>
    <p:sldId id="448" r:id="rId32"/>
    <p:sldId id="449" r:id="rId33"/>
    <p:sldId id="405" r:id="rId34"/>
    <p:sldId id="398" r:id="rId35"/>
    <p:sldId id="373" r:id="rId36"/>
    <p:sldId id="375" r:id="rId37"/>
    <p:sldId id="377" r:id="rId38"/>
    <p:sldId id="396" r:id="rId39"/>
    <p:sldId id="305" r:id="rId40"/>
  </p:sldIdLst>
  <p:sldSz cx="9144000" cy="5143500" type="screen16x9"/>
  <p:notesSz cx="6858000" cy="9144000"/>
  <p:embeddedFontLst>
    <p:embeddedFont>
      <p:font typeface="Vladimir Script" panose="03050402040407070305" pitchFamily="66" charset="0"/>
      <p:regular r:id="rId43"/>
    </p:embeddedFont>
    <p:embeddedFont>
      <p:font typeface="Calibri" panose="020F0502020204030204" pitchFamily="34" charset="0"/>
      <p:regular r:id="rId44"/>
      <p:bold r:id="rId45"/>
      <p:italic r:id="rId46"/>
      <p:boldItalic r:id="rId47"/>
    </p:embeddedFont>
    <p:embeddedFont>
      <p:font typeface="Arial Black" panose="020B0A04020102020204" pitchFamily="34" charset="0"/>
      <p:bold r:id="rId48"/>
    </p:embeddedFont>
    <p:embeddedFont>
      <p:font typeface="Cambria" panose="02040503050406030204" pitchFamily="18" charset="0"/>
      <p:regular r:id="rId49"/>
      <p:bold r:id="rId50"/>
      <p:italic r:id="rId51"/>
      <p:boldItalic r:id="rId52"/>
    </p:embeddedFont>
    <p:embeddedFont>
      <p:font typeface="Lato" panose="020B0604020202020204" charset="0"/>
      <p:regular r:id="rId53"/>
      <p:bold r:id="rId54"/>
      <p:italic r:id="rId55"/>
      <p:boldItalic r:id="rId56"/>
    </p:embeddedFont>
    <p:embeddedFont>
      <p:font typeface="Rockwell" panose="02060603020205020403" pitchFamily="18"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04" autoAdjust="0"/>
  </p:normalViewPr>
  <p:slideViewPr>
    <p:cSldViewPr snapToGrid="0">
      <p:cViewPr varScale="1">
        <p:scale>
          <a:sx n="108" d="100"/>
          <a:sy n="108" d="100"/>
        </p:scale>
        <p:origin x="730"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4.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font" Target="fonts/font9.fntdata"/><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2.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04-12-2025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rtl="0" fontAlgn="base">
              <a:lnSpc>
                <a:spcPct val="160000"/>
              </a:lnSpc>
              <a:spcBef>
                <a:spcPts val="0"/>
              </a:spcBef>
              <a:spcAft>
                <a:spcPts val="0"/>
              </a:spcAft>
              <a:buFont typeface="Arial" panose="020B0604020202090204" pitchFamily="34" charset="0"/>
              <a:buChar char="•"/>
            </a:pPr>
            <a:r>
              <a:rPr lang="en-US" sz="1200" b="0" i="0" u="none" strike="noStrike" dirty="0">
                <a:solidFill>
                  <a:srgbClr val="000000"/>
                </a:solidFill>
                <a:effectLst/>
                <a:latin typeface="Rockwell" panose="02060603020205020403" pitchFamily="18" charset="0"/>
              </a:rPr>
              <a:t>Artificial Intelligence is composed of two words </a:t>
            </a:r>
            <a:r>
              <a:rPr lang="en-US" sz="1200" b="1" i="0" u="none" strike="noStrike" dirty="0">
                <a:solidFill>
                  <a:srgbClr val="000000"/>
                </a:solidFill>
                <a:effectLst/>
                <a:latin typeface="Rockwell" panose="02060603020205020403" pitchFamily="18" charset="0"/>
              </a:rPr>
              <a:t>Artificial</a:t>
            </a:r>
            <a:r>
              <a:rPr lang="en-US" sz="1200" b="0" i="0" u="none" strike="noStrike" dirty="0">
                <a:solidFill>
                  <a:srgbClr val="000000"/>
                </a:solidFill>
                <a:effectLst/>
                <a:latin typeface="Rockwell" panose="02060603020205020403" pitchFamily="18" charset="0"/>
              </a:rPr>
              <a:t> and </a:t>
            </a:r>
            <a:r>
              <a:rPr lang="en-US" sz="1200" b="1" i="0" u="none" strike="noStrike" dirty="0">
                <a:solidFill>
                  <a:srgbClr val="000000"/>
                </a:solidFill>
                <a:effectLst/>
                <a:latin typeface="Rockwell" panose="02060603020205020403" pitchFamily="18" charset="0"/>
              </a:rPr>
              <a:t>Intelligence</a:t>
            </a:r>
            <a:r>
              <a:rPr lang="en-US" sz="1200" b="0" i="0" u="none" strike="noStrike" dirty="0">
                <a:solidFill>
                  <a:srgbClr val="000000"/>
                </a:solidFill>
                <a:effectLst/>
                <a:latin typeface="Rockwell" panose="02060603020205020403" pitchFamily="18" charset="0"/>
              </a:rPr>
              <a:t>, where Artificial defines </a:t>
            </a:r>
            <a:r>
              <a:rPr lang="en-US" sz="1200" b="0" i="1" u="none" strike="noStrike" dirty="0">
                <a:solidFill>
                  <a:srgbClr val="000000"/>
                </a:solidFill>
                <a:effectLst/>
                <a:latin typeface="Rockwell" panose="02060603020205020403" pitchFamily="18" charset="0"/>
              </a:rPr>
              <a:t>"man-made,"</a:t>
            </a:r>
            <a:r>
              <a:rPr lang="en-US" sz="1200" b="0" i="0" u="none" strike="noStrike" dirty="0">
                <a:solidFill>
                  <a:srgbClr val="000000"/>
                </a:solidFill>
                <a:effectLst/>
                <a:latin typeface="Rockwell" panose="02060603020205020403" pitchFamily="18" charset="0"/>
              </a:rPr>
              <a:t> and intelligence defines </a:t>
            </a:r>
            <a:r>
              <a:rPr lang="en-US" sz="1200" b="0" i="1" u="none" strike="noStrike" dirty="0">
                <a:solidFill>
                  <a:srgbClr val="000000"/>
                </a:solidFill>
                <a:effectLst/>
                <a:latin typeface="Rockwell" panose="02060603020205020403" pitchFamily="18" charset="0"/>
              </a:rPr>
              <a:t>"thinking power"</a:t>
            </a:r>
            <a:r>
              <a:rPr lang="en-US" sz="1200" b="0" i="0" u="none" strike="noStrike" dirty="0">
                <a:solidFill>
                  <a:srgbClr val="000000"/>
                </a:solidFill>
                <a:effectLst/>
                <a:latin typeface="Rockwell" panose="02060603020205020403" pitchFamily="18" charset="0"/>
              </a:rPr>
              <a:t>, hence AI means </a:t>
            </a:r>
            <a:r>
              <a:rPr lang="en-US" sz="1200" b="0" i="1" u="none" strike="noStrike" dirty="0">
                <a:solidFill>
                  <a:srgbClr val="000000"/>
                </a:solidFill>
                <a:effectLst/>
                <a:latin typeface="Rockwell" panose="02060603020205020403" pitchFamily="18" charset="0"/>
              </a:rPr>
              <a:t>"a man-made thinking power.“</a:t>
            </a:r>
          </a:p>
          <a:p>
            <a:pPr rtl="0" fontAlgn="base">
              <a:lnSpc>
                <a:spcPct val="160000"/>
              </a:lnSpc>
              <a:spcBef>
                <a:spcPts val="0"/>
              </a:spcBef>
              <a:spcAft>
                <a:spcPts val="0"/>
              </a:spcAft>
              <a:buFont typeface="Arial" panose="020B0604020202090204" pitchFamily="34" charset="0"/>
              <a:buChar char="•"/>
            </a:pPr>
            <a:r>
              <a:rPr lang="en-US" sz="1200" b="0" i="0" u="none" strike="noStrike" dirty="0">
                <a:solidFill>
                  <a:srgbClr val="000000"/>
                </a:solidFill>
                <a:effectLst/>
                <a:latin typeface="Rockwell" panose="02060603020205020403" pitchFamily="18" charset="0"/>
              </a:rPr>
              <a:t>Artificial Intelligence exists when a machine can have human based skills such as learning, reasoning, and solving problems</a:t>
            </a:r>
          </a:p>
          <a:p>
            <a:pPr rtl="0" fontAlgn="base">
              <a:lnSpc>
                <a:spcPct val="160000"/>
              </a:lnSpc>
              <a:spcBef>
                <a:spcPts val="0"/>
              </a:spcBef>
              <a:spcAft>
                <a:spcPts val="0"/>
              </a:spcAft>
              <a:buFont typeface="Arial" panose="020B0604020202090204" pitchFamily="34" charset="0"/>
              <a:buChar char="•"/>
            </a:pPr>
            <a:endParaRPr lang="en-US" sz="1200" b="0" i="0" u="none" strike="noStrike" dirty="0">
              <a:solidFill>
                <a:srgbClr val="000000"/>
              </a:solidFill>
              <a:effectLst/>
              <a:latin typeface="Rockwell" panose="02060603020205020403" pitchFamily="18" charset="0"/>
            </a:endParaRPr>
          </a:p>
          <a:p>
            <a:pPr rtl="0" fontAlgn="base">
              <a:lnSpc>
                <a:spcPct val="160000"/>
              </a:lnSpc>
              <a:spcBef>
                <a:spcPts val="0"/>
              </a:spcBef>
              <a:spcAft>
                <a:spcPts val="0"/>
              </a:spcAft>
              <a:buFont typeface="Arial" panose="020B0604020202090204" pitchFamily="34" charset="0"/>
              <a:buChar char="•"/>
            </a:pPr>
            <a:r>
              <a:rPr lang="en-US" dirty="0"/>
              <a:t>Eight definitions of AI, laid out along two dimensions. The definitions on top are concerned </a:t>
            </a:r>
            <a:r>
              <a:rPr lang="en-US" b="1" dirty="0"/>
              <a:t>with thought processes and reasoning, </a:t>
            </a:r>
            <a:r>
              <a:rPr lang="en-US" dirty="0"/>
              <a:t>whereas the ones on the </a:t>
            </a:r>
            <a:r>
              <a:rPr lang="en-US" b="1" dirty="0"/>
              <a:t>bottom address behavior</a:t>
            </a:r>
            <a:r>
              <a:rPr lang="en-US" dirty="0"/>
              <a:t>. The definitions on the left measure success in terms of fidelity to </a:t>
            </a:r>
            <a:r>
              <a:rPr lang="en-US" b="1" dirty="0"/>
              <a:t>human performance</a:t>
            </a:r>
            <a:r>
              <a:rPr lang="en-US" dirty="0"/>
              <a:t>, whereas </a:t>
            </a:r>
            <a:r>
              <a:rPr lang="en-US" b="1" dirty="0"/>
              <a:t>RATIONALITY the ones on the right measure against an ideal performance measure</a:t>
            </a:r>
            <a:r>
              <a:rPr lang="en-US" dirty="0"/>
              <a:t>, called rationality. A system is rational if it does the “right thing,” given what it knows.</a:t>
            </a:r>
          </a:p>
          <a:p>
            <a:pPr rtl="0" fontAlgn="base">
              <a:lnSpc>
                <a:spcPct val="160000"/>
              </a:lnSpc>
              <a:spcBef>
                <a:spcPts val="0"/>
              </a:spcBef>
              <a:spcAft>
                <a:spcPts val="0"/>
              </a:spcAft>
              <a:buFont typeface="Arial" panose="020B0604020202090204" pitchFamily="34" charset="0"/>
              <a:buChar char="•"/>
            </a:pPr>
            <a:r>
              <a:rPr lang="en-US" dirty="0"/>
              <a:t>THE FOUNDATIONS OF ARTIFICIAL INTELLIGENCE</a:t>
            </a:r>
          </a:p>
          <a:p>
            <a:pPr rtl="0" fontAlgn="base">
              <a:lnSpc>
                <a:spcPct val="160000"/>
              </a:lnSpc>
              <a:spcBef>
                <a:spcPts val="0"/>
              </a:spcBef>
              <a:spcAft>
                <a:spcPts val="0"/>
              </a:spcAft>
              <a:buFont typeface="Arial" panose="020B0604020202090204" pitchFamily="34" charset="0"/>
              <a:buChar char="•"/>
            </a:pPr>
            <a:r>
              <a:rPr lang="en-US" dirty="0"/>
              <a:t>Philosophy • Can formal rules be used to draw valid conclusions? • How does the mind arise from a physical brain? • Where does knowledge come from? • How does knowledge lead to action?</a:t>
            </a:r>
          </a:p>
          <a:p>
            <a:pPr rtl="0" fontAlgn="base">
              <a:lnSpc>
                <a:spcPct val="160000"/>
              </a:lnSpc>
              <a:spcBef>
                <a:spcPts val="0"/>
              </a:spcBef>
              <a:spcAft>
                <a:spcPts val="0"/>
              </a:spcAft>
              <a:buFont typeface="Arial" panose="020B0604020202090204" pitchFamily="34" charset="0"/>
              <a:buChar char="•"/>
            </a:pPr>
            <a:r>
              <a:rPr lang="en-US" dirty="0"/>
              <a:t>Mathematics • What are the formal rules to draw valid conclusions? • What can be computed? • How do we reason with uncertain information?</a:t>
            </a:r>
          </a:p>
          <a:p>
            <a:pPr rtl="0" fontAlgn="base">
              <a:lnSpc>
                <a:spcPct val="160000"/>
              </a:lnSpc>
              <a:spcBef>
                <a:spcPts val="0"/>
              </a:spcBef>
              <a:spcAft>
                <a:spcPts val="0"/>
              </a:spcAft>
              <a:buFont typeface="Arial" panose="020B0604020202090204" pitchFamily="34" charset="0"/>
              <a:buChar char="•"/>
            </a:pP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Economics • How should we make decisions so as to maximize payoff? • How should we do this when others may not go along? • How should we do this when the payoff may be far in the future?</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Neuroscience • How do brains process information?</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Psychology • How do humans and animals think and act?</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Computer engineering • How can we build an efficient computer?</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Control theory and cybernetics • How can artifacts operate under their own control?</a:t>
            </a:r>
          </a:p>
          <a:p>
            <a:pPr rtl="0" fontAlgn="base">
              <a:lnSpc>
                <a:spcPct val="160000"/>
              </a:lnSpc>
              <a:spcBef>
                <a:spcPts val="0"/>
              </a:spcBef>
              <a:spcAft>
                <a:spcPts val="0"/>
              </a:spcAft>
              <a:buFont typeface="Arial" panose="020B0604020202090204" pitchFamily="34" charset="0"/>
              <a:buChar char="•"/>
            </a:pPr>
            <a:r>
              <a:rPr lang="en-US" dirty="0"/>
              <a:t>Linguistics • How does language relate to thought?</a:t>
            </a:r>
            <a:endParaRPr lang="en-US" sz="1200" b="0" i="0" u="none" strike="noStrike" dirty="0">
              <a:solidFill>
                <a:srgbClr val="000000"/>
              </a:solidFill>
              <a:effectLst/>
              <a:latin typeface="Courier New" panose="02070309020205020404" pitchFamily="49" charset="0"/>
            </a:endParaRPr>
          </a:p>
          <a:p>
            <a:endParaRPr lang="en-IN" dirty="0"/>
          </a:p>
        </p:txBody>
      </p:sp>
      <p:sp>
        <p:nvSpPr>
          <p:cNvPr id="4" name="Slide Number Placeholder 3"/>
          <p:cNvSpPr>
            <a:spLocks noGrp="1"/>
          </p:cNvSpPr>
          <p:nvPr>
            <p:ph type="sldNum" sz="quarter" idx="5"/>
          </p:nvPr>
        </p:nvSpPr>
        <p:spPr>
          <a:xfrm>
            <a:off x="1588" y="9721850"/>
            <a:ext cx="3076575" cy="511175"/>
          </a:xfrm>
          <a:prstGeom prst="rect">
            <a:avLst/>
          </a:prstGeom>
        </p:spPr>
        <p:txBody>
          <a:bodyPr/>
          <a:lstStyle/>
          <a:p>
            <a:fld id="{9A503EA0-C788-D447-B8B6-EF9D00D7B489}" type="slidenum">
              <a:rPr lang="he-IL" altLang="en-US" smtClean="0"/>
              <a:t>15</a:t>
            </a:fld>
            <a:endParaRPr lang="en-US" altLang="en-US"/>
          </a:p>
        </p:txBody>
      </p:sp>
    </p:spTree>
    <p:extLst>
      <p:ext uri="{BB962C8B-B14F-4D97-AF65-F5344CB8AC3E}">
        <p14:creationId xmlns:p14="http://schemas.microsoft.com/office/powerpoint/2010/main" val="3335018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rtl="0" fontAlgn="base">
              <a:lnSpc>
                <a:spcPct val="160000"/>
              </a:lnSpc>
              <a:spcBef>
                <a:spcPts val="0"/>
              </a:spcBef>
              <a:spcAft>
                <a:spcPts val="0"/>
              </a:spcAft>
              <a:buFont typeface="Arial" panose="020B0604020202090204" pitchFamily="34" charset="0"/>
              <a:buChar char="•"/>
            </a:pPr>
            <a:r>
              <a:rPr lang="en-US" sz="1200" b="0" i="0" u="none" strike="noStrike" dirty="0">
                <a:solidFill>
                  <a:srgbClr val="000000"/>
                </a:solidFill>
                <a:effectLst/>
                <a:latin typeface="Rockwell" panose="02060603020205020403" pitchFamily="18" charset="0"/>
              </a:rPr>
              <a:t>Artificial Intelligence is composed of two words </a:t>
            </a:r>
            <a:r>
              <a:rPr lang="en-US" sz="1200" b="1" i="0" u="none" strike="noStrike" dirty="0">
                <a:solidFill>
                  <a:srgbClr val="000000"/>
                </a:solidFill>
                <a:effectLst/>
                <a:latin typeface="Rockwell" panose="02060603020205020403" pitchFamily="18" charset="0"/>
              </a:rPr>
              <a:t>Artificial</a:t>
            </a:r>
            <a:r>
              <a:rPr lang="en-US" sz="1200" b="0" i="0" u="none" strike="noStrike" dirty="0">
                <a:solidFill>
                  <a:srgbClr val="000000"/>
                </a:solidFill>
                <a:effectLst/>
                <a:latin typeface="Rockwell" panose="02060603020205020403" pitchFamily="18" charset="0"/>
              </a:rPr>
              <a:t> and </a:t>
            </a:r>
            <a:r>
              <a:rPr lang="en-US" sz="1200" b="1" i="0" u="none" strike="noStrike" dirty="0">
                <a:solidFill>
                  <a:srgbClr val="000000"/>
                </a:solidFill>
                <a:effectLst/>
                <a:latin typeface="Rockwell" panose="02060603020205020403" pitchFamily="18" charset="0"/>
              </a:rPr>
              <a:t>Intelligence</a:t>
            </a:r>
            <a:r>
              <a:rPr lang="en-US" sz="1200" b="0" i="0" u="none" strike="noStrike" dirty="0">
                <a:solidFill>
                  <a:srgbClr val="000000"/>
                </a:solidFill>
                <a:effectLst/>
                <a:latin typeface="Rockwell" panose="02060603020205020403" pitchFamily="18" charset="0"/>
              </a:rPr>
              <a:t>, where Artificial defines </a:t>
            </a:r>
            <a:r>
              <a:rPr lang="en-US" sz="1200" b="0" i="1" u="none" strike="noStrike" dirty="0">
                <a:solidFill>
                  <a:srgbClr val="000000"/>
                </a:solidFill>
                <a:effectLst/>
                <a:latin typeface="Rockwell" panose="02060603020205020403" pitchFamily="18" charset="0"/>
              </a:rPr>
              <a:t>"man-made,"</a:t>
            </a:r>
            <a:r>
              <a:rPr lang="en-US" sz="1200" b="0" i="0" u="none" strike="noStrike" dirty="0">
                <a:solidFill>
                  <a:srgbClr val="000000"/>
                </a:solidFill>
                <a:effectLst/>
                <a:latin typeface="Rockwell" panose="02060603020205020403" pitchFamily="18" charset="0"/>
              </a:rPr>
              <a:t> and intelligence defines </a:t>
            </a:r>
            <a:r>
              <a:rPr lang="en-US" sz="1200" b="0" i="1" u="none" strike="noStrike" dirty="0">
                <a:solidFill>
                  <a:srgbClr val="000000"/>
                </a:solidFill>
                <a:effectLst/>
                <a:latin typeface="Rockwell" panose="02060603020205020403" pitchFamily="18" charset="0"/>
              </a:rPr>
              <a:t>"thinking power"</a:t>
            </a:r>
            <a:r>
              <a:rPr lang="en-US" sz="1200" b="0" i="0" u="none" strike="noStrike" dirty="0">
                <a:solidFill>
                  <a:srgbClr val="000000"/>
                </a:solidFill>
                <a:effectLst/>
                <a:latin typeface="Rockwell" panose="02060603020205020403" pitchFamily="18" charset="0"/>
              </a:rPr>
              <a:t>, hence AI means </a:t>
            </a:r>
            <a:r>
              <a:rPr lang="en-US" sz="1200" b="0" i="1" u="none" strike="noStrike" dirty="0">
                <a:solidFill>
                  <a:srgbClr val="000000"/>
                </a:solidFill>
                <a:effectLst/>
                <a:latin typeface="Rockwell" panose="02060603020205020403" pitchFamily="18" charset="0"/>
              </a:rPr>
              <a:t>"a man-made thinking power.“</a:t>
            </a:r>
          </a:p>
          <a:p>
            <a:pPr rtl="0" fontAlgn="base">
              <a:lnSpc>
                <a:spcPct val="160000"/>
              </a:lnSpc>
              <a:spcBef>
                <a:spcPts val="0"/>
              </a:spcBef>
              <a:spcAft>
                <a:spcPts val="0"/>
              </a:spcAft>
              <a:buFont typeface="Arial" panose="020B0604020202090204" pitchFamily="34" charset="0"/>
              <a:buChar char="•"/>
            </a:pPr>
            <a:r>
              <a:rPr lang="en-US" sz="1200" b="0" i="0" u="none" strike="noStrike" dirty="0">
                <a:solidFill>
                  <a:srgbClr val="000000"/>
                </a:solidFill>
                <a:effectLst/>
                <a:latin typeface="Rockwell" panose="02060603020205020403" pitchFamily="18" charset="0"/>
              </a:rPr>
              <a:t>Artificial Intelligence exists when a machine can have human based skills such as learning, reasoning, and solving problems</a:t>
            </a:r>
          </a:p>
          <a:p>
            <a:pPr rtl="0" fontAlgn="base">
              <a:lnSpc>
                <a:spcPct val="160000"/>
              </a:lnSpc>
              <a:spcBef>
                <a:spcPts val="0"/>
              </a:spcBef>
              <a:spcAft>
                <a:spcPts val="0"/>
              </a:spcAft>
              <a:buFont typeface="Arial" panose="020B0604020202090204" pitchFamily="34" charset="0"/>
              <a:buChar char="•"/>
            </a:pPr>
            <a:endParaRPr lang="en-US" sz="1200" b="0" i="0" u="none" strike="noStrike" dirty="0">
              <a:solidFill>
                <a:srgbClr val="000000"/>
              </a:solidFill>
              <a:effectLst/>
              <a:latin typeface="Rockwell" panose="02060603020205020403" pitchFamily="18" charset="0"/>
            </a:endParaRPr>
          </a:p>
          <a:p>
            <a:pPr rtl="0" fontAlgn="base">
              <a:lnSpc>
                <a:spcPct val="160000"/>
              </a:lnSpc>
              <a:spcBef>
                <a:spcPts val="0"/>
              </a:spcBef>
              <a:spcAft>
                <a:spcPts val="0"/>
              </a:spcAft>
              <a:buFont typeface="Arial" panose="020B0604020202090204" pitchFamily="34" charset="0"/>
              <a:buChar char="•"/>
            </a:pPr>
            <a:r>
              <a:rPr lang="en-US" dirty="0"/>
              <a:t>Eight definitions of AI, laid out along two dimensions. The definitions on top are concerned </a:t>
            </a:r>
            <a:r>
              <a:rPr lang="en-US" b="1" dirty="0"/>
              <a:t>with thought processes and reasoning, </a:t>
            </a:r>
            <a:r>
              <a:rPr lang="en-US" dirty="0"/>
              <a:t>whereas the ones on the </a:t>
            </a:r>
            <a:r>
              <a:rPr lang="en-US" b="1" dirty="0"/>
              <a:t>bottom address behavior</a:t>
            </a:r>
            <a:r>
              <a:rPr lang="en-US" dirty="0"/>
              <a:t>. The definitions on the left measure success in terms of fidelity to </a:t>
            </a:r>
            <a:r>
              <a:rPr lang="en-US" b="1" dirty="0"/>
              <a:t>human performance</a:t>
            </a:r>
            <a:r>
              <a:rPr lang="en-US" dirty="0"/>
              <a:t>, whereas </a:t>
            </a:r>
            <a:r>
              <a:rPr lang="en-US" b="1" dirty="0"/>
              <a:t>RATIONALITY the ones on the right measure against an ideal performance measure</a:t>
            </a:r>
            <a:r>
              <a:rPr lang="en-US" dirty="0"/>
              <a:t>, called rationality. A system is rational if it does the “right thing,” given what it knows.</a:t>
            </a:r>
          </a:p>
          <a:p>
            <a:pPr rtl="0" fontAlgn="base">
              <a:lnSpc>
                <a:spcPct val="160000"/>
              </a:lnSpc>
              <a:spcBef>
                <a:spcPts val="0"/>
              </a:spcBef>
              <a:spcAft>
                <a:spcPts val="0"/>
              </a:spcAft>
              <a:buFont typeface="Arial" panose="020B0604020202090204" pitchFamily="34" charset="0"/>
              <a:buChar char="•"/>
            </a:pPr>
            <a:r>
              <a:rPr lang="en-US" dirty="0"/>
              <a:t>THE FOUNDATIONS OF ARTIFICIAL INTELLIGENCE</a:t>
            </a:r>
          </a:p>
          <a:p>
            <a:pPr rtl="0" fontAlgn="base">
              <a:lnSpc>
                <a:spcPct val="160000"/>
              </a:lnSpc>
              <a:spcBef>
                <a:spcPts val="0"/>
              </a:spcBef>
              <a:spcAft>
                <a:spcPts val="0"/>
              </a:spcAft>
              <a:buFont typeface="Arial" panose="020B0604020202090204" pitchFamily="34" charset="0"/>
              <a:buChar char="•"/>
            </a:pPr>
            <a:r>
              <a:rPr lang="en-US" dirty="0"/>
              <a:t>Philosophy • Can formal rules be used to draw valid conclusions? • How does the mind arise from a physical brain? • Where does knowledge come from? • How does knowledge lead to action?</a:t>
            </a:r>
          </a:p>
          <a:p>
            <a:pPr rtl="0" fontAlgn="base">
              <a:lnSpc>
                <a:spcPct val="160000"/>
              </a:lnSpc>
              <a:spcBef>
                <a:spcPts val="0"/>
              </a:spcBef>
              <a:spcAft>
                <a:spcPts val="0"/>
              </a:spcAft>
              <a:buFont typeface="Arial" panose="020B0604020202090204" pitchFamily="34" charset="0"/>
              <a:buChar char="•"/>
            </a:pPr>
            <a:r>
              <a:rPr lang="en-US" dirty="0"/>
              <a:t>Mathematics • What are the formal rules to draw valid conclusions? • What can be computed? • How do we reason with uncertain information?</a:t>
            </a:r>
          </a:p>
          <a:p>
            <a:pPr rtl="0" fontAlgn="base">
              <a:lnSpc>
                <a:spcPct val="160000"/>
              </a:lnSpc>
              <a:spcBef>
                <a:spcPts val="0"/>
              </a:spcBef>
              <a:spcAft>
                <a:spcPts val="0"/>
              </a:spcAft>
              <a:buFont typeface="Arial" panose="020B0604020202090204" pitchFamily="34" charset="0"/>
              <a:buChar char="•"/>
            </a:pP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Economics • How should we make decisions so as to maximize payoff? • How should we do this when others may not go along? • How should we do this when the payoff may be far in the future?</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Neuroscience • How do brains process information?</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Psychology • How do humans and animals think and act?</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Computer engineering • How can we build an efficient computer?</a:t>
            </a:r>
            <a:endParaRPr lang="en-US" sz="1200" b="0" i="0" u="none" strike="noStrike" dirty="0">
              <a:solidFill>
                <a:srgbClr val="000000"/>
              </a:solidFill>
              <a:effectLst/>
              <a:latin typeface="Courier New" panose="02070309020205020404" pitchFamily="49" charset="0"/>
            </a:endParaRPr>
          </a:p>
          <a:p>
            <a:pPr rtl="0" fontAlgn="base">
              <a:lnSpc>
                <a:spcPct val="160000"/>
              </a:lnSpc>
              <a:spcBef>
                <a:spcPts val="0"/>
              </a:spcBef>
              <a:spcAft>
                <a:spcPts val="0"/>
              </a:spcAft>
              <a:buFont typeface="Arial" panose="020B0604020202090204" pitchFamily="34" charset="0"/>
              <a:buChar char="•"/>
            </a:pPr>
            <a:r>
              <a:rPr lang="en-US" dirty="0"/>
              <a:t>Control theory and cybernetics • How can artifacts operate under their own control?</a:t>
            </a:r>
          </a:p>
          <a:p>
            <a:pPr rtl="0" fontAlgn="base">
              <a:lnSpc>
                <a:spcPct val="160000"/>
              </a:lnSpc>
              <a:spcBef>
                <a:spcPts val="0"/>
              </a:spcBef>
              <a:spcAft>
                <a:spcPts val="0"/>
              </a:spcAft>
              <a:buFont typeface="Arial" panose="020B0604020202090204" pitchFamily="34" charset="0"/>
              <a:buChar char="•"/>
            </a:pPr>
            <a:r>
              <a:rPr lang="en-US" dirty="0"/>
              <a:t>Linguistics • How does language relate to thought?</a:t>
            </a:r>
            <a:endParaRPr lang="en-US" sz="1200" b="0" i="0" u="none" strike="noStrike" dirty="0">
              <a:solidFill>
                <a:srgbClr val="000000"/>
              </a:solidFill>
              <a:effectLst/>
              <a:latin typeface="Courier New" panose="02070309020205020404" pitchFamily="49" charset="0"/>
            </a:endParaRPr>
          </a:p>
          <a:p>
            <a:endParaRPr lang="en-IN" dirty="0"/>
          </a:p>
        </p:txBody>
      </p:sp>
      <p:sp>
        <p:nvSpPr>
          <p:cNvPr id="4" name="Slide Number Placeholder 3"/>
          <p:cNvSpPr>
            <a:spLocks noGrp="1"/>
          </p:cNvSpPr>
          <p:nvPr>
            <p:ph type="sldNum" sz="quarter" idx="5"/>
          </p:nvPr>
        </p:nvSpPr>
        <p:spPr>
          <a:xfrm>
            <a:off x="1588" y="9721850"/>
            <a:ext cx="3076575" cy="511175"/>
          </a:xfrm>
          <a:prstGeom prst="rect">
            <a:avLst/>
          </a:prstGeom>
        </p:spPr>
        <p:txBody>
          <a:bodyPr/>
          <a:lstStyle/>
          <a:p>
            <a:fld id="{9A503EA0-C788-D447-B8B6-EF9D00D7B489}" type="slidenum">
              <a:rPr lang="he-IL" altLang="en-US" smtClean="0"/>
              <a:t>17</a:t>
            </a:fld>
            <a:endParaRPr lang="en-US" altLang="en-US"/>
          </a:p>
        </p:txBody>
      </p:sp>
    </p:spTree>
    <p:extLst>
      <p:ext uri="{BB962C8B-B14F-4D97-AF65-F5344CB8AC3E}">
        <p14:creationId xmlns:p14="http://schemas.microsoft.com/office/powerpoint/2010/main" val="405671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0342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876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096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171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03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01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1999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02525221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Lst>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ocw.mit.edu/" TargetMode="External"/><Relationship Id="rId7" Type="http://schemas.openxmlformats.org/officeDocument/2006/relationships/hyperlink" Target="https://cs221.stanford.edu/"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inst.eecs.berkeley.edu/~cs188/" TargetMode="External"/><Relationship Id="rId5" Type="http://schemas.openxmlformats.org/officeDocument/2006/relationships/hyperlink" Target="https://coursera.org/" TargetMode="External"/><Relationship Id="rId4" Type="http://schemas.openxmlformats.org/officeDocument/2006/relationships/hyperlink" Target="https://cs.stanford.edu/"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0759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IN"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smtClean="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B.E. CSE (AIML)</a:t>
            </a:r>
          </a:p>
          <a:p>
            <a:pPr marL="0" marR="0" lvl="0" indent="0" algn="ctr" rtl="0">
              <a:lnSpc>
                <a:spcPct val="90000"/>
              </a:lnSpc>
              <a:spcBef>
                <a:spcPts val="1120"/>
              </a:spcBef>
              <a:spcAft>
                <a:spcPts val="0"/>
              </a:spcAft>
              <a:buClr>
                <a:schemeClr val="dk1"/>
              </a:buClr>
              <a:buSzPts val="2800"/>
              <a:buFont typeface="Times New Roman"/>
              <a:buNone/>
            </a:pPr>
            <a: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6</a:t>
            </a:r>
            <a:r>
              <a:rPr lang="en-IN" sz="2000" b="0" i="0" u="none" strike="noStrike" cap="none" baseline="30000" dirty="0" smtClean="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IN" sz="2000" b="0" i="0" u="none" strike="noStrike" cap="none" dirty="0" smtClean="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a:t>
            </a:r>
            <a:r>
              <a:rPr lang="en-IN"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Artificial </a:t>
            </a: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Intelligence</a:t>
            </a:r>
          </a:p>
          <a:p>
            <a:pPr lvl="0" algn="ctr">
              <a:lnSpc>
                <a:spcPct val="90000"/>
              </a:lnSpc>
              <a:spcBef>
                <a:spcPts val="980"/>
              </a:spcBef>
              <a:buClr>
                <a:schemeClr val="dk1"/>
              </a:buClr>
              <a:buSzPts val="2800"/>
            </a:pPr>
            <a:r>
              <a:rPr lang="en-US" sz="24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(23CSH-378</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a:t>
            </a:r>
            <a:r>
              <a:rPr lang="en-US" sz="1800" b="1" dirty="0" smtClean="0">
                <a:latin typeface="Calibri" panose="020F0502020204030204" pitchFamily="34" charset="0"/>
                <a:ea typeface="Calibri" panose="020F0502020204030204" pitchFamily="34" charset="0"/>
                <a:cs typeface="Calibri" panose="020F0502020204030204" pitchFamily="34" charset="0"/>
              </a:rPr>
              <a:t>1.3                   </a:t>
            </a:r>
            <a:r>
              <a:rPr lang="en-US" sz="1800" b="1" dirty="0">
                <a:latin typeface="Calibri" panose="020F0502020204030204" pitchFamily="34" charset="0"/>
                <a:ea typeface="Calibri" panose="020F0502020204030204" pitchFamily="34" charset="0"/>
                <a:cs typeface="Calibri" panose="020F0502020204030204" pitchFamily="34" charset="0"/>
              </a:rPr>
              <a:t>Lecture No. </a:t>
            </a:r>
            <a:r>
              <a:rPr lang="en-US" sz="1800" b="1" dirty="0" smtClean="0">
                <a:latin typeface="Calibri" panose="020F0502020204030204" pitchFamily="34" charset="0"/>
                <a:ea typeface="Calibri" panose="020F0502020204030204" pitchFamily="34" charset="0"/>
                <a:cs typeface="Calibri" panose="020F0502020204030204" pitchFamily="34" charset="0"/>
              </a:rPr>
              <a:t>11</a:t>
            </a:r>
            <a:r>
              <a:rPr lang="en-US" sz="1800" b="1" dirty="0" smtClean="0">
                <a:latin typeface="Calibri" panose="020F0502020204030204" pitchFamily="34" charset="0"/>
                <a:ea typeface="Calibri" panose="020F0502020204030204" pitchFamily="34" charset="0"/>
                <a:cs typeface="Calibri" panose="020F0502020204030204" pitchFamily="34" charset="0"/>
              </a:rPr>
              <a:t> </a:t>
            </a:r>
            <a:r>
              <a:rPr lang="en-US" sz="1800" b="1" dirty="0" smtClean="0">
                <a:latin typeface="Calibri" panose="020F0502020204030204" pitchFamily="34" charset="0"/>
                <a:ea typeface="Calibri" panose="020F0502020204030204" pitchFamily="34" charset="0"/>
                <a:cs typeface="Calibri" panose="020F0502020204030204" pitchFamily="34" charset="0"/>
              </a:rPr>
              <a:t>to </a:t>
            </a:r>
            <a:r>
              <a:rPr lang="en-US" sz="1800" b="1" dirty="0" smtClean="0">
                <a:latin typeface="Calibri" panose="020F0502020204030204" pitchFamily="34" charset="0"/>
                <a:ea typeface="Calibri" panose="020F0502020204030204" pitchFamily="34" charset="0"/>
                <a:cs typeface="Calibri" panose="020F0502020204030204" pitchFamily="34" charset="0"/>
              </a:rPr>
              <a:t>15</a:t>
            </a:r>
            <a:endParaRPr lang="en-US" sz="1800" b="1" dirty="0">
              <a:latin typeface="Calibri" panose="020F0502020204030204" pitchFamily="34" charset="0"/>
              <a:ea typeface="Calibri" panose="020F0502020204030204" pitchFamily="34" charset="0"/>
              <a:cs typeface="Calibri" panose="020F0502020204030204" pitchFamily="34" charset="0"/>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b="1" dirty="0"/>
              <a:t>Game Playing and Adversarial Search </a:t>
            </a:r>
            <a:endParaRPr lang="en-US" b="1" dirty="0" smtClean="0"/>
          </a:p>
          <a:p>
            <a:pPr>
              <a:spcBef>
                <a:spcPts val="1120"/>
              </a:spcBef>
              <a:buSzPts val="3200"/>
            </a:pPr>
            <a:r>
              <a:rPr lang="en-US" sz="1800" b="1" dirty="0" smtClean="0">
                <a:latin typeface="Calibri" panose="020F0502020204030204" pitchFamily="34" charset="0"/>
                <a:ea typeface="Calibri" panose="020F0502020204030204" pitchFamily="34" charset="0"/>
                <a:cs typeface="Calibri" panose="020F0502020204030204" pitchFamily="34" charset="0"/>
              </a:rPr>
              <a:t>Dr</a:t>
            </a:r>
            <a:r>
              <a:rPr lang="en-US" sz="1800" b="1" dirty="0">
                <a:latin typeface="Calibri" panose="020F0502020204030204" pitchFamily="34" charset="0"/>
                <a:ea typeface="Calibri" panose="020F0502020204030204" pitchFamily="34" charset="0"/>
                <a:cs typeface="Calibri" panose="020F0502020204030204" pitchFamily="34" charset="0"/>
              </a:rPr>
              <a:t>. Prabhjot Kaur (E16646)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a:t>
            </a:r>
            <a:r>
              <a:rPr lang="en-IN" sz="1600" b="1" dirty="0" smtClean="0">
                <a:latin typeface="Calibri" panose="020F0502020204030204" pitchFamily="34" charset="0"/>
                <a:ea typeface="Calibri" panose="020F0502020204030204" pitchFamily="34" charset="0"/>
                <a:cs typeface="Calibri" panose="020F0502020204030204" pitchFamily="34" charset="0"/>
              </a:rPr>
              <a:t>2026</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385500" y="892662"/>
            <a:ext cx="8508076"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smtClean="0">
                <a:latin typeface="Calibri" panose="020F0502020204030204" pitchFamily="34" charset="0"/>
                <a:ea typeface="Calibri" panose="020F0502020204030204" pitchFamily="34" charset="0"/>
                <a:cs typeface="Calibri" panose="020F0502020204030204" pitchFamily="34" charset="0"/>
              </a:rPr>
              <a:t>To </a:t>
            </a:r>
            <a:r>
              <a:rPr lang="en-US" sz="1600" b="1" dirty="0">
                <a:latin typeface="Calibri" panose="020F0502020204030204" pitchFamily="34" charset="0"/>
                <a:ea typeface="Calibri" panose="020F0502020204030204" pitchFamily="34" charset="0"/>
                <a:cs typeface="Calibri" panose="020F0502020204030204" pitchFamily="34" charset="0"/>
              </a:rPr>
              <a:t>develop an architecture and components of expert systems and distinguish them from conventional programming approaches.	</a:t>
            </a:r>
          </a:p>
          <a:p>
            <a:pPr marL="457200" lvl="0" indent="-276225" algn="just">
              <a:lnSpc>
                <a:spcPct val="150000"/>
              </a:lnSpc>
              <a:buFont typeface="+mj-lt"/>
              <a:buAutoNum type="arabicParenR"/>
            </a:pPr>
            <a:r>
              <a:rPr lang="en-US" sz="1600" b="1" dirty="0" smtClean="0">
                <a:latin typeface="Calibri" panose="020F0502020204030204" pitchFamily="34" charset="0"/>
                <a:ea typeface="Calibri" panose="020F0502020204030204" pitchFamily="34" charset="0"/>
                <a:cs typeface="Calibri" panose="020F0502020204030204" pitchFamily="34" charset="0"/>
              </a:rPr>
              <a:t>To </a:t>
            </a:r>
            <a:r>
              <a:rPr lang="en-US" sz="1600" b="1" dirty="0">
                <a:latin typeface="Calibri" panose="020F0502020204030204" pitchFamily="34" charset="0"/>
                <a:ea typeface="Calibri" panose="020F0502020204030204" pitchFamily="34" charset="0"/>
                <a:cs typeface="Calibri" panose="020F0502020204030204" pitchFamily="34" charset="0"/>
              </a:rPr>
              <a:t>apply knowledge representation and knowledge acquisition techniques for designing intelligent and rule-based systems.	</a:t>
            </a:r>
          </a:p>
          <a:p>
            <a:pPr marL="457200" lvl="0" indent="-276225" algn="just">
              <a:lnSpc>
                <a:spcPct val="150000"/>
              </a:lnSpc>
              <a:buFont typeface="+mj-lt"/>
              <a:buAutoNum type="arabicParenR"/>
            </a:pPr>
            <a:r>
              <a:rPr lang="en-US" sz="1600" b="1" dirty="0" smtClean="0">
                <a:latin typeface="Calibri" panose="020F0502020204030204" pitchFamily="34" charset="0"/>
                <a:ea typeface="Calibri" panose="020F0502020204030204" pitchFamily="34" charset="0"/>
                <a:cs typeface="Calibri" panose="020F0502020204030204" pitchFamily="34" charset="0"/>
              </a:rPr>
              <a:t>To </a:t>
            </a:r>
            <a:r>
              <a:rPr lang="en-US" sz="1600" b="1" dirty="0">
                <a:latin typeface="Calibri" panose="020F0502020204030204" pitchFamily="34" charset="0"/>
                <a:ea typeface="Calibri" panose="020F0502020204030204" pitchFamily="34" charset="0"/>
                <a:cs typeface="Calibri" panose="020F0502020204030204" pitchFamily="34" charset="0"/>
              </a:rPr>
              <a:t>explain inference mechanisms and explanation systems used in expert systems for effective decision making.	</a:t>
            </a:r>
          </a:p>
          <a:p>
            <a:pPr marL="457200" lvl="0" indent="-276225" algn="just">
              <a:lnSpc>
                <a:spcPct val="150000"/>
              </a:lnSpc>
              <a:buFont typeface="+mj-lt"/>
              <a:buAutoNum type="arabicParenR"/>
            </a:pPr>
            <a:r>
              <a:rPr lang="en-US" sz="1600" b="1" dirty="0" smtClean="0">
                <a:latin typeface="Calibri" panose="020F0502020204030204" pitchFamily="34" charset="0"/>
                <a:ea typeface="Calibri" panose="020F0502020204030204" pitchFamily="34" charset="0"/>
                <a:cs typeface="Calibri" panose="020F0502020204030204" pitchFamily="34" charset="0"/>
              </a:rPr>
              <a:t>To </a:t>
            </a:r>
            <a:r>
              <a:rPr lang="en-US" sz="1600" b="1" dirty="0">
                <a:latin typeface="Calibri" panose="020F0502020204030204" pitchFamily="34" charset="0"/>
                <a:ea typeface="Calibri" panose="020F0502020204030204" pitchFamily="34" charset="0"/>
                <a:cs typeface="Calibri" panose="020F0502020204030204" pitchFamily="34" charset="0"/>
              </a:rPr>
              <a:t>understand AI planning approaches, including classical, hierarchical, and multi-agent planning for real-world problem solving.	</a:t>
            </a:r>
          </a:p>
          <a:p>
            <a:pPr marL="457200" lvl="0" indent="-276225" algn="just">
              <a:lnSpc>
                <a:spcPct val="150000"/>
              </a:lnSpc>
              <a:buFont typeface="+mj-lt"/>
              <a:buAutoNum type="arabicParenR"/>
            </a:pPr>
            <a:r>
              <a:rPr lang="en-US" sz="1600" b="1" dirty="0" smtClean="0">
                <a:latin typeface="Calibri" panose="020F0502020204030204" pitchFamily="34" charset="0"/>
                <a:ea typeface="Calibri" panose="020F0502020204030204" pitchFamily="34" charset="0"/>
                <a:cs typeface="Calibri" panose="020F0502020204030204" pitchFamily="34" charset="0"/>
              </a:rPr>
              <a:t>To </a:t>
            </a:r>
            <a:r>
              <a:rPr lang="en-US" sz="1600" b="1" dirty="0">
                <a:latin typeface="Calibri" panose="020F0502020204030204" pitchFamily="34" charset="0"/>
                <a:ea typeface="Calibri" panose="020F0502020204030204" pitchFamily="34" charset="0"/>
                <a:cs typeface="Calibri" panose="020F0502020204030204" pitchFamily="34" charset="0"/>
              </a:rPr>
              <a:t>explore AI applications in robotics and computer vision, including path planning, obstacle avoidance, object detection, and SLAM using </a:t>
            </a:r>
            <a:r>
              <a:rPr lang="en-US" sz="1600" b="1" dirty="0" err="1">
                <a:latin typeface="Calibri" panose="020F0502020204030204" pitchFamily="34" charset="0"/>
                <a:ea typeface="Calibri" panose="020F0502020204030204" pitchFamily="34" charset="0"/>
                <a:cs typeface="Calibri" panose="020F0502020204030204" pitchFamily="34" charset="0"/>
              </a:rPr>
              <a:t>OpenCV</a:t>
            </a:r>
            <a:r>
              <a:rPr lang="en-US" sz="1600" b="1"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63975805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1115859386"/>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Times New Roman"/>
                          <a:ea typeface="Calibri"/>
                          <a:cs typeface="Arial"/>
                        </a:rPr>
                        <a:t>CO1</a:t>
                      </a:r>
                      <a:endParaRPr lang="en-US" sz="1800" dirty="0">
                        <a:solidFill>
                          <a:schemeClr val="bg2"/>
                        </a:solidFill>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smtClean="0">
                          <a:solidFill>
                            <a:schemeClr val="bg2"/>
                          </a:solidFill>
                          <a:effectLst/>
                          <a:latin typeface="Times New Roman"/>
                          <a:ea typeface="Times New Roman"/>
                          <a:cs typeface="Arial"/>
                        </a:rPr>
                        <a:t>Recall the fundamental concepts of AI, including intelligent agents, problem-solving approaches, and search strategies.</a:t>
                      </a:r>
                      <a:endParaRPr lang="en-US" sz="1800" dirty="0">
                        <a:solidFill>
                          <a:schemeClr val="bg2"/>
                        </a:solidFill>
                        <a:effectLst/>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755843755"/>
              </p:ext>
            </p:extLst>
          </p:nvPr>
        </p:nvGraphicFramePr>
        <p:xfrm>
          <a:off x="370114" y="1903851"/>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Times New Roman"/>
                          <a:ea typeface="Calibri"/>
                          <a:cs typeface="Arial"/>
                        </a:rPr>
                        <a:t>CO2</a:t>
                      </a:r>
                      <a:endParaRPr lang="en-US" sz="1800" dirty="0">
                        <a:solidFill>
                          <a:schemeClr val="bg2"/>
                        </a:solidFill>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smtClean="0">
                          <a:solidFill>
                            <a:schemeClr val="bg2"/>
                          </a:solidFill>
                          <a:effectLst/>
                          <a:latin typeface="Times New Roman"/>
                          <a:ea typeface="Times New Roman"/>
                          <a:cs typeface="Arial"/>
                        </a:rPr>
                        <a:t>Illustrate the various search techniques, including uninformed and heuristic-based methods, to solve AI-related problems.</a:t>
                      </a:r>
                      <a:endParaRPr lang="en-US" sz="1800" dirty="0">
                        <a:solidFill>
                          <a:schemeClr val="bg2"/>
                        </a:solidFill>
                        <a:effectLst/>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55406464"/>
              </p:ext>
            </p:extLst>
          </p:nvPr>
        </p:nvGraphicFramePr>
        <p:xfrm>
          <a:off x="370114" y="246412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539515">
                <a:tc>
                  <a:txBody>
                    <a:bodyPr/>
                    <a:lstStyle/>
                    <a:p>
                      <a:pPr marL="0" marR="53975" algn="l">
                        <a:spcBef>
                          <a:spcPts val="0"/>
                        </a:spcBef>
                        <a:spcAft>
                          <a:spcPts val="0"/>
                        </a:spcAft>
                      </a:pPr>
                      <a:r>
                        <a:rPr lang="en-IN" sz="1800" b="1" dirty="0">
                          <a:solidFill>
                            <a:schemeClr val="bg2"/>
                          </a:solidFill>
                          <a:effectLst/>
                          <a:latin typeface="Times New Roman"/>
                          <a:ea typeface="Calibri"/>
                          <a:cs typeface="Arial"/>
                        </a:rPr>
                        <a:t>CO3</a:t>
                      </a:r>
                      <a:endParaRPr lang="en-US" sz="1800" dirty="0">
                        <a:solidFill>
                          <a:schemeClr val="bg2"/>
                        </a:solidFill>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smtClean="0">
                          <a:solidFill>
                            <a:schemeClr val="bg2"/>
                          </a:solidFill>
                          <a:effectLst/>
                          <a:latin typeface="Times New Roman"/>
                          <a:ea typeface="Times New Roman"/>
                          <a:cs typeface="Arial"/>
                        </a:rPr>
                        <a:t>Implement rule-based systems using forward and backward chaining for decision-making and learning.</a:t>
                      </a:r>
                      <a:endParaRPr lang="en-US" sz="1800" dirty="0">
                        <a:solidFill>
                          <a:schemeClr val="bg2"/>
                        </a:solidFill>
                        <a:effectLst/>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2033381419"/>
              </p:ext>
            </p:extLst>
          </p:nvPr>
        </p:nvGraphicFramePr>
        <p:xfrm>
          <a:off x="370114" y="3024401"/>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Times New Roman"/>
                          <a:ea typeface="Calibri"/>
                          <a:cs typeface="Arial"/>
                        </a:rPr>
                        <a:t>CO4</a:t>
                      </a:r>
                      <a:endParaRPr lang="en-US" sz="1800" dirty="0">
                        <a:solidFill>
                          <a:schemeClr val="bg2"/>
                        </a:solidFill>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smtClean="0">
                          <a:solidFill>
                            <a:schemeClr val="bg2"/>
                          </a:solidFill>
                          <a:effectLst/>
                          <a:latin typeface="Times New Roman"/>
                          <a:ea typeface="Times New Roman"/>
                          <a:cs typeface="Arial"/>
                        </a:rPr>
                        <a:t>Analyze and evaluate different knowledge representation techniques, logic programming, and reasoning methods in AI.</a:t>
                      </a:r>
                      <a:endParaRPr lang="en-US" sz="1800" dirty="0">
                        <a:solidFill>
                          <a:schemeClr val="bg2"/>
                        </a:solidFill>
                        <a:effectLst/>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2027606574"/>
              </p:ext>
            </p:extLst>
          </p:nvPr>
        </p:nvGraphicFramePr>
        <p:xfrm>
          <a:off x="370114" y="35846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Times New Roman"/>
                          <a:ea typeface="Calibri"/>
                          <a:cs typeface="Arial"/>
                        </a:rPr>
                        <a:t>CO5</a:t>
                      </a:r>
                      <a:endParaRPr lang="en-US" sz="1800" dirty="0">
                        <a:solidFill>
                          <a:schemeClr val="bg2"/>
                        </a:solidFill>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smtClean="0">
                          <a:solidFill>
                            <a:schemeClr val="bg2"/>
                          </a:solidFill>
                          <a:effectLst/>
                          <a:latin typeface="Times New Roman"/>
                          <a:ea typeface="Times New Roman"/>
                          <a:cs typeface="Arial"/>
                        </a:rPr>
                        <a:t>Design and implement uncertainty handling techniques, including probabilistic reasoning, fuzzy logic, and Bayesian networks.</a:t>
                      </a:r>
                      <a:endParaRPr lang="en-US" sz="1800" dirty="0">
                        <a:solidFill>
                          <a:schemeClr val="bg2"/>
                        </a:solidFill>
                        <a:effectLst/>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rot="10800000">
            <a:off x="49828" y="1510650"/>
            <a:ext cx="346172" cy="216000"/>
          </a:xfrm>
          <a:prstGeom prst="rect">
            <a:avLst/>
          </a:prstGeom>
        </p:spPr>
      </p:pic>
    </p:spTree>
    <p:extLst>
      <p:ext uri="{BB962C8B-B14F-4D97-AF65-F5344CB8AC3E}">
        <p14:creationId xmlns:p14="http://schemas.microsoft.com/office/powerpoint/2010/main" val="123791136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569183988"/>
              </p:ext>
            </p:extLst>
          </p:nvPr>
        </p:nvGraphicFramePr>
        <p:xfrm>
          <a:off x="229850" y="1070345"/>
          <a:ext cx="8663726" cy="3920808"/>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48200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857693">
                <a:tc>
                  <a:txBody>
                    <a:bodyPr/>
                    <a:lstStyle/>
                    <a:p>
                      <a:pPr algn="ctr" fontAlgn="ctr">
                        <a:buNone/>
                      </a:pPr>
                      <a:r>
                        <a:rPr lang="en-IN" sz="1600" b="1"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Introduction to AI</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just" fontAlgn="ctr">
                        <a:buNone/>
                      </a:pPr>
                      <a:r>
                        <a:rPr lang="en-US" sz="1600"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Introduction, AI problems, foundation of AI and history of AI intelligent agents: Agents and Environments, the concept of rationality, the nature of environments, structure of agents, problem solving agents, problem formulation.</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857693">
                <a:tc>
                  <a:txBody>
                    <a:bodyPr/>
                    <a:lstStyle/>
                    <a:p>
                      <a:pPr algn="ctr" fontAlgn="ctr">
                        <a:buNone/>
                      </a:pPr>
                      <a:r>
                        <a:rPr lang="en-IN" sz="1600" b="1"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Search Strategies in AI</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just" fontAlgn="ctr">
                        <a:buNone/>
                      </a:pPr>
                      <a:r>
                        <a:rPr lang="en-US" sz="1600"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State Space Representation, uniformed search strategies – Breadth first search, depth first Search. Informed Search Strategies (Heuristic search) Hill climbing, A*, AO* Algorithms, Problem reduction, Constraint Satisfaction Problems (CSP) </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US" sz="1600" b="1"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Game Playing and Adversarial Search</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just" fontAlgn="ctr">
                        <a:buNone/>
                      </a:pPr>
                      <a:r>
                        <a:rPr lang="en-IN" sz="1600"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Introduction, Adversarial Search Algorithms: Mini-Max Algorithm, Optimal Strategies for Game Playing, Alpha-Beta Pruning (Optimization of Mini-Max),Move Ordering and Efficiency Improvements, Game Trees and State Representation, Real-World Applications of Game AI</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r h="743189">
                <a:tc>
                  <a:txBody>
                    <a:bodyPr/>
                    <a:lstStyle/>
                    <a:p>
                      <a:pPr algn="ctr" fontAlgn="ctr">
                        <a:buNone/>
                      </a:pPr>
                      <a:r>
                        <a:rPr lang="en-US" sz="1600" b="1" i="0"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Self-Study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just" fontAlgn="ctr">
                        <a:buNone/>
                      </a:pPr>
                      <a:r>
                        <a:rPr lang="en-US" sz="1600" b="0" i="0" u="none" strike="noStrike" dirty="0" smtClean="0">
                          <a:solidFill>
                            <a:schemeClr val="bg2"/>
                          </a:solidFill>
                          <a:effectLst/>
                          <a:latin typeface="Calibri" panose="020F0502020204030204" pitchFamily="34" charset="0"/>
                          <a:ea typeface="Calibri" panose="020F0502020204030204" pitchFamily="34" charset="0"/>
                          <a:cs typeface="Calibri" panose="020F0502020204030204" pitchFamily="34" charset="0"/>
                        </a:rPr>
                        <a:t>Backtracking, local search, and arc consistency techniques, Designing heuristics for strategic decision-making, Probabilistic decision-making in game AI</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273588243"/>
                  </a:ext>
                </a:extLst>
              </a:tr>
            </a:tbl>
          </a:graphicData>
        </a:graphic>
      </p:graphicFrame>
    </p:spTree>
    <p:extLst>
      <p:ext uri="{BB962C8B-B14F-4D97-AF65-F5344CB8AC3E}">
        <p14:creationId xmlns:p14="http://schemas.microsoft.com/office/powerpoint/2010/main" val="10520659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pic>
        <p:nvPicPr>
          <p:cNvPr id="4" name="Picture 3"/>
          <p:cNvPicPr>
            <a:picLocks noChangeAspect="1"/>
          </p:cNvPicPr>
          <p:nvPr/>
        </p:nvPicPr>
        <p:blipFill>
          <a:blip r:embed="rId3"/>
          <a:stretch>
            <a:fillRect/>
          </a:stretch>
        </p:blipFill>
        <p:spPr>
          <a:xfrm>
            <a:off x="701749" y="1013102"/>
            <a:ext cx="7563293" cy="3906228"/>
          </a:xfrm>
          <a:prstGeom prst="rect">
            <a:avLst/>
          </a:prstGeom>
        </p:spPr>
      </p:pic>
    </p:spTree>
    <p:extLst>
      <p:ext uri="{BB962C8B-B14F-4D97-AF65-F5344CB8AC3E}">
        <p14:creationId xmlns:p14="http://schemas.microsoft.com/office/powerpoint/2010/main" val="168628638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3785652"/>
          </a:xfrm>
          <a:prstGeom prst="rect">
            <a:avLst/>
          </a:prstGeom>
        </p:spPr>
        <p:txBody>
          <a:bodyPr wrap="square">
            <a:spAutoFit/>
          </a:bodyPr>
          <a:lstStyle/>
          <a:p>
            <a:pPr marL="342900" indent="-342900" algn="just">
              <a:lnSpc>
                <a:spcPct val="20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Adversarial Search </a:t>
            </a:r>
            <a:r>
              <a:rPr lang="en-US" sz="2000" dirty="0" smtClean="0">
                <a:latin typeface="Calibri" panose="020F0502020204030204" pitchFamily="34" charset="0"/>
                <a:ea typeface="Calibri" panose="020F0502020204030204" pitchFamily="34" charset="0"/>
                <a:cs typeface="Calibri" panose="020F0502020204030204" pitchFamily="34" charset="0"/>
              </a:rPr>
              <a:t>Algorithms</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lnSpc>
                <a:spcPct val="200000"/>
              </a:lnSpc>
              <a:buFont typeface="Wingdings" panose="05000000000000000000" pitchFamily="2" charset="2"/>
              <a:buChar char="§"/>
            </a:pPr>
            <a:r>
              <a:rPr lang="en-US" sz="2000" dirty="0" smtClean="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Optimal Strategies for Game </a:t>
            </a:r>
            <a:r>
              <a:rPr lang="en-US" sz="2000" dirty="0" smtClean="0">
                <a:latin typeface="Calibri" panose="020F0502020204030204" pitchFamily="34" charset="0"/>
                <a:ea typeface="Calibri" panose="020F0502020204030204" pitchFamily="34" charset="0"/>
                <a:cs typeface="Calibri" panose="020F0502020204030204" pitchFamily="34" charset="0"/>
              </a:rPr>
              <a:t>Playing</a:t>
            </a:r>
          </a:p>
          <a:p>
            <a:pPr marL="342900" indent="-342900" algn="just">
              <a:lnSpc>
                <a:spcPct val="200000"/>
              </a:lnSpc>
              <a:buFont typeface="Wingdings" panose="05000000000000000000" pitchFamily="2" charset="2"/>
              <a:buChar char="§"/>
            </a:pPr>
            <a:r>
              <a:rPr lang="en-US" sz="2000" dirty="0" smtClean="0">
                <a:latin typeface="Calibri" panose="020F0502020204030204" pitchFamily="34" charset="0"/>
                <a:ea typeface="Calibri" panose="020F0502020204030204" pitchFamily="34" charset="0"/>
                <a:cs typeface="Calibri" panose="020F0502020204030204" pitchFamily="34" charset="0"/>
              </a:rPr>
              <a:t>Alpha-Beta </a:t>
            </a:r>
            <a:r>
              <a:rPr lang="en-US" sz="2000" dirty="0">
                <a:latin typeface="Calibri" panose="020F0502020204030204" pitchFamily="34" charset="0"/>
                <a:ea typeface="Calibri" panose="020F0502020204030204" pitchFamily="34" charset="0"/>
                <a:cs typeface="Calibri" panose="020F0502020204030204" pitchFamily="34" charset="0"/>
              </a:rPr>
              <a:t>Pruning (Optimization of </a:t>
            </a:r>
            <a:r>
              <a:rPr lang="en-US" sz="2000" dirty="0" smtClean="0">
                <a:latin typeface="Calibri" panose="020F0502020204030204" pitchFamily="34" charset="0"/>
                <a:ea typeface="Calibri" panose="020F0502020204030204" pitchFamily="34" charset="0"/>
                <a:cs typeface="Calibri" panose="020F0502020204030204" pitchFamily="34" charset="0"/>
              </a:rPr>
              <a:t>Mini-Max)</a:t>
            </a:r>
          </a:p>
          <a:p>
            <a:pPr marL="342900" indent="-342900" algn="just">
              <a:lnSpc>
                <a:spcPct val="200000"/>
              </a:lnSpc>
              <a:buFont typeface="Wingdings" panose="05000000000000000000" pitchFamily="2" charset="2"/>
              <a:buChar char="§"/>
            </a:pPr>
            <a:r>
              <a:rPr lang="en-US" sz="2000" dirty="0" smtClean="0">
                <a:latin typeface="Calibri" panose="020F0502020204030204" pitchFamily="34" charset="0"/>
                <a:ea typeface="Calibri" panose="020F0502020204030204" pitchFamily="34" charset="0"/>
                <a:cs typeface="Calibri" panose="020F0502020204030204" pitchFamily="34" charset="0"/>
              </a:rPr>
              <a:t>Move </a:t>
            </a:r>
            <a:r>
              <a:rPr lang="en-US" sz="2000" dirty="0">
                <a:latin typeface="Calibri" panose="020F0502020204030204" pitchFamily="34" charset="0"/>
                <a:ea typeface="Calibri" panose="020F0502020204030204" pitchFamily="34" charset="0"/>
                <a:cs typeface="Calibri" panose="020F0502020204030204" pitchFamily="34" charset="0"/>
              </a:rPr>
              <a:t>Ordering and Efficiency </a:t>
            </a:r>
            <a:r>
              <a:rPr lang="en-US" sz="2000" dirty="0" smtClean="0">
                <a:latin typeface="Calibri" panose="020F0502020204030204" pitchFamily="34" charset="0"/>
                <a:ea typeface="Calibri" panose="020F0502020204030204" pitchFamily="34" charset="0"/>
                <a:cs typeface="Calibri" panose="020F0502020204030204" pitchFamily="34" charset="0"/>
              </a:rPr>
              <a:t>Improvements </a:t>
            </a:r>
          </a:p>
          <a:p>
            <a:pPr marL="342900" indent="-342900" algn="just">
              <a:lnSpc>
                <a:spcPct val="200000"/>
              </a:lnSpc>
              <a:buFont typeface="Wingdings" panose="05000000000000000000" pitchFamily="2" charset="2"/>
              <a:buChar char="§"/>
            </a:pPr>
            <a:r>
              <a:rPr lang="en-US" sz="2000" dirty="0" smtClean="0">
                <a:latin typeface="Calibri" panose="020F0502020204030204" pitchFamily="34" charset="0"/>
                <a:ea typeface="Calibri" panose="020F0502020204030204" pitchFamily="34" charset="0"/>
                <a:cs typeface="Calibri" panose="020F0502020204030204" pitchFamily="34" charset="0"/>
              </a:rPr>
              <a:t>Game </a:t>
            </a:r>
            <a:r>
              <a:rPr lang="en-US" sz="2000" dirty="0">
                <a:latin typeface="Calibri" panose="020F0502020204030204" pitchFamily="34" charset="0"/>
                <a:ea typeface="Calibri" panose="020F0502020204030204" pitchFamily="34" charset="0"/>
                <a:cs typeface="Calibri" panose="020F0502020204030204" pitchFamily="34" charset="0"/>
              </a:rPr>
              <a:t>Trees and State </a:t>
            </a:r>
            <a:r>
              <a:rPr lang="en-US" sz="2000" dirty="0" smtClean="0">
                <a:latin typeface="Calibri" panose="020F0502020204030204" pitchFamily="34" charset="0"/>
                <a:ea typeface="Calibri" panose="020F0502020204030204" pitchFamily="34" charset="0"/>
                <a:cs typeface="Calibri" panose="020F0502020204030204" pitchFamily="34" charset="0"/>
              </a:rPr>
              <a:t>Representation </a:t>
            </a:r>
          </a:p>
          <a:p>
            <a:pPr marL="342900" indent="-342900" algn="just">
              <a:lnSpc>
                <a:spcPct val="200000"/>
              </a:lnSpc>
              <a:buFont typeface="Wingdings" panose="05000000000000000000" pitchFamily="2" charset="2"/>
              <a:buChar char="§"/>
            </a:pPr>
            <a:r>
              <a:rPr lang="en-US" sz="2000" dirty="0" smtClean="0">
                <a:latin typeface="Calibri" panose="020F0502020204030204" pitchFamily="34" charset="0"/>
                <a:ea typeface="Calibri" panose="020F0502020204030204" pitchFamily="34" charset="0"/>
                <a:cs typeface="Calibri" panose="020F0502020204030204" pitchFamily="34" charset="0"/>
              </a:rPr>
              <a:t>Real-World </a:t>
            </a:r>
            <a:r>
              <a:rPr lang="en-US" sz="2000" dirty="0">
                <a:latin typeface="Calibri" panose="020F0502020204030204" pitchFamily="34" charset="0"/>
                <a:ea typeface="Calibri" panose="020F0502020204030204" pitchFamily="34" charset="0"/>
                <a:cs typeface="Calibri" panose="020F0502020204030204" pitchFamily="34" charset="0"/>
              </a:rPr>
              <a:t>Applications of Game AI</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73685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82" y="137071"/>
            <a:ext cx="7886700" cy="671003"/>
          </a:xfrm>
        </p:spPr>
        <p:txBody>
          <a:bodyPr/>
          <a:lstStyle/>
          <a:p>
            <a:r>
              <a:rPr lang="en-US" sz="4000" b="1" dirty="0" smtClean="0">
                <a:latin typeface="Calibri" panose="020F0502020204030204" pitchFamily="34" charset="0"/>
                <a:ea typeface="Calibri" panose="020F0502020204030204" pitchFamily="34" charset="0"/>
                <a:cs typeface="Calibri" panose="020F0502020204030204" pitchFamily="34" charset="0"/>
              </a:rPr>
              <a:t>Game Playing in AI:</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808073"/>
            <a:ext cx="8378454" cy="4138577"/>
          </a:xfrm>
        </p:spPr>
        <p:txBody>
          <a:bodyPr>
            <a:noAutofit/>
          </a:bodyPr>
          <a:lstStyle/>
          <a:p>
            <a:pPr algn="just" fontAlgn="base">
              <a:lnSpc>
                <a:spcPct val="160000"/>
              </a:lnSpc>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AI technique to make decisions in competitive environments</a:t>
            </a:r>
          </a:p>
          <a:p>
            <a:pPr algn="just" fontAlgn="base">
              <a:lnSpc>
                <a:spcPct val="160000"/>
              </a:lnSpc>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Player’s goal is to maximize gain and minimize opponent’s </a:t>
            </a: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chances.</a:t>
            </a:r>
          </a:p>
          <a:p>
            <a:pPr algn="just" fontAlgn="base">
              <a:lnSpc>
                <a:spcPct val="160000"/>
              </a:lnSpc>
            </a:pP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Game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playing has emerged as a cornerstone in artificial intelligence (AI), highlighting its ability to solve complex, strategic problems.</a:t>
            </a:r>
          </a:p>
          <a:p>
            <a:pPr marL="146050" indent="0" algn="just" fontAlgn="base">
              <a:lnSpc>
                <a:spcPct val="160000"/>
              </a:lnSpc>
              <a:buNone/>
            </a:pP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Used </a:t>
            </a: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in:</a:t>
            </a:r>
          </a:p>
          <a:p>
            <a:pPr marL="146050" indent="0" algn="just" fontAlgn="base">
              <a:lnSpc>
                <a:spcPct val="160000"/>
              </a:lnSpc>
              <a:buNone/>
            </a:pP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a:t>
            </a: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Chess</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 Ludo, Poker</a:t>
            </a:r>
          </a:p>
          <a:p>
            <a:pPr marL="146050" indent="0" algn="just" fontAlgn="base">
              <a:lnSpc>
                <a:spcPct val="160000"/>
              </a:lnSpc>
              <a:buNone/>
            </a:pP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•Online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strategy games</a:t>
            </a:r>
          </a:p>
          <a:p>
            <a:pPr marL="146050" indent="0" algn="just" fontAlgn="base">
              <a:lnSpc>
                <a:spcPct val="160000"/>
              </a:lnSpc>
              <a:buNone/>
            </a:pP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•Real-time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simulations</a:t>
            </a:r>
          </a:p>
        </p:txBody>
      </p:sp>
      <p:sp>
        <p:nvSpPr>
          <p:cNvPr id="4" name="Slide Number Placeholder 3"/>
          <p:cNvSpPr>
            <a:spLocks noGrp="1"/>
          </p:cNvSpPr>
          <p:nvPr>
            <p:ph type="sldNum" sz="quarter" idx="12"/>
          </p:nvPr>
        </p:nvSpPr>
        <p:spPr/>
        <p:txBody>
          <a:bodyPr/>
          <a:lstStyle/>
          <a:p>
            <a:fld id="{54950813-634B-403A-824A-4F332B97447E}" type="slidenum">
              <a:rPr lang="en-US" smtClean="0"/>
              <a:t>7</a:t>
            </a:fld>
            <a:endParaRPr lang="en-US"/>
          </a:p>
        </p:txBody>
      </p:sp>
      <p:pic>
        <p:nvPicPr>
          <p:cNvPr id="5" name="Picture 4"/>
          <p:cNvPicPr>
            <a:picLocks noChangeAspect="1"/>
          </p:cNvPicPr>
          <p:nvPr/>
        </p:nvPicPr>
        <p:blipFill>
          <a:blip r:embed="rId2"/>
          <a:stretch>
            <a:fillRect/>
          </a:stretch>
        </p:blipFill>
        <p:spPr>
          <a:xfrm>
            <a:off x="2919" y="0"/>
            <a:ext cx="708721" cy="1165961"/>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943" y="2992997"/>
            <a:ext cx="3118104" cy="1756854"/>
          </a:xfrm>
          <a:prstGeom prst="rect">
            <a:avLst/>
          </a:prstGeom>
        </p:spPr>
      </p:pic>
    </p:spTree>
    <p:extLst>
      <p:ext uri="{BB962C8B-B14F-4D97-AF65-F5344CB8AC3E}">
        <p14:creationId xmlns:p14="http://schemas.microsoft.com/office/powerpoint/2010/main" val="163626568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80">
                                          <p:stCondLst>
                                            <p:cond delay="0"/>
                                          </p:stCondLst>
                                        </p:cTn>
                                        <p:tgtEl>
                                          <p:spTgt spid="3">
                                            <p:txEl>
                                              <p:pRg st="3" end="3"/>
                                            </p:txEl>
                                          </p:spTgt>
                                        </p:tgtEl>
                                      </p:cBhvr>
                                    </p:animEffect>
                                    <p:anim calcmode="lin" valueType="num">
                                      <p:cBhvr>
                                        <p:cTn id="1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1" dur="26">
                                          <p:stCondLst>
                                            <p:cond delay="650"/>
                                          </p:stCondLst>
                                        </p:cTn>
                                        <p:tgtEl>
                                          <p:spTgt spid="3">
                                            <p:txEl>
                                              <p:pRg st="3" end="3"/>
                                            </p:txEl>
                                          </p:spTgt>
                                        </p:tgtEl>
                                      </p:cBhvr>
                                      <p:to x="100000" y="60000"/>
                                    </p:animScale>
                                    <p:animScale>
                                      <p:cBhvr>
                                        <p:cTn id="22" dur="166" decel="50000">
                                          <p:stCondLst>
                                            <p:cond delay="676"/>
                                          </p:stCondLst>
                                        </p:cTn>
                                        <p:tgtEl>
                                          <p:spTgt spid="3">
                                            <p:txEl>
                                              <p:pRg st="3" end="3"/>
                                            </p:txEl>
                                          </p:spTgt>
                                        </p:tgtEl>
                                      </p:cBhvr>
                                      <p:to x="100000" y="100000"/>
                                    </p:animScale>
                                    <p:animScale>
                                      <p:cBhvr>
                                        <p:cTn id="23" dur="26">
                                          <p:stCondLst>
                                            <p:cond delay="1312"/>
                                          </p:stCondLst>
                                        </p:cTn>
                                        <p:tgtEl>
                                          <p:spTgt spid="3">
                                            <p:txEl>
                                              <p:pRg st="3" end="3"/>
                                            </p:txEl>
                                          </p:spTgt>
                                        </p:tgtEl>
                                      </p:cBhvr>
                                      <p:to x="100000" y="80000"/>
                                    </p:animScale>
                                    <p:animScale>
                                      <p:cBhvr>
                                        <p:cTn id="24" dur="166" decel="50000">
                                          <p:stCondLst>
                                            <p:cond delay="1338"/>
                                          </p:stCondLst>
                                        </p:cTn>
                                        <p:tgtEl>
                                          <p:spTgt spid="3">
                                            <p:txEl>
                                              <p:pRg st="3" end="3"/>
                                            </p:txEl>
                                          </p:spTgt>
                                        </p:tgtEl>
                                      </p:cBhvr>
                                      <p:to x="100000" y="100000"/>
                                    </p:animScale>
                                    <p:animScale>
                                      <p:cBhvr>
                                        <p:cTn id="25" dur="26">
                                          <p:stCondLst>
                                            <p:cond delay="1642"/>
                                          </p:stCondLst>
                                        </p:cTn>
                                        <p:tgtEl>
                                          <p:spTgt spid="3">
                                            <p:txEl>
                                              <p:pRg st="3" end="3"/>
                                            </p:txEl>
                                          </p:spTgt>
                                        </p:tgtEl>
                                      </p:cBhvr>
                                      <p:to x="100000" y="90000"/>
                                    </p:animScale>
                                    <p:animScale>
                                      <p:cBhvr>
                                        <p:cTn id="26" dur="166" decel="50000">
                                          <p:stCondLst>
                                            <p:cond delay="1668"/>
                                          </p:stCondLst>
                                        </p:cTn>
                                        <p:tgtEl>
                                          <p:spTgt spid="3">
                                            <p:txEl>
                                              <p:pRg st="3" end="3"/>
                                            </p:txEl>
                                          </p:spTgt>
                                        </p:tgtEl>
                                      </p:cBhvr>
                                      <p:to x="100000" y="100000"/>
                                    </p:animScale>
                                    <p:animScale>
                                      <p:cBhvr>
                                        <p:cTn id="27" dur="26">
                                          <p:stCondLst>
                                            <p:cond delay="1808"/>
                                          </p:stCondLst>
                                        </p:cTn>
                                        <p:tgtEl>
                                          <p:spTgt spid="3">
                                            <p:txEl>
                                              <p:pRg st="3" end="3"/>
                                            </p:txEl>
                                          </p:spTgt>
                                        </p:tgtEl>
                                      </p:cBhvr>
                                      <p:to x="100000" y="95000"/>
                                    </p:animScale>
                                    <p:animScale>
                                      <p:cBhvr>
                                        <p:cTn id="28" dur="166" decel="50000">
                                          <p:stCondLst>
                                            <p:cond delay="1834"/>
                                          </p:stCondLst>
                                        </p:cTn>
                                        <p:tgtEl>
                                          <p:spTgt spid="3">
                                            <p:txEl>
                                              <p:pRg st="3" end="3"/>
                                            </p:txEl>
                                          </p:spTgt>
                                        </p:tgtEl>
                                      </p:cBhvr>
                                      <p:to x="100000" y="100000"/>
                                    </p:animScale>
                                  </p:childTnLst>
                                </p:cTn>
                              </p:par>
                              <p:par>
                                <p:cTn id="29" presetID="26"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wipe(down)">
                                      <p:cBhvr>
                                        <p:cTn id="31" dur="580">
                                          <p:stCondLst>
                                            <p:cond delay="0"/>
                                          </p:stCondLst>
                                        </p:cTn>
                                        <p:tgtEl>
                                          <p:spTgt spid="3">
                                            <p:txEl>
                                              <p:pRg st="4" end="4"/>
                                            </p:txEl>
                                          </p:spTgt>
                                        </p:tgtEl>
                                      </p:cBhvr>
                                    </p:animEffect>
                                    <p:anim calcmode="lin" valueType="num">
                                      <p:cBhvr>
                                        <p:cTn id="3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xEl>
                                              <p:pRg st="4" end="4"/>
                                            </p:txEl>
                                          </p:spTgt>
                                        </p:tgtEl>
                                      </p:cBhvr>
                                      <p:to x="100000" y="60000"/>
                                    </p:animScale>
                                    <p:animScale>
                                      <p:cBhvr>
                                        <p:cTn id="38" dur="166" decel="50000">
                                          <p:stCondLst>
                                            <p:cond delay="676"/>
                                          </p:stCondLst>
                                        </p:cTn>
                                        <p:tgtEl>
                                          <p:spTgt spid="3">
                                            <p:txEl>
                                              <p:pRg st="4" end="4"/>
                                            </p:txEl>
                                          </p:spTgt>
                                        </p:tgtEl>
                                      </p:cBhvr>
                                      <p:to x="100000" y="100000"/>
                                    </p:animScale>
                                    <p:animScale>
                                      <p:cBhvr>
                                        <p:cTn id="39" dur="26">
                                          <p:stCondLst>
                                            <p:cond delay="1312"/>
                                          </p:stCondLst>
                                        </p:cTn>
                                        <p:tgtEl>
                                          <p:spTgt spid="3">
                                            <p:txEl>
                                              <p:pRg st="4" end="4"/>
                                            </p:txEl>
                                          </p:spTgt>
                                        </p:tgtEl>
                                      </p:cBhvr>
                                      <p:to x="100000" y="80000"/>
                                    </p:animScale>
                                    <p:animScale>
                                      <p:cBhvr>
                                        <p:cTn id="40" dur="166" decel="50000">
                                          <p:stCondLst>
                                            <p:cond delay="1338"/>
                                          </p:stCondLst>
                                        </p:cTn>
                                        <p:tgtEl>
                                          <p:spTgt spid="3">
                                            <p:txEl>
                                              <p:pRg st="4" end="4"/>
                                            </p:txEl>
                                          </p:spTgt>
                                        </p:tgtEl>
                                      </p:cBhvr>
                                      <p:to x="100000" y="100000"/>
                                    </p:animScale>
                                    <p:animScale>
                                      <p:cBhvr>
                                        <p:cTn id="41" dur="26">
                                          <p:stCondLst>
                                            <p:cond delay="1642"/>
                                          </p:stCondLst>
                                        </p:cTn>
                                        <p:tgtEl>
                                          <p:spTgt spid="3">
                                            <p:txEl>
                                              <p:pRg st="4" end="4"/>
                                            </p:txEl>
                                          </p:spTgt>
                                        </p:tgtEl>
                                      </p:cBhvr>
                                      <p:to x="100000" y="90000"/>
                                    </p:animScale>
                                    <p:animScale>
                                      <p:cBhvr>
                                        <p:cTn id="42" dur="166" decel="50000">
                                          <p:stCondLst>
                                            <p:cond delay="1668"/>
                                          </p:stCondLst>
                                        </p:cTn>
                                        <p:tgtEl>
                                          <p:spTgt spid="3">
                                            <p:txEl>
                                              <p:pRg st="4" end="4"/>
                                            </p:txEl>
                                          </p:spTgt>
                                        </p:tgtEl>
                                      </p:cBhvr>
                                      <p:to x="100000" y="100000"/>
                                    </p:animScale>
                                    <p:animScale>
                                      <p:cBhvr>
                                        <p:cTn id="43" dur="26">
                                          <p:stCondLst>
                                            <p:cond delay="1808"/>
                                          </p:stCondLst>
                                        </p:cTn>
                                        <p:tgtEl>
                                          <p:spTgt spid="3">
                                            <p:txEl>
                                              <p:pRg st="4" end="4"/>
                                            </p:txEl>
                                          </p:spTgt>
                                        </p:tgtEl>
                                      </p:cBhvr>
                                      <p:to x="100000" y="95000"/>
                                    </p:animScale>
                                    <p:animScale>
                                      <p:cBhvr>
                                        <p:cTn id="44" dur="166" decel="50000">
                                          <p:stCondLst>
                                            <p:cond delay="1834"/>
                                          </p:stCondLst>
                                        </p:cTn>
                                        <p:tgtEl>
                                          <p:spTgt spid="3">
                                            <p:txEl>
                                              <p:pRg st="4" end="4"/>
                                            </p:txEl>
                                          </p:spTgt>
                                        </p:tgtEl>
                                      </p:cBhvr>
                                      <p:to x="100000" y="100000"/>
                                    </p:animScale>
                                  </p:childTnLst>
                                </p:cTn>
                              </p:par>
                              <p:par>
                                <p:cTn id="45" presetID="26" presetClass="entr" presetSubtype="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wipe(down)">
                                      <p:cBhvr>
                                        <p:cTn id="47" dur="580">
                                          <p:stCondLst>
                                            <p:cond delay="0"/>
                                          </p:stCondLst>
                                        </p:cTn>
                                        <p:tgtEl>
                                          <p:spTgt spid="3">
                                            <p:txEl>
                                              <p:pRg st="5" end="5"/>
                                            </p:txEl>
                                          </p:spTgt>
                                        </p:tgtEl>
                                      </p:cBhvr>
                                    </p:animEffect>
                                    <p:anim calcmode="lin" valueType="num">
                                      <p:cBhvr>
                                        <p:cTn id="4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5" end="5"/>
                                            </p:txEl>
                                          </p:spTgt>
                                        </p:tgtEl>
                                      </p:cBhvr>
                                      <p:to x="100000" y="60000"/>
                                    </p:animScale>
                                    <p:animScale>
                                      <p:cBhvr>
                                        <p:cTn id="54" dur="166" decel="50000">
                                          <p:stCondLst>
                                            <p:cond delay="676"/>
                                          </p:stCondLst>
                                        </p:cTn>
                                        <p:tgtEl>
                                          <p:spTgt spid="3">
                                            <p:txEl>
                                              <p:pRg st="5" end="5"/>
                                            </p:txEl>
                                          </p:spTgt>
                                        </p:tgtEl>
                                      </p:cBhvr>
                                      <p:to x="100000" y="100000"/>
                                    </p:animScale>
                                    <p:animScale>
                                      <p:cBhvr>
                                        <p:cTn id="55" dur="26">
                                          <p:stCondLst>
                                            <p:cond delay="1312"/>
                                          </p:stCondLst>
                                        </p:cTn>
                                        <p:tgtEl>
                                          <p:spTgt spid="3">
                                            <p:txEl>
                                              <p:pRg st="5" end="5"/>
                                            </p:txEl>
                                          </p:spTgt>
                                        </p:tgtEl>
                                      </p:cBhvr>
                                      <p:to x="100000" y="80000"/>
                                    </p:animScale>
                                    <p:animScale>
                                      <p:cBhvr>
                                        <p:cTn id="56" dur="166" decel="50000">
                                          <p:stCondLst>
                                            <p:cond delay="1338"/>
                                          </p:stCondLst>
                                        </p:cTn>
                                        <p:tgtEl>
                                          <p:spTgt spid="3">
                                            <p:txEl>
                                              <p:pRg st="5" end="5"/>
                                            </p:txEl>
                                          </p:spTgt>
                                        </p:tgtEl>
                                      </p:cBhvr>
                                      <p:to x="100000" y="100000"/>
                                    </p:animScale>
                                    <p:animScale>
                                      <p:cBhvr>
                                        <p:cTn id="57" dur="26">
                                          <p:stCondLst>
                                            <p:cond delay="1642"/>
                                          </p:stCondLst>
                                        </p:cTn>
                                        <p:tgtEl>
                                          <p:spTgt spid="3">
                                            <p:txEl>
                                              <p:pRg st="5" end="5"/>
                                            </p:txEl>
                                          </p:spTgt>
                                        </p:tgtEl>
                                      </p:cBhvr>
                                      <p:to x="100000" y="90000"/>
                                    </p:animScale>
                                    <p:animScale>
                                      <p:cBhvr>
                                        <p:cTn id="58" dur="166" decel="50000">
                                          <p:stCondLst>
                                            <p:cond delay="1668"/>
                                          </p:stCondLst>
                                        </p:cTn>
                                        <p:tgtEl>
                                          <p:spTgt spid="3">
                                            <p:txEl>
                                              <p:pRg st="5" end="5"/>
                                            </p:txEl>
                                          </p:spTgt>
                                        </p:tgtEl>
                                      </p:cBhvr>
                                      <p:to x="100000" y="100000"/>
                                    </p:animScale>
                                    <p:animScale>
                                      <p:cBhvr>
                                        <p:cTn id="59" dur="26">
                                          <p:stCondLst>
                                            <p:cond delay="1808"/>
                                          </p:stCondLst>
                                        </p:cTn>
                                        <p:tgtEl>
                                          <p:spTgt spid="3">
                                            <p:txEl>
                                              <p:pRg st="5" end="5"/>
                                            </p:txEl>
                                          </p:spTgt>
                                        </p:tgtEl>
                                      </p:cBhvr>
                                      <p:to x="100000" y="95000"/>
                                    </p:animScale>
                                    <p:animScale>
                                      <p:cBhvr>
                                        <p:cTn id="60" dur="166" decel="50000">
                                          <p:stCondLst>
                                            <p:cond delay="1834"/>
                                          </p:stCondLst>
                                        </p:cTn>
                                        <p:tgtEl>
                                          <p:spTgt spid="3">
                                            <p:txEl>
                                              <p:pRg st="5" end="5"/>
                                            </p:txEl>
                                          </p:spTgt>
                                        </p:tgtEl>
                                      </p:cBhvr>
                                      <p:to x="100000" y="100000"/>
                                    </p:animScale>
                                  </p:childTnLst>
                                </p:cTn>
                              </p:par>
                              <p:par>
                                <p:cTn id="61" presetID="26" presetClass="entr" presetSubtype="0"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wipe(down)">
                                      <p:cBhvr>
                                        <p:cTn id="63" dur="580">
                                          <p:stCondLst>
                                            <p:cond delay="0"/>
                                          </p:stCondLst>
                                        </p:cTn>
                                        <p:tgtEl>
                                          <p:spTgt spid="3">
                                            <p:txEl>
                                              <p:pRg st="6" end="6"/>
                                            </p:txEl>
                                          </p:spTgt>
                                        </p:tgtEl>
                                      </p:cBhvr>
                                    </p:animEffect>
                                    <p:anim calcmode="lin" valueType="num">
                                      <p:cBhvr>
                                        <p:cTn id="6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69" dur="26">
                                          <p:stCondLst>
                                            <p:cond delay="650"/>
                                          </p:stCondLst>
                                        </p:cTn>
                                        <p:tgtEl>
                                          <p:spTgt spid="3">
                                            <p:txEl>
                                              <p:pRg st="6" end="6"/>
                                            </p:txEl>
                                          </p:spTgt>
                                        </p:tgtEl>
                                      </p:cBhvr>
                                      <p:to x="100000" y="60000"/>
                                    </p:animScale>
                                    <p:animScale>
                                      <p:cBhvr>
                                        <p:cTn id="70" dur="166" decel="50000">
                                          <p:stCondLst>
                                            <p:cond delay="676"/>
                                          </p:stCondLst>
                                        </p:cTn>
                                        <p:tgtEl>
                                          <p:spTgt spid="3">
                                            <p:txEl>
                                              <p:pRg st="6" end="6"/>
                                            </p:txEl>
                                          </p:spTgt>
                                        </p:tgtEl>
                                      </p:cBhvr>
                                      <p:to x="100000" y="100000"/>
                                    </p:animScale>
                                    <p:animScale>
                                      <p:cBhvr>
                                        <p:cTn id="71" dur="26">
                                          <p:stCondLst>
                                            <p:cond delay="1312"/>
                                          </p:stCondLst>
                                        </p:cTn>
                                        <p:tgtEl>
                                          <p:spTgt spid="3">
                                            <p:txEl>
                                              <p:pRg st="6" end="6"/>
                                            </p:txEl>
                                          </p:spTgt>
                                        </p:tgtEl>
                                      </p:cBhvr>
                                      <p:to x="100000" y="80000"/>
                                    </p:animScale>
                                    <p:animScale>
                                      <p:cBhvr>
                                        <p:cTn id="72" dur="166" decel="50000">
                                          <p:stCondLst>
                                            <p:cond delay="1338"/>
                                          </p:stCondLst>
                                        </p:cTn>
                                        <p:tgtEl>
                                          <p:spTgt spid="3">
                                            <p:txEl>
                                              <p:pRg st="6" end="6"/>
                                            </p:txEl>
                                          </p:spTgt>
                                        </p:tgtEl>
                                      </p:cBhvr>
                                      <p:to x="100000" y="100000"/>
                                    </p:animScale>
                                    <p:animScale>
                                      <p:cBhvr>
                                        <p:cTn id="73" dur="26">
                                          <p:stCondLst>
                                            <p:cond delay="1642"/>
                                          </p:stCondLst>
                                        </p:cTn>
                                        <p:tgtEl>
                                          <p:spTgt spid="3">
                                            <p:txEl>
                                              <p:pRg st="6" end="6"/>
                                            </p:txEl>
                                          </p:spTgt>
                                        </p:tgtEl>
                                      </p:cBhvr>
                                      <p:to x="100000" y="90000"/>
                                    </p:animScale>
                                    <p:animScale>
                                      <p:cBhvr>
                                        <p:cTn id="74" dur="166" decel="50000">
                                          <p:stCondLst>
                                            <p:cond delay="1668"/>
                                          </p:stCondLst>
                                        </p:cTn>
                                        <p:tgtEl>
                                          <p:spTgt spid="3">
                                            <p:txEl>
                                              <p:pRg st="6" end="6"/>
                                            </p:txEl>
                                          </p:spTgt>
                                        </p:tgtEl>
                                      </p:cBhvr>
                                      <p:to x="100000" y="100000"/>
                                    </p:animScale>
                                    <p:animScale>
                                      <p:cBhvr>
                                        <p:cTn id="75" dur="26">
                                          <p:stCondLst>
                                            <p:cond delay="1808"/>
                                          </p:stCondLst>
                                        </p:cTn>
                                        <p:tgtEl>
                                          <p:spTgt spid="3">
                                            <p:txEl>
                                              <p:pRg st="6" end="6"/>
                                            </p:txEl>
                                          </p:spTgt>
                                        </p:tgtEl>
                                      </p:cBhvr>
                                      <p:to x="100000" y="95000"/>
                                    </p:animScale>
                                    <p:animScale>
                                      <p:cBhvr>
                                        <p:cTn id="76" dur="166" decel="50000">
                                          <p:stCondLst>
                                            <p:cond delay="1834"/>
                                          </p:stCondLst>
                                        </p:cTn>
                                        <p:tgtEl>
                                          <p:spTgt spid="3">
                                            <p:txEl>
                                              <p:pRg st="6" end="6"/>
                                            </p:txEl>
                                          </p:spTgt>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down)">
                                      <p:cBhvr>
                                        <p:cTn id="81" dur="580">
                                          <p:stCondLst>
                                            <p:cond delay="0"/>
                                          </p:stCondLst>
                                        </p:cTn>
                                        <p:tgtEl>
                                          <p:spTgt spid="9"/>
                                        </p:tgtEl>
                                      </p:cBhvr>
                                    </p:animEffect>
                                    <p:anim calcmode="lin" valueType="num">
                                      <p:cBhvr>
                                        <p:cTn id="8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87" dur="26">
                                          <p:stCondLst>
                                            <p:cond delay="650"/>
                                          </p:stCondLst>
                                        </p:cTn>
                                        <p:tgtEl>
                                          <p:spTgt spid="9"/>
                                        </p:tgtEl>
                                      </p:cBhvr>
                                      <p:to x="100000" y="60000"/>
                                    </p:animScale>
                                    <p:animScale>
                                      <p:cBhvr>
                                        <p:cTn id="88" dur="166" decel="50000">
                                          <p:stCondLst>
                                            <p:cond delay="676"/>
                                          </p:stCondLst>
                                        </p:cTn>
                                        <p:tgtEl>
                                          <p:spTgt spid="9"/>
                                        </p:tgtEl>
                                      </p:cBhvr>
                                      <p:to x="100000" y="100000"/>
                                    </p:animScale>
                                    <p:animScale>
                                      <p:cBhvr>
                                        <p:cTn id="89" dur="26">
                                          <p:stCondLst>
                                            <p:cond delay="1312"/>
                                          </p:stCondLst>
                                        </p:cTn>
                                        <p:tgtEl>
                                          <p:spTgt spid="9"/>
                                        </p:tgtEl>
                                      </p:cBhvr>
                                      <p:to x="100000" y="80000"/>
                                    </p:animScale>
                                    <p:animScale>
                                      <p:cBhvr>
                                        <p:cTn id="90" dur="166" decel="50000">
                                          <p:stCondLst>
                                            <p:cond delay="1338"/>
                                          </p:stCondLst>
                                        </p:cTn>
                                        <p:tgtEl>
                                          <p:spTgt spid="9"/>
                                        </p:tgtEl>
                                      </p:cBhvr>
                                      <p:to x="100000" y="100000"/>
                                    </p:animScale>
                                    <p:animScale>
                                      <p:cBhvr>
                                        <p:cTn id="91" dur="26">
                                          <p:stCondLst>
                                            <p:cond delay="1642"/>
                                          </p:stCondLst>
                                        </p:cTn>
                                        <p:tgtEl>
                                          <p:spTgt spid="9"/>
                                        </p:tgtEl>
                                      </p:cBhvr>
                                      <p:to x="100000" y="90000"/>
                                    </p:animScale>
                                    <p:animScale>
                                      <p:cBhvr>
                                        <p:cTn id="92" dur="166" decel="50000">
                                          <p:stCondLst>
                                            <p:cond delay="1668"/>
                                          </p:stCondLst>
                                        </p:cTn>
                                        <p:tgtEl>
                                          <p:spTgt spid="9"/>
                                        </p:tgtEl>
                                      </p:cBhvr>
                                      <p:to x="100000" y="100000"/>
                                    </p:animScale>
                                    <p:animScale>
                                      <p:cBhvr>
                                        <p:cTn id="93" dur="26">
                                          <p:stCondLst>
                                            <p:cond delay="1808"/>
                                          </p:stCondLst>
                                        </p:cTn>
                                        <p:tgtEl>
                                          <p:spTgt spid="9"/>
                                        </p:tgtEl>
                                      </p:cBhvr>
                                      <p:to x="100000" y="95000"/>
                                    </p:animScale>
                                    <p:animScale>
                                      <p:cBhvr>
                                        <p:cTn id="94"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82" y="137071"/>
            <a:ext cx="7886700" cy="671003"/>
          </a:xfrm>
        </p:spPr>
        <p:txBody>
          <a:bodyPr/>
          <a:lstStyle/>
          <a:p>
            <a:r>
              <a:rPr lang="en-US" sz="4000" b="1" dirty="0" smtClean="0">
                <a:latin typeface="Calibri" panose="020F0502020204030204" pitchFamily="34" charset="0"/>
                <a:ea typeface="Calibri" panose="020F0502020204030204" pitchFamily="34" charset="0"/>
                <a:cs typeface="Calibri" panose="020F0502020204030204" pitchFamily="34" charset="0"/>
              </a:rPr>
              <a:t>Game </a:t>
            </a:r>
            <a:r>
              <a:rPr lang="en-US" sz="4000" b="1" dirty="0">
                <a:latin typeface="Calibri" panose="020F0502020204030204" pitchFamily="34" charset="0"/>
                <a:ea typeface="Calibri" panose="020F0502020204030204" pitchFamily="34" charset="0"/>
                <a:cs typeface="Calibri" panose="020F0502020204030204" pitchFamily="34" charset="0"/>
              </a:rPr>
              <a:t>(Cont.…)</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711640" y="914400"/>
            <a:ext cx="8262239" cy="4019107"/>
          </a:xfrm>
        </p:spPr>
        <p:txBody>
          <a:bodyPr>
            <a:noAutofit/>
          </a:bodyPr>
          <a:lstStyle/>
          <a:p>
            <a:pPr algn="just" fontAlgn="base">
              <a:lnSpc>
                <a:spcPct val="100000"/>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Game playing has emerged as a cornerstone in artificial intelligence (AI), highlighting its ability to solve complex, strategic </a:t>
            </a:r>
            <a:r>
              <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problems.</a:t>
            </a:r>
          </a:p>
          <a:p>
            <a:pPr marL="146050" indent="0" algn="just" fontAlgn="base">
              <a:lnSpc>
                <a:spcPct val="100000"/>
              </a:lnSpc>
              <a:buNone/>
            </a:pPr>
            <a:endPar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fontAlgn="base">
              <a:lnSpc>
                <a:spcPct val="100000"/>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With AI's ability to learn, adapt, and make strategic decisions, it is now becoming an essential player in various gaming domains, reshaping how we experience and interact with experience and interact with games</a:t>
            </a:r>
            <a:r>
              <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a:t>
            </a:r>
          </a:p>
          <a:p>
            <a:pPr marL="146050" indent="0" algn="just" fontAlgn="base">
              <a:lnSpc>
                <a:spcPct val="100000"/>
              </a:lnSpc>
              <a:buNone/>
            </a:pPr>
            <a:endPar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fontAlgn="base">
              <a:lnSpc>
                <a:spcPct val="100000"/>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Game playing in artificial intelligence refers to the development of algorithms and models that enable machines to play and excel in games that require decision-making, strategy, and problem-solving</a:t>
            </a:r>
            <a:r>
              <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a:t>
            </a:r>
          </a:p>
          <a:p>
            <a:pPr marL="146050" indent="0" algn="just" fontAlgn="base">
              <a:lnSpc>
                <a:spcPct val="100000"/>
              </a:lnSpc>
              <a:buNone/>
            </a:pPr>
            <a:endParaRPr lang="en-US" sz="1600"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fontAlgn="base">
              <a:lnSpc>
                <a:spcPct val="100000"/>
              </a:lnSpc>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Games don't require much knowledge; the only knowledge we need to provide is the rules, legal moves and the conditions of winning or losing the game.</a:t>
            </a:r>
          </a:p>
          <a:p>
            <a:pPr algn="just" fontAlgn="base">
              <a:lnSpc>
                <a:spcPct val="100000"/>
              </a:lnSpc>
            </a:pPr>
            <a:endPar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920" y="1"/>
            <a:ext cx="542886" cy="893136"/>
          </a:xfrm>
          <a:prstGeom prst="rect">
            <a:avLst/>
          </a:prstGeom>
        </p:spPr>
      </p:pic>
    </p:spTree>
    <p:extLst>
      <p:ext uri="{BB962C8B-B14F-4D97-AF65-F5344CB8AC3E}">
        <p14:creationId xmlns:p14="http://schemas.microsoft.com/office/powerpoint/2010/main" val="222371593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wipe(down)">
                                      <p:cBhvr>
                                        <p:cTn id="43" dur="580">
                                          <p:stCondLst>
                                            <p:cond delay="0"/>
                                          </p:stCondLst>
                                        </p:cTn>
                                        <p:tgtEl>
                                          <p:spTgt spid="3">
                                            <p:txEl>
                                              <p:pRg st="4" end="4"/>
                                            </p:txEl>
                                          </p:spTgt>
                                        </p:tgtEl>
                                      </p:cBhvr>
                                    </p:animEffect>
                                    <p:anim calcmode="lin" valueType="num">
                                      <p:cBhvr>
                                        <p:cTn id="44"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4" end="4"/>
                                            </p:txEl>
                                          </p:spTgt>
                                        </p:tgtEl>
                                      </p:cBhvr>
                                      <p:to x="100000" y="60000"/>
                                    </p:animScale>
                                    <p:animScale>
                                      <p:cBhvr>
                                        <p:cTn id="50" dur="166" decel="50000">
                                          <p:stCondLst>
                                            <p:cond delay="676"/>
                                          </p:stCondLst>
                                        </p:cTn>
                                        <p:tgtEl>
                                          <p:spTgt spid="3">
                                            <p:txEl>
                                              <p:pRg st="4" end="4"/>
                                            </p:txEl>
                                          </p:spTgt>
                                        </p:tgtEl>
                                      </p:cBhvr>
                                      <p:to x="100000" y="100000"/>
                                    </p:animScale>
                                    <p:animScale>
                                      <p:cBhvr>
                                        <p:cTn id="51" dur="26">
                                          <p:stCondLst>
                                            <p:cond delay="1312"/>
                                          </p:stCondLst>
                                        </p:cTn>
                                        <p:tgtEl>
                                          <p:spTgt spid="3">
                                            <p:txEl>
                                              <p:pRg st="4" end="4"/>
                                            </p:txEl>
                                          </p:spTgt>
                                        </p:tgtEl>
                                      </p:cBhvr>
                                      <p:to x="100000" y="80000"/>
                                    </p:animScale>
                                    <p:animScale>
                                      <p:cBhvr>
                                        <p:cTn id="52" dur="166" decel="50000">
                                          <p:stCondLst>
                                            <p:cond delay="1338"/>
                                          </p:stCondLst>
                                        </p:cTn>
                                        <p:tgtEl>
                                          <p:spTgt spid="3">
                                            <p:txEl>
                                              <p:pRg st="4" end="4"/>
                                            </p:txEl>
                                          </p:spTgt>
                                        </p:tgtEl>
                                      </p:cBhvr>
                                      <p:to x="100000" y="100000"/>
                                    </p:animScale>
                                    <p:animScale>
                                      <p:cBhvr>
                                        <p:cTn id="53" dur="26">
                                          <p:stCondLst>
                                            <p:cond delay="1642"/>
                                          </p:stCondLst>
                                        </p:cTn>
                                        <p:tgtEl>
                                          <p:spTgt spid="3">
                                            <p:txEl>
                                              <p:pRg st="4" end="4"/>
                                            </p:txEl>
                                          </p:spTgt>
                                        </p:tgtEl>
                                      </p:cBhvr>
                                      <p:to x="100000" y="90000"/>
                                    </p:animScale>
                                    <p:animScale>
                                      <p:cBhvr>
                                        <p:cTn id="54" dur="166" decel="50000">
                                          <p:stCondLst>
                                            <p:cond delay="1668"/>
                                          </p:stCondLst>
                                        </p:cTn>
                                        <p:tgtEl>
                                          <p:spTgt spid="3">
                                            <p:txEl>
                                              <p:pRg st="4" end="4"/>
                                            </p:txEl>
                                          </p:spTgt>
                                        </p:tgtEl>
                                      </p:cBhvr>
                                      <p:to x="100000" y="100000"/>
                                    </p:animScale>
                                    <p:animScale>
                                      <p:cBhvr>
                                        <p:cTn id="55" dur="26">
                                          <p:stCondLst>
                                            <p:cond delay="1808"/>
                                          </p:stCondLst>
                                        </p:cTn>
                                        <p:tgtEl>
                                          <p:spTgt spid="3">
                                            <p:txEl>
                                              <p:pRg st="4" end="4"/>
                                            </p:txEl>
                                          </p:spTgt>
                                        </p:tgtEl>
                                      </p:cBhvr>
                                      <p:to x="100000" y="95000"/>
                                    </p:animScale>
                                    <p:animScale>
                                      <p:cBhvr>
                                        <p:cTn id="56" dur="166" decel="50000">
                                          <p:stCondLst>
                                            <p:cond delay="1834"/>
                                          </p:stCondLst>
                                        </p:cTn>
                                        <p:tgtEl>
                                          <p:spTgt spid="3">
                                            <p:txEl>
                                              <p:pRg st="4" end="4"/>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wipe(down)">
                                      <p:cBhvr>
                                        <p:cTn id="61" dur="580">
                                          <p:stCondLst>
                                            <p:cond delay="0"/>
                                          </p:stCondLst>
                                        </p:cTn>
                                        <p:tgtEl>
                                          <p:spTgt spid="3">
                                            <p:txEl>
                                              <p:pRg st="6" end="6"/>
                                            </p:txEl>
                                          </p:spTgt>
                                        </p:tgtEl>
                                      </p:cBhvr>
                                    </p:animEffect>
                                    <p:anim calcmode="lin" valueType="num">
                                      <p:cBhvr>
                                        <p:cTn id="6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6" end="6"/>
                                            </p:txEl>
                                          </p:spTgt>
                                        </p:tgtEl>
                                      </p:cBhvr>
                                      <p:to x="100000" y="60000"/>
                                    </p:animScale>
                                    <p:animScale>
                                      <p:cBhvr>
                                        <p:cTn id="68" dur="166" decel="50000">
                                          <p:stCondLst>
                                            <p:cond delay="676"/>
                                          </p:stCondLst>
                                        </p:cTn>
                                        <p:tgtEl>
                                          <p:spTgt spid="3">
                                            <p:txEl>
                                              <p:pRg st="6" end="6"/>
                                            </p:txEl>
                                          </p:spTgt>
                                        </p:tgtEl>
                                      </p:cBhvr>
                                      <p:to x="100000" y="100000"/>
                                    </p:animScale>
                                    <p:animScale>
                                      <p:cBhvr>
                                        <p:cTn id="69" dur="26">
                                          <p:stCondLst>
                                            <p:cond delay="1312"/>
                                          </p:stCondLst>
                                        </p:cTn>
                                        <p:tgtEl>
                                          <p:spTgt spid="3">
                                            <p:txEl>
                                              <p:pRg st="6" end="6"/>
                                            </p:txEl>
                                          </p:spTgt>
                                        </p:tgtEl>
                                      </p:cBhvr>
                                      <p:to x="100000" y="80000"/>
                                    </p:animScale>
                                    <p:animScale>
                                      <p:cBhvr>
                                        <p:cTn id="70" dur="166" decel="50000">
                                          <p:stCondLst>
                                            <p:cond delay="1338"/>
                                          </p:stCondLst>
                                        </p:cTn>
                                        <p:tgtEl>
                                          <p:spTgt spid="3">
                                            <p:txEl>
                                              <p:pRg st="6" end="6"/>
                                            </p:txEl>
                                          </p:spTgt>
                                        </p:tgtEl>
                                      </p:cBhvr>
                                      <p:to x="100000" y="100000"/>
                                    </p:animScale>
                                    <p:animScale>
                                      <p:cBhvr>
                                        <p:cTn id="71" dur="26">
                                          <p:stCondLst>
                                            <p:cond delay="1642"/>
                                          </p:stCondLst>
                                        </p:cTn>
                                        <p:tgtEl>
                                          <p:spTgt spid="3">
                                            <p:txEl>
                                              <p:pRg st="6" end="6"/>
                                            </p:txEl>
                                          </p:spTgt>
                                        </p:tgtEl>
                                      </p:cBhvr>
                                      <p:to x="100000" y="90000"/>
                                    </p:animScale>
                                    <p:animScale>
                                      <p:cBhvr>
                                        <p:cTn id="72" dur="166" decel="50000">
                                          <p:stCondLst>
                                            <p:cond delay="1668"/>
                                          </p:stCondLst>
                                        </p:cTn>
                                        <p:tgtEl>
                                          <p:spTgt spid="3">
                                            <p:txEl>
                                              <p:pRg st="6" end="6"/>
                                            </p:txEl>
                                          </p:spTgt>
                                        </p:tgtEl>
                                      </p:cBhvr>
                                      <p:to x="100000" y="100000"/>
                                    </p:animScale>
                                    <p:animScale>
                                      <p:cBhvr>
                                        <p:cTn id="73" dur="26">
                                          <p:stCondLst>
                                            <p:cond delay="1808"/>
                                          </p:stCondLst>
                                        </p:cTn>
                                        <p:tgtEl>
                                          <p:spTgt spid="3">
                                            <p:txEl>
                                              <p:pRg st="6" end="6"/>
                                            </p:txEl>
                                          </p:spTgt>
                                        </p:tgtEl>
                                      </p:cBhvr>
                                      <p:to x="100000" y="95000"/>
                                    </p:animScale>
                                    <p:animScale>
                                      <p:cBhvr>
                                        <p:cTn id="74"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82" y="137071"/>
            <a:ext cx="7886700" cy="671003"/>
          </a:xfrm>
        </p:spPr>
        <p:txBody>
          <a:bodyPr/>
          <a:lstStyle/>
          <a:p>
            <a:r>
              <a:rPr lang="en-US" sz="4000" b="1" dirty="0">
                <a:latin typeface="Calibri" panose="020F0502020204030204" pitchFamily="34" charset="0"/>
                <a:ea typeface="Calibri" panose="020F0502020204030204" pitchFamily="34" charset="0"/>
                <a:cs typeface="Calibri" panose="020F0502020204030204" pitchFamily="34" charset="0"/>
              </a:rPr>
              <a:t>Key Characteristics:</a:t>
            </a:r>
          </a:p>
        </p:txBody>
      </p:sp>
      <p:sp>
        <p:nvSpPr>
          <p:cNvPr id="3" name="Content Placeholder 2"/>
          <p:cNvSpPr>
            <a:spLocks noGrp="1"/>
          </p:cNvSpPr>
          <p:nvPr>
            <p:ph idx="1"/>
          </p:nvPr>
        </p:nvSpPr>
        <p:spPr>
          <a:xfrm>
            <a:off x="711640" y="914400"/>
            <a:ext cx="8262239" cy="4019107"/>
          </a:xfrm>
        </p:spPr>
        <p:txBody>
          <a:bodyPr>
            <a:noAutofit/>
          </a:bodyPr>
          <a:lstStyle/>
          <a:p>
            <a:pPr>
              <a:lnSpc>
                <a:spcPct val="150000"/>
              </a:lnSpc>
            </a:pP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Multi-agent environment</a:t>
            </a: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rPr>
              <a:t>More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than one player/agent interacts and makes decisions within the same system.</a:t>
            </a:r>
          </a:p>
          <a:p>
            <a:pPr>
              <a:lnSpc>
                <a:spcPct val="150000"/>
              </a:lnSpc>
            </a:pP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Conflicting objectives: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Each player tries to win, so one player’s gain is another player’s loss.</a:t>
            </a:r>
          </a:p>
          <a:p>
            <a:pPr>
              <a:lnSpc>
                <a:spcPct val="150000"/>
              </a:lnSpc>
            </a:pP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Turn-based decision making :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Players take actions one after another rather than at the same time.</a:t>
            </a:r>
          </a:p>
          <a:p>
            <a:pPr>
              <a:lnSpc>
                <a:spcPct val="150000"/>
              </a:lnSpc>
            </a:pP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Uncertain outcomes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 Final results depend on both opponent moves and chance, making predictions difficult.</a:t>
            </a:r>
          </a:p>
          <a:p>
            <a:pPr algn="just" fontAlgn="base">
              <a:lnSpc>
                <a:spcPct val="100000"/>
              </a:lnSpc>
            </a:pPr>
            <a:endParaRPr lang="en-US" sz="2000"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920" y="1"/>
            <a:ext cx="542886" cy="893136"/>
          </a:xfrm>
          <a:prstGeom prst="rect">
            <a:avLst/>
          </a:prstGeom>
        </p:spPr>
      </p:pic>
    </p:spTree>
    <p:extLst>
      <p:ext uri="{BB962C8B-B14F-4D97-AF65-F5344CB8AC3E}">
        <p14:creationId xmlns:p14="http://schemas.microsoft.com/office/powerpoint/2010/main" val="22991552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down)">
                                      <p:cBhvr>
                                        <p:cTn id="11" dur="580">
                                          <p:stCondLst>
                                            <p:cond delay="0"/>
                                          </p:stCondLst>
                                        </p:cTn>
                                        <p:tgtEl>
                                          <p:spTgt spid="3">
                                            <p:txEl>
                                              <p:pRg st="1" end="1"/>
                                            </p:txEl>
                                          </p:spTgt>
                                        </p:tgtEl>
                                      </p:cBhvr>
                                    </p:animEffect>
                                    <p:anim calcmode="lin" valueType="num">
                                      <p:cBhvr>
                                        <p:cTn id="12"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1" end="1"/>
                                            </p:txEl>
                                          </p:spTgt>
                                        </p:tgtEl>
                                      </p:cBhvr>
                                      <p:to x="100000" y="60000"/>
                                    </p:animScale>
                                    <p:animScale>
                                      <p:cBhvr>
                                        <p:cTn id="18" dur="166" decel="50000">
                                          <p:stCondLst>
                                            <p:cond delay="676"/>
                                          </p:stCondLst>
                                        </p:cTn>
                                        <p:tgtEl>
                                          <p:spTgt spid="3">
                                            <p:txEl>
                                              <p:pRg st="1" end="1"/>
                                            </p:txEl>
                                          </p:spTgt>
                                        </p:tgtEl>
                                      </p:cBhvr>
                                      <p:to x="100000" y="100000"/>
                                    </p:animScale>
                                    <p:animScale>
                                      <p:cBhvr>
                                        <p:cTn id="19" dur="26">
                                          <p:stCondLst>
                                            <p:cond delay="1312"/>
                                          </p:stCondLst>
                                        </p:cTn>
                                        <p:tgtEl>
                                          <p:spTgt spid="3">
                                            <p:txEl>
                                              <p:pRg st="1" end="1"/>
                                            </p:txEl>
                                          </p:spTgt>
                                        </p:tgtEl>
                                      </p:cBhvr>
                                      <p:to x="100000" y="80000"/>
                                    </p:animScale>
                                    <p:animScale>
                                      <p:cBhvr>
                                        <p:cTn id="20" dur="166" decel="50000">
                                          <p:stCondLst>
                                            <p:cond delay="1338"/>
                                          </p:stCondLst>
                                        </p:cTn>
                                        <p:tgtEl>
                                          <p:spTgt spid="3">
                                            <p:txEl>
                                              <p:pRg st="1" end="1"/>
                                            </p:txEl>
                                          </p:spTgt>
                                        </p:tgtEl>
                                      </p:cBhvr>
                                      <p:to x="100000" y="100000"/>
                                    </p:animScale>
                                    <p:animScale>
                                      <p:cBhvr>
                                        <p:cTn id="21" dur="26">
                                          <p:stCondLst>
                                            <p:cond delay="1642"/>
                                          </p:stCondLst>
                                        </p:cTn>
                                        <p:tgtEl>
                                          <p:spTgt spid="3">
                                            <p:txEl>
                                              <p:pRg st="1" end="1"/>
                                            </p:txEl>
                                          </p:spTgt>
                                        </p:tgtEl>
                                      </p:cBhvr>
                                      <p:to x="100000" y="90000"/>
                                    </p:animScale>
                                    <p:animScale>
                                      <p:cBhvr>
                                        <p:cTn id="22" dur="166" decel="50000">
                                          <p:stCondLst>
                                            <p:cond delay="1668"/>
                                          </p:stCondLst>
                                        </p:cTn>
                                        <p:tgtEl>
                                          <p:spTgt spid="3">
                                            <p:txEl>
                                              <p:pRg st="1" end="1"/>
                                            </p:txEl>
                                          </p:spTgt>
                                        </p:tgtEl>
                                      </p:cBhvr>
                                      <p:to x="100000" y="100000"/>
                                    </p:animScale>
                                    <p:animScale>
                                      <p:cBhvr>
                                        <p:cTn id="23" dur="26">
                                          <p:stCondLst>
                                            <p:cond delay="1808"/>
                                          </p:stCondLst>
                                        </p:cTn>
                                        <p:tgtEl>
                                          <p:spTgt spid="3">
                                            <p:txEl>
                                              <p:pRg st="1" end="1"/>
                                            </p:txEl>
                                          </p:spTgt>
                                        </p:tgtEl>
                                      </p:cBhvr>
                                      <p:to x="100000" y="95000"/>
                                    </p:animScale>
                                    <p:animScale>
                                      <p:cBhvr>
                                        <p:cTn id="24" dur="166" decel="50000">
                                          <p:stCondLst>
                                            <p:cond delay="1834"/>
                                          </p:stCondLst>
                                        </p:cTn>
                                        <p:tgtEl>
                                          <p:spTgt spid="3">
                                            <p:txEl>
                                              <p:pRg st="1" end="1"/>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wipe(down)">
                                      <p:cBhvr>
                                        <p:cTn id="47" dur="580">
                                          <p:stCondLst>
                                            <p:cond delay="0"/>
                                          </p:stCondLst>
                                        </p:cTn>
                                        <p:tgtEl>
                                          <p:spTgt spid="3">
                                            <p:txEl>
                                              <p:pRg st="3" end="3"/>
                                            </p:txEl>
                                          </p:spTgt>
                                        </p:tgtEl>
                                      </p:cBhvr>
                                    </p:animEffect>
                                    <p:anim calcmode="lin" valueType="num">
                                      <p:cBhvr>
                                        <p:cTn id="4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3" end="3"/>
                                            </p:txEl>
                                          </p:spTgt>
                                        </p:tgtEl>
                                      </p:cBhvr>
                                      <p:to x="100000" y="60000"/>
                                    </p:animScale>
                                    <p:animScale>
                                      <p:cBhvr>
                                        <p:cTn id="54" dur="166" decel="50000">
                                          <p:stCondLst>
                                            <p:cond delay="676"/>
                                          </p:stCondLst>
                                        </p:cTn>
                                        <p:tgtEl>
                                          <p:spTgt spid="3">
                                            <p:txEl>
                                              <p:pRg st="3" end="3"/>
                                            </p:txEl>
                                          </p:spTgt>
                                        </p:tgtEl>
                                      </p:cBhvr>
                                      <p:to x="100000" y="100000"/>
                                    </p:animScale>
                                    <p:animScale>
                                      <p:cBhvr>
                                        <p:cTn id="55" dur="26">
                                          <p:stCondLst>
                                            <p:cond delay="1312"/>
                                          </p:stCondLst>
                                        </p:cTn>
                                        <p:tgtEl>
                                          <p:spTgt spid="3">
                                            <p:txEl>
                                              <p:pRg st="3" end="3"/>
                                            </p:txEl>
                                          </p:spTgt>
                                        </p:tgtEl>
                                      </p:cBhvr>
                                      <p:to x="100000" y="80000"/>
                                    </p:animScale>
                                    <p:animScale>
                                      <p:cBhvr>
                                        <p:cTn id="56" dur="166" decel="50000">
                                          <p:stCondLst>
                                            <p:cond delay="1338"/>
                                          </p:stCondLst>
                                        </p:cTn>
                                        <p:tgtEl>
                                          <p:spTgt spid="3">
                                            <p:txEl>
                                              <p:pRg st="3" end="3"/>
                                            </p:txEl>
                                          </p:spTgt>
                                        </p:tgtEl>
                                      </p:cBhvr>
                                      <p:to x="100000" y="100000"/>
                                    </p:animScale>
                                    <p:animScale>
                                      <p:cBhvr>
                                        <p:cTn id="57" dur="26">
                                          <p:stCondLst>
                                            <p:cond delay="1642"/>
                                          </p:stCondLst>
                                        </p:cTn>
                                        <p:tgtEl>
                                          <p:spTgt spid="3">
                                            <p:txEl>
                                              <p:pRg st="3" end="3"/>
                                            </p:txEl>
                                          </p:spTgt>
                                        </p:tgtEl>
                                      </p:cBhvr>
                                      <p:to x="100000" y="90000"/>
                                    </p:animScale>
                                    <p:animScale>
                                      <p:cBhvr>
                                        <p:cTn id="58" dur="166" decel="50000">
                                          <p:stCondLst>
                                            <p:cond delay="1668"/>
                                          </p:stCondLst>
                                        </p:cTn>
                                        <p:tgtEl>
                                          <p:spTgt spid="3">
                                            <p:txEl>
                                              <p:pRg st="3" end="3"/>
                                            </p:txEl>
                                          </p:spTgt>
                                        </p:tgtEl>
                                      </p:cBhvr>
                                      <p:to x="100000" y="100000"/>
                                    </p:animScale>
                                    <p:animScale>
                                      <p:cBhvr>
                                        <p:cTn id="59" dur="26">
                                          <p:stCondLst>
                                            <p:cond delay="1808"/>
                                          </p:stCondLst>
                                        </p:cTn>
                                        <p:tgtEl>
                                          <p:spTgt spid="3">
                                            <p:txEl>
                                              <p:pRg st="3" end="3"/>
                                            </p:txEl>
                                          </p:spTgt>
                                        </p:tgtEl>
                                      </p:cBhvr>
                                      <p:to x="100000" y="95000"/>
                                    </p:animScale>
                                    <p:animScale>
                                      <p:cBhvr>
                                        <p:cTn id="60"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82" y="137071"/>
            <a:ext cx="7886700" cy="671003"/>
          </a:xfrm>
        </p:spPr>
        <p:txBody>
          <a:bodyPr/>
          <a:lstStyle/>
          <a:p>
            <a:r>
              <a:rPr lang="en-IN" sz="3200" b="1" dirty="0">
                <a:latin typeface="Calibri" panose="020F0502020204030204" pitchFamily="34" charset="0"/>
                <a:ea typeface="Calibri" panose="020F0502020204030204" pitchFamily="34" charset="0"/>
                <a:cs typeface="Calibri" panose="020F0502020204030204" pitchFamily="34" charset="0"/>
              </a:rPr>
              <a:t>Adversarial </a:t>
            </a:r>
            <a:r>
              <a:rPr lang="en-IN" sz="3200" b="1" dirty="0" smtClean="0">
                <a:latin typeface="Calibri" panose="020F0502020204030204" pitchFamily="34" charset="0"/>
                <a:ea typeface="Calibri" panose="020F0502020204030204" pitchFamily="34" charset="0"/>
                <a:cs typeface="Calibri" panose="020F0502020204030204" pitchFamily="34" charset="0"/>
              </a:rPr>
              <a:t>Search:</a:t>
            </a:r>
            <a:endParaRPr lang="en-IN" sz="32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711640" y="914400"/>
            <a:ext cx="8262239" cy="4019107"/>
          </a:xfrm>
        </p:spPr>
        <p:txBody>
          <a:bodyPr>
            <a:noAutofit/>
          </a:bodyPr>
          <a:lstStyle/>
          <a:p>
            <a:pPr algn="just" fontAlgn="base">
              <a:lnSpc>
                <a:spcPct val="100000"/>
              </a:lnSpc>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rPr>
              <a:t>Adversarial search deals with decision-making when </a:t>
            </a:r>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two or more agents have opposite goals</a:t>
            </a: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a:t>
            </a:r>
          </a:p>
          <a:p>
            <a:pPr algn="just" fontAlgn="base">
              <a:lnSpc>
                <a:spcPct val="100000"/>
              </a:lnSpc>
            </a:pPr>
            <a:endPar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fontAlgn="base">
              <a:lnSpc>
                <a:spcPct val="100000"/>
              </a:lnSpc>
            </a:pPr>
            <a:r>
              <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Type of Games:</a:t>
            </a:r>
          </a:p>
          <a:p>
            <a:pPr marL="146050" indent="0" algn="just" fontAlgn="base">
              <a:lnSpc>
                <a:spcPct val="100000"/>
              </a:lnSpc>
              <a:buNone/>
            </a:pPr>
            <a:endParaRPr lang="en-US" sz="2000" b="1" dirty="0" smtClean="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920" y="1"/>
            <a:ext cx="542886" cy="893136"/>
          </a:xfrm>
          <a:prstGeom prst="rect">
            <a:avLst/>
          </a:prstGeom>
        </p:spPr>
      </p:pic>
      <p:pic>
        <p:nvPicPr>
          <p:cNvPr id="7" name="Picture 6"/>
          <p:cNvPicPr>
            <a:picLocks noChangeAspect="1"/>
          </p:cNvPicPr>
          <p:nvPr/>
        </p:nvPicPr>
        <p:blipFill>
          <a:blip r:embed="rId3"/>
          <a:stretch>
            <a:fillRect/>
          </a:stretch>
        </p:blipFill>
        <p:spPr>
          <a:xfrm>
            <a:off x="1244954" y="2374513"/>
            <a:ext cx="2712955" cy="2095682"/>
          </a:xfrm>
          <a:prstGeom prst="rect">
            <a:avLst/>
          </a:prstGeom>
        </p:spPr>
      </p:pic>
    </p:spTree>
    <p:extLst>
      <p:ext uri="{BB962C8B-B14F-4D97-AF65-F5344CB8AC3E}">
        <p14:creationId xmlns:p14="http://schemas.microsoft.com/office/powerpoint/2010/main" val="415787594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11" y="363899"/>
            <a:ext cx="7886700" cy="529719"/>
          </a:xfrm>
        </p:spPr>
        <p:txBody>
          <a:bodyPr/>
          <a:lstStyle/>
          <a:p>
            <a:r>
              <a:rPr lang="en-US" sz="2400" b="1" dirty="0">
                <a:latin typeface="Times New Roman" panose="02020603050405020304" pitchFamily="18" charset="0"/>
                <a:cs typeface="Times New Roman" panose="02020603050405020304" pitchFamily="18" charset="0"/>
              </a:rPr>
              <a:t>Game Playing in Artificial Intelligence</a:t>
            </a:r>
          </a:p>
        </p:txBody>
      </p:sp>
      <p:sp>
        <p:nvSpPr>
          <p:cNvPr id="3" name="Content Placeholder 2"/>
          <p:cNvSpPr>
            <a:spLocks noGrp="1"/>
          </p:cNvSpPr>
          <p:nvPr>
            <p:ph idx="1"/>
          </p:nvPr>
        </p:nvSpPr>
        <p:spPr>
          <a:xfrm>
            <a:off x="357279" y="893618"/>
            <a:ext cx="8179023" cy="3839475"/>
          </a:xfrm>
        </p:spPr>
        <p:txBody>
          <a:bodyPr>
            <a:noAutofit/>
          </a:bodyPr>
          <a:lstStyle/>
          <a:p>
            <a:pPr marL="146050" indent="0" algn="just" fontAlgn="base">
              <a:lnSpc>
                <a:spcPct val="200000"/>
              </a:lnSpc>
              <a:buNone/>
            </a:pPr>
            <a:r>
              <a:rPr lang="en-US" sz="1400" dirty="0">
                <a:solidFill>
                  <a:schemeClr val="bg2"/>
                </a:solidFill>
                <a:latin typeface="Times New Roman" panose="02020603050405020304" pitchFamily="18" charset="0"/>
                <a:cs typeface="Times New Roman" panose="02020603050405020304" pitchFamily="18" charset="0"/>
              </a:rPr>
              <a:t>Game playing in artificial intelligence refers to the development of algorithms and models that enable machines to play and excel in games that require decision-making, strategy, and problem-solving. These games serve as an excellent medium for testing AI capabilities since they involve well-defined rules, structured environments, and measurable outcomes</a:t>
            </a:r>
            <a:r>
              <a:rPr lang="en-US" sz="1400" dirty="0" smtClean="0">
                <a:solidFill>
                  <a:schemeClr val="bg2"/>
                </a:solidFill>
                <a:latin typeface="Times New Roman" panose="02020603050405020304" pitchFamily="18" charset="0"/>
                <a:cs typeface="Times New Roman" panose="02020603050405020304" pitchFamily="18" charset="0"/>
              </a:rPr>
              <a:t>.</a:t>
            </a:r>
          </a:p>
          <a:p>
            <a:pPr marL="146050" indent="0" algn="just" fontAlgn="base">
              <a:lnSpc>
                <a:spcPct val="150000"/>
              </a:lnSpc>
              <a:buNone/>
            </a:pPr>
            <a:endParaRPr lang="en-US" sz="1400" dirty="0" smtClean="0">
              <a:solidFill>
                <a:schemeClr val="bg2"/>
              </a:solidFill>
              <a:latin typeface="Times New Roman" panose="02020603050405020304" pitchFamily="18" charset="0"/>
              <a:cs typeface="Times New Roman" panose="02020603050405020304" pitchFamily="18" charset="0"/>
            </a:endParaRPr>
          </a:p>
          <a:p>
            <a:pPr marL="146050" indent="0" algn="just" fontAlgn="base">
              <a:lnSpc>
                <a:spcPct val="200000"/>
              </a:lnSpc>
              <a:buNone/>
            </a:pPr>
            <a:r>
              <a:rPr lang="en-IN" sz="1400" dirty="0">
                <a:solidFill>
                  <a:schemeClr val="bg2"/>
                </a:solidFill>
                <a:latin typeface="Times New Roman" panose="02020603050405020304" pitchFamily="18" charset="0"/>
                <a:cs typeface="Times New Roman" panose="02020603050405020304" pitchFamily="18" charset="0"/>
              </a:rPr>
              <a:t>Game playing is significant because it mirrors real-world decision-making processes, where outcomes depend on evaluating multiple possibilities, analyzing opponents, and managing limited resources. By solving these challenges, AI systems enhance their ability to process information efficiently, optimize strategies, and adapt to changing environments, making game playing a fundamental area in AI research and development.</a:t>
            </a:r>
          </a:p>
          <a:p>
            <a:pPr marL="146050" indent="0" algn="just" fontAlgn="base">
              <a:lnSpc>
                <a:spcPct val="150000"/>
              </a:lnSpc>
              <a:buNone/>
            </a:pPr>
            <a:endParaRPr lang="en-US" sz="1400" dirty="0">
              <a:solidFill>
                <a:schemeClr val="bg2"/>
              </a:solidFill>
            </a:endParaRPr>
          </a:p>
        </p:txBody>
      </p:sp>
      <p:sp>
        <p:nvSpPr>
          <p:cNvPr id="4" name="Slide Number Placeholder 3"/>
          <p:cNvSpPr>
            <a:spLocks noGrp="1"/>
          </p:cNvSpPr>
          <p:nvPr>
            <p:ph type="sldNum" sz="quarter" idx="12"/>
          </p:nvPr>
        </p:nvSpPr>
        <p:spPr/>
        <p:txBody>
          <a:bodyPr/>
          <a:lstStyle/>
          <a:p>
            <a:fld id="{54950813-634B-403A-824A-4F332B97447E}" type="slidenum">
              <a:rPr lang="en-US" smtClean="0"/>
              <a:t>11</a:t>
            </a:fld>
            <a:endParaRPr lang="en-US"/>
          </a:p>
        </p:txBody>
      </p:sp>
      <p:pic>
        <p:nvPicPr>
          <p:cNvPr id="5" name="Picture 4"/>
          <p:cNvPicPr>
            <a:picLocks noChangeAspect="1"/>
          </p:cNvPicPr>
          <p:nvPr/>
        </p:nvPicPr>
        <p:blipFill>
          <a:blip r:embed="rId2"/>
          <a:stretch>
            <a:fillRect/>
          </a:stretch>
        </p:blipFill>
        <p:spPr>
          <a:xfrm>
            <a:off x="2920" y="1"/>
            <a:ext cx="653064" cy="1074396"/>
          </a:xfrm>
          <a:prstGeom prst="rect">
            <a:avLst/>
          </a:prstGeom>
        </p:spPr>
      </p:pic>
    </p:spTree>
    <p:extLst>
      <p:ext uri="{BB962C8B-B14F-4D97-AF65-F5344CB8AC3E}">
        <p14:creationId xmlns:p14="http://schemas.microsoft.com/office/powerpoint/2010/main" val="237712954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11" y="363900"/>
            <a:ext cx="7886700" cy="497874"/>
          </a:xfrm>
        </p:spPr>
        <p:txBody>
          <a:bodyPr/>
          <a:lstStyle/>
          <a:p>
            <a:r>
              <a:rPr lang="en-US" sz="2400" b="1" dirty="0">
                <a:latin typeface="Times New Roman" panose="02020603050405020304" pitchFamily="18" charset="0"/>
                <a:cs typeface="Times New Roman" panose="02020603050405020304" pitchFamily="18" charset="0"/>
              </a:rPr>
              <a:t>Type </a:t>
            </a:r>
            <a:r>
              <a:rPr lang="en-US" sz="2400" b="1" dirty="0" smtClean="0">
                <a:latin typeface="Times New Roman" panose="02020603050405020304" pitchFamily="18" charset="0"/>
                <a:cs typeface="Times New Roman" panose="02020603050405020304" pitchFamily="18" charset="0"/>
              </a:rPr>
              <a:t>of </a:t>
            </a:r>
            <a:r>
              <a:rPr lang="en-US" sz="2400" b="1" dirty="0">
                <a:latin typeface="Times New Roman" panose="02020603050405020304" pitchFamily="18" charset="0"/>
                <a:cs typeface="Times New Roman" panose="02020603050405020304" pitchFamily="18" charset="0"/>
              </a:rPr>
              <a:t>games</a:t>
            </a:r>
          </a:p>
        </p:txBody>
      </p:sp>
      <p:sp>
        <p:nvSpPr>
          <p:cNvPr id="3" name="Content Placeholder 2"/>
          <p:cNvSpPr>
            <a:spLocks noGrp="1"/>
          </p:cNvSpPr>
          <p:nvPr>
            <p:ph idx="1"/>
          </p:nvPr>
        </p:nvSpPr>
        <p:spPr>
          <a:xfrm>
            <a:off x="528148" y="910376"/>
            <a:ext cx="7886700" cy="3839475"/>
          </a:xfrm>
        </p:spPr>
        <p:txBody>
          <a:bodyPr>
            <a:noAutofit/>
          </a:bodyPr>
          <a:lstStyle/>
          <a:p>
            <a:pPr marL="146050" indent="0">
              <a:lnSpc>
                <a:spcPct val="200000"/>
              </a:lnSpc>
              <a:buNone/>
            </a:pPr>
            <a:r>
              <a:rPr lang="en-IN" sz="1400" dirty="0">
                <a:solidFill>
                  <a:schemeClr val="bg2"/>
                </a:solidFill>
                <a:latin typeface="Times New Roman" panose="02020603050405020304" pitchFamily="18" charset="0"/>
                <a:cs typeface="Times New Roman" panose="02020603050405020304" pitchFamily="18" charset="0"/>
              </a:rPr>
              <a:t>AI in game playing can be applied to various types of games, including:</a:t>
            </a:r>
          </a:p>
          <a:p>
            <a:pPr lvl="0">
              <a:lnSpc>
                <a:spcPct val="200000"/>
              </a:lnSpc>
            </a:pPr>
            <a:r>
              <a:rPr lang="en-IN" sz="1400" b="1" dirty="0">
                <a:solidFill>
                  <a:schemeClr val="bg2"/>
                </a:solidFill>
                <a:latin typeface="Times New Roman" panose="02020603050405020304" pitchFamily="18" charset="0"/>
                <a:cs typeface="Times New Roman" panose="02020603050405020304" pitchFamily="18" charset="0"/>
              </a:rPr>
              <a:t>Single-player games</a:t>
            </a:r>
            <a:r>
              <a:rPr lang="en-IN" sz="1400" dirty="0">
                <a:solidFill>
                  <a:schemeClr val="bg2"/>
                </a:solidFill>
                <a:latin typeface="Times New Roman" panose="02020603050405020304" pitchFamily="18" charset="0"/>
                <a:cs typeface="Times New Roman" panose="02020603050405020304" pitchFamily="18" charset="0"/>
              </a:rPr>
              <a:t>: Games like puzzles or solitaire, where the AI competes against itself or static challenges.</a:t>
            </a:r>
          </a:p>
          <a:p>
            <a:pPr lvl="0">
              <a:lnSpc>
                <a:spcPct val="200000"/>
              </a:lnSpc>
            </a:pPr>
            <a:r>
              <a:rPr lang="en-IN" sz="1400" b="1" dirty="0">
                <a:solidFill>
                  <a:schemeClr val="bg2"/>
                </a:solidFill>
                <a:latin typeface="Times New Roman" panose="02020603050405020304" pitchFamily="18" charset="0"/>
                <a:cs typeface="Times New Roman" panose="02020603050405020304" pitchFamily="18" charset="0"/>
              </a:rPr>
              <a:t>Multi-player games</a:t>
            </a:r>
            <a:r>
              <a:rPr lang="en-IN" sz="1400" dirty="0">
                <a:solidFill>
                  <a:schemeClr val="bg2"/>
                </a:solidFill>
                <a:latin typeface="Times New Roman" panose="02020603050405020304" pitchFamily="18" charset="0"/>
                <a:cs typeface="Times New Roman" panose="02020603050405020304" pitchFamily="18" charset="0"/>
              </a:rPr>
              <a:t>: Competitive games such as Chess or Go, where AI plays against a human or another AI.</a:t>
            </a:r>
          </a:p>
          <a:p>
            <a:pPr lvl="0">
              <a:lnSpc>
                <a:spcPct val="200000"/>
              </a:lnSpc>
            </a:pPr>
            <a:r>
              <a:rPr lang="en-IN" sz="1400" b="1" dirty="0">
                <a:solidFill>
                  <a:schemeClr val="bg2"/>
                </a:solidFill>
                <a:latin typeface="Times New Roman" panose="02020603050405020304" pitchFamily="18" charset="0"/>
                <a:cs typeface="Times New Roman" panose="02020603050405020304" pitchFamily="18" charset="0"/>
              </a:rPr>
              <a:t>Deterministic games</a:t>
            </a:r>
            <a:r>
              <a:rPr lang="en-IN" sz="1400" dirty="0">
                <a:solidFill>
                  <a:schemeClr val="bg2"/>
                </a:solidFill>
                <a:latin typeface="Times New Roman" panose="02020603050405020304" pitchFamily="18" charset="0"/>
                <a:cs typeface="Times New Roman" panose="02020603050405020304" pitchFamily="18" charset="0"/>
              </a:rPr>
              <a:t>: Games with no randomness, where outcomes are determined by the player’s decisions (e.g., Chess).</a:t>
            </a:r>
          </a:p>
          <a:p>
            <a:pPr lvl="0">
              <a:lnSpc>
                <a:spcPct val="200000"/>
              </a:lnSpc>
            </a:pPr>
            <a:r>
              <a:rPr lang="en-IN" sz="1400" b="1" dirty="0">
                <a:solidFill>
                  <a:schemeClr val="bg2"/>
                </a:solidFill>
                <a:latin typeface="Times New Roman" panose="02020603050405020304" pitchFamily="18" charset="0"/>
                <a:cs typeface="Times New Roman" panose="02020603050405020304" pitchFamily="18" charset="0"/>
              </a:rPr>
              <a:t>Stochastic games</a:t>
            </a:r>
            <a:r>
              <a:rPr lang="en-IN" sz="1400" dirty="0">
                <a:solidFill>
                  <a:schemeClr val="bg2"/>
                </a:solidFill>
                <a:latin typeface="Times New Roman" panose="02020603050405020304" pitchFamily="18" charset="0"/>
                <a:cs typeface="Times New Roman" panose="02020603050405020304" pitchFamily="18" charset="0"/>
              </a:rPr>
              <a:t>: Games involving randomness or uncertainty, like card games and dice games (e.g., Poker</a:t>
            </a:r>
            <a:r>
              <a:rPr lang="en-IN" sz="1400" dirty="0" smtClean="0">
                <a:solidFill>
                  <a:schemeClr val="bg2"/>
                </a:solidFill>
                <a:latin typeface="Times New Roman" panose="02020603050405020304" pitchFamily="18" charset="0"/>
                <a:cs typeface="Times New Roman" panose="02020603050405020304" pitchFamily="18" charset="0"/>
              </a:rPr>
              <a:t>).</a:t>
            </a:r>
            <a:endParaRPr lang="en-IN" sz="1400"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4950813-634B-403A-824A-4F332B97447E}" type="slidenum">
              <a:rPr lang="en-US" smtClean="0"/>
              <a:t>12</a:t>
            </a:fld>
            <a:endParaRPr lang="en-US"/>
          </a:p>
        </p:txBody>
      </p:sp>
      <p:pic>
        <p:nvPicPr>
          <p:cNvPr id="5" name="Picture 4"/>
          <p:cNvPicPr>
            <a:picLocks noChangeAspect="1"/>
          </p:cNvPicPr>
          <p:nvPr/>
        </p:nvPicPr>
        <p:blipFill>
          <a:blip r:embed="rId2"/>
          <a:stretch>
            <a:fillRect/>
          </a:stretch>
        </p:blipFill>
        <p:spPr>
          <a:xfrm>
            <a:off x="2919" y="0"/>
            <a:ext cx="720707" cy="999919"/>
          </a:xfrm>
          <a:prstGeom prst="rect">
            <a:avLst/>
          </a:prstGeom>
        </p:spPr>
      </p:pic>
    </p:spTree>
    <p:extLst>
      <p:ext uri="{BB962C8B-B14F-4D97-AF65-F5344CB8AC3E}">
        <p14:creationId xmlns:p14="http://schemas.microsoft.com/office/powerpoint/2010/main" val="21657429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11" y="363900"/>
            <a:ext cx="7886700" cy="497874"/>
          </a:xfrm>
        </p:spPr>
        <p:txBody>
          <a:bodyPr/>
          <a:lstStyle/>
          <a:p>
            <a:r>
              <a:rPr lang="en-US" sz="2400" b="1" dirty="0">
                <a:latin typeface="Times New Roman" panose="02020603050405020304" pitchFamily="18" charset="0"/>
                <a:cs typeface="Times New Roman" panose="02020603050405020304" pitchFamily="18" charset="0"/>
              </a:rPr>
              <a:t>Type </a:t>
            </a:r>
            <a:r>
              <a:rPr lang="en-US" sz="2400" b="1" dirty="0" smtClean="0">
                <a:latin typeface="Times New Roman" panose="02020603050405020304" pitchFamily="18" charset="0"/>
                <a:cs typeface="Times New Roman" panose="02020603050405020304" pitchFamily="18" charset="0"/>
              </a:rPr>
              <a:t>of </a:t>
            </a:r>
            <a:r>
              <a:rPr lang="en-US" sz="2400" b="1" dirty="0">
                <a:latin typeface="Times New Roman" panose="02020603050405020304" pitchFamily="18" charset="0"/>
                <a:cs typeface="Times New Roman" panose="02020603050405020304" pitchFamily="18" charset="0"/>
              </a:rPr>
              <a:t>games</a:t>
            </a:r>
          </a:p>
        </p:txBody>
      </p:sp>
      <p:sp>
        <p:nvSpPr>
          <p:cNvPr id="3" name="Content Placeholder 2"/>
          <p:cNvSpPr>
            <a:spLocks noGrp="1"/>
          </p:cNvSpPr>
          <p:nvPr>
            <p:ph idx="1"/>
          </p:nvPr>
        </p:nvSpPr>
        <p:spPr>
          <a:xfrm>
            <a:off x="528148" y="910376"/>
            <a:ext cx="7886700" cy="3839475"/>
          </a:xfrm>
        </p:spPr>
        <p:txBody>
          <a:bodyPr>
            <a:noAutofit/>
          </a:bodyPr>
          <a:lstStyle/>
          <a:p>
            <a:pPr marL="146050" indent="0">
              <a:buNone/>
            </a:pPr>
            <a:r>
              <a:rPr lang="en-IN" sz="1400" dirty="0">
                <a:solidFill>
                  <a:schemeClr val="bg2"/>
                </a:solidFill>
                <a:latin typeface="Times New Roman" panose="02020603050405020304" pitchFamily="18" charset="0"/>
                <a:cs typeface="Times New Roman" panose="02020603050405020304" pitchFamily="18" charset="0"/>
              </a:rPr>
              <a:t>Game playing in AI can be categorized based on the nature of the game’s structure and information availability. The key types include:</a:t>
            </a:r>
          </a:p>
          <a:p>
            <a:pPr lvl="0"/>
            <a:r>
              <a:rPr lang="en-IN" sz="1400" b="1" dirty="0">
                <a:solidFill>
                  <a:schemeClr val="bg2"/>
                </a:solidFill>
                <a:latin typeface="Times New Roman" panose="02020603050405020304" pitchFamily="18" charset="0"/>
                <a:cs typeface="Times New Roman" panose="02020603050405020304" pitchFamily="18" charset="0"/>
              </a:rPr>
              <a:t>Deterministic vs. Stochastic Games</a:t>
            </a:r>
            <a:r>
              <a:rPr lang="en-IN" sz="1400" dirty="0">
                <a:solidFill>
                  <a:schemeClr val="bg2"/>
                </a:solidFill>
                <a:latin typeface="Times New Roman" panose="02020603050405020304" pitchFamily="18" charset="0"/>
                <a:cs typeface="Times New Roman" panose="02020603050405020304" pitchFamily="18" charset="0"/>
              </a:rPr>
              <a:t>:</a:t>
            </a:r>
          </a:p>
          <a:p>
            <a:pPr lvl="1"/>
            <a:r>
              <a:rPr lang="en-IN" sz="1400" i="1" dirty="0">
                <a:solidFill>
                  <a:schemeClr val="bg2"/>
                </a:solidFill>
                <a:latin typeface="Times New Roman" panose="02020603050405020304" pitchFamily="18" charset="0"/>
                <a:cs typeface="Times New Roman" panose="02020603050405020304" pitchFamily="18" charset="0"/>
              </a:rPr>
              <a:t>Deterministic games</a:t>
            </a:r>
            <a:r>
              <a:rPr lang="en-IN" sz="1400" dirty="0">
                <a:solidFill>
                  <a:schemeClr val="bg2"/>
                </a:solidFill>
                <a:latin typeface="Times New Roman" panose="02020603050405020304" pitchFamily="18" charset="0"/>
                <a:cs typeface="Times New Roman" panose="02020603050405020304" pitchFamily="18" charset="0"/>
              </a:rPr>
              <a:t> have no randomness; outcomes depend entirely on the players’ moves. Examples include Chess and Tic-Tac-Toe.</a:t>
            </a:r>
          </a:p>
          <a:p>
            <a:pPr lvl="1"/>
            <a:r>
              <a:rPr lang="en-IN" sz="1400" i="1" dirty="0">
                <a:solidFill>
                  <a:schemeClr val="bg2"/>
                </a:solidFill>
                <a:latin typeface="Times New Roman" panose="02020603050405020304" pitchFamily="18" charset="0"/>
                <a:cs typeface="Times New Roman" panose="02020603050405020304" pitchFamily="18" charset="0"/>
              </a:rPr>
              <a:t>Stochastic games</a:t>
            </a:r>
            <a:r>
              <a:rPr lang="en-IN" sz="1400" dirty="0">
                <a:solidFill>
                  <a:schemeClr val="bg2"/>
                </a:solidFill>
                <a:latin typeface="Times New Roman" panose="02020603050405020304" pitchFamily="18" charset="0"/>
                <a:cs typeface="Times New Roman" panose="02020603050405020304" pitchFamily="18" charset="0"/>
              </a:rPr>
              <a:t> involve randomness or probabilistic events, such as dice rolls or shuffled cards. Examples include Poker and Backgammon.</a:t>
            </a:r>
          </a:p>
          <a:p>
            <a:pPr lvl="0"/>
            <a:r>
              <a:rPr lang="en-IN" sz="1400" b="1" dirty="0">
                <a:solidFill>
                  <a:schemeClr val="bg2"/>
                </a:solidFill>
                <a:latin typeface="Times New Roman" panose="02020603050405020304" pitchFamily="18" charset="0"/>
                <a:cs typeface="Times New Roman" panose="02020603050405020304" pitchFamily="18" charset="0"/>
              </a:rPr>
              <a:t>Perfect vs. Imperfect Information Games</a:t>
            </a:r>
            <a:r>
              <a:rPr lang="en-IN" sz="1400" dirty="0">
                <a:solidFill>
                  <a:schemeClr val="bg2"/>
                </a:solidFill>
                <a:latin typeface="Times New Roman" panose="02020603050405020304" pitchFamily="18" charset="0"/>
                <a:cs typeface="Times New Roman" panose="02020603050405020304" pitchFamily="18" charset="0"/>
              </a:rPr>
              <a:t>:</a:t>
            </a:r>
          </a:p>
          <a:p>
            <a:pPr lvl="1"/>
            <a:r>
              <a:rPr lang="en-IN" sz="1400" i="1" dirty="0">
                <a:solidFill>
                  <a:schemeClr val="bg2"/>
                </a:solidFill>
                <a:latin typeface="Times New Roman" panose="02020603050405020304" pitchFamily="18" charset="0"/>
                <a:cs typeface="Times New Roman" panose="02020603050405020304" pitchFamily="18" charset="0"/>
              </a:rPr>
              <a:t>Perfect information games</a:t>
            </a:r>
            <a:r>
              <a:rPr lang="en-IN" sz="1400" dirty="0">
                <a:solidFill>
                  <a:schemeClr val="bg2"/>
                </a:solidFill>
                <a:latin typeface="Times New Roman" panose="02020603050405020304" pitchFamily="18" charset="0"/>
                <a:cs typeface="Times New Roman" panose="02020603050405020304" pitchFamily="18" charset="0"/>
              </a:rPr>
              <a:t> allow all players to access complete information about the game state at any point, such as Chess and Go.</a:t>
            </a:r>
          </a:p>
          <a:p>
            <a:pPr lvl="1"/>
            <a:r>
              <a:rPr lang="en-IN" sz="1400" i="1" dirty="0">
                <a:solidFill>
                  <a:schemeClr val="bg2"/>
                </a:solidFill>
                <a:latin typeface="Times New Roman" panose="02020603050405020304" pitchFamily="18" charset="0"/>
                <a:cs typeface="Times New Roman" panose="02020603050405020304" pitchFamily="18" charset="0"/>
              </a:rPr>
              <a:t>Imperfect information games</a:t>
            </a:r>
            <a:r>
              <a:rPr lang="en-IN" sz="1400" dirty="0">
                <a:solidFill>
                  <a:schemeClr val="bg2"/>
                </a:solidFill>
                <a:latin typeface="Times New Roman" panose="02020603050405020304" pitchFamily="18" charset="0"/>
                <a:cs typeface="Times New Roman" panose="02020603050405020304" pitchFamily="18" charset="0"/>
              </a:rPr>
              <a:t> limit access to certain information, such as the opponent’s hand in card games like Poker.</a:t>
            </a:r>
          </a:p>
          <a:p>
            <a:pPr lvl="0"/>
            <a:r>
              <a:rPr lang="en-IN" sz="1400" b="1" dirty="0">
                <a:solidFill>
                  <a:schemeClr val="bg2"/>
                </a:solidFill>
                <a:latin typeface="Times New Roman" panose="02020603050405020304" pitchFamily="18" charset="0"/>
                <a:cs typeface="Times New Roman" panose="02020603050405020304" pitchFamily="18" charset="0"/>
              </a:rPr>
              <a:t>Zero-Sum Games</a:t>
            </a:r>
            <a:r>
              <a:rPr lang="en-IN" sz="1400" dirty="0">
                <a:solidFill>
                  <a:schemeClr val="bg2"/>
                </a:solidFill>
                <a:latin typeface="Times New Roman" panose="02020603050405020304" pitchFamily="18" charset="0"/>
                <a:cs typeface="Times New Roman" panose="02020603050405020304" pitchFamily="18" charset="0"/>
              </a:rPr>
              <a:t>:</a:t>
            </a:r>
            <a:br>
              <a:rPr lang="en-IN" sz="1400" dirty="0">
                <a:solidFill>
                  <a:schemeClr val="bg2"/>
                </a:solidFill>
                <a:latin typeface="Times New Roman" panose="02020603050405020304" pitchFamily="18" charset="0"/>
                <a:cs typeface="Times New Roman" panose="02020603050405020304" pitchFamily="18" charset="0"/>
              </a:rPr>
            </a:br>
            <a:r>
              <a:rPr lang="en-IN" sz="1400" dirty="0">
                <a:solidFill>
                  <a:schemeClr val="bg2"/>
                </a:solidFill>
                <a:latin typeface="Times New Roman" panose="02020603050405020304" pitchFamily="18" charset="0"/>
                <a:cs typeface="Times New Roman" panose="02020603050405020304" pitchFamily="18" charset="0"/>
              </a:rPr>
              <a:t>These games involve direct competition, where one player’s gain is another player’s loss. Examples include strategy games like Chess and competitive multiplayer games.</a:t>
            </a:r>
          </a:p>
        </p:txBody>
      </p:sp>
      <p:sp>
        <p:nvSpPr>
          <p:cNvPr id="4" name="Slide Number Placeholder 3"/>
          <p:cNvSpPr>
            <a:spLocks noGrp="1"/>
          </p:cNvSpPr>
          <p:nvPr>
            <p:ph type="sldNum" sz="quarter" idx="12"/>
          </p:nvPr>
        </p:nvSpPr>
        <p:spPr/>
        <p:txBody>
          <a:bodyPr/>
          <a:lstStyle/>
          <a:p>
            <a:fld id="{54950813-634B-403A-824A-4F332B97447E}" type="slidenum">
              <a:rPr lang="en-US" smtClean="0"/>
              <a:t>13</a:t>
            </a:fld>
            <a:endParaRPr lang="en-US"/>
          </a:p>
        </p:txBody>
      </p:sp>
      <p:pic>
        <p:nvPicPr>
          <p:cNvPr id="5" name="Picture 4"/>
          <p:cNvPicPr>
            <a:picLocks noChangeAspect="1"/>
          </p:cNvPicPr>
          <p:nvPr/>
        </p:nvPicPr>
        <p:blipFill>
          <a:blip r:embed="rId2"/>
          <a:stretch>
            <a:fillRect/>
          </a:stretch>
        </p:blipFill>
        <p:spPr>
          <a:xfrm>
            <a:off x="2919" y="0"/>
            <a:ext cx="720707" cy="999919"/>
          </a:xfrm>
          <a:prstGeom prst="rect">
            <a:avLst/>
          </a:prstGeom>
        </p:spPr>
      </p:pic>
    </p:spTree>
    <p:extLst>
      <p:ext uri="{BB962C8B-B14F-4D97-AF65-F5344CB8AC3E}">
        <p14:creationId xmlns:p14="http://schemas.microsoft.com/office/powerpoint/2010/main" val="15950636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11" y="363900"/>
            <a:ext cx="7886700" cy="497874"/>
          </a:xfrm>
        </p:spPr>
        <p:txBody>
          <a:bodyPr/>
          <a:lstStyle/>
          <a:p>
            <a:r>
              <a:rPr lang="en-US" sz="2400" b="1" dirty="0">
                <a:latin typeface="Times New Roman" panose="02020603050405020304" pitchFamily="18" charset="0"/>
                <a:cs typeface="Times New Roman" panose="02020603050405020304" pitchFamily="18" charset="0"/>
              </a:rPr>
              <a:t>The Role of Search Algorithms in Game Playing</a:t>
            </a:r>
          </a:p>
        </p:txBody>
      </p:sp>
      <p:sp>
        <p:nvSpPr>
          <p:cNvPr id="3" name="Content Placeholder 2"/>
          <p:cNvSpPr>
            <a:spLocks noGrp="1"/>
          </p:cNvSpPr>
          <p:nvPr>
            <p:ph idx="1"/>
          </p:nvPr>
        </p:nvSpPr>
        <p:spPr>
          <a:xfrm>
            <a:off x="528148" y="910376"/>
            <a:ext cx="7886700" cy="3839475"/>
          </a:xfrm>
        </p:spPr>
        <p:txBody>
          <a:bodyPr>
            <a:noAutofit/>
          </a:bodyPr>
          <a:lstStyle/>
          <a:p>
            <a:pPr marL="146050" indent="0">
              <a:buNone/>
            </a:pPr>
            <a:r>
              <a:rPr lang="en-US" sz="1400" dirty="0">
                <a:solidFill>
                  <a:schemeClr val="bg2"/>
                </a:solidFill>
                <a:latin typeface="Times New Roman" panose="02020603050405020304" pitchFamily="18" charset="0"/>
                <a:cs typeface="Times New Roman" panose="02020603050405020304" pitchFamily="18" charset="0"/>
              </a:rPr>
              <a:t>Search algorithms play a fundamental role in AI game playing by enabling systematic exploration of possible moves and outcomes. These algorithms allow AI systems to evaluate game states, predict opponents’ moves, and determine the optimal strategy for success.</a:t>
            </a:r>
          </a:p>
          <a:p>
            <a:r>
              <a:rPr lang="en-US" sz="1400" b="1" dirty="0">
                <a:solidFill>
                  <a:schemeClr val="bg2"/>
                </a:solidFill>
                <a:latin typeface="Times New Roman" panose="02020603050405020304" pitchFamily="18" charset="0"/>
                <a:cs typeface="Times New Roman" panose="02020603050405020304" pitchFamily="18" charset="0"/>
              </a:rPr>
              <a:t>Minimax Algorithm</a:t>
            </a:r>
            <a:r>
              <a:rPr lang="en-US" sz="1400" dirty="0">
                <a:solidFill>
                  <a:schemeClr val="bg2"/>
                </a:solidFill>
                <a:latin typeface="Times New Roman" panose="02020603050405020304" pitchFamily="18" charset="0"/>
                <a:cs typeface="Times New Roman" panose="02020603050405020304" pitchFamily="18" charset="0"/>
              </a:rPr>
              <a:t>:</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Minimax is widely used in two-player, zero-sum games like Chess. It evaluates all possible moves for both players by assuming the opponent will play optimally, minimizing the player’s loss while maximizing gains.</a:t>
            </a:r>
          </a:p>
          <a:p>
            <a:r>
              <a:rPr lang="en-US" sz="1400" b="1" dirty="0">
                <a:solidFill>
                  <a:schemeClr val="bg2"/>
                </a:solidFill>
                <a:latin typeface="Times New Roman" panose="02020603050405020304" pitchFamily="18" charset="0"/>
                <a:cs typeface="Times New Roman" panose="02020603050405020304" pitchFamily="18" charset="0"/>
              </a:rPr>
              <a:t>Alpha-Beta Pruning</a:t>
            </a:r>
            <a:r>
              <a:rPr lang="en-US" sz="1400" dirty="0">
                <a:solidFill>
                  <a:schemeClr val="bg2"/>
                </a:solidFill>
                <a:latin typeface="Times New Roman" panose="02020603050405020304" pitchFamily="18" charset="0"/>
                <a:cs typeface="Times New Roman" panose="02020603050405020304" pitchFamily="18" charset="0"/>
              </a:rPr>
              <a:t>:</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An optimization of Minimax, Alpha-Beta Pruning reduces the number of nodes evaluated, improving efficiency. It eliminates branches in the search tree that do not affect the final decision, making it ideal for games with deep decision trees.</a:t>
            </a:r>
          </a:p>
          <a:p>
            <a:r>
              <a:rPr lang="en-US" sz="1400" b="1" dirty="0">
                <a:solidFill>
                  <a:schemeClr val="bg2"/>
                </a:solidFill>
                <a:latin typeface="Times New Roman" panose="02020603050405020304" pitchFamily="18" charset="0"/>
                <a:cs typeface="Times New Roman" panose="02020603050405020304" pitchFamily="18" charset="0"/>
              </a:rPr>
              <a:t>Monte Carlo Tree Search (MCTS)</a:t>
            </a:r>
            <a:r>
              <a:rPr lang="en-US" sz="1400" dirty="0">
                <a:solidFill>
                  <a:schemeClr val="bg2"/>
                </a:solidFill>
                <a:latin typeface="Times New Roman" panose="02020603050405020304" pitchFamily="18" charset="0"/>
                <a:cs typeface="Times New Roman" panose="02020603050405020304" pitchFamily="18" charset="0"/>
              </a:rPr>
              <a:t>:</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MCTS combines random simulations with statistical analysis to determine the best moves. It is particularly useful in games like Go and complex video games, where the state space is vast, and exhaustive search is impractical.</a:t>
            </a:r>
          </a:p>
        </p:txBody>
      </p:sp>
      <p:sp>
        <p:nvSpPr>
          <p:cNvPr id="4" name="Slide Number Placeholder 3"/>
          <p:cNvSpPr>
            <a:spLocks noGrp="1"/>
          </p:cNvSpPr>
          <p:nvPr>
            <p:ph type="sldNum" sz="quarter" idx="12"/>
          </p:nvPr>
        </p:nvSpPr>
        <p:spPr/>
        <p:txBody>
          <a:bodyPr/>
          <a:lstStyle/>
          <a:p>
            <a:fld id="{54950813-634B-403A-824A-4F332B97447E}" type="slidenum">
              <a:rPr lang="en-US" smtClean="0"/>
              <a:t>14</a:t>
            </a:fld>
            <a:endParaRPr lang="en-US"/>
          </a:p>
        </p:txBody>
      </p:sp>
      <p:pic>
        <p:nvPicPr>
          <p:cNvPr id="5" name="Picture 4"/>
          <p:cNvPicPr>
            <a:picLocks noChangeAspect="1"/>
          </p:cNvPicPr>
          <p:nvPr/>
        </p:nvPicPr>
        <p:blipFill>
          <a:blip r:embed="rId2"/>
          <a:stretch>
            <a:fillRect/>
          </a:stretch>
        </p:blipFill>
        <p:spPr>
          <a:xfrm>
            <a:off x="2919" y="0"/>
            <a:ext cx="720707" cy="999919"/>
          </a:xfrm>
          <a:prstGeom prst="rect">
            <a:avLst/>
          </a:prstGeom>
        </p:spPr>
      </p:pic>
    </p:spTree>
    <p:extLst>
      <p:ext uri="{BB962C8B-B14F-4D97-AF65-F5344CB8AC3E}">
        <p14:creationId xmlns:p14="http://schemas.microsoft.com/office/powerpoint/2010/main" val="414234564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CCAE-8053-FA7D-C26B-51F5F773A0A3}"/>
              </a:ext>
            </a:extLst>
          </p:cNvPr>
          <p:cNvSpPr>
            <a:spLocks noGrp="1"/>
          </p:cNvSpPr>
          <p:nvPr>
            <p:ph type="title"/>
          </p:nvPr>
        </p:nvSpPr>
        <p:spPr>
          <a:xfrm>
            <a:off x="1078860" y="92620"/>
            <a:ext cx="7868538" cy="542218"/>
          </a:xfrm>
        </p:spPr>
        <p:txBody>
          <a:bodyPr/>
          <a:lstStyle/>
          <a:p>
            <a:r>
              <a:rPr lang="en-US" sz="2400" dirty="0"/>
              <a:t>Min-Max Search Algorithm</a:t>
            </a:r>
            <a:endParaRPr lang="en-IN" sz="2400" dirty="0"/>
          </a:p>
        </p:txBody>
      </p:sp>
      <p:sp>
        <p:nvSpPr>
          <p:cNvPr id="3" name="Content Placeholder 2">
            <a:extLst>
              <a:ext uri="{FF2B5EF4-FFF2-40B4-BE49-F238E27FC236}">
                <a16:creationId xmlns:a16="http://schemas.microsoft.com/office/drawing/2014/main" id="{2DC0F6FB-399A-4444-43CA-CCFF59D3EECD}"/>
              </a:ext>
            </a:extLst>
          </p:cNvPr>
          <p:cNvSpPr>
            <a:spLocks noGrp="1"/>
          </p:cNvSpPr>
          <p:nvPr>
            <p:ph idx="1"/>
          </p:nvPr>
        </p:nvSpPr>
        <p:spPr>
          <a:xfrm>
            <a:off x="646810" y="578821"/>
            <a:ext cx="7889492" cy="4123537"/>
          </a:xfrm>
        </p:spPr>
        <p:txBody>
          <a:bodyPr>
            <a:noAutofit/>
          </a:bodyPr>
          <a:lstStyle/>
          <a:p>
            <a:r>
              <a:rPr lang="en-US" sz="1600" dirty="0">
                <a:solidFill>
                  <a:schemeClr val="bg2"/>
                </a:solidFill>
                <a:latin typeface="Times New Roman" panose="02020603050405020304" pitchFamily="18" charset="0"/>
                <a:cs typeface="Times New Roman" panose="02020603050405020304" pitchFamily="18" charset="0"/>
              </a:rPr>
              <a:t>The </a:t>
            </a:r>
            <a:r>
              <a:rPr lang="en-US" sz="1600" b="1" dirty="0">
                <a:solidFill>
                  <a:schemeClr val="bg2"/>
                </a:solidFill>
                <a:latin typeface="Times New Roman" panose="02020603050405020304" pitchFamily="18" charset="0"/>
                <a:cs typeface="Times New Roman" panose="02020603050405020304" pitchFamily="18" charset="0"/>
              </a:rPr>
              <a:t>Min-Max algorithm</a:t>
            </a:r>
            <a:r>
              <a:rPr lang="en-US" sz="1600" dirty="0">
                <a:solidFill>
                  <a:schemeClr val="bg2"/>
                </a:solidFill>
                <a:latin typeface="Times New Roman" panose="02020603050405020304" pitchFamily="18" charset="0"/>
                <a:cs typeface="Times New Roman" panose="02020603050405020304" pitchFamily="18" charset="0"/>
              </a:rPr>
              <a:t> is a </a:t>
            </a:r>
            <a:r>
              <a:rPr lang="en-US" sz="1600" b="1" dirty="0">
                <a:solidFill>
                  <a:schemeClr val="bg2"/>
                </a:solidFill>
                <a:latin typeface="Times New Roman" panose="02020603050405020304" pitchFamily="18" charset="0"/>
                <a:cs typeface="Times New Roman" panose="02020603050405020304" pitchFamily="18" charset="0"/>
              </a:rPr>
              <a:t>backtracking</a:t>
            </a:r>
            <a:r>
              <a:rPr lang="en-US" sz="1600" dirty="0">
                <a:solidFill>
                  <a:schemeClr val="bg2"/>
                </a:solidFill>
                <a:latin typeface="Times New Roman" panose="02020603050405020304" pitchFamily="18" charset="0"/>
                <a:cs typeface="Times New Roman" panose="02020603050405020304" pitchFamily="18" charset="0"/>
              </a:rPr>
              <a:t> algorithm used in </a:t>
            </a:r>
            <a:r>
              <a:rPr lang="en-US" sz="1600" b="1" dirty="0">
                <a:solidFill>
                  <a:schemeClr val="bg2"/>
                </a:solidFill>
                <a:latin typeface="Times New Roman" panose="02020603050405020304" pitchFamily="18" charset="0"/>
                <a:cs typeface="Times New Roman" panose="02020603050405020304" pitchFamily="18" charset="0"/>
              </a:rPr>
              <a:t>decision making and game theory</a:t>
            </a:r>
            <a:r>
              <a:rPr lang="en-US" sz="1600" dirty="0">
                <a:solidFill>
                  <a:schemeClr val="bg2"/>
                </a:solidFill>
                <a:latin typeface="Times New Roman" panose="02020603050405020304" pitchFamily="18" charset="0"/>
                <a:cs typeface="Times New Roman" panose="02020603050405020304" pitchFamily="18" charset="0"/>
              </a:rPr>
              <a:t>.</a:t>
            </a:r>
            <a:br>
              <a:rPr lang="en-US" sz="1600" dirty="0">
                <a:solidFill>
                  <a:schemeClr val="bg2"/>
                </a:solidFill>
                <a:latin typeface="Times New Roman" panose="02020603050405020304" pitchFamily="18" charset="0"/>
                <a:cs typeface="Times New Roman" panose="02020603050405020304" pitchFamily="18" charset="0"/>
              </a:rPr>
            </a:br>
            <a:r>
              <a:rPr lang="en-US" sz="1600" dirty="0">
                <a:solidFill>
                  <a:schemeClr val="bg2"/>
                </a:solidFill>
                <a:latin typeface="Times New Roman" panose="02020603050405020304" pitchFamily="18" charset="0"/>
                <a:cs typeface="Times New Roman" panose="02020603050405020304" pitchFamily="18" charset="0"/>
              </a:rPr>
              <a:t>It helps the AI choose the </a:t>
            </a:r>
            <a:r>
              <a:rPr lang="en-US" sz="1600" b="1" dirty="0">
                <a:solidFill>
                  <a:schemeClr val="bg2"/>
                </a:solidFill>
                <a:latin typeface="Times New Roman" panose="02020603050405020304" pitchFamily="18" charset="0"/>
                <a:cs typeface="Times New Roman" panose="02020603050405020304" pitchFamily="18" charset="0"/>
              </a:rPr>
              <a:t>best possible move</a:t>
            </a:r>
            <a:r>
              <a:rPr lang="en-US" sz="1600" dirty="0">
                <a:solidFill>
                  <a:schemeClr val="bg2"/>
                </a:solidFill>
                <a:latin typeface="Times New Roman" panose="02020603050405020304" pitchFamily="18" charset="0"/>
                <a:cs typeface="Times New Roman" panose="02020603050405020304" pitchFamily="18" charset="0"/>
              </a:rPr>
              <a:t> by assuming that the </a:t>
            </a:r>
            <a:r>
              <a:rPr lang="en-US" sz="1600" b="1" dirty="0">
                <a:solidFill>
                  <a:schemeClr val="bg2"/>
                </a:solidFill>
                <a:latin typeface="Times New Roman" panose="02020603050405020304" pitchFamily="18" charset="0"/>
                <a:cs typeface="Times New Roman" panose="02020603050405020304" pitchFamily="18" charset="0"/>
              </a:rPr>
              <a:t>opponent also plays optimally</a:t>
            </a:r>
            <a:r>
              <a:rPr lang="en-US" sz="1600" dirty="0">
                <a:solidFill>
                  <a:schemeClr val="bg2"/>
                </a:solidFill>
                <a:latin typeface="Times New Roman" panose="02020603050405020304" pitchFamily="18" charset="0"/>
                <a:cs typeface="Times New Roman" panose="02020603050405020304" pitchFamily="18" charset="0"/>
              </a:rPr>
              <a:t>.</a:t>
            </a:r>
          </a:p>
          <a:p>
            <a:r>
              <a:rPr lang="en-US" sz="1600" b="1" dirty="0">
                <a:solidFill>
                  <a:schemeClr val="bg2"/>
                </a:solidFill>
                <a:latin typeface="Times New Roman" panose="02020603050405020304" pitchFamily="18" charset="0"/>
                <a:cs typeface="Times New Roman" panose="02020603050405020304" pitchFamily="18" charset="0"/>
              </a:rPr>
              <a:t>MAX player</a:t>
            </a:r>
            <a:r>
              <a:rPr lang="en-US" sz="1600" dirty="0">
                <a:solidFill>
                  <a:schemeClr val="bg2"/>
                </a:solidFill>
                <a:latin typeface="Times New Roman" panose="02020603050405020304" pitchFamily="18" charset="0"/>
                <a:cs typeface="Times New Roman" panose="02020603050405020304" pitchFamily="18" charset="0"/>
              </a:rPr>
              <a:t> → tries to </a:t>
            </a:r>
            <a:r>
              <a:rPr lang="en-US" sz="1600" b="1" dirty="0">
                <a:solidFill>
                  <a:schemeClr val="bg2"/>
                </a:solidFill>
                <a:latin typeface="Times New Roman" panose="02020603050405020304" pitchFamily="18" charset="0"/>
                <a:cs typeface="Times New Roman" panose="02020603050405020304" pitchFamily="18" charset="0"/>
              </a:rPr>
              <a:t>maximize</a:t>
            </a:r>
            <a:r>
              <a:rPr lang="en-US" sz="1600" dirty="0">
                <a:solidFill>
                  <a:schemeClr val="bg2"/>
                </a:solidFill>
                <a:latin typeface="Times New Roman" panose="02020603050405020304" pitchFamily="18" charset="0"/>
                <a:cs typeface="Times New Roman" panose="02020603050405020304" pitchFamily="18" charset="0"/>
              </a:rPr>
              <a:t> the score (AI’s turn).</a:t>
            </a:r>
          </a:p>
          <a:p>
            <a:r>
              <a:rPr lang="en-US" sz="1600" b="1" dirty="0">
                <a:solidFill>
                  <a:schemeClr val="bg2"/>
                </a:solidFill>
                <a:latin typeface="Times New Roman" panose="02020603050405020304" pitchFamily="18" charset="0"/>
                <a:cs typeface="Times New Roman" panose="02020603050405020304" pitchFamily="18" charset="0"/>
              </a:rPr>
              <a:t>MIN player</a:t>
            </a:r>
            <a:r>
              <a:rPr lang="en-US" sz="1600" dirty="0">
                <a:solidFill>
                  <a:schemeClr val="bg2"/>
                </a:solidFill>
                <a:latin typeface="Times New Roman" panose="02020603050405020304" pitchFamily="18" charset="0"/>
                <a:cs typeface="Times New Roman" panose="02020603050405020304" pitchFamily="18" charset="0"/>
              </a:rPr>
              <a:t> → tries to </a:t>
            </a:r>
            <a:r>
              <a:rPr lang="en-US" sz="1600" b="1" dirty="0">
                <a:solidFill>
                  <a:schemeClr val="bg2"/>
                </a:solidFill>
                <a:latin typeface="Times New Roman" panose="02020603050405020304" pitchFamily="18" charset="0"/>
                <a:cs typeface="Times New Roman" panose="02020603050405020304" pitchFamily="18" charset="0"/>
              </a:rPr>
              <a:t>minimize</a:t>
            </a:r>
            <a:r>
              <a:rPr lang="en-US" sz="1600" dirty="0">
                <a:solidFill>
                  <a:schemeClr val="bg2"/>
                </a:solidFill>
                <a:latin typeface="Times New Roman" panose="02020603050405020304" pitchFamily="18" charset="0"/>
                <a:cs typeface="Times New Roman" panose="02020603050405020304" pitchFamily="18" charset="0"/>
              </a:rPr>
              <a:t> the score (opponent’s turn</a:t>
            </a:r>
            <a:r>
              <a:rPr lang="en-US" sz="1600" dirty="0" smtClean="0">
                <a:solidFill>
                  <a:schemeClr val="bg2"/>
                </a:solidFill>
                <a:latin typeface="Times New Roman" panose="02020603050405020304" pitchFamily="18" charset="0"/>
                <a:cs typeface="Times New Roman" panose="02020603050405020304" pitchFamily="18" charset="0"/>
              </a:rPr>
              <a:t>).</a:t>
            </a:r>
          </a:p>
          <a:p>
            <a:endParaRPr lang="en-US" sz="1600" dirty="0">
              <a:solidFill>
                <a:schemeClr val="bg2"/>
              </a:solidFill>
              <a:latin typeface="Times New Roman" panose="02020603050405020304" pitchFamily="18" charset="0"/>
              <a:cs typeface="Times New Roman" panose="02020603050405020304" pitchFamily="18" charset="0"/>
            </a:endParaRPr>
          </a:p>
          <a:p>
            <a:r>
              <a:rPr lang="en-IN" sz="1600" dirty="0" smtClean="0">
                <a:solidFill>
                  <a:schemeClr val="bg2"/>
                </a:solidFill>
                <a:latin typeface="Times New Roman" panose="02020603050405020304" pitchFamily="18" charset="0"/>
                <a:cs typeface="Times New Roman" panose="02020603050405020304" pitchFamily="18" charset="0"/>
              </a:rPr>
              <a:t>Example:</a:t>
            </a:r>
            <a:endParaRPr lang="en-IN" sz="1600" dirty="0">
              <a:solidFill>
                <a:schemeClr val="bg2"/>
              </a:solidFill>
              <a:latin typeface="Times New Roman" panose="02020603050405020304" pitchFamily="18" charset="0"/>
              <a:cs typeface="Times New Roman" panose="02020603050405020304" pitchFamily="18" charset="0"/>
            </a:endParaRPr>
          </a:p>
          <a:p>
            <a:pPr>
              <a:lnSpc>
                <a:spcPct val="100000"/>
              </a:lnSpc>
            </a:pPr>
            <a:r>
              <a:rPr lang="en-IN" sz="1600" dirty="0" smtClean="0">
                <a:solidFill>
                  <a:schemeClr val="bg2"/>
                </a:solidFill>
                <a:latin typeface="Times New Roman" panose="02020603050405020304" pitchFamily="18" charset="0"/>
                <a:cs typeface="Times New Roman" panose="02020603050405020304" pitchFamily="18" charset="0"/>
              </a:rPr>
              <a:t>A </a:t>
            </a:r>
            <a:r>
              <a:rPr lang="en-IN" sz="1600" dirty="0">
                <a:solidFill>
                  <a:schemeClr val="bg2"/>
                </a:solidFill>
                <a:latin typeface="Times New Roman" panose="02020603050405020304" pitchFamily="18" charset="0"/>
                <a:cs typeface="Times New Roman" panose="02020603050405020304" pitchFamily="18" charset="0"/>
              </a:rPr>
              <a:t>= root node (AI’s turn → MAX)</a:t>
            </a:r>
          </a:p>
          <a:p>
            <a:pPr>
              <a:lnSpc>
                <a:spcPct val="100000"/>
              </a:lnSpc>
            </a:pPr>
            <a:r>
              <a:rPr lang="en-IN" sz="1600" dirty="0" smtClean="0">
                <a:solidFill>
                  <a:schemeClr val="bg2"/>
                </a:solidFill>
                <a:latin typeface="Times New Roman" panose="02020603050405020304" pitchFamily="18" charset="0"/>
                <a:cs typeface="Times New Roman" panose="02020603050405020304" pitchFamily="18" charset="0"/>
              </a:rPr>
              <a:t>B</a:t>
            </a:r>
            <a:r>
              <a:rPr lang="en-IN" sz="1600" dirty="0">
                <a:solidFill>
                  <a:schemeClr val="bg2"/>
                </a:solidFill>
                <a:latin typeface="Times New Roman" panose="02020603050405020304" pitchFamily="18" charset="0"/>
                <a:cs typeface="Times New Roman" panose="02020603050405020304" pitchFamily="18" charset="0"/>
              </a:rPr>
              <a:t>, C, D = opponent’s moves (MIN nodes)</a:t>
            </a:r>
          </a:p>
          <a:p>
            <a:pPr>
              <a:lnSpc>
                <a:spcPct val="100000"/>
              </a:lnSpc>
            </a:pPr>
            <a:r>
              <a:rPr lang="en-IN" sz="1600" dirty="0" smtClean="0">
                <a:solidFill>
                  <a:schemeClr val="bg2"/>
                </a:solidFill>
                <a:latin typeface="Times New Roman" panose="02020603050405020304" pitchFamily="18" charset="0"/>
                <a:cs typeface="Times New Roman" panose="02020603050405020304" pitchFamily="18" charset="0"/>
              </a:rPr>
              <a:t>Leaf </a:t>
            </a:r>
            <a:r>
              <a:rPr lang="en-IN" sz="1600" dirty="0">
                <a:solidFill>
                  <a:schemeClr val="bg2"/>
                </a:solidFill>
                <a:latin typeface="Times New Roman" panose="02020603050405020304" pitchFamily="18" charset="0"/>
                <a:cs typeface="Times New Roman" panose="02020603050405020304" pitchFamily="18" charset="0"/>
              </a:rPr>
              <a:t>nodes = scores (game outcomes)</a:t>
            </a:r>
          </a:p>
          <a:p>
            <a:pPr marL="146050" indent="0">
              <a:lnSpc>
                <a:spcPct val="150000"/>
              </a:lnSpc>
              <a:buNone/>
            </a:pPr>
            <a:endParaRPr lang="en-US" sz="1600"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C231F04-1419-8B40-9AA3-268061AE046E}"/>
              </a:ext>
            </a:extLst>
          </p:cNvPr>
          <p:cNvSpPr>
            <a:spLocks noGrp="1"/>
          </p:cNvSpPr>
          <p:nvPr>
            <p:ph type="sldNum" sz="quarter" idx="12"/>
          </p:nvPr>
        </p:nvSpPr>
        <p:spPr/>
        <p:txBody>
          <a:bodyPr/>
          <a:lstStyle/>
          <a:p>
            <a:fld id="{594748C1-214E-5A42-AFB0-AA37B5C4913C}" type="slidenum">
              <a:rPr lang="en-US" altLang="en-US" smtClean="0"/>
              <a:t>15</a:t>
            </a:fld>
            <a:endParaRPr lang="en-US" altLang="en-US"/>
          </a:p>
        </p:txBody>
      </p:sp>
      <p:pic>
        <p:nvPicPr>
          <p:cNvPr id="7" name="Picture 6"/>
          <p:cNvPicPr>
            <a:picLocks noChangeAspect="1"/>
          </p:cNvPicPr>
          <p:nvPr/>
        </p:nvPicPr>
        <p:blipFill>
          <a:blip r:embed="rId3"/>
          <a:stretch>
            <a:fillRect/>
          </a:stretch>
        </p:blipFill>
        <p:spPr>
          <a:xfrm>
            <a:off x="2919" y="1"/>
            <a:ext cx="664845" cy="868016"/>
          </a:xfrm>
          <a:prstGeom prst="rect">
            <a:avLst/>
          </a:prstGeom>
        </p:spPr>
      </p:pic>
      <p:pic>
        <p:nvPicPr>
          <p:cNvPr id="5" name="Picture 4"/>
          <p:cNvPicPr>
            <a:picLocks noChangeAspect="1"/>
          </p:cNvPicPr>
          <p:nvPr/>
        </p:nvPicPr>
        <p:blipFill>
          <a:blip r:embed="rId4"/>
          <a:stretch>
            <a:fillRect/>
          </a:stretch>
        </p:blipFill>
        <p:spPr>
          <a:xfrm>
            <a:off x="6059791" y="2657062"/>
            <a:ext cx="2242696" cy="1601926"/>
          </a:xfrm>
          <a:prstGeom prst="rect">
            <a:avLst/>
          </a:prstGeom>
        </p:spPr>
      </p:pic>
    </p:spTree>
    <p:extLst>
      <p:ext uri="{BB962C8B-B14F-4D97-AF65-F5344CB8AC3E}">
        <p14:creationId xmlns:p14="http://schemas.microsoft.com/office/powerpoint/2010/main" val="288246477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9144" y="178440"/>
            <a:ext cx="7937778" cy="4850760"/>
          </a:xfrm>
        </p:spPr>
        <p:txBody>
          <a:bodyPr>
            <a:normAutofit/>
          </a:bodyPr>
          <a:lstStyle/>
          <a:p>
            <a:r>
              <a:rPr lang="en-US" sz="1400" b="1" dirty="0">
                <a:solidFill>
                  <a:schemeClr val="bg2"/>
                </a:solidFill>
                <a:latin typeface="Times New Roman" panose="02020603050405020304" pitchFamily="18" charset="0"/>
                <a:cs typeface="Times New Roman" panose="02020603050405020304" pitchFamily="18" charset="0"/>
              </a:rPr>
              <a:t>Step 1: Evaluate leaf nodes</a:t>
            </a:r>
          </a:p>
          <a:p>
            <a:pPr marL="146050" indent="0">
              <a:buNone/>
            </a:pPr>
            <a:r>
              <a:rPr lang="en-US" sz="1400" dirty="0">
                <a:solidFill>
                  <a:schemeClr val="bg2"/>
                </a:solidFill>
                <a:latin typeface="Times New Roman" panose="02020603050405020304" pitchFamily="18" charset="0"/>
                <a:cs typeface="Times New Roman" panose="02020603050405020304" pitchFamily="18" charset="0"/>
              </a:rPr>
              <a:t>Leaves already have scores:</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3, 5, 2, 9, 0, </a:t>
            </a:r>
            <a:r>
              <a:rPr lang="en-US" sz="1400" dirty="0" smtClean="0">
                <a:solidFill>
                  <a:schemeClr val="bg2"/>
                </a:solidFill>
                <a:latin typeface="Times New Roman" panose="02020603050405020304" pitchFamily="18" charset="0"/>
                <a:cs typeface="Times New Roman" panose="02020603050405020304" pitchFamily="18" charset="0"/>
              </a:rPr>
              <a:t>7</a:t>
            </a:r>
          </a:p>
          <a:p>
            <a:r>
              <a:rPr lang="en-US" sz="1400" b="1" dirty="0">
                <a:solidFill>
                  <a:schemeClr val="bg2"/>
                </a:solidFill>
                <a:latin typeface="Times New Roman" panose="02020603050405020304" pitchFamily="18" charset="0"/>
                <a:cs typeface="Times New Roman" panose="02020603050405020304" pitchFamily="18" charset="0"/>
              </a:rPr>
              <a:t>Step 2: Propagate upward (MIN’s turn)</a:t>
            </a:r>
          </a:p>
          <a:p>
            <a:pPr marL="146050" indent="0">
              <a:buNone/>
            </a:pPr>
            <a:r>
              <a:rPr lang="en-US" sz="1400" dirty="0">
                <a:solidFill>
                  <a:schemeClr val="bg2"/>
                </a:solidFill>
                <a:latin typeface="Times New Roman" panose="02020603050405020304" pitchFamily="18" charset="0"/>
                <a:cs typeface="Times New Roman" panose="02020603050405020304" pitchFamily="18" charset="0"/>
              </a:rPr>
              <a:t>Node B → min(3, 5) = 3</a:t>
            </a:r>
          </a:p>
          <a:p>
            <a:pPr marL="146050" indent="0">
              <a:buNone/>
            </a:pPr>
            <a:r>
              <a:rPr lang="en-US" sz="1400" dirty="0">
                <a:solidFill>
                  <a:schemeClr val="bg2"/>
                </a:solidFill>
                <a:latin typeface="Times New Roman" panose="02020603050405020304" pitchFamily="18" charset="0"/>
                <a:cs typeface="Times New Roman" panose="02020603050405020304" pitchFamily="18" charset="0"/>
              </a:rPr>
              <a:t>Node C → min(2, 9) = 2</a:t>
            </a:r>
          </a:p>
          <a:p>
            <a:pPr marL="146050" indent="0">
              <a:buNone/>
            </a:pPr>
            <a:r>
              <a:rPr lang="en-US" sz="1400" dirty="0">
                <a:solidFill>
                  <a:schemeClr val="bg2"/>
                </a:solidFill>
                <a:latin typeface="Times New Roman" panose="02020603050405020304" pitchFamily="18" charset="0"/>
                <a:cs typeface="Times New Roman" panose="02020603050405020304" pitchFamily="18" charset="0"/>
              </a:rPr>
              <a:t>Node D → min(0, 7) = </a:t>
            </a:r>
            <a:r>
              <a:rPr lang="en-US" sz="1400" dirty="0" smtClean="0">
                <a:solidFill>
                  <a:schemeClr val="bg2"/>
                </a:solidFill>
                <a:latin typeface="Times New Roman" panose="02020603050405020304" pitchFamily="18" charset="0"/>
                <a:cs typeface="Times New Roman" panose="02020603050405020304" pitchFamily="18" charset="0"/>
              </a:rPr>
              <a:t>0</a:t>
            </a:r>
          </a:p>
          <a:p>
            <a:r>
              <a:rPr lang="en-US" sz="1400" dirty="0" smtClean="0">
                <a:solidFill>
                  <a:schemeClr val="bg2"/>
                </a:solidFill>
                <a:latin typeface="Times New Roman" panose="02020603050405020304" pitchFamily="18" charset="0"/>
                <a:cs typeface="Times New Roman" panose="02020603050405020304" pitchFamily="18" charset="0"/>
              </a:rPr>
              <a:t> </a:t>
            </a:r>
            <a:r>
              <a:rPr lang="en-US" sz="1400" b="1" dirty="0">
                <a:solidFill>
                  <a:schemeClr val="bg2"/>
                </a:solidFill>
                <a:latin typeface="Times New Roman" panose="02020603050405020304" pitchFamily="18" charset="0"/>
                <a:cs typeface="Times New Roman" panose="02020603050405020304" pitchFamily="18" charset="0"/>
              </a:rPr>
              <a:t>Step 3: AI’s turn (MAX)</a:t>
            </a:r>
          </a:p>
          <a:p>
            <a:pPr marL="146050" indent="0">
              <a:buNone/>
            </a:pPr>
            <a:r>
              <a:rPr lang="en-US" sz="1400" dirty="0">
                <a:solidFill>
                  <a:schemeClr val="bg2"/>
                </a:solidFill>
                <a:latin typeface="Times New Roman" panose="02020603050405020304" pitchFamily="18" charset="0"/>
                <a:cs typeface="Times New Roman" panose="02020603050405020304" pitchFamily="18" charset="0"/>
              </a:rPr>
              <a:t>Now MAX chooses the highest among {3, 2, 0}</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 max(3, 2, 0) = 3</a:t>
            </a:r>
          </a:p>
          <a:p>
            <a:r>
              <a:rPr lang="en-US" sz="1400" dirty="0" smtClean="0">
                <a:solidFill>
                  <a:schemeClr val="bg2"/>
                </a:solidFill>
                <a:latin typeface="Times New Roman" panose="02020603050405020304" pitchFamily="18" charset="0"/>
                <a:cs typeface="Times New Roman" panose="02020603050405020304" pitchFamily="18" charset="0"/>
              </a:rPr>
              <a:t>✅ </a:t>
            </a:r>
            <a:r>
              <a:rPr lang="en-US" sz="1400" dirty="0">
                <a:solidFill>
                  <a:schemeClr val="bg2"/>
                </a:solidFill>
                <a:latin typeface="Times New Roman" panose="02020603050405020304" pitchFamily="18" charset="0"/>
                <a:cs typeface="Times New Roman" panose="02020603050405020304" pitchFamily="18" charset="0"/>
              </a:rPr>
              <a:t>Best Move: Choose Branch B</a:t>
            </a:r>
          </a:p>
          <a:p>
            <a:r>
              <a:rPr lang="en-US" sz="1400" dirty="0">
                <a:solidFill>
                  <a:schemeClr val="bg2"/>
                </a:solidFill>
                <a:latin typeface="Times New Roman" panose="02020603050405020304" pitchFamily="18" charset="0"/>
                <a:cs typeface="Times New Roman" panose="02020603050405020304" pitchFamily="18" charset="0"/>
              </a:rPr>
              <a:t>Because it leads to the highest guaranteed value (3) assuming the opponent plays optimally.</a:t>
            </a:r>
          </a:p>
          <a:p>
            <a:endParaRPr lang="en-IN" sz="1400"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Picture 4"/>
          <p:cNvPicPr>
            <a:picLocks noChangeAspect="1"/>
          </p:cNvPicPr>
          <p:nvPr/>
        </p:nvPicPr>
        <p:blipFill>
          <a:blip r:embed="rId2"/>
          <a:stretch>
            <a:fillRect/>
          </a:stretch>
        </p:blipFill>
        <p:spPr>
          <a:xfrm>
            <a:off x="2919" y="1"/>
            <a:ext cx="664845" cy="868016"/>
          </a:xfrm>
          <a:prstGeom prst="rect">
            <a:avLst/>
          </a:prstGeom>
        </p:spPr>
      </p:pic>
      <p:graphicFrame>
        <p:nvGraphicFramePr>
          <p:cNvPr id="6" name="Table 5"/>
          <p:cNvGraphicFramePr>
            <a:graphicFrameLocks noGrp="1"/>
          </p:cNvGraphicFramePr>
          <p:nvPr>
            <p:extLst/>
          </p:nvPr>
        </p:nvGraphicFramePr>
        <p:xfrm>
          <a:off x="667764" y="3265311"/>
          <a:ext cx="7450458" cy="1484540"/>
        </p:xfrm>
        <a:graphic>
          <a:graphicData uri="http://schemas.openxmlformats.org/drawingml/2006/table">
            <a:tbl>
              <a:tblPr/>
              <a:tblGrid>
                <a:gridCol w="2483486">
                  <a:extLst>
                    <a:ext uri="{9D8B030D-6E8A-4147-A177-3AD203B41FA5}">
                      <a16:colId xmlns:a16="http://schemas.microsoft.com/office/drawing/2014/main" val="491819990"/>
                    </a:ext>
                  </a:extLst>
                </a:gridCol>
                <a:gridCol w="2483486">
                  <a:extLst>
                    <a:ext uri="{9D8B030D-6E8A-4147-A177-3AD203B41FA5}">
                      <a16:colId xmlns:a16="http://schemas.microsoft.com/office/drawing/2014/main" val="2893501380"/>
                    </a:ext>
                  </a:extLst>
                </a:gridCol>
                <a:gridCol w="2483486">
                  <a:extLst>
                    <a:ext uri="{9D8B030D-6E8A-4147-A177-3AD203B41FA5}">
                      <a16:colId xmlns:a16="http://schemas.microsoft.com/office/drawing/2014/main" val="329141070"/>
                    </a:ext>
                  </a:extLst>
                </a:gridCol>
              </a:tblGrid>
              <a:tr h="371135">
                <a:tc>
                  <a:txBody>
                    <a:bodyPr/>
                    <a:lstStyle/>
                    <a:p>
                      <a:r>
                        <a:rPr lang="en-IN" b="1" dirty="0">
                          <a:ln cmpd="dbl">
                            <a:solidFill>
                              <a:schemeClr val="bg2"/>
                            </a:solidFill>
                          </a:ln>
                          <a:solidFill>
                            <a:schemeClr val="bg2"/>
                          </a:solidFill>
                        </a:rPr>
                        <a:t>Step</a:t>
                      </a:r>
                    </a:p>
                  </a:txBody>
                  <a:tcPr anchor="ctr">
                    <a:lnL>
                      <a:noFill/>
                    </a:lnL>
                    <a:lnR>
                      <a:noFill/>
                    </a:lnR>
                    <a:lnT>
                      <a:noFill/>
                    </a:lnT>
                    <a:lnB>
                      <a:noFill/>
                    </a:lnB>
                  </a:tcPr>
                </a:tc>
                <a:tc>
                  <a:txBody>
                    <a:bodyPr/>
                    <a:lstStyle/>
                    <a:p>
                      <a:r>
                        <a:rPr lang="en-IN" b="1">
                          <a:ln cmpd="dbl">
                            <a:solidFill>
                              <a:schemeClr val="bg2"/>
                            </a:solidFill>
                          </a:ln>
                          <a:solidFill>
                            <a:schemeClr val="bg2"/>
                          </a:solidFill>
                        </a:rPr>
                        <a:t>Player</a:t>
                      </a:r>
                    </a:p>
                  </a:txBody>
                  <a:tcPr anchor="ctr">
                    <a:lnL>
                      <a:noFill/>
                    </a:lnL>
                    <a:lnR>
                      <a:noFill/>
                    </a:lnR>
                    <a:lnT>
                      <a:noFill/>
                    </a:lnT>
                    <a:lnB>
                      <a:noFill/>
                    </a:lnB>
                  </a:tcPr>
                </a:tc>
                <a:tc>
                  <a:txBody>
                    <a:bodyPr/>
                    <a:lstStyle/>
                    <a:p>
                      <a:r>
                        <a:rPr lang="en-IN" b="1">
                          <a:ln cmpd="dbl">
                            <a:solidFill>
                              <a:schemeClr val="bg2"/>
                            </a:solidFill>
                          </a:ln>
                          <a:solidFill>
                            <a:schemeClr val="bg2"/>
                          </a:solidFill>
                        </a:rPr>
                        <a:t>Action</a:t>
                      </a:r>
                    </a:p>
                  </a:txBody>
                  <a:tcPr anchor="ctr">
                    <a:lnL>
                      <a:noFill/>
                    </a:lnL>
                    <a:lnR>
                      <a:noFill/>
                    </a:lnR>
                    <a:lnT>
                      <a:noFill/>
                    </a:lnT>
                    <a:lnB>
                      <a:noFill/>
                    </a:lnB>
                  </a:tcPr>
                </a:tc>
                <a:extLst>
                  <a:ext uri="{0D108BD9-81ED-4DB2-BD59-A6C34878D82A}">
                    <a16:rowId xmlns:a16="http://schemas.microsoft.com/office/drawing/2014/main" val="715268260"/>
                  </a:ext>
                </a:extLst>
              </a:tr>
              <a:tr h="371135">
                <a:tc>
                  <a:txBody>
                    <a:bodyPr/>
                    <a:lstStyle/>
                    <a:p>
                      <a:r>
                        <a:rPr lang="en-IN" b="1" dirty="0">
                          <a:ln cmpd="dbl">
                            <a:solidFill>
                              <a:schemeClr val="bg2"/>
                            </a:solidFill>
                          </a:ln>
                          <a:solidFill>
                            <a:schemeClr val="bg2"/>
                          </a:solidFill>
                        </a:rPr>
                        <a:t>Leaf</a:t>
                      </a:r>
                    </a:p>
                  </a:txBody>
                  <a:tcPr anchor="ctr">
                    <a:lnL>
                      <a:noFill/>
                    </a:lnL>
                    <a:lnR>
                      <a:noFill/>
                    </a:lnR>
                    <a:lnT>
                      <a:noFill/>
                    </a:lnT>
                    <a:lnB>
                      <a:noFill/>
                    </a:lnB>
                  </a:tcPr>
                </a:tc>
                <a:tc>
                  <a:txBody>
                    <a:bodyPr/>
                    <a:lstStyle/>
                    <a:p>
                      <a:r>
                        <a:rPr lang="en-IN" b="1">
                          <a:ln cmpd="dbl">
                            <a:solidFill>
                              <a:schemeClr val="bg2"/>
                            </a:solidFill>
                          </a:ln>
                          <a:solidFill>
                            <a:schemeClr val="bg2"/>
                          </a:solidFill>
                        </a:rPr>
                        <a:t>Values</a:t>
                      </a:r>
                    </a:p>
                  </a:txBody>
                  <a:tcPr anchor="ctr">
                    <a:lnL>
                      <a:noFill/>
                    </a:lnL>
                    <a:lnR>
                      <a:noFill/>
                    </a:lnR>
                    <a:lnT>
                      <a:noFill/>
                    </a:lnT>
                    <a:lnB>
                      <a:noFill/>
                    </a:lnB>
                  </a:tcPr>
                </a:tc>
                <a:tc>
                  <a:txBody>
                    <a:bodyPr/>
                    <a:lstStyle/>
                    <a:p>
                      <a:r>
                        <a:rPr lang="en-IN" b="1" dirty="0">
                          <a:ln cmpd="dbl">
                            <a:solidFill>
                              <a:schemeClr val="bg2"/>
                            </a:solidFill>
                          </a:ln>
                          <a:solidFill>
                            <a:schemeClr val="bg2"/>
                          </a:solidFill>
                        </a:rPr>
                        <a:t>3, 5, 2, 9, 0, 7</a:t>
                      </a:r>
                    </a:p>
                  </a:txBody>
                  <a:tcPr anchor="ctr">
                    <a:lnL>
                      <a:noFill/>
                    </a:lnL>
                    <a:lnR>
                      <a:noFill/>
                    </a:lnR>
                    <a:lnT>
                      <a:noFill/>
                    </a:lnT>
                    <a:lnB>
                      <a:noFill/>
                    </a:lnB>
                  </a:tcPr>
                </a:tc>
                <a:extLst>
                  <a:ext uri="{0D108BD9-81ED-4DB2-BD59-A6C34878D82A}">
                    <a16:rowId xmlns:a16="http://schemas.microsoft.com/office/drawing/2014/main" val="343024608"/>
                  </a:ext>
                </a:extLst>
              </a:tr>
              <a:tr h="371135">
                <a:tc>
                  <a:txBody>
                    <a:bodyPr/>
                    <a:lstStyle/>
                    <a:p>
                      <a:r>
                        <a:rPr lang="en-IN" b="1" dirty="0">
                          <a:ln cmpd="dbl">
                            <a:solidFill>
                              <a:schemeClr val="bg2"/>
                            </a:solidFill>
                          </a:ln>
                          <a:solidFill>
                            <a:schemeClr val="bg2"/>
                          </a:solidFill>
                        </a:rPr>
                        <a:t>Level 1</a:t>
                      </a:r>
                    </a:p>
                  </a:txBody>
                  <a:tcPr anchor="ctr">
                    <a:lnL>
                      <a:noFill/>
                    </a:lnL>
                    <a:lnR>
                      <a:noFill/>
                    </a:lnR>
                    <a:lnT>
                      <a:noFill/>
                    </a:lnT>
                    <a:lnB>
                      <a:noFill/>
                    </a:lnB>
                  </a:tcPr>
                </a:tc>
                <a:tc>
                  <a:txBody>
                    <a:bodyPr/>
                    <a:lstStyle/>
                    <a:p>
                      <a:r>
                        <a:rPr lang="en-IN" b="1" dirty="0">
                          <a:ln cmpd="dbl">
                            <a:solidFill>
                              <a:schemeClr val="bg2"/>
                            </a:solidFill>
                          </a:ln>
                          <a:solidFill>
                            <a:schemeClr val="bg2"/>
                          </a:solidFill>
                        </a:rPr>
                        <a:t>MIN</a:t>
                      </a:r>
                    </a:p>
                  </a:txBody>
                  <a:tcPr anchor="ctr">
                    <a:lnL>
                      <a:noFill/>
                    </a:lnL>
                    <a:lnR>
                      <a:noFill/>
                    </a:lnR>
                    <a:lnT>
                      <a:noFill/>
                    </a:lnT>
                    <a:lnB>
                      <a:noFill/>
                    </a:lnB>
                  </a:tcPr>
                </a:tc>
                <a:tc>
                  <a:txBody>
                    <a:bodyPr/>
                    <a:lstStyle/>
                    <a:p>
                      <a:r>
                        <a:rPr lang="en-IN" b="1" dirty="0">
                          <a:ln cmpd="dbl">
                            <a:solidFill>
                              <a:schemeClr val="bg2"/>
                            </a:solidFill>
                          </a:ln>
                          <a:solidFill>
                            <a:schemeClr val="bg2"/>
                          </a:solidFill>
                        </a:rPr>
                        <a:t>Takes 3, 2, 0</a:t>
                      </a:r>
                    </a:p>
                  </a:txBody>
                  <a:tcPr anchor="ctr">
                    <a:lnL>
                      <a:noFill/>
                    </a:lnL>
                    <a:lnR>
                      <a:noFill/>
                    </a:lnR>
                    <a:lnT>
                      <a:noFill/>
                    </a:lnT>
                    <a:lnB>
                      <a:noFill/>
                    </a:lnB>
                  </a:tcPr>
                </a:tc>
                <a:extLst>
                  <a:ext uri="{0D108BD9-81ED-4DB2-BD59-A6C34878D82A}">
                    <a16:rowId xmlns:a16="http://schemas.microsoft.com/office/drawing/2014/main" val="748023410"/>
                  </a:ext>
                </a:extLst>
              </a:tr>
              <a:tr h="371135">
                <a:tc>
                  <a:txBody>
                    <a:bodyPr/>
                    <a:lstStyle/>
                    <a:p>
                      <a:r>
                        <a:rPr lang="en-IN" b="1" dirty="0">
                          <a:ln cmpd="dbl">
                            <a:solidFill>
                              <a:schemeClr val="bg2"/>
                            </a:solidFill>
                          </a:ln>
                          <a:solidFill>
                            <a:schemeClr val="bg2"/>
                          </a:solidFill>
                        </a:rPr>
                        <a:t>Level 2</a:t>
                      </a:r>
                    </a:p>
                  </a:txBody>
                  <a:tcPr anchor="ctr">
                    <a:lnL>
                      <a:noFill/>
                    </a:lnL>
                    <a:lnR>
                      <a:noFill/>
                    </a:lnR>
                    <a:lnT>
                      <a:noFill/>
                    </a:lnT>
                    <a:lnB>
                      <a:noFill/>
                    </a:lnB>
                  </a:tcPr>
                </a:tc>
                <a:tc>
                  <a:txBody>
                    <a:bodyPr/>
                    <a:lstStyle/>
                    <a:p>
                      <a:r>
                        <a:rPr lang="en-IN" b="1" dirty="0">
                          <a:ln cmpd="dbl">
                            <a:solidFill>
                              <a:schemeClr val="bg2"/>
                            </a:solidFill>
                          </a:ln>
                          <a:solidFill>
                            <a:schemeClr val="bg2"/>
                          </a:solidFill>
                        </a:rPr>
                        <a:t>MAX</a:t>
                      </a:r>
                    </a:p>
                  </a:txBody>
                  <a:tcPr anchor="ctr">
                    <a:lnL>
                      <a:noFill/>
                    </a:lnL>
                    <a:lnR>
                      <a:noFill/>
                    </a:lnR>
                    <a:lnT>
                      <a:noFill/>
                    </a:lnT>
                    <a:lnB>
                      <a:noFill/>
                    </a:lnB>
                  </a:tcPr>
                </a:tc>
                <a:tc>
                  <a:txBody>
                    <a:bodyPr/>
                    <a:lstStyle/>
                    <a:p>
                      <a:r>
                        <a:rPr lang="en-IN" b="1" dirty="0">
                          <a:ln cmpd="dbl">
                            <a:solidFill>
                              <a:schemeClr val="bg2"/>
                            </a:solidFill>
                          </a:ln>
                          <a:solidFill>
                            <a:schemeClr val="bg2"/>
                          </a:solidFill>
                        </a:rPr>
                        <a:t>Chooses 3</a:t>
                      </a:r>
                    </a:p>
                  </a:txBody>
                  <a:tcPr anchor="ctr">
                    <a:lnL>
                      <a:noFill/>
                    </a:lnL>
                    <a:lnR>
                      <a:noFill/>
                    </a:lnR>
                    <a:lnT>
                      <a:noFill/>
                    </a:lnT>
                    <a:lnB>
                      <a:noFill/>
                    </a:lnB>
                  </a:tcPr>
                </a:tc>
                <a:extLst>
                  <a:ext uri="{0D108BD9-81ED-4DB2-BD59-A6C34878D82A}">
                    <a16:rowId xmlns:a16="http://schemas.microsoft.com/office/drawing/2014/main" val="345555006"/>
                  </a:ext>
                </a:extLst>
              </a:tr>
            </a:tbl>
          </a:graphicData>
        </a:graphic>
      </p:graphicFrame>
    </p:spTree>
    <p:extLst>
      <p:ext uri="{BB962C8B-B14F-4D97-AF65-F5344CB8AC3E}">
        <p14:creationId xmlns:p14="http://schemas.microsoft.com/office/powerpoint/2010/main" val="66192295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CCAE-8053-FA7D-C26B-51F5F773A0A3}"/>
              </a:ext>
            </a:extLst>
          </p:cNvPr>
          <p:cNvSpPr>
            <a:spLocks noGrp="1"/>
          </p:cNvSpPr>
          <p:nvPr>
            <p:ph type="title"/>
          </p:nvPr>
        </p:nvSpPr>
        <p:spPr>
          <a:xfrm>
            <a:off x="1078860" y="92620"/>
            <a:ext cx="7868538" cy="542218"/>
          </a:xfrm>
        </p:spPr>
        <p:txBody>
          <a:bodyPr/>
          <a:lstStyle/>
          <a:p>
            <a:r>
              <a:rPr lang="en-US" sz="2400" dirty="0"/>
              <a:t>Min-Max Search Algorithm</a:t>
            </a:r>
            <a:endParaRPr lang="en-IN" sz="2400" dirty="0"/>
          </a:p>
        </p:txBody>
      </p:sp>
      <p:sp>
        <p:nvSpPr>
          <p:cNvPr id="3" name="Content Placeholder 2">
            <a:extLst>
              <a:ext uri="{FF2B5EF4-FFF2-40B4-BE49-F238E27FC236}">
                <a16:creationId xmlns:a16="http://schemas.microsoft.com/office/drawing/2014/main" id="{2DC0F6FB-399A-4444-43CA-CCFF59D3EECD}"/>
              </a:ext>
            </a:extLst>
          </p:cNvPr>
          <p:cNvSpPr>
            <a:spLocks noGrp="1"/>
          </p:cNvSpPr>
          <p:nvPr>
            <p:ph idx="1"/>
          </p:nvPr>
        </p:nvSpPr>
        <p:spPr>
          <a:xfrm>
            <a:off x="646810" y="578821"/>
            <a:ext cx="7889492" cy="4123537"/>
          </a:xfrm>
        </p:spPr>
        <p:txBody>
          <a:bodyPr>
            <a:noAutofit/>
          </a:bodyPr>
          <a:lstStyle/>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The Min-Max algorithm is used in two-player, zero-sum games where one player's gain is the other's loss (e.g., chess, tic-tac-toe). The idea is to maximize the AI’s minimum gain (hence "Min-Max").</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	Max player tries to maximize the score.</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	Min player tries to minimize the score.</a:t>
            </a:r>
          </a:p>
          <a:p>
            <a:pPr marL="146050" indent="0">
              <a:lnSpc>
                <a:spcPct val="150000"/>
              </a:lnSpc>
              <a:buNone/>
            </a:pPr>
            <a:r>
              <a:rPr lang="en-US" sz="1400" b="1" dirty="0">
                <a:solidFill>
                  <a:schemeClr val="bg2"/>
                </a:solidFill>
                <a:latin typeface="Times New Roman" panose="02020603050405020304" pitchFamily="18" charset="0"/>
                <a:cs typeface="Times New Roman" panose="02020603050405020304" pitchFamily="18" charset="0"/>
              </a:rPr>
              <a:t>How it works:</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	The game states form a tree where:</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o	Nodes at Max's turn choose the maximum value from child nodes.</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o	Nodes at Min's turn choose the minimum value from child nodes.</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	The leaves of the tree have evaluated scores (utility values).</a:t>
            </a:r>
          </a:p>
          <a:p>
            <a:pPr marL="146050" indent="0">
              <a:lnSpc>
                <a:spcPct val="150000"/>
              </a:lnSpc>
              <a:buNone/>
            </a:pPr>
            <a:r>
              <a:rPr lang="en-US" sz="1400" dirty="0">
                <a:solidFill>
                  <a:schemeClr val="bg2"/>
                </a:solidFill>
                <a:latin typeface="Times New Roman" panose="02020603050405020304" pitchFamily="18" charset="0"/>
                <a:cs typeface="Times New Roman" panose="02020603050405020304" pitchFamily="18" charset="0"/>
              </a:rPr>
              <a:t>•	The algorithm backtracks from leaves to root selecting the best move.</a:t>
            </a:r>
          </a:p>
        </p:txBody>
      </p:sp>
      <p:sp>
        <p:nvSpPr>
          <p:cNvPr id="4" name="Slide Number Placeholder 3">
            <a:extLst>
              <a:ext uri="{FF2B5EF4-FFF2-40B4-BE49-F238E27FC236}">
                <a16:creationId xmlns:a16="http://schemas.microsoft.com/office/drawing/2014/main" id="{8C231F04-1419-8B40-9AA3-268061AE046E}"/>
              </a:ext>
            </a:extLst>
          </p:cNvPr>
          <p:cNvSpPr>
            <a:spLocks noGrp="1"/>
          </p:cNvSpPr>
          <p:nvPr>
            <p:ph type="sldNum" sz="quarter" idx="12"/>
          </p:nvPr>
        </p:nvSpPr>
        <p:spPr/>
        <p:txBody>
          <a:bodyPr/>
          <a:lstStyle/>
          <a:p>
            <a:fld id="{594748C1-214E-5A42-AFB0-AA37B5C4913C}" type="slidenum">
              <a:rPr lang="en-US" altLang="en-US" smtClean="0"/>
              <a:t>17</a:t>
            </a:fld>
            <a:endParaRPr lang="en-US" altLang="en-US"/>
          </a:p>
        </p:txBody>
      </p:sp>
      <p:pic>
        <p:nvPicPr>
          <p:cNvPr id="7" name="Picture 6"/>
          <p:cNvPicPr>
            <a:picLocks noChangeAspect="1"/>
          </p:cNvPicPr>
          <p:nvPr/>
        </p:nvPicPr>
        <p:blipFill>
          <a:blip r:embed="rId3"/>
          <a:stretch>
            <a:fillRect/>
          </a:stretch>
        </p:blipFill>
        <p:spPr>
          <a:xfrm>
            <a:off x="2919" y="1"/>
            <a:ext cx="703663" cy="1157640"/>
          </a:xfrm>
          <a:prstGeom prst="rect">
            <a:avLst/>
          </a:prstGeom>
        </p:spPr>
      </p:pic>
    </p:spTree>
    <p:extLst>
      <p:ext uri="{BB962C8B-B14F-4D97-AF65-F5344CB8AC3E}">
        <p14:creationId xmlns:p14="http://schemas.microsoft.com/office/powerpoint/2010/main" val="3000057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5" name="Picture 4"/>
          <p:cNvPicPr>
            <a:picLocks noChangeAspect="1"/>
          </p:cNvPicPr>
          <p:nvPr/>
        </p:nvPicPr>
        <p:blipFill>
          <a:blip r:embed="rId2"/>
          <a:stretch>
            <a:fillRect/>
          </a:stretch>
        </p:blipFill>
        <p:spPr>
          <a:xfrm>
            <a:off x="2919" y="1"/>
            <a:ext cx="421151" cy="692862"/>
          </a:xfrm>
          <a:prstGeom prst="rect">
            <a:avLst/>
          </a:prstGeom>
        </p:spPr>
      </p:pic>
      <p:sp>
        <p:nvSpPr>
          <p:cNvPr id="2" name="Content Placeholder 1"/>
          <p:cNvSpPr>
            <a:spLocks noGrp="1"/>
          </p:cNvSpPr>
          <p:nvPr>
            <p:ph idx="1"/>
          </p:nvPr>
        </p:nvSpPr>
        <p:spPr>
          <a:xfrm>
            <a:off x="311700" y="1152474"/>
            <a:ext cx="8520600" cy="3843595"/>
          </a:xfrm>
        </p:spPr>
        <p:txBody>
          <a:bodyPr>
            <a:normAutofit/>
          </a:bodyPr>
          <a:lstStyle/>
          <a:p>
            <a:r>
              <a:rPr lang="en-US" sz="1400" dirty="0">
                <a:solidFill>
                  <a:schemeClr val="bg2"/>
                </a:solidFill>
                <a:latin typeface="Times New Roman" panose="02020603050405020304" pitchFamily="18" charset="0"/>
                <a:cs typeface="Times New Roman" panose="02020603050405020304" pitchFamily="18" charset="0"/>
              </a:rPr>
              <a:t>It eliminates branches in the game tree that cannot possibly influence the final decision.</a:t>
            </a:r>
          </a:p>
          <a:p>
            <a:r>
              <a:rPr lang="en-US" sz="1400" dirty="0">
                <a:solidFill>
                  <a:schemeClr val="bg2"/>
                </a:solidFill>
                <a:latin typeface="Times New Roman" panose="02020603050405020304" pitchFamily="18" charset="0"/>
                <a:cs typeface="Times New Roman" panose="02020603050405020304" pitchFamily="18" charset="0"/>
              </a:rPr>
              <a:t>Two parameters are used:</a:t>
            </a:r>
          </a:p>
          <a:p>
            <a:pPr marL="146050" indent="0">
              <a:buNone/>
            </a:pPr>
            <a:r>
              <a:rPr lang="en-US" sz="1400" dirty="0" smtClean="0">
                <a:solidFill>
                  <a:schemeClr val="bg2"/>
                </a:solidFill>
                <a:latin typeface="Times New Roman" panose="02020603050405020304" pitchFamily="18" charset="0"/>
                <a:cs typeface="Times New Roman" panose="02020603050405020304" pitchFamily="18" charset="0"/>
              </a:rPr>
              <a:t>- α </a:t>
            </a:r>
            <a:r>
              <a:rPr lang="en-US" sz="1400" dirty="0">
                <a:solidFill>
                  <a:schemeClr val="bg2"/>
                </a:solidFill>
                <a:latin typeface="Times New Roman" panose="02020603050405020304" pitchFamily="18" charset="0"/>
                <a:cs typeface="Times New Roman" panose="02020603050405020304" pitchFamily="18" charset="0"/>
              </a:rPr>
              <a:t>(alpha): the best (maximum) value that the MAX player currently can guarantee.</a:t>
            </a:r>
          </a:p>
          <a:p>
            <a:pPr marL="146050" indent="0">
              <a:buNone/>
            </a:pPr>
            <a:r>
              <a:rPr lang="en-US" sz="1400" dirty="0" smtClean="0">
                <a:solidFill>
                  <a:schemeClr val="bg2"/>
                </a:solidFill>
                <a:latin typeface="Times New Roman" panose="02020603050405020304" pitchFamily="18" charset="0"/>
                <a:cs typeface="Times New Roman" panose="02020603050405020304" pitchFamily="18" charset="0"/>
              </a:rPr>
              <a:t>- β </a:t>
            </a:r>
            <a:r>
              <a:rPr lang="en-US" sz="1400" dirty="0">
                <a:solidFill>
                  <a:schemeClr val="bg2"/>
                </a:solidFill>
                <a:latin typeface="Times New Roman" panose="02020603050405020304" pitchFamily="18" charset="0"/>
                <a:cs typeface="Times New Roman" panose="02020603050405020304" pitchFamily="18" charset="0"/>
              </a:rPr>
              <a:t>(beta): the best (minimum) value that the MIN player currently can guarantee.</a:t>
            </a:r>
          </a:p>
          <a:p>
            <a:r>
              <a:rPr lang="en-US" sz="1400" dirty="0">
                <a:solidFill>
                  <a:schemeClr val="bg2"/>
                </a:solidFill>
                <a:latin typeface="Times New Roman" panose="02020603050405020304" pitchFamily="18" charset="0"/>
                <a:cs typeface="Times New Roman" panose="02020603050405020304" pitchFamily="18" charset="0"/>
              </a:rPr>
              <a:t>Pruning Rule:</a:t>
            </a:r>
            <a:br>
              <a:rPr lang="en-US" sz="1400" dirty="0">
                <a:solidFill>
                  <a:schemeClr val="bg2"/>
                </a:solidFill>
                <a:latin typeface="Times New Roman" panose="02020603050405020304" pitchFamily="18" charset="0"/>
                <a:cs typeface="Times New Roman" panose="02020603050405020304" pitchFamily="18" charset="0"/>
              </a:rPr>
            </a:br>
            <a:r>
              <a:rPr lang="en-US" sz="1400" dirty="0">
                <a:solidFill>
                  <a:schemeClr val="bg2"/>
                </a:solidFill>
                <a:latin typeface="Times New Roman" panose="02020603050405020304" pitchFamily="18" charset="0"/>
                <a:cs typeface="Times New Roman" panose="02020603050405020304" pitchFamily="18" charset="0"/>
              </a:rPr>
              <a:t>If at any point α ≥ β, we stop exploring that branch (no need to evaluate further).</a:t>
            </a:r>
          </a:p>
          <a:p>
            <a:endParaRPr lang="en-IN" sz="1400" dirty="0">
              <a:solidFill>
                <a:schemeClr val="bg2"/>
              </a:solidFill>
              <a:latin typeface="Times New Roman" panose="02020603050405020304" pitchFamily="18" charset="0"/>
              <a:cs typeface="Times New Roman" panose="02020603050405020304" pitchFamily="18" charset="0"/>
            </a:endParaRPr>
          </a:p>
          <a:p>
            <a:endParaRPr lang="en-IN" sz="1400" dirty="0">
              <a:solidFill>
                <a:schemeClr val="bg2"/>
              </a:solidFill>
            </a:endParaRPr>
          </a:p>
        </p:txBody>
      </p:sp>
      <p:sp>
        <p:nvSpPr>
          <p:cNvPr id="3" name="Rectangle 2"/>
          <p:cNvSpPr/>
          <p:nvPr/>
        </p:nvSpPr>
        <p:spPr>
          <a:xfrm>
            <a:off x="904204" y="290402"/>
            <a:ext cx="4323779" cy="369332"/>
          </a:xfrm>
          <a:prstGeom prst="rect">
            <a:avLst/>
          </a:prstGeom>
        </p:spPr>
        <p:txBody>
          <a:bodyPr wrap="square">
            <a:spAutoFit/>
          </a:bodyPr>
          <a:lstStyle/>
          <a:p>
            <a:r>
              <a:rPr lang="en-IN" sz="1800" dirty="0" smtClean="0"/>
              <a:t> </a:t>
            </a:r>
            <a:r>
              <a:rPr lang="en-IN" sz="1800" b="1" dirty="0"/>
              <a:t>Alpha–Beta </a:t>
            </a:r>
            <a:r>
              <a:rPr lang="en-IN" sz="1800" b="1" dirty="0" smtClean="0"/>
              <a:t>Pruning</a:t>
            </a:r>
            <a:endParaRPr lang="en-IN" sz="1800" b="1" dirty="0"/>
          </a:p>
        </p:txBody>
      </p:sp>
      <p:pic>
        <p:nvPicPr>
          <p:cNvPr id="6" name="Picture 5"/>
          <p:cNvPicPr>
            <a:picLocks noChangeAspect="1"/>
          </p:cNvPicPr>
          <p:nvPr/>
        </p:nvPicPr>
        <p:blipFill>
          <a:blip r:embed="rId3"/>
          <a:stretch>
            <a:fillRect/>
          </a:stretch>
        </p:blipFill>
        <p:spPr>
          <a:xfrm>
            <a:off x="5168803" y="2943754"/>
            <a:ext cx="2212657" cy="1806097"/>
          </a:xfrm>
          <a:prstGeom prst="rect">
            <a:avLst/>
          </a:prstGeom>
        </p:spPr>
      </p:pic>
      <p:sp>
        <p:nvSpPr>
          <p:cNvPr id="7" name="Rectangle 6"/>
          <p:cNvSpPr/>
          <p:nvPr/>
        </p:nvSpPr>
        <p:spPr>
          <a:xfrm>
            <a:off x="596803" y="2831139"/>
            <a:ext cx="4572000" cy="2031325"/>
          </a:xfrm>
          <a:prstGeom prst="rect">
            <a:avLst/>
          </a:prstGeom>
        </p:spPr>
        <p:txBody>
          <a:bodyPr>
            <a:spAutoFit/>
          </a:bodyPr>
          <a:lstStyle/>
          <a:p>
            <a:pPr lvl="0" eaLnBrk="0" fontAlgn="base" hangingPunct="0">
              <a:spcBef>
                <a:spcPct val="0"/>
              </a:spcBef>
              <a:spcAft>
                <a:spcPct val="0"/>
              </a:spcAft>
              <a:buClrTx/>
            </a:pPr>
            <a:r>
              <a:rPr lang="en-US" altLang="en-US" b="1" dirty="0">
                <a:solidFill>
                  <a:schemeClr val="bg2"/>
                </a:solidFill>
                <a:latin typeface="Times New Roman" panose="02020603050405020304" pitchFamily="18" charset="0"/>
                <a:cs typeface="Times New Roman" panose="02020603050405020304" pitchFamily="18" charset="0"/>
              </a:rPr>
              <a:t>Step 1: Start from Root</a:t>
            </a:r>
          </a:p>
          <a:p>
            <a:pPr lvl="0" eaLnBrk="0" fontAlgn="base" hangingPunct="0">
              <a:spcBef>
                <a:spcPct val="0"/>
              </a:spcBef>
              <a:spcAft>
                <a:spcPct val="0"/>
              </a:spcAft>
              <a:buClrTx/>
              <a:buFontTx/>
              <a:buChar char="•"/>
            </a:pPr>
            <a:r>
              <a:rPr lang="en-US" altLang="en-US" dirty="0">
                <a:solidFill>
                  <a:schemeClr val="bg2"/>
                </a:solidFill>
                <a:latin typeface="Times New Roman" panose="02020603050405020304" pitchFamily="18" charset="0"/>
                <a:cs typeface="Times New Roman" panose="02020603050405020304" pitchFamily="18" charset="0"/>
              </a:rPr>
              <a:t>At root A (MAX): α = −∞, β = +</a:t>
            </a:r>
            <a:r>
              <a:rPr lang="en-US" altLang="en-US" dirty="0" smtClean="0">
                <a:solidFill>
                  <a:schemeClr val="bg2"/>
                </a:solidFill>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r>
              <a:rPr lang="en-US" altLang="en-US" b="1" dirty="0" smtClean="0">
                <a:solidFill>
                  <a:schemeClr val="bg2"/>
                </a:solidFill>
                <a:latin typeface="Times New Roman" panose="02020603050405020304" pitchFamily="18" charset="0"/>
                <a:cs typeface="Times New Roman" panose="02020603050405020304" pitchFamily="18" charset="0"/>
              </a:rPr>
              <a:t>Step </a:t>
            </a:r>
            <a:r>
              <a:rPr lang="en-US" altLang="en-US" b="1" dirty="0">
                <a:solidFill>
                  <a:schemeClr val="bg2"/>
                </a:solidFill>
                <a:latin typeface="Times New Roman" panose="02020603050405020304" pitchFamily="18" charset="0"/>
                <a:cs typeface="Times New Roman" panose="02020603050405020304" pitchFamily="18" charset="0"/>
              </a:rPr>
              <a:t>2: Explore Left Child (B)</a:t>
            </a:r>
          </a:p>
          <a:p>
            <a:pPr lvl="0" eaLnBrk="0" fontAlgn="base" hangingPunct="0">
              <a:spcBef>
                <a:spcPct val="0"/>
              </a:spcBef>
              <a:spcAft>
                <a:spcPct val="0"/>
              </a:spcAft>
              <a:buClrTx/>
            </a:pPr>
            <a:r>
              <a:rPr lang="en-US" altLang="en-US" dirty="0">
                <a:solidFill>
                  <a:schemeClr val="bg2"/>
                </a:solidFill>
                <a:latin typeface="Times New Roman" panose="02020603050405020304" pitchFamily="18" charset="0"/>
                <a:cs typeface="Times New Roman" panose="02020603050405020304" pitchFamily="18" charset="0"/>
              </a:rPr>
              <a:t>B is a MIN node: α = −∞, β = +∞</a:t>
            </a:r>
            <a:br>
              <a:rPr lang="en-US" altLang="en-US" dirty="0">
                <a:solidFill>
                  <a:schemeClr val="bg2"/>
                </a:solidFill>
                <a:latin typeface="Times New Roman" panose="02020603050405020304" pitchFamily="18" charset="0"/>
                <a:cs typeface="Times New Roman" panose="02020603050405020304" pitchFamily="18" charset="0"/>
              </a:rPr>
            </a:br>
            <a:r>
              <a:rPr lang="en-US" altLang="en-US" dirty="0">
                <a:solidFill>
                  <a:schemeClr val="bg2"/>
                </a:solidFill>
                <a:latin typeface="Times New Roman" panose="02020603050405020304" pitchFamily="18" charset="0"/>
                <a:cs typeface="Times New Roman" panose="02020603050405020304" pitchFamily="18" charset="0"/>
              </a:rPr>
              <a:t>Evaluate its children (3, 5):</a:t>
            </a:r>
          </a:p>
          <a:p>
            <a:pPr lvl="0" eaLnBrk="0" fontAlgn="base" hangingPunct="0">
              <a:spcBef>
                <a:spcPct val="0"/>
              </a:spcBef>
              <a:spcAft>
                <a:spcPct val="0"/>
              </a:spcAft>
              <a:buClrTx/>
            </a:pPr>
            <a:r>
              <a:rPr lang="en-US" altLang="en-US" dirty="0">
                <a:solidFill>
                  <a:schemeClr val="bg2"/>
                </a:solidFill>
                <a:latin typeface="Times New Roman" panose="02020603050405020304" pitchFamily="18" charset="0"/>
                <a:cs typeface="Times New Roman" panose="02020603050405020304" pitchFamily="18" charset="0"/>
              </a:rPr>
              <a:t>First child: 3 → β = min(+∞, 3) = 3</a:t>
            </a:r>
          </a:p>
          <a:p>
            <a:pPr lvl="0" eaLnBrk="0" fontAlgn="base" hangingPunct="0">
              <a:spcBef>
                <a:spcPct val="0"/>
              </a:spcBef>
              <a:spcAft>
                <a:spcPct val="0"/>
              </a:spcAft>
              <a:buClrTx/>
            </a:pPr>
            <a:r>
              <a:rPr lang="en-US" altLang="en-US" dirty="0">
                <a:solidFill>
                  <a:schemeClr val="bg2"/>
                </a:solidFill>
                <a:latin typeface="Times New Roman" panose="02020603050405020304" pitchFamily="18" charset="0"/>
                <a:cs typeface="Times New Roman" panose="02020603050405020304" pitchFamily="18" charset="0"/>
              </a:rPr>
              <a:t>Second child: 5 → β = min(3, 5) = 3</a:t>
            </a:r>
          </a:p>
          <a:p>
            <a:pPr lvl="0" eaLnBrk="0" fontAlgn="base" hangingPunct="0">
              <a:spcBef>
                <a:spcPct val="0"/>
              </a:spcBef>
              <a:spcAft>
                <a:spcPct val="0"/>
              </a:spcAft>
              <a:buClrTx/>
            </a:pPr>
            <a:r>
              <a:rPr lang="en-US" altLang="en-US" dirty="0">
                <a:solidFill>
                  <a:schemeClr val="bg2"/>
                </a:solidFill>
                <a:latin typeface="Times New Roman" panose="02020603050405020304" pitchFamily="18" charset="0"/>
                <a:cs typeface="Times New Roman" panose="02020603050405020304" pitchFamily="18" charset="0"/>
              </a:rPr>
              <a:t>Return value to parent (A): 3</a:t>
            </a:r>
          </a:p>
          <a:p>
            <a:pPr lvl="0" eaLnBrk="0" fontAlgn="base" hangingPunct="0">
              <a:spcBef>
                <a:spcPct val="0"/>
              </a:spcBef>
              <a:spcAft>
                <a:spcPct val="0"/>
              </a:spcAft>
              <a:buClrTx/>
            </a:pPr>
            <a:r>
              <a:rPr lang="en-US" altLang="en-US" dirty="0">
                <a:solidFill>
                  <a:schemeClr val="bg2"/>
                </a:solidFill>
                <a:latin typeface="Times New Roman" panose="02020603050405020304" pitchFamily="18" charset="0"/>
                <a:cs typeface="Times New Roman" panose="02020603050405020304" pitchFamily="18" charset="0"/>
              </a:rPr>
              <a:t>Now, α at A = max(−∞, 3) = </a:t>
            </a:r>
            <a:r>
              <a:rPr lang="en-US" altLang="en-US" dirty="0" smtClean="0">
                <a:solidFill>
                  <a:schemeClr val="bg2"/>
                </a:solidFill>
                <a:latin typeface="Times New Roman" panose="02020603050405020304" pitchFamily="18" charset="0"/>
                <a:cs typeface="Times New Roman" panose="02020603050405020304" pitchFamily="18" charset="0"/>
              </a:rPr>
              <a:t>3</a:t>
            </a:r>
            <a:endParaRPr lang="en-US" altLang="en-US"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9831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477637" y="-13610"/>
            <a:ext cx="3079505" cy="232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en-US" altLang="en-US" sz="675" b="1" dirty="0">
              <a:solidFill>
                <a:schemeClr val="tx1"/>
              </a:solidFill>
              <a:latin typeface="Arial" panose="020B0604020202020204" pitchFamily="34" charset="0"/>
            </a:endParaRPr>
          </a:p>
          <a:p>
            <a:pPr defTabSz="685800" eaLnBrk="0" fontAlgn="base" hangingPunct="0">
              <a:lnSpc>
                <a:spcPct val="150000"/>
              </a:lnSpc>
              <a:spcBef>
                <a:spcPct val="0"/>
              </a:spcBef>
              <a:spcAft>
                <a:spcPct val="0"/>
              </a:spcAft>
              <a:buClrTx/>
            </a:pPr>
            <a:r>
              <a:rPr lang="en-US" altLang="en-US" sz="1050" b="1" dirty="0">
                <a:solidFill>
                  <a:schemeClr val="bg2"/>
                </a:solidFill>
                <a:latin typeface="Times New Roman" panose="02020603050405020304" pitchFamily="18" charset="0"/>
                <a:cs typeface="Times New Roman" panose="02020603050405020304" pitchFamily="18" charset="0"/>
              </a:rPr>
              <a:t>Step 3: Explore Middle Child (C)</a:t>
            </a:r>
          </a:p>
          <a:p>
            <a:pPr defTabSz="685800" eaLnBrk="0" fontAlgn="base" hangingPunct="0">
              <a:lnSpc>
                <a:spcPct val="150000"/>
              </a:lnSpc>
              <a:spcBef>
                <a:spcPct val="0"/>
              </a:spcBef>
              <a:spcAft>
                <a:spcPct val="0"/>
              </a:spcAft>
              <a:buClrTx/>
            </a:pPr>
            <a:r>
              <a:rPr lang="en-US" altLang="en-US" sz="1050" dirty="0">
                <a:solidFill>
                  <a:schemeClr val="bg2"/>
                </a:solidFill>
                <a:latin typeface="Times New Roman" panose="02020603050405020304" pitchFamily="18" charset="0"/>
                <a:cs typeface="Times New Roman" panose="02020603050405020304" pitchFamily="18" charset="0"/>
              </a:rPr>
              <a:t>C is </a:t>
            </a:r>
            <a:r>
              <a:rPr lang="en-US" altLang="en-US" sz="1050" b="1" dirty="0">
                <a:solidFill>
                  <a:schemeClr val="bg2"/>
                </a:solidFill>
                <a:latin typeface="Times New Roman" panose="02020603050405020304" pitchFamily="18" charset="0"/>
                <a:cs typeface="Times New Roman" panose="02020603050405020304" pitchFamily="18" charset="0"/>
              </a:rPr>
              <a:t>MIN</a:t>
            </a:r>
            <a:r>
              <a:rPr lang="en-US" altLang="en-US" sz="1050" dirty="0">
                <a:solidFill>
                  <a:schemeClr val="bg2"/>
                </a:solidFill>
                <a:latin typeface="Times New Roman" panose="02020603050405020304" pitchFamily="18" charset="0"/>
                <a:cs typeface="Times New Roman" panose="02020603050405020304" pitchFamily="18" charset="0"/>
              </a:rPr>
              <a:t> node: α = 3 (from A), β = +∞</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Evaluate its children (6, 9):</a:t>
            </a:r>
          </a:p>
          <a:p>
            <a:pPr defTabSz="685800" eaLnBrk="0" fontAlgn="base" hangingPunct="0">
              <a:lnSpc>
                <a:spcPct val="150000"/>
              </a:lnSpc>
              <a:spcBef>
                <a:spcPct val="0"/>
              </a:spcBef>
              <a:spcAft>
                <a:spcPct val="0"/>
              </a:spcAft>
              <a:buClrTx/>
              <a:buFontTx/>
              <a:buChar char="•"/>
            </a:pPr>
            <a:r>
              <a:rPr lang="en-US" altLang="en-US" sz="1050" dirty="0">
                <a:solidFill>
                  <a:schemeClr val="bg2"/>
                </a:solidFill>
                <a:latin typeface="Times New Roman" panose="02020603050405020304" pitchFamily="18" charset="0"/>
                <a:cs typeface="Times New Roman" panose="02020603050405020304" pitchFamily="18" charset="0"/>
              </a:rPr>
              <a:t>First child: 6 → β = min(+∞, 6) = 6</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Now, </a:t>
            </a:r>
            <a:r>
              <a:rPr lang="en-US" altLang="en-US" sz="1050" b="1" dirty="0">
                <a:solidFill>
                  <a:schemeClr val="bg2"/>
                </a:solidFill>
                <a:latin typeface="Times New Roman" panose="02020603050405020304" pitchFamily="18" charset="0"/>
                <a:cs typeface="Times New Roman" panose="02020603050405020304" pitchFamily="18" charset="0"/>
              </a:rPr>
              <a:t>check pruning condition:</a:t>
            </a:r>
            <a:r>
              <a:rPr lang="en-US" altLang="en-US" sz="1050" dirty="0">
                <a:solidFill>
                  <a:schemeClr val="bg2"/>
                </a:solidFill>
                <a:latin typeface="Times New Roman" panose="02020603050405020304" pitchFamily="18" charset="0"/>
                <a:cs typeface="Times New Roman" panose="02020603050405020304" pitchFamily="18" charset="0"/>
              </a:rPr>
              <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Since α (3) &lt; β (6), continue.</a:t>
            </a:r>
          </a:p>
          <a:p>
            <a:pPr defTabSz="685800" eaLnBrk="0" fontAlgn="base" hangingPunct="0">
              <a:lnSpc>
                <a:spcPct val="150000"/>
              </a:lnSpc>
              <a:spcBef>
                <a:spcPct val="0"/>
              </a:spcBef>
              <a:spcAft>
                <a:spcPct val="0"/>
              </a:spcAft>
              <a:buClrTx/>
              <a:buFontTx/>
              <a:buChar char="•"/>
            </a:pPr>
            <a:r>
              <a:rPr lang="en-US" altLang="en-US" sz="1050" dirty="0">
                <a:solidFill>
                  <a:schemeClr val="bg2"/>
                </a:solidFill>
                <a:latin typeface="Times New Roman" panose="02020603050405020304" pitchFamily="18" charset="0"/>
                <a:cs typeface="Times New Roman" panose="02020603050405020304" pitchFamily="18" charset="0"/>
              </a:rPr>
              <a:t>Second child: 9 → β = min(6, 9) = 6</a:t>
            </a:r>
          </a:p>
          <a:p>
            <a:pPr defTabSz="685800" eaLnBrk="0" fontAlgn="base" hangingPunct="0">
              <a:lnSpc>
                <a:spcPct val="150000"/>
              </a:lnSpc>
              <a:spcBef>
                <a:spcPct val="0"/>
              </a:spcBef>
              <a:spcAft>
                <a:spcPct val="0"/>
              </a:spcAft>
              <a:buClrTx/>
            </a:pPr>
            <a:r>
              <a:rPr lang="en-US" altLang="en-US" sz="1050" dirty="0">
                <a:solidFill>
                  <a:schemeClr val="bg2"/>
                </a:solidFill>
                <a:latin typeface="Times New Roman" panose="02020603050405020304" pitchFamily="18" charset="0"/>
                <a:cs typeface="Times New Roman" panose="02020603050405020304" pitchFamily="18" charset="0"/>
              </a:rPr>
              <a:t>Return value to A: </a:t>
            </a:r>
            <a:r>
              <a:rPr lang="en-US" altLang="en-US" sz="1050" b="1" dirty="0">
                <a:solidFill>
                  <a:schemeClr val="bg2"/>
                </a:solidFill>
                <a:latin typeface="Times New Roman" panose="02020603050405020304" pitchFamily="18" charset="0"/>
                <a:cs typeface="Times New Roman" panose="02020603050405020304" pitchFamily="18" charset="0"/>
              </a:rPr>
              <a:t>6</a:t>
            </a:r>
            <a:r>
              <a:rPr lang="en-US" altLang="en-US" sz="1050" dirty="0">
                <a:solidFill>
                  <a:schemeClr val="bg2"/>
                </a:solidFill>
                <a:latin typeface="Times New Roman" panose="02020603050405020304" pitchFamily="18" charset="0"/>
                <a:cs typeface="Times New Roman" panose="02020603050405020304" pitchFamily="18" charset="0"/>
              </a:rPr>
              <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Now α = max(3, 6) = </a:t>
            </a:r>
            <a:r>
              <a:rPr lang="en-US" altLang="en-US" sz="1050" b="1" dirty="0">
                <a:solidFill>
                  <a:schemeClr val="bg2"/>
                </a:solidFill>
                <a:latin typeface="Times New Roman" panose="02020603050405020304" pitchFamily="18" charset="0"/>
                <a:cs typeface="Times New Roman" panose="02020603050405020304" pitchFamily="18" charset="0"/>
              </a:rPr>
              <a:t>6</a:t>
            </a:r>
            <a:endParaRPr lang="en-US" altLang="en-US" sz="1050" dirty="0">
              <a:solidFill>
                <a:schemeClr val="bg2"/>
              </a:solidFill>
              <a:latin typeface="Times New Roman" panose="02020603050405020304" pitchFamily="18" charset="0"/>
              <a:cs typeface="Times New Roman" panose="02020603050405020304" pitchFamily="18" charset="0"/>
            </a:endParaRPr>
          </a:p>
        </p:txBody>
      </p:sp>
      <p:sp>
        <p:nvSpPr>
          <p:cNvPr id="10" name="Rectangle 7"/>
          <p:cNvSpPr>
            <a:spLocks noChangeArrowheads="1"/>
          </p:cNvSpPr>
          <p:nvPr/>
        </p:nvSpPr>
        <p:spPr bwMode="auto">
          <a:xfrm>
            <a:off x="4160960" y="153320"/>
            <a:ext cx="3949943" cy="1840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en-US" altLang="en-US" sz="675" b="1" dirty="0">
              <a:solidFill>
                <a:schemeClr val="tx1"/>
              </a:solidFill>
              <a:latin typeface="Arial" panose="020B0604020202020204" pitchFamily="34" charset="0"/>
            </a:endParaRPr>
          </a:p>
          <a:p>
            <a:pPr defTabSz="685800" eaLnBrk="0" fontAlgn="base" hangingPunct="0">
              <a:lnSpc>
                <a:spcPct val="150000"/>
              </a:lnSpc>
              <a:spcBef>
                <a:spcPct val="0"/>
              </a:spcBef>
              <a:spcAft>
                <a:spcPct val="0"/>
              </a:spcAft>
              <a:buClrTx/>
            </a:pPr>
            <a:r>
              <a:rPr lang="en-US" altLang="en-US" sz="1050" b="1" dirty="0">
                <a:solidFill>
                  <a:schemeClr val="tx1"/>
                </a:solidFill>
                <a:latin typeface="Times New Roman" panose="02020603050405020304" pitchFamily="18" charset="0"/>
                <a:cs typeface="Times New Roman" panose="02020603050405020304" pitchFamily="18" charset="0"/>
              </a:rPr>
              <a:t> </a:t>
            </a:r>
            <a:r>
              <a:rPr lang="en-US" altLang="en-US" sz="1050" b="1" dirty="0">
                <a:solidFill>
                  <a:schemeClr val="bg2"/>
                </a:solidFill>
                <a:latin typeface="Times New Roman" panose="02020603050405020304" pitchFamily="18" charset="0"/>
                <a:cs typeface="Times New Roman" panose="02020603050405020304" pitchFamily="18" charset="0"/>
              </a:rPr>
              <a:t>Step 4: Explore Right Child (D)</a:t>
            </a:r>
          </a:p>
          <a:p>
            <a:pPr defTabSz="685800" eaLnBrk="0" fontAlgn="base" hangingPunct="0">
              <a:lnSpc>
                <a:spcPct val="150000"/>
              </a:lnSpc>
              <a:spcBef>
                <a:spcPct val="0"/>
              </a:spcBef>
              <a:spcAft>
                <a:spcPct val="0"/>
              </a:spcAft>
              <a:buClrTx/>
            </a:pPr>
            <a:r>
              <a:rPr lang="en-US" altLang="en-US" sz="1050" dirty="0">
                <a:solidFill>
                  <a:schemeClr val="bg2"/>
                </a:solidFill>
                <a:latin typeface="Times New Roman" panose="02020603050405020304" pitchFamily="18" charset="0"/>
                <a:cs typeface="Times New Roman" panose="02020603050405020304" pitchFamily="18" charset="0"/>
              </a:rPr>
              <a:t>D is </a:t>
            </a:r>
            <a:r>
              <a:rPr lang="en-US" altLang="en-US" sz="1050" b="1" dirty="0">
                <a:solidFill>
                  <a:schemeClr val="bg2"/>
                </a:solidFill>
                <a:latin typeface="Times New Roman" panose="02020603050405020304" pitchFamily="18" charset="0"/>
                <a:cs typeface="Times New Roman" panose="02020603050405020304" pitchFamily="18" charset="0"/>
              </a:rPr>
              <a:t>MIN</a:t>
            </a:r>
            <a:r>
              <a:rPr lang="en-US" altLang="en-US" sz="1050" dirty="0">
                <a:solidFill>
                  <a:schemeClr val="bg2"/>
                </a:solidFill>
                <a:latin typeface="Times New Roman" panose="02020603050405020304" pitchFamily="18" charset="0"/>
                <a:cs typeface="Times New Roman" panose="02020603050405020304" pitchFamily="18" charset="0"/>
              </a:rPr>
              <a:t> node: α = 6, β = +∞</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Evaluate its children (1, 2):</a:t>
            </a:r>
          </a:p>
          <a:p>
            <a:pPr defTabSz="685800" eaLnBrk="0" fontAlgn="base" hangingPunct="0">
              <a:lnSpc>
                <a:spcPct val="150000"/>
              </a:lnSpc>
              <a:spcBef>
                <a:spcPct val="0"/>
              </a:spcBef>
              <a:spcAft>
                <a:spcPct val="0"/>
              </a:spcAft>
              <a:buClrTx/>
              <a:buFontTx/>
              <a:buChar char="•"/>
            </a:pPr>
            <a:r>
              <a:rPr lang="en-US" altLang="en-US" sz="1050" dirty="0">
                <a:solidFill>
                  <a:schemeClr val="bg2"/>
                </a:solidFill>
                <a:latin typeface="Times New Roman" panose="02020603050405020304" pitchFamily="18" charset="0"/>
                <a:cs typeface="Times New Roman" panose="02020603050405020304" pitchFamily="18" charset="0"/>
              </a:rPr>
              <a:t>First child: 1 → β = min(+∞, 1) = 1</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Now </a:t>
            </a:r>
            <a:r>
              <a:rPr lang="en-US" altLang="en-US" sz="1050" b="1" dirty="0">
                <a:solidFill>
                  <a:schemeClr val="bg2"/>
                </a:solidFill>
                <a:latin typeface="Times New Roman" panose="02020603050405020304" pitchFamily="18" charset="0"/>
                <a:cs typeface="Times New Roman" panose="02020603050405020304" pitchFamily="18" charset="0"/>
              </a:rPr>
              <a:t>α ≥ β → (6 ≥ 1)</a:t>
            </a:r>
            <a:r>
              <a:rPr lang="en-US" altLang="en-US" sz="1050" dirty="0">
                <a:solidFill>
                  <a:schemeClr val="bg2"/>
                </a:solidFill>
                <a:latin typeface="Times New Roman" panose="02020603050405020304" pitchFamily="18" charset="0"/>
                <a:cs typeface="Times New Roman" panose="02020603050405020304" pitchFamily="18" charset="0"/>
              </a:rPr>
              <a:t> ✅</a:t>
            </a:r>
            <a:br>
              <a:rPr lang="en-US" altLang="en-US" sz="1050" dirty="0">
                <a:solidFill>
                  <a:schemeClr val="bg2"/>
                </a:solidFill>
                <a:latin typeface="Times New Roman" panose="02020603050405020304" pitchFamily="18" charset="0"/>
                <a:cs typeface="Times New Roman" panose="02020603050405020304" pitchFamily="18" charset="0"/>
              </a:rPr>
            </a:br>
            <a:r>
              <a:rPr lang="en-US" altLang="en-US" sz="1050" dirty="0">
                <a:solidFill>
                  <a:schemeClr val="bg2"/>
                </a:solidFill>
                <a:latin typeface="Times New Roman" panose="02020603050405020304" pitchFamily="18" charset="0"/>
                <a:cs typeface="Times New Roman" panose="02020603050405020304" pitchFamily="18" charset="0"/>
              </a:rPr>
              <a:t>→ </a:t>
            </a:r>
            <a:r>
              <a:rPr lang="en-US" altLang="en-US" sz="1050" b="1" dirty="0">
                <a:solidFill>
                  <a:schemeClr val="bg2"/>
                </a:solidFill>
                <a:latin typeface="Times New Roman" panose="02020603050405020304" pitchFamily="18" charset="0"/>
                <a:cs typeface="Times New Roman" panose="02020603050405020304" pitchFamily="18" charset="0"/>
              </a:rPr>
              <a:t>Prune</a:t>
            </a:r>
            <a:r>
              <a:rPr lang="en-US" altLang="en-US" sz="1050" dirty="0">
                <a:solidFill>
                  <a:schemeClr val="bg2"/>
                </a:solidFill>
                <a:latin typeface="Times New Roman" panose="02020603050405020304" pitchFamily="18" charset="0"/>
                <a:cs typeface="Times New Roman" panose="02020603050405020304" pitchFamily="18" charset="0"/>
              </a:rPr>
              <a:t> the remaining child (2), no need to check.</a:t>
            </a:r>
          </a:p>
          <a:p>
            <a:pPr defTabSz="685800" eaLnBrk="0" fontAlgn="base" hangingPunct="0">
              <a:lnSpc>
                <a:spcPct val="150000"/>
              </a:lnSpc>
              <a:spcBef>
                <a:spcPct val="0"/>
              </a:spcBef>
              <a:spcAft>
                <a:spcPct val="0"/>
              </a:spcAft>
              <a:buClrTx/>
            </a:pPr>
            <a:r>
              <a:rPr lang="en-US" altLang="en-US" sz="1050" dirty="0">
                <a:solidFill>
                  <a:schemeClr val="bg2"/>
                </a:solidFill>
                <a:latin typeface="Times New Roman" panose="02020603050405020304" pitchFamily="18" charset="0"/>
                <a:cs typeface="Times New Roman" panose="02020603050405020304" pitchFamily="18" charset="0"/>
              </a:rPr>
              <a:t>Return value to A: </a:t>
            </a:r>
            <a:r>
              <a:rPr lang="en-US" altLang="en-US" sz="1050" b="1" dirty="0">
                <a:solidFill>
                  <a:schemeClr val="bg2"/>
                </a:solidFill>
                <a:latin typeface="Times New Roman" panose="02020603050405020304" pitchFamily="18" charset="0"/>
                <a:cs typeface="Times New Roman" panose="02020603050405020304" pitchFamily="18" charset="0"/>
              </a:rPr>
              <a:t>1</a:t>
            </a:r>
            <a:endParaRPr lang="en-US" altLang="en-US" sz="1050" dirty="0">
              <a:solidFill>
                <a:schemeClr val="bg2"/>
              </a:solidFill>
              <a:latin typeface="Times New Roman" panose="02020603050405020304" pitchFamily="18" charset="0"/>
              <a:cs typeface="Times New Roman" panose="02020603050405020304" pitchFamily="18" charset="0"/>
            </a:endParaRPr>
          </a:p>
        </p:txBody>
      </p:sp>
      <p:sp>
        <p:nvSpPr>
          <p:cNvPr id="16" name="Rectangle 13"/>
          <p:cNvSpPr>
            <a:spLocks noChangeArrowheads="1"/>
          </p:cNvSpPr>
          <p:nvPr/>
        </p:nvSpPr>
        <p:spPr bwMode="auto">
          <a:xfrm>
            <a:off x="570402" y="3489159"/>
            <a:ext cx="3168527"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en-US" altLang="en-US" sz="675" b="1" dirty="0">
              <a:solidFill>
                <a:schemeClr val="tx1"/>
              </a:solidFill>
            </a:endParaRPr>
          </a:p>
          <a:p>
            <a:pPr defTabSz="685800" eaLnBrk="0" fontAlgn="base" hangingPunct="0">
              <a:spcBef>
                <a:spcPct val="0"/>
              </a:spcBef>
              <a:spcAft>
                <a:spcPct val="0"/>
              </a:spcAft>
              <a:buClrTx/>
            </a:pPr>
            <a:r>
              <a:rPr lang="en-US" altLang="en-US" sz="1050" b="1" dirty="0">
                <a:solidFill>
                  <a:schemeClr val="bg2"/>
                </a:solidFill>
                <a:latin typeface="Times New Roman" panose="02020603050405020304" pitchFamily="18" charset="0"/>
                <a:cs typeface="Times New Roman" panose="02020603050405020304" pitchFamily="18" charset="0"/>
              </a:rPr>
              <a:t>✅ Final Result:</a:t>
            </a:r>
          </a:p>
          <a:p>
            <a:pPr defTabSz="685800" eaLnBrk="0" fontAlgn="base" hangingPunct="0">
              <a:spcBef>
                <a:spcPct val="0"/>
              </a:spcBef>
              <a:spcAft>
                <a:spcPct val="0"/>
              </a:spcAft>
              <a:buClrTx/>
              <a:buFontTx/>
              <a:buChar char="•"/>
            </a:pPr>
            <a:r>
              <a:rPr lang="en-US" altLang="en-US" sz="1050" b="1" dirty="0">
                <a:solidFill>
                  <a:schemeClr val="bg2"/>
                </a:solidFill>
                <a:latin typeface="Times New Roman" panose="02020603050405020304" pitchFamily="18" charset="0"/>
                <a:cs typeface="Times New Roman" panose="02020603050405020304" pitchFamily="18" charset="0"/>
              </a:rPr>
              <a:t>Best Value:</a:t>
            </a:r>
            <a:r>
              <a:rPr lang="en-US" altLang="en-US" sz="1050" dirty="0">
                <a:solidFill>
                  <a:schemeClr val="bg2"/>
                </a:solidFill>
                <a:latin typeface="Times New Roman" panose="02020603050405020304" pitchFamily="18" charset="0"/>
                <a:cs typeface="Times New Roman" panose="02020603050405020304" pitchFamily="18" charset="0"/>
              </a:rPr>
              <a:t> 6</a:t>
            </a:r>
          </a:p>
          <a:p>
            <a:pPr defTabSz="685800" eaLnBrk="0" fontAlgn="base" hangingPunct="0">
              <a:spcBef>
                <a:spcPct val="0"/>
              </a:spcBef>
              <a:spcAft>
                <a:spcPct val="0"/>
              </a:spcAft>
              <a:buClrTx/>
              <a:buFontTx/>
              <a:buChar char="•"/>
            </a:pPr>
            <a:r>
              <a:rPr lang="en-US" altLang="en-US" sz="1050" b="1" dirty="0">
                <a:solidFill>
                  <a:schemeClr val="bg2"/>
                </a:solidFill>
                <a:latin typeface="Times New Roman" panose="02020603050405020304" pitchFamily="18" charset="0"/>
                <a:cs typeface="Times New Roman" panose="02020603050405020304" pitchFamily="18" charset="0"/>
              </a:rPr>
              <a:t>Best Move:</a:t>
            </a:r>
            <a:r>
              <a:rPr lang="en-US" altLang="en-US" sz="1050" dirty="0">
                <a:solidFill>
                  <a:schemeClr val="bg2"/>
                </a:solidFill>
                <a:latin typeface="Times New Roman" panose="02020603050405020304" pitchFamily="18" charset="0"/>
                <a:cs typeface="Times New Roman" panose="02020603050405020304" pitchFamily="18" charset="0"/>
              </a:rPr>
              <a:t> Path A → C → 6</a:t>
            </a:r>
          </a:p>
          <a:p>
            <a:pPr defTabSz="685800" eaLnBrk="0" fontAlgn="base" hangingPunct="0">
              <a:spcBef>
                <a:spcPct val="0"/>
              </a:spcBef>
              <a:spcAft>
                <a:spcPct val="0"/>
              </a:spcAft>
              <a:buClrTx/>
              <a:buFontTx/>
              <a:buChar char="•"/>
            </a:pPr>
            <a:r>
              <a:rPr lang="en-US" altLang="en-US" sz="1050" b="1" dirty="0">
                <a:solidFill>
                  <a:schemeClr val="bg2"/>
                </a:solidFill>
                <a:latin typeface="Times New Roman" panose="02020603050405020304" pitchFamily="18" charset="0"/>
                <a:cs typeface="Times New Roman" panose="02020603050405020304" pitchFamily="18" charset="0"/>
              </a:rPr>
              <a:t>Pruning Saved:</a:t>
            </a:r>
            <a:r>
              <a:rPr lang="en-US" altLang="en-US" sz="1050" dirty="0">
                <a:solidFill>
                  <a:schemeClr val="bg2"/>
                </a:solidFill>
                <a:latin typeface="Times New Roman" panose="02020603050405020304" pitchFamily="18" charset="0"/>
                <a:cs typeface="Times New Roman" panose="02020603050405020304" pitchFamily="18" charset="0"/>
              </a:rPr>
              <a:t> One branch (value 2) was skipped.</a:t>
            </a:r>
          </a:p>
          <a:p>
            <a:pPr defTabSz="685800" eaLnBrk="0" fontAlgn="base" hangingPunct="0">
              <a:spcBef>
                <a:spcPct val="0"/>
              </a:spcBef>
              <a:spcAft>
                <a:spcPct val="0"/>
              </a:spcAft>
              <a:buClrTx/>
            </a:pPr>
            <a:endParaRPr lang="en-US" altLang="en-US" sz="1050" dirty="0">
              <a:solidFill>
                <a:schemeClr val="bg2"/>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570402" y="2699692"/>
            <a:ext cx="2766280" cy="577081"/>
          </a:xfrm>
          <a:prstGeom prst="rect">
            <a:avLst/>
          </a:prstGeom>
        </p:spPr>
        <p:txBody>
          <a:bodyPr wrap="square">
            <a:spAutoFit/>
          </a:bodyPr>
          <a:lstStyle/>
          <a:p>
            <a:r>
              <a:rPr lang="en-US" sz="1050" b="1" dirty="0"/>
              <a:t>Step 5: Final Decision at A</a:t>
            </a:r>
          </a:p>
          <a:p>
            <a:r>
              <a:rPr lang="en-US" sz="1050" dirty="0"/>
              <a:t>MAX chooses among {3, 6, 1} →</a:t>
            </a:r>
            <a:br>
              <a:rPr lang="en-US" sz="1050" dirty="0"/>
            </a:br>
            <a:r>
              <a:rPr lang="en-US" sz="1050" dirty="0"/>
              <a:t>✅ </a:t>
            </a:r>
            <a:r>
              <a:rPr lang="en-US" sz="1050" b="1" dirty="0"/>
              <a:t>Best Move = 6 (from C)</a:t>
            </a:r>
            <a:endParaRPr lang="en-US" sz="1050" dirty="0"/>
          </a:p>
        </p:txBody>
      </p:sp>
      <p:pic>
        <p:nvPicPr>
          <p:cNvPr id="18" name="Picture 17"/>
          <p:cNvPicPr>
            <a:picLocks noChangeAspect="1"/>
          </p:cNvPicPr>
          <p:nvPr/>
        </p:nvPicPr>
        <p:blipFill>
          <a:blip r:embed="rId2"/>
          <a:stretch>
            <a:fillRect/>
          </a:stretch>
        </p:blipFill>
        <p:spPr>
          <a:xfrm>
            <a:off x="4539515" y="2305457"/>
            <a:ext cx="3192832" cy="2367403"/>
          </a:xfrm>
          <a:prstGeom prst="rect">
            <a:avLst/>
          </a:prstGeom>
        </p:spPr>
      </p:pic>
    </p:spTree>
    <p:extLst>
      <p:ext uri="{BB962C8B-B14F-4D97-AF65-F5344CB8AC3E}">
        <p14:creationId xmlns:p14="http://schemas.microsoft.com/office/powerpoint/2010/main" val="407449195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1"/>
          <p:cNvSpPr>
            <a:spLocks noGrp="1" noChangeArrowheads="1"/>
          </p:cNvSpPr>
          <p:nvPr>
            <p:ph idx="1"/>
          </p:nvPr>
        </p:nvSpPr>
        <p:spPr bwMode="auto">
          <a:xfrm>
            <a:off x="690018" y="543451"/>
            <a:ext cx="8010034"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6050" indent="0">
              <a:lnSpc>
                <a:spcPct val="200000"/>
              </a:lnSpc>
              <a:buNone/>
            </a:pPr>
            <a:r>
              <a:rPr lang="en-US" sz="1400" b="1" dirty="0">
                <a:solidFill>
                  <a:schemeClr val="bg2"/>
                </a:solidFill>
                <a:latin typeface="Times New Roman" panose="02020603050405020304" pitchFamily="18" charset="0"/>
                <a:cs typeface="Times New Roman" panose="02020603050405020304" pitchFamily="18" charset="0"/>
              </a:rPr>
              <a:t>Enhancing Minimax with Alpha-Beta Pruning</a:t>
            </a:r>
          </a:p>
          <a:p>
            <a:pPr marL="146050" indent="0">
              <a:lnSpc>
                <a:spcPct val="200000"/>
              </a:lnSpc>
              <a:buNone/>
            </a:pPr>
            <a:r>
              <a:rPr lang="en-US" sz="1400" dirty="0">
                <a:solidFill>
                  <a:schemeClr val="bg2"/>
                </a:solidFill>
                <a:latin typeface="Times New Roman" panose="02020603050405020304" pitchFamily="18" charset="0"/>
                <a:cs typeface="Times New Roman" panose="02020603050405020304" pitchFamily="18" charset="0"/>
              </a:rPr>
              <a:t>Alpha-Beta Pruning optimizes Minimax by skipping unnecessary branches of the decision tree. It maintains two values:</a:t>
            </a:r>
          </a:p>
          <a:p>
            <a:pPr>
              <a:lnSpc>
                <a:spcPct val="200000"/>
              </a:lnSpc>
            </a:pPr>
            <a:r>
              <a:rPr lang="en-US" sz="1400" b="1" dirty="0">
                <a:solidFill>
                  <a:schemeClr val="bg2"/>
                </a:solidFill>
                <a:latin typeface="Times New Roman" panose="02020603050405020304" pitchFamily="18" charset="0"/>
                <a:cs typeface="Times New Roman" panose="02020603050405020304" pitchFamily="18" charset="0"/>
              </a:rPr>
              <a:t>Alpha</a:t>
            </a:r>
            <a:r>
              <a:rPr lang="en-US" sz="1400" dirty="0">
                <a:solidFill>
                  <a:schemeClr val="bg2"/>
                </a:solidFill>
                <a:latin typeface="Times New Roman" panose="02020603050405020304" pitchFamily="18" charset="0"/>
                <a:cs typeface="Times New Roman" panose="02020603050405020304" pitchFamily="18" charset="0"/>
              </a:rPr>
              <a:t>: The best score the Maximizer can guarantee so far.</a:t>
            </a:r>
          </a:p>
          <a:p>
            <a:pPr>
              <a:lnSpc>
                <a:spcPct val="200000"/>
              </a:lnSpc>
            </a:pPr>
            <a:r>
              <a:rPr lang="en-US" sz="1400" b="1" dirty="0">
                <a:solidFill>
                  <a:schemeClr val="bg2"/>
                </a:solidFill>
                <a:latin typeface="Times New Roman" panose="02020603050405020304" pitchFamily="18" charset="0"/>
                <a:cs typeface="Times New Roman" panose="02020603050405020304" pitchFamily="18" charset="0"/>
              </a:rPr>
              <a:t>Beta</a:t>
            </a:r>
            <a:r>
              <a:rPr lang="en-US" sz="1400" dirty="0">
                <a:solidFill>
                  <a:schemeClr val="bg2"/>
                </a:solidFill>
                <a:latin typeface="Times New Roman" panose="02020603050405020304" pitchFamily="18" charset="0"/>
                <a:cs typeface="Times New Roman" panose="02020603050405020304" pitchFamily="18" charset="0"/>
              </a:rPr>
              <a:t>: The best score the Minimizer can guarantee so far.</a:t>
            </a:r>
          </a:p>
          <a:p>
            <a:pPr marL="146050" indent="0">
              <a:lnSpc>
                <a:spcPct val="200000"/>
              </a:lnSpc>
              <a:buNone/>
            </a:pPr>
            <a:r>
              <a:rPr lang="en-US" sz="1400" dirty="0">
                <a:solidFill>
                  <a:schemeClr val="bg2"/>
                </a:solidFill>
                <a:latin typeface="Times New Roman" panose="02020603050405020304" pitchFamily="18" charset="0"/>
                <a:cs typeface="Times New Roman" panose="02020603050405020304" pitchFamily="18" charset="0"/>
              </a:rPr>
              <a:t>If a branch cannot improve the current alpha or beta values, </a:t>
            </a:r>
            <a:endParaRPr lang="en-US" sz="1400" dirty="0" smtClean="0">
              <a:solidFill>
                <a:schemeClr val="bg2"/>
              </a:solidFill>
              <a:latin typeface="Times New Roman" panose="02020603050405020304" pitchFamily="18" charset="0"/>
              <a:cs typeface="Times New Roman" panose="02020603050405020304" pitchFamily="18" charset="0"/>
            </a:endParaRPr>
          </a:p>
          <a:p>
            <a:pPr marL="146050" indent="0">
              <a:lnSpc>
                <a:spcPct val="200000"/>
              </a:lnSpc>
              <a:buNone/>
            </a:pPr>
            <a:r>
              <a:rPr lang="en-US" sz="1400" dirty="0" smtClean="0">
                <a:solidFill>
                  <a:schemeClr val="bg2"/>
                </a:solidFill>
                <a:latin typeface="Times New Roman" panose="02020603050405020304" pitchFamily="18" charset="0"/>
                <a:cs typeface="Times New Roman" panose="02020603050405020304" pitchFamily="18" charset="0"/>
              </a:rPr>
              <a:t>it </a:t>
            </a:r>
            <a:r>
              <a:rPr lang="en-US" sz="1400" dirty="0">
                <a:solidFill>
                  <a:schemeClr val="bg2"/>
                </a:solidFill>
                <a:latin typeface="Times New Roman" panose="02020603050405020304" pitchFamily="18" charset="0"/>
                <a:cs typeface="Times New Roman" panose="02020603050405020304" pitchFamily="18" charset="0"/>
              </a:rPr>
              <a:t>is pruned, reducing computation time. This optimization makes Minimax feasible for complex games with deeper trees</a:t>
            </a:r>
            <a:r>
              <a:rPr lang="en-US" sz="1400" dirty="0" smtClean="0">
                <a:solidFill>
                  <a:schemeClr val="bg2"/>
                </a:solidFill>
                <a:latin typeface="Times New Roman" panose="02020603050405020304" pitchFamily="18" charset="0"/>
                <a:cs typeface="Times New Roman" panose="02020603050405020304" pitchFamily="18" charset="0"/>
              </a:rPr>
              <a:t>.</a:t>
            </a:r>
          </a:p>
          <a:p>
            <a:pPr marL="146050" indent="0">
              <a:lnSpc>
                <a:spcPct val="200000"/>
              </a:lnSpc>
              <a:buNone/>
            </a:pPr>
            <a:endParaRPr lang="en-US" sz="1400" dirty="0">
              <a:solidFill>
                <a:schemeClr val="bg2"/>
              </a:solidFill>
              <a:latin typeface="Times New Roman" panose="02020603050405020304" pitchFamily="18" charset="0"/>
              <a:cs typeface="Times New Roman" panose="02020603050405020304" pitchFamily="18" charset="0"/>
            </a:endParaRPr>
          </a:p>
          <a:p>
            <a:pPr marL="146050" indent="0">
              <a:lnSpc>
                <a:spcPct val="150000"/>
              </a:lnSpc>
              <a:buNone/>
            </a:pPr>
            <a:endParaRPr lang="en-US" altLang="en-US" sz="1400" dirty="0">
              <a:solidFill>
                <a:schemeClr val="bg2"/>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2919" y="1"/>
            <a:ext cx="633185" cy="708990"/>
          </a:xfrm>
          <a:prstGeom prst="rect">
            <a:avLst/>
          </a:prstGeom>
        </p:spPr>
      </p:pic>
    </p:spTree>
    <p:extLst>
      <p:ext uri="{BB962C8B-B14F-4D97-AF65-F5344CB8AC3E}">
        <p14:creationId xmlns:p14="http://schemas.microsoft.com/office/powerpoint/2010/main" val="271082881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Rectangle 1"/>
          <p:cNvSpPr>
            <a:spLocks noGrp="1" noChangeArrowheads="1"/>
          </p:cNvSpPr>
          <p:nvPr>
            <p:ph idx="1"/>
          </p:nvPr>
        </p:nvSpPr>
        <p:spPr bwMode="auto">
          <a:xfrm>
            <a:off x="560298" y="619136"/>
            <a:ext cx="79760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200000"/>
              </a:lnSpc>
              <a:spcBef>
                <a:spcPct val="0"/>
              </a:spcBef>
              <a:spcAft>
                <a:spcPct val="0"/>
              </a:spcAft>
              <a:buClrTx/>
              <a:buSzTx/>
              <a:buNone/>
            </a:pPr>
            <a:r>
              <a:rPr lang="en-US" dirty="0">
                <a:solidFill>
                  <a:schemeClr val="bg2"/>
                </a:solidFill>
                <a:latin typeface="Times New Roman" panose="02020603050405020304" pitchFamily="18" charset="0"/>
                <a:cs typeface="Times New Roman" panose="02020603050405020304" pitchFamily="18" charset="0"/>
              </a:rPr>
              <a:t>Alpha Beta Pruning optimizes AI decision-making by reducing unnecessary computations in the minimax algorithm. Learn its workings, benefits, and real-world applications in gaming and beyond</a:t>
            </a:r>
            <a:r>
              <a:rPr lang="en-US" dirty="0" smtClean="0">
                <a:solidFill>
                  <a:schemeClr val="bg2"/>
                </a:solidFill>
                <a:latin typeface="Times New Roman" panose="02020603050405020304" pitchFamily="18" charset="0"/>
                <a:cs typeface="Times New Roman" panose="02020603050405020304" pitchFamily="18" charset="0"/>
              </a:rPr>
              <a:t>.</a:t>
            </a:r>
          </a:p>
          <a:p>
            <a:pPr marL="0" lvl="0" indent="0" algn="just" eaLnBrk="0" fontAlgn="base" hangingPunct="0">
              <a:lnSpc>
                <a:spcPct val="200000"/>
              </a:lnSpc>
              <a:spcBef>
                <a:spcPct val="0"/>
              </a:spcBef>
              <a:spcAft>
                <a:spcPct val="0"/>
              </a:spcAft>
              <a:buClrTx/>
              <a:buSzTx/>
              <a:buNone/>
            </a:pPr>
            <a:r>
              <a:rPr lang="en-US" dirty="0">
                <a:solidFill>
                  <a:schemeClr val="bg2"/>
                </a:solidFill>
                <a:latin typeface="Times New Roman" panose="02020603050405020304" pitchFamily="18" charset="0"/>
                <a:cs typeface="Times New Roman" panose="02020603050405020304" pitchFamily="18" charset="0"/>
              </a:rPr>
              <a:t>Alpha Beta Pruning is a </a:t>
            </a:r>
            <a:r>
              <a:rPr lang="en-US" b="1" dirty="0">
                <a:solidFill>
                  <a:schemeClr val="bg2"/>
                </a:solidFill>
                <a:latin typeface="Times New Roman" panose="02020603050405020304" pitchFamily="18" charset="0"/>
                <a:cs typeface="Times New Roman" panose="02020603050405020304" pitchFamily="18" charset="0"/>
              </a:rPr>
              <a:t>search optimization technique</a:t>
            </a:r>
            <a:r>
              <a:rPr lang="en-US" dirty="0">
                <a:solidFill>
                  <a:schemeClr val="bg2"/>
                </a:solidFill>
                <a:latin typeface="Times New Roman" panose="02020603050405020304" pitchFamily="18" charset="0"/>
                <a:cs typeface="Times New Roman" panose="02020603050405020304" pitchFamily="18" charset="0"/>
              </a:rPr>
              <a:t> that improves the performance of the </a:t>
            </a:r>
            <a:r>
              <a:rPr lang="en-US" b="1" dirty="0">
                <a:solidFill>
                  <a:schemeClr val="bg2"/>
                </a:solidFill>
                <a:latin typeface="Times New Roman" panose="02020603050405020304" pitchFamily="18" charset="0"/>
                <a:cs typeface="Times New Roman" panose="02020603050405020304" pitchFamily="18" charset="0"/>
              </a:rPr>
              <a:t>minimax algorithm</a:t>
            </a:r>
            <a:r>
              <a:rPr lang="en-US" dirty="0">
                <a:solidFill>
                  <a:schemeClr val="bg2"/>
                </a:solidFill>
                <a:latin typeface="Times New Roman" panose="02020603050405020304" pitchFamily="18" charset="0"/>
                <a:cs typeface="Times New Roman" panose="02020603050405020304" pitchFamily="18" charset="0"/>
              </a:rPr>
              <a:t>. The minimax algorithm is a decision-making process commonly used in two-player, zero-sum games like chess. In such games, one player aims to maximize their score while the other seeks to minimize it</a:t>
            </a:r>
            <a:r>
              <a:rPr lang="en-US" dirty="0" smtClean="0">
                <a:solidFill>
                  <a:schemeClr val="bg2"/>
                </a:solidFill>
                <a:latin typeface="Times New Roman" panose="02020603050405020304" pitchFamily="18" charset="0"/>
                <a:cs typeface="Times New Roman" panose="02020603050405020304" pitchFamily="18" charset="0"/>
              </a:rPr>
              <a:t>.</a:t>
            </a:r>
          </a:p>
          <a:p>
            <a:pPr marL="0" lvl="0" indent="0" algn="just" eaLnBrk="0" fontAlgn="base" hangingPunct="0">
              <a:lnSpc>
                <a:spcPct val="200000"/>
              </a:lnSpc>
              <a:spcBef>
                <a:spcPct val="0"/>
              </a:spcBef>
              <a:spcAft>
                <a:spcPct val="0"/>
              </a:spcAft>
              <a:buClrTx/>
              <a:buSzTx/>
              <a:buNone/>
            </a:pPr>
            <a:r>
              <a:rPr lang="en-US" dirty="0">
                <a:solidFill>
                  <a:schemeClr val="bg2"/>
                </a:solidFill>
                <a:latin typeface="Times New Roman" panose="02020603050405020304" pitchFamily="18" charset="0"/>
                <a:cs typeface="Times New Roman" panose="02020603050405020304" pitchFamily="18" charset="0"/>
              </a:rPr>
              <a:t>The </a:t>
            </a:r>
            <a:r>
              <a:rPr lang="en-US" b="1" dirty="0">
                <a:solidFill>
                  <a:schemeClr val="bg2"/>
                </a:solidFill>
                <a:latin typeface="Times New Roman" panose="02020603050405020304" pitchFamily="18" charset="0"/>
                <a:cs typeface="Times New Roman" panose="02020603050405020304" pitchFamily="18" charset="0"/>
              </a:rPr>
              <a:t>minimax algorithm </a:t>
            </a:r>
            <a:r>
              <a:rPr lang="en-US" dirty="0">
                <a:solidFill>
                  <a:schemeClr val="bg2"/>
                </a:solidFill>
                <a:latin typeface="Times New Roman" panose="02020603050405020304" pitchFamily="18" charset="0"/>
                <a:cs typeface="Times New Roman" panose="02020603050405020304" pitchFamily="18" charset="0"/>
              </a:rPr>
              <a:t>operates by recursively exploring all possible game states (represented as a tree structure) and assigning values to the leaf nodes based on the potential outcomes of the game</a:t>
            </a:r>
            <a:r>
              <a:rPr lang="en-US" dirty="0" smtClean="0">
                <a:solidFill>
                  <a:schemeClr val="bg2"/>
                </a:solidFill>
                <a:latin typeface="Times New Roman" panose="02020603050405020304" pitchFamily="18" charset="0"/>
                <a:cs typeface="Times New Roman" panose="02020603050405020304" pitchFamily="18" charset="0"/>
              </a:rPr>
              <a:t>.</a:t>
            </a:r>
          </a:p>
          <a:p>
            <a:pPr marL="0" indent="0" algn="just" eaLnBrk="0" fontAlgn="base" hangingPunct="0">
              <a:lnSpc>
                <a:spcPct val="200000"/>
              </a:lnSpc>
              <a:spcBef>
                <a:spcPct val="0"/>
              </a:spcBef>
              <a:spcAft>
                <a:spcPct val="0"/>
              </a:spcAft>
              <a:buClrTx/>
              <a:buSzTx/>
              <a:buNone/>
            </a:pPr>
            <a:r>
              <a:rPr lang="en-US" dirty="0">
                <a:solidFill>
                  <a:schemeClr val="bg2"/>
                </a:solidFill>
                <a:latin typeface="Times New Roman" panose="02020603050405020304" pitchFamily="18" charset="0"/>
                <a:cs typeface="Times New Roman" panose="02020603050405020304" pitchFamily="18" charset="0"/>
              </a:rPr>
              <a:t>The key idea behind Alpha Beta Pruning is to avoid evaluating branches of the game tree that cannot influence the final decision based on the values already discovered during the search. It achieves this using two values: </a:t>
            </a:r>
            <a:r>
              <a:rPr lang="en-US" b="1" dirty="0">
                <a:solidFill>
                  <a:schemeClr val="bg2"/>
                </a:solidFill>
                <a:latin typeface="Times New Roman" panose="02020603050405020304" pitchFamily="18" charset="0"/>
                <a:cs typeface="Times New Roman" panose="02020603050405020304" pitchFamily="18" charset="0"/>
              </a:rPr>
              <a:t>Alpha</a:t>
            </a:r>
            <a:r>
              <a:rPr lang="en-US" dirty="0">
                <a:solidFill>
                  <a:schemeClr val="bg2"/>
                </a:solidFill>
                <a:latin typeface="Times New Roman" panose="02020603050405020304" pitchFamily="18" charset="0"/>
                <a:cs typeface="Times New Roman" panose="02020603050405020304" pitchFamily="18" charset="0"/>
              </a:rPr>
              <a:t> and </a:t>
            </a:r>
            <a:r>
              <a:rPr lang="en-US" b="1" dirty="0">
                <a:solidFill>
                  <a:schemeClr val="bg2"/>
                </a:solidFill>
                <a:latin typeface="Times New Roman" panose="02020603050405020304" pitchFamily="18" charset="0"/>
                <a:cs typeface="Times New Roman" panose="02020603050405020304" pitchFamily="18" charset="0"/>
              </a:rPr>
              <a:t>Beta</a:t>
            </a:r>
            <a:r>
              <a:rPr lang="en-US" dirty="0" smtClean="0">
                <a:solidFill>
                  <a:schemeClr val="bg2"/>
                </a:solidFill>
                <a:latin typeface="Times New Roman" panose="02020603050405020304" pitchFamily="18" charset="0"/>
                <a:cs typeface="Times New Roman" panose="02020603050405020304" pitchFamily="18" charset="0"/>
              </a:rPr>
              <a:t>.</a:t>
            </a:r>
          </a:p>
          <a:p>
            <a:pPr marL="0" lvl="0" indent="0" algn="just" eaLnBrk="0" fontAlgn="base" hangingPunct="0">
              <a:lnSpc>
                <a:spcPct val="200000"/>
              </a:lnSpc>
              <a:spcBef>
                <a:spcPct val="0"/>
              </a:spcBef>
              <a:spcAft>
                <a:spcPct val="0"/>
              </a:spcAft>
              <a:buClrTx/>
              <a:buSzTx/>
              <a:buNone/>
            </a:pPr>
            <a:endParaRPr lang="en-US" altLang="en-US" sz="1400" dirty="0">
              <a:solidFill>
                <a:schemeClr val="bg2"/>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0" y="1680"/>
            <a:ext cx="560298" cy="800078"/>
          </a:xfrm>
          <a:prstGeom prst="rect">
            <a:avLst/>
          </a:prstGeom>
        </p:spPr>
      </p:pic>
      <p:sp>
        <p:nvSpPr>
          <p:cNvPr id="3" name="Rectangle 2"/>
          <p:cNvSpPr/>
          <p:nvPr/>
        </p:nvSpPr>
        <p:spPr>
          <a:xfrm>
            <a:off x="1670472" y="170886"/>
            <a:ext cx="3967422" cy="461665"/>
          </a:xfrm>
          <a:prstGeom prst="rect">
            <a:avLst/>
          </a:prstGeom>
        </p:spPr>
        <p:txBody>
          <a:bodyPr wrap="square">
            <a:spAutoFit/>
          </a:bodyPr>
          <a:lstStyle/>
          <a:p>
            <a:r>
              <a:rPr lang="en-IN" sz="2400" b="1" dirty="0">
                <a:latin typeface="Times New Roman" panose="02020603050405020304" pitchFamily="18" charset="0"/>
                <a:cs typeface="Times New Roman" panose="02020603050405020304" pitchFamily="18" charset="0"/>
              </a:rPr>
              <a:t>Alpha-Beta Pruning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79713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672" y="273844"/>
            <a:ext cx="7531677" cy="585138"/>
          </a:xfrm>
        </p:spPr>
        <p:txBody>
          <a:bodyPr/>
          <a:lstStyle/>
          <a:p>
            <a:r>
              <a:rPr lang="en-IN" sz="2400" b="1" dirty="0" smtClean="0">
                <a:latin typeface="Times New Roman" panose="02020603050405020304" pitchFamily="18" charset="0"/>
                <a:cs typeface="Times New Roman" panose="02020603050405020304" pitchFamily="18" charset="0"/>
              </a:rPr>
              <a:t>Alpha-Beta</a:t>
            </a:r>
            <a:r>
              <a:rPr lang="en-IN" b="1" dirty="0" smtClean="0"/>
              <a:t> </a:t>
            </a:r>
            <a:r>
              <a:rPr lang="en-IN" sz="2400" b="1" dirty="0">
                <a:latin typeface="Times New Roman" panose="02020603050405020304" pitchFamily="18" charset="0"/>
                <a:cs typeface="Times New Roman" panose="02020603050405020304" pitchFamily="18" charset="0"/>
              </a:rPr>
              <a:t>Pruning</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1"/>
          <p:cNvSpPr>
            <a:spLocks noGrp="1" noChangeArrowheads="1"/>
          </p:cNvSpPr>
          <p:nvPr>
            <p:ph idx="1"/>
          </p:nvPr>
        </p:nvSpPr>
        <p:spPr bwMode="auto">
          <a:xfrm>
            <a:off x="862393" y="969348"/>
            <a:ext cx="7188374" cy="3083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dirty="0" smtClean="0"/>
          </a:p>
          <a:p>
            <a:pPr marL="146050" indent="0">
              <a:buNone/>
            </a:pPr>
            <a:r>
              <a:rPr lang="en-IN" dirty="0" smtClean="0"/>
              <a:t>Alpha-Beta </a:t>
            </a:r>
            <a:r>
              <a:rPr lang="en-IN" dirty="0"/>
              <a:t>pruning is an optimization technique for the Min-Max algorithm. It eliminates branches in the search tree that don’t affect the final decision, improving efficiency.</a:t>
            </a:r>
          </a:p>
          <a:p>
            <a:pPr lvl="0"/>
            <a:r>
              <a:rPr lang="en-IN" b="1" dirty="0"/>
              <a:t>Alpha (α)</a:t>
            </a:r>
            <a:r>
              <a:rPr lang="en-IN" dirty="0"/>
              <a:t>: The best (highest) value that the Max player can guarantee at that point or above.</a:t>
            </a:r>
          </a:p>
          <a:p>
            <a:pPr lvl="0"/>
            <a:r>
              <a:rPr lang="en-IN" b="1" dirty="0"/>
              <a:t>Beta (β)</a:t>
            </a:r>
            <a:r>
              <a:rPr lang="en-IN" dirty="0"/>
              <a:t>: The best (lowest) value that the Min player can guarantee at that point or above.</a:t>
            </a:r>
          </a:p>
          <a:p>
            <a:pPr marL="146050" indent="0">
              <a:buNone/>
            </a:pPr>
            <a:r>
              <a:rPr lang="en-IN" b="1" dirty="0"/>
              <a:t>How it works:</a:t>
            </a:r>
            <a:endParaRPr lang="en-IN" dirty="0"/>
          </a:p>
          <a:p>
            <a:pPr lvl="0"/>
            <a:r>
              <a:rPr lang="en-IN" dirty="0"/>
              <a:t>While exploring nodes, if the current node’s value is worse than the previously explored options, the algorithm </a:t>
            </a:r>
            <a:r>
              <a:rPr lang="en-IN" b="1" dirty="0"/>
              <a:t>prunes</a:t>
            </a:r>
            <a:r>
              <a:rPr lang="en-IN" dirty="0"/>
              <a:t> (cuts off) that branch.</a:t>
            </a:r>
          </a:p>
          <a:p>
            <a:pPr lvl="0"/>
            <a:r>
              <a:rPr lang="en-IN" dirty="0"/>
              <a:t>This avoids unnecessary calculations and reduces time complexity.</a:t>
            </a:r>
          </a:p>
          <a:p>
            <a:r>
              <a:rPr lang="en-IN" b="1" dirty="0"/>
              <a:t>Example:</a:t>
            </a:r>
            <a:endParaRPr lang="en-IN" dirty="0"/>
          </a:p>
          <a:p>
            <a:r>
              <a:rPr lang="en-IN" dirty="0"/>
              <a:t>Using the previous example, if during exploration we find a node value that is worse than a previously known value, we stop exploring further descendants.</a:t>
            </a:r>
          </a:p>
        </p:txBody>
      </p:sp>
      <p:pic>
        <p:nvPicPr>
          <p:cNvPr id="6" name="Picture 5"/>
          <p:cNvPicPr>
            <a:picLocks noChangeAspect="1"/>
          </p:cNvPicPr>
          <p:nvPr/>
        </p:nvPicPr>
        <p:blipFill>
          <a:blip r:embed="rId2"/>
          <a:stretch>
            <a:fillRect/>
          </a:stretch>
        </p:blipFill>
        <p:spPr>
          <a:xfrm>
            <a:off x="2919" y="0"/>
            <a:ext cx="708721" cy="1165961"/>
          </a:xfrm>
          <a:prstGeom prst="rect">
            <a:avLst/>
          </a:prstGeom>
        </p:spPr>
      </p:pic>
    </p:spTree>
    <p:extLst>
      <p:ext uri="{BB962C8B-B14F-4D97-AF65-F5344CB8AC3E}">
        <p14:creationId xmlns:p14="http://schemas.microsoft.com/office/powerpoint/2010/main" val="345256700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31350" cy="662156"/>
          </a:xfrm>
        </p:spPr>
        <p:txBody>
          <a:bodyPr/>
          <a:lstStyle/>
          <a:p>
            <a:pPr fontAlgn="base"/>
            <a:r>
              <a:rPr lang="en-US" sz="2400" b="1" dirty="0">
                <a:latin typeface="Times New Roman" panose="02020603050405020304" pitchFamily="18" charset="0"/>
                <a:cs typeface="Times New Roman" panose="02020603050405020304" pitchFamily="18" charset="0"/>
              </a:rPr>
              <a:t>How Alpha Beta Pruning Works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3" name="Content Placeholder 2"/>
          <p:cNvSpPr>
            <a:spLocks noGrp="1"/>
          </p:cNvSpPr>
          <p:nvPr>
            <p:ph idx="1"/>
          </p:nvPr>
        </p:nvSpPr>
        <p:spPr>
          <a:xfrm>
            <a:off x="290052" y="935999"/>
            <a:ext cx="8520600" cy="4063597"/>
          </a:xfrm>
        </p:spPr>
        <p:txBody>
          <a:bodyPr>
            <a:normAutofit fontScale="92500"/>
          </a:bodyPr>
          <a:lstStyle/>
          <a:p>
            <a:pPr marL="146050" indent="0" fontAlgn="base">
              <a:lnSpc>
                <a:spcPct val="150000"/>
              </a:lnSpc>
              <a:buNone/>
            </a:pPr>
            <a:r>
              <a:rPr lang="en-US" sz="1400" b="1" dirty="0">
                <a:solidFill>
                  <a:schemeClr val="bg2"/>
                </a:solidFill>
                <a:latin typeface="Times New Roman" panose="02020603050405020304" pitchFamily="18" charset="0"/>
                <a:cs typeface="Times New Roman" panose="02020603050405020304" pitchFamily="18" charset="0"/>
              </a:rPr>
              <a:t>Alpha and Beta Values</a:t>
            </a:r>
          </a:p>
          <a:p>
            <a:pPr fontAlgn="base">
              <a:lnSpc>
                <a:spcPct val="150000"/>
              </a:lnSpc>
            </a:pPr>
            <a:r>
              <a:rPr lang="en-US" sz="1400" b="1" dirty="0">
                <a:solidFill>
                  <a:schemeClr val="bg2"/>
                </a:solidFill>
                <a:latin typeface="Times New Roman" panose="02020603050405020304" pitchFamily="18" charset="0"/>
                <a:cs typeface="Times New Roman" panose="02020603050405020304" pitchFamily="18" charset="0"/>
              </a:rPr>
              <a:t>Alpha</a:t>
            </a:r>
            <a:r>
              <a:rPr lang="en-US" sz="1400" dirty="0">
                <a:solidFill>
                  <a:schemeClr val="bg2"/>
                </a:solidFill>
                <a:latin typeface="Times New Roman" panose="02020603050405020304" pitchFamily="18" charset="0"/>
                <a:cs typeface="Times New Roman" panose="02020603050405020304" pitchFamily="18" charset="0"/>
              </a:rPr>
              <a:t> represents the best (highest-value) value that the maximizing player (usually the AI) can guarantee so far. It acts as a lower bound. The initial value of alpha is −∞.</a:t>
            </a:r>
          </a:p>
          <a:p>
            <a:pPr fontAlgn="base">
              <a:lnSpc>
                <a:spcPct val="150000"/>
              </a:lnSpc>
            </a:pPr>
            <a:r>
              <a:rPr lang="en-US" sz="1400" b="1" dirty="0">
                <a:solidFill>
                  <a:schemeClr val="bg2"/>
                </a:solidFill>
                <a:latin typeface="Times New Roman" panose="02020603050405020304" pitchFamily="18" charset="0"/>
                <a:cs typeface="Times New Roman" panose="02020603050405020304" pitchFamily="18" charset="0"/>
              </a:rPr>
              <a:t>Beta</a:t>
            </a:r>
            <a:r>
              <a:rPr lang="en-US" sz="1400" dirty="0">
                <a:solidFill>
                  <a:schemeClr val="bg2"/>
                </a:solidFill>
                <a:latin typeface="Times New Roman" panose="02020603050405020304" pitchFamily="18" charset="0"/>
                <a:cs typeface="Times New Roman" panose="02020603050405020304" pitchFamily="18" charset="0"/>
              </a:rPr>
              <a:t> represents the best (lowest-value) value that the minimizing player (the opponent) can guarantee so far. It acts as an upper bound. The initial value of alpha is +∞.</a:t>
            </a:r>
          </a:p>
          <a:p>
            <a:pPr marL="146050" indent="0" fontAlgn="base">
              <a:lnSpc>
                <a:spcPct val="150000"/>
              </a:lnSpc>
              <a:buNone/>
            </a:pPr>
            <a:r>
              <a:rPr lang="en-US" sz="1400" b="1" dirty="0">
                <a:solidFill>
                  <a:schemeClr val="bg2"/>
                </a:solidFill>
                <a:latin typeface="Times New Roman" panose="02020603050405020304" pitchFamily="18" charset="0"/>
                <a:cs typeface="Times New Roman" panose="02020603050405020304" pitchFamily="18" charset="0"/>
              </a:rPr>
              <a:t>The Pruning Process</a:t>
            </a:r>
          </a:p>
          <a:p>
            <a:pPr fontAlgn="base">
              <a:lnSpc>
                <a:spcPct val="150000"/>
              </a:lnSpc>
            </a:pPr>
            <a:r>
              <a:rPr lang="en-US" sz="1400" dirty="0">
                <a:solidFill>
                  <a:schemeClr val="bg2"/>
                </a:solidFill>
                <a:latin typeface="Times New Roman" panose="02020603050405020304" pitchFamily="18" charset="0"/>
                <a:cs typeface="Times New Roman" panose="02020603050405020304" pitchFamily="18" charset="0"/>
              </a:rPr>
              <a:t>As the AI explores the tree, it keeps track of Alpha and Beta values. When exploring a node, it compares the node’s value against these values.</a:t>
            </a:r>
          </a:p>
          <a:p>
            <a:pPr fontAlgn="base">
              <a:lnSpc>
                <a:spcPct val="150000"/>
              </a:lnSpc>
            </a:pPr>
            <a:r>
              <a:rPr lang="en-US" sz="1400" dirty="0">
                <a:solidFill>
                  <a:schemeClr val="bg2"/>
                </a:solidFill>
                <a:latin typeface="Times New Roman" panose="02020603050405020304" pitchFamily="18" charset="0"/>
                <a:cs typeface="Times New Roman" panose="02020603050405020304" pitchFamily="18" charset="0"/>
              </a:rPr>
              <a:t>If, at any point, </a:t>
            </a:r>
            <a:r>
              <a:rPr lang="en-US" sz="1400" b="1" dirty="0">
                <a:solidFill>
                  <a:schemeClr val="bg2"/>
                </a:solidFill>
                <a:latin typeface="Times New Roman" panose="02020603050405020304" pitchFamily="18" charset="0"/>
                <a:cs typeface="Times New Roman" panose="02020603050405020304" pitchFamily="18" charset="0"/>
              </a:rPr>
              <a:t>Alpha</a:t>
            </a:r>
            <a:r>
              <a:rPr lang="en-US" sz="1400" dirty="0">
                <a:solidFill>
                  <a:schemeClr val="bg2"/>
                </a:solidFill>
                <a:latin typeface="Times New Roman" panose="02020603050405020304" pitchFamily="18" charset="0"/>
                <a:cs typeface="Times New Roman" panose="02020603050405020304" pitchFamily="18" charset="0"/>
              </a:rPr>
              <a:t> becomes greater than or equal to </a:t>
            </a:r>
            <a:r>
              <a:rPr lang="en-US" sz="1400" b="1" dirty="0">
                <a:solidFill>
                  <a:schemeClr val="bg2"/>
                </a:solidFill>
                <a:latin typeface="Times New Roman" panose="02020603050405020304" pitchFamily="18" charset="0"/>
                <a:cs typeface="Times New Roman" panose="02020603050405020304" pitchFamily="18" charset="0"/>
              </a:rPr>
              <a:t>Beta</a:t>
            </a:r>
            <a:r>
              <a:rPr lang="en-US" sz="1400" dirty="0">
                <a:solidFill>
                  <a:schemeClr val="bg2"/>
                </a:solidFill>
                <a:latin typeface="Times New Roman" panose="02020603050405020304" pitchFamily="18" charset="0"/>
                <a:cs typeface="Times New Roman" panose="02020603050405020304" pitchFamily="18" charset="0"/>
              </a:rPr>
              <a:t>; it means the current branch will not affect the final decision because the opponent will avoid this path in favor of a better one. As a result, this branch is pruned, and the algorithm moves on to the next branch.</a:t>
            </a:r>
          </a:p>
          <a:p>
            <a:pPr fontAlgn="base">
              <a:lnSpc>
                <a:spcPct val="150000"/>
              </a:lnSpc>
            </a:pPr>
            <a:r>
              <a:rPr lang="en-US" sz="1400" dirty="0">
                <a:solidFill>
                  <a:schemeClr val="bg2"/>
                </a:solidFill>
                <a:latin typeface="Times New Roman" panose="02020603050405020304" pitchFamily="18" charset="0"/>
                <a:cs typeface="Times New Roman" panose="02020603050405020304" pitchFamily="18" charset="0"/>
              </a:rPr>
              <a:t>This process allows the algorithm to skip large parts of the tree, significantly reducing the number of nodes to be evaluated.</a:t>
            </a:r>
          </a:p>
          <a:p>
            <a:pPr marL="146050" indent="0">
              <a:buNone/>
            </a:pPr>
            <a:endParaRPr lang="en-IN" sz="1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65757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6072" y="158303"/>
            <a:ext cx="7233805" cy="672970"/>
          </a:xfrm>
        </p:spPr>
        <p:txBody>
          <a:bodyPr/>
          <a:lstStyle/>
          <a:p>
            <a:r>
              <a:rPr lang="en-US" sz="2400" b="1" dirty="0">
                <a:latin typeface="Times New Roman" panose="02020603050405020304" pitchFamily="18" charset="0"/>
                <a:cs typeface="Times New Roman" panose="02020603050405020304" pitchFamily="18" charset="0"/>
              </a:rPr>
              <a:t>Working of Alpha-beta Pruning</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3076" y="957949"/>
            <a:ext cx="7019171" cy="1416859"/>
          </a:xfrm>
        </p:spPr>
        <p:txBody>
          <a:bodyPr>
            <a:normAutofit/>
          </a:bodyPr>
          <a:lstStyle/>
          <a:p>
            <a:pPr marL="146050" indent="0" algn="just">
              <a:buNone/>
            </a:pPr>
            <a:r>
              <a:rPr lang="en-US" sz="1400" b="1" dirty="0">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 First, we will take care of the first move. So initially, we will define the worst case α = −∞ and β = +∞. If alpha is greater than or equal to beta</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we will prune the node</a:t>
            </a:r>
            <a:r>
              <a:rPr lang="en-US" sz="1400" dirty="0" smtClean="0">
                <a:latin typeface="Times New Roman" panose="02020603050405020304" pitchFamily="18" charset="0"/>
                <a:cs typeface="Times New Roman" panose="02020603050405020304" pitchFamily="18" charset="0"/>
              </a:rPr>
              <a:t>.</a:t>
            </a:r>
          </a:p>
          <a:p>
            <a:pPr marL="146050" indent="0" algn="just">
              <a:buNone/>
            </a:pPr>
            <a:endParaRPr lang="en-US" sz="1400" dirty="0">
              <a:solidFill>
                <a:schemeClr val="bg2"/>
              </a:solidFill>
              <a:latin typeface="Times New Roman" panose="02020603050405020304" pitchFamily="18" charset="0"/>
              <a:cs typeface="Times New Roman" panose="02020603050405020304" pitchFamily="18" charset="0"/>
            </a:endParaRPr>
          </a:p>
          <a:p>
            <a:pPr marL="146050" indent="0" algn="just">
              <a:buNone/>
            </a:pPr>
            <a:endParaRPr lang="en-US" sz="1400"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pic>
        <p:nvPicPr>
          <p:cNvPr id="5" name="Picture 4"/>
          <p:cNvPicPr>
            <a:picLocks noChangeAspect="1"/>
          </p:cNvPicPr>
          <p:nvPr/>
        </p:nvPicPr>
        <p:blipFill>
          <a:blip r:embed="rId2"/>
          <a:stretch>
            <a:fillRect/>
          </a:stretch>
        </p:blipFill>
        <p:spPr>
          <a:xfrm>
            <a:off x="2919" y="0"/>
            <a:ext cx="708721" cy="1165961"/>
          </a:xfrm>
          <a:prstGeom prst="rect">
            <a:avLst/>
          </a:prstGeom>
        </p:spPr>
      </p:pic>
      <p:pic>
        <p:nvPicPr>
          <p:cNvPr id="1026" name="Picture 2" descr="Game tree with initial alpha = -∞ and beta =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7061" y="1917468"/>
            <a:ext cx="6889912" cy="2832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95986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1772" y="685736"/>
            <a:ext cx="7782267" cy="1564084"/>
          </a:xfrm>
        </p:spPr>
        <p:txBody>
          <a:bodyPr>
            <a:normAutofit/>
          </a:bodyPr>
          <a:lstStyle/>
          <a:p>
            <a:pPr marL="146050" indent="0" fontAlgn="base">
              <a:buNone/>
            </a:pPr>
            <a:r>
              <a:rPr lang="en-US" sz="1400" b="1" dirty="0">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 We didn’t prune it since the initial value of alpha is less than beta. Now it’s turn for MAX. Therefore, we will calculate the value of alpha at node D. At node D, the value of alpha will be max (2, 3) = 3.</a:t>
            </a:r>
          </a:p>
          <a:p>
            <a:pPr marL="146050" indent="0" fontAlgn="base">
              <a:buNone/>
            </a:pPr>
            <a:r>
              <a:rPr lang="en-US" sz="1400" b="1" dirty="0">
                <a:latin typeface="Times New Roman" panose="02020603050405020304" pitchFamily="18" charset="0"/>
                <a:cs typeface="Times New Roman" panose="02020603050405020304" pitchFamily="18" charset="0"/>
              </a:rPr>
              <a:t>3.</a:t>
            </a:r>
            <a:r>
              <a:rPr lang="en-US" sz="1400" dirty="0">
                <a:latin typeface="Times New Roman" panose="02020603050405020304" pitchFamily="18" charset="0"/>
                <a:cs typeface="Times New Roman" panose="02020603050405020304" pitchFamily="18" charset="0"/>
              </a:rPr>
              <a:t> Now, node B’s turn is MIN. That means that the value of alpha beta at node B will be min (3, ∞). Therefore, alpha will be – ∞ and beta will be 3 at node B.</a:t>
            </a:r>
          </a:p>
          <a:p>
            <a:pPr marL="146050" indent="0" fontAlgn="base">
              <a:buNone/>
            </a:pPr>
            <a:r>
              <a:rPr lang="en-US" sz="1400" dirty="0">
                <a:latin typeface="Times New Roman" panose="02020603050405020304" pitchFamily="18" charset="0"/>
                <a:cs typeface="Times New Roman" panose="02020603050405020304" pitchFamily="18" charset="0"/>
              </a:rPr>
              <a:t>Next, algorithms will pass the values of α= -∞ and β= 3 to the next successor of Node B, that is node 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5" name="Picture 4"/>
          <p:cNvPicPr>
            <a:picLocks noChangeAspect="1"/>
          </p:cNvPicPr>
          <p:nvPr/>
        </p:nvPicPr>
        <p:blipFill>
          <a:blip r:embed="rId2"/>
          <a:stretch>
            <a:fillRect/>
          </a:stretch>
        </p:blipFill>
        <p:spPr>
          <a:xfrm>
            <a:off x="2919" y="0"/>
            <a:ext cx="708721" cy="1165961"/>
          </a:xfrm>
          <a:prstGeom prst="rect">
            <a:avLst/>
          </a:prstGeom>
        </p:spPr>
      </p:pic>
      <p:pic>
        <p:nvPicPr>
          <p:cNvPr id="2050" name="Picture 2" descr="Node B showing MIN calculation; beta updated to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528" y="2144564"/>
            <a:ext cx="7124963" cy="2776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158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9258" y="213890"/>
            <a:ext cx="7336125" cy="1180734"/>
          </a:xfrm>
        </p:spPr>
        <p:txBody>
          <a:bodyPr/>
          <a:lstStyle/>
          <a:p>
            <a:pPr marL="146050" indent="0">
              <a:lnSpc>
                <a:spcPct val="150000"/>
              </a:lnSpc>
              <a:buNone/>
            </a:pPr>
            <a:r>
              <a:rPr lang="en-US" b="1" dirty="0"/>
              <a:t>4.</a:t>
            </a:r>
            <a:r>
              <a:rPr lang="en-US" dirty="0"/>
              <a:t> Now it’s turn for MAX. Therefore, we will search for MAX at node E. The value of alpha at E is – ∞ and will be compared with </a:t>
            </a:r>
            <a:r>
              <a:rPr lang="en-US" dirty="0" smtClean="0"/>
              <a:t>5</a:t>
            </a:r>
            <a:r>
              <a:rPr lang="en-US" dirty="0"/>
              <a:t>. So, MAX (- ∞, 5) will be 5. Thus, at node E, alpha = 5, Beta = 5</a:t>
            </a:r>
            <a:r>
              <a:rPr lang="en-US" dirty="0" smtClean="0"/>
              <a:t>.</a:t>
            </a:r>
          </a:p>
          <a:p>
            <a:pPr marL="146050" indent="0">
              <a:lnSpc>
                <a:spcPct val="150000"/>
              </a:lnSpc>
              <a:buNone/>
            </a:pPr>
            <a:endParaRPr lang="en-US" sz="1400"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pic>
        <p:nvPicPr>
          <p:cNvPr id="5" name="Picture 4"/>
          <p:cNvPicPr>
            <a:picLocks noChangeAspect="1"/>
          </p:cNvPicPr>
          <p:nvPr/>
        </p:nvPicPr>
        <p:blipFill>
          <a:blip r:embed="rId2"/>
          <a:stretch>
            <a:fillRect/>
          </a:stretch>
        </p:blipFill>
        <p:spPr>
          <a:xfrm>
            <a:off x="2919" y="0"/>
            <a:ext cx="708721" cy="1165961"/>
          </a:xfrm>
          <a:prstGeom prst="rect">
            <a:avLst/>
          </a:prstGeom>
        </p:spPr>
      </p:pic>
      <p:pic>
        <p:nvPicPr>
          <p:cNvPr id="3074" name="Picture 2" descr="Node E showing MAX calculation; alpha updated to 5, right branch pru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600" y="1165961"/>
            <a:ext cx="5954659" cy="310343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4267" y="4352712"/>
            <a:ext cx="7257185" cy="523220"/>
          </a:xfrm>
          <a:prstGeom prst="rect">
            <a:avLst/>
          </a:prstGeom>
        </p:spPr>
        <p:txBody>
          <a:bodyPr wrap="square">
            <a:spAutoFit/>
          </a:bodyPr>
          <a:lstStyle/>
          <a:p>
            <a:r>
              <a:rPr lang="en-US" dirty="0">
                <a:solidFill>
                  <a:srgbClr val="444444"/>
                </a:solidFill>
                <a:latin typeface="Times New Roman" panose="02020603050405020304" pitchFamily="18" charset="0"/>
                <a:cs typeface="Times New Roman" panose="02020603050405020304" pitchFamily="18" charset="0"/>
              </a:rPr>
              <a:t>We now know that alpha is greater than beta and is also a pruning condition, so we can prune the right successor of node E, and the algorithm will not be visited, and the value of node E will be 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6076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E06EC5-66DC-9785-D88B-A6EA386137A7}"/>
              </a:ext>
            </a:extLst>
          </p:cNvPr>
          <p:cNvSpPr>
            <a:spLocks noGrp="1"/>
          </p:cNvSpPr>
          <p:nvPr>
            <p:ph type="sldNum" sz="quarter" idx="12"/>
          </p:nvPr>
        </p:nvSpPr>
        <p:spPr/>
        <p:txBody>
          <a:bodyPr/>
          <a:lstStyle/>
          <a:p>
            <a:fld id="{BDCDBBEF-AA6C-4BA6-85B2-A17D7F280E38}" type="slidenum">
              <a:rPr lang="en-US" smtClean="0"/>
              <a:pPr/>
              <a:t>27</a:t>
            </a:fld>
            <a:endParaRPr lang="en-US" dirty="0"/>
          </a:p>
        </p:txBody>
      </p:sp>
      <p:pic>
        <p:nvPicPr>
          <p:cNvPr id="6" name="Picture 5"/>
          <p:cNvPicPr>
            <a:picLocks noChangeAspect="1"/>
          </p:cNvPicPr>
          <p:nvPr/>
        </p:nvPicPr>
        <p:blipFill>
          <a:blip r:embed="rId2"/>
          <a:stretch>
            <a:fillRect/>
          </a:stretch>
        </p:blipFill>
        <p:spPr>
          <a:xfrm>
            <a:off x="2919" y="0"/>
            <a:ext cx="668080" cy="1099100"/>
          </a:xfrm>
          <a:prstGeom prst="rect">
            <a:avLst/>
          </a:prstGeom>
        </p:spPr>
      </p:pic>
      <p:sp>
        <p:nvSpPr>
          <p:cNvPr id="3" name="Content Placeholder 2">
            <a:extLst>
              <a:ext uri="{FF2B5EF4-FFF2-40B4-BE49-F238E27FC236}">
                <a16:creationId xmlns:a16="http://schemas.microsoft.com/office/drawing/2014/main" id="{90E2B0EE-AFB7-C579-DB27-C3851C1C5346}"/>
              </a:ext>
            </a:extLst>
          </p:cNvPr>
          <p:cNvSpPr>
            <a:spLocks noGrp="1"/>
          </p:cNvSpPr>
          <p:nvPr>
            <p:ph idx="1"/>
          </p:nvPr>
        </p:nvSpPr>
        <p:spPr>
          <a:xfrm>
            <a:off x="386215" y="1000423"/>
            <a:ext cx="8424437" cy="1295444"/>
          </a:xfrm>
        </p:spPr>
        <p:txBody>
          <a:bodyPr>
            <a:normAutofit lnSpcReduction="10000"/>
          </a:bodyPr>
          <a:lstStyle/>
          <a:p>
            <a:pPr marL="146050" indent="0" fontAlgn="base">
              <a:buNone/>
            </a:pPr>
            <a:r>
              <a:rPr lang="en-US" b="1" dirty="0"/>
              <a:t>5.</a:t>
            </a:r>
            <a:r>
              <a:rPr lang="en-US" dirty="0"/>
              <a:t> In the next step, the algorithm again comes from node B to node A. The alpha of node A is changed to the max value of MAX(- ∞, 3). Now, alpha and beta at node A are (3, + ∞) and will be transmitted to node C. The same values will be transferred to node F.</a:t>
            </a:r>
          </a:p>
          <a:p>
            <a:pPr marL="146050" indent="0" fontAlgn="base">
              <a:buNone/>
            </a:pPr>
            <a:r>
              <a:rPr lang="en-US" b="1" dirty="0"/>
              <a:t>6.</a:t>
            </a:r>
            <a:r>
              <a:rPr lang="en-US" dirty="0"/>
              <a:t> The value of alpha will be compared to the left branch, which is 0 at node F. Now, MAX (0, 3) will be 3 and is compared with the right child (1) and MAX(3, 1) = 3 still α is 3, but the node value of F will be 1.</a:t>
            </a:r>
          </a:p>
          <a:p>
            <a:pPr marL="146050" indent="0">
              <a:buNone/>
            </a:pPr>
            <a:endParaRPr lang="en-IN" dirty="0"/>
          </a:p>
        </p:txBody>
      </p:sp>
      <p:pic>
        <p:nvPicPr>
          <p:cNvPr id="4098" name="Picture 2" descr="Node F updates alpha to 3; evaluates children, node value is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567" y="2323124"/>
            <a:ext cx="7249416" cy="2623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488461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E06EC5-66DC-9785-D88B-A6EA386137A7}"/>
              </a:ext>
            </a:extLst>
          </p:cNvPr>
          <p:cNvSpPr>
            <a:spLocks noGrp="1"/>
          </p:cNvSpPr>
          <p:nvPr>
            <p:ph type="sldNum" sz="quarter" idx="12"/>
          </p:nvPr>
        </p:nvSpPr>
        <p:spPr/>
        <p:txBody>
          <a:bodyPr/>
          <a:lstStyle/>
          <a:p>
            <a:fld id="{BDCDBBEF-AA6C-4BA6-85B2-A17D7F280E38}" type="slidenum">
              <a:rPr lang="en-US" smtClean="0"/>
              <a:pPr/>
              <a:t>28</a:t>
            </a:fld>
            <a:endParaRPr lang="en-US" dirty="0"/>
          </a:p>
        </p:txBody>
      </p:sp>
      <p:pic>
        <p:nvPicPr>
          <p:cNvPr id="6" name="Picture 5"/>
          <p:cNvPicPr>
            <a:picLocks noChangeAspect="1"/>
          </p:cNvPicPr>
          <p:nvPr/>
        </p:nvPicPr>
        <p:blipFill>
          <a:blip r:embed="rId2"/>
          <a:stretch>
            <a:fillRect/>
          </a:stretch>
        </p:blipFill>
        <p:spPr>
          <a:xfrm>
            <a:off x="2919" y="0"/>
            <a:ext cx="710590" cy="1169036"/>
          </a:xfrm>
          <a:prstGeom prst="rect">
            <a:avLst/>
          </a:prstGeom>
        </p:spPr>
      </p:pic>
      <p:sp>
        <p:nvSpPr>
          <p:cNvPr id="3" name="Content Placeholder 2">
            <a:extLst>
              <a:ext uri="{FF2B5EF4-FFF2-40B4-BE49-F238E27FC236}">
                <a16:creationId xmlns:a16="http://schemas.microsoft.com/office/drawing/2014/main" id="{90E2B0EE-AFB7-C579-DB27-C3851C1C5346}"/>
              </a:ext>
            </a:extLst>
          </p:cNvPr>
          <p:cNvSpPr>
            <a:spLocks noGrp="1"/>
          </p:cNvSpPr>
          <p:nvPr>
            <p:ph idx="1"/>
          </p:nvPr>
        </p:nvSpPr>
        <p:spPr>
          <a:xfrm>
            <a:off x="713509" y="323595"/>
            <a:ext cx="8062100" cy="1544676"/>
          </a:xfrm>
        </p:spPr>
        <p:txBody>
          <a:bodyPr>
            <a:noAutofit/>
          </a:bodyPr>
          <a:lstStyle/>
          <a:p>
            <a:pPr marL="146050" indent="0">
              <a:lnSpc>
                <a:spcPct val="150000"/>
              </a:lnSpc>
              <a:buNone/>
            </a:pPr>
            <a:r>
              <a:rPr lang="en-US" sz="1400" b="1" dirty="0">
                <a:latin typeface="Times New Roman" panose="02020603050405020304" pitchFamily="18" charset="0"/>
                <a:cs typeface="Times New Roman" panose="02020603050405020304" pitchFamily="18" charset="0"/>
              </a:rPr>
              <a:t>7.</a:t>
            </a:r>
            <a:r>
              <a:rPr lang="en-US" sz="1400" dirty="0">
                <a:latin typeface="Times New Roman" panose="02020603050405020304" pitchFamily="18" charset="0"/>
                <a:cs typeface="Times New Roman" panose="02020603050405020304" pitchFamily="18" charset="0"/>
              </a:rPr>
              <a:t> Afterward, node F will pass the node value 1 to C and compare it to the beta value at C. Now it’s turn for MIN. So, MIN (+ ∞, 1) will be 1. Now, at node C, α = 3, β= 1, and alpha is greater than beta, which again satisfies the pruning condition. Then, the successor of node C, G, will be pruned, and the algorithm did not calculate the whole subtree G.</a:t>
            </a:r>
            <a:endParaRPr lang="en-IN" sz="1400" dirty="0">
              <a:latin typeface="Times New Roman" panose="02020603050405020304" pitchFamily="18" charset="0"/>
              <a:cs typeface="Times New Roman" panose="02020603050405020304" pitchFamily="18" charset="0"/>
            </a:endParaRPr>
          </a:p>
        </p:txBody>
      </p:sp>
      <p:pic>
        <p:nvPicPr>
          <p:cNvPr id="5122" name="Picture 2" descr="Node C prunes subtree G as alpha &gt; beta; returns value 1 to node 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596" y="1815326"/>
            <a:ext cx="5134706" cy="2585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29229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E06EC5-66DC-9785-D88B-A6EA386137A7}"/>
              </a:ext>
            </a:extLst>
          </p:cNvPr>
          <p:cNvSpPr>
            <a:spLocks noGrp="1"/>
          </p:cNvSpPr>
          <p:nvPr>
            <p:ph type="sldNum" sz="quarter" idx="12"/>
          </p:nvPr>
        </p:nvSpPr>
        <p:spPr/>
        <p:txBody>
          <a:bodyPr/>
          <a:lstStyle/>
          <a:p>
            <a:fld id="{BDCDBBEF-AA6C-4BA6-85B2-A17D7F280E38}" type="slidenum">
              <a:rPr lang="en-US" smtClean="0"/>
              <a:pPr/>
              <a:t>29</a:t>
            </a:fld>
            <a:endParaRPr lang="en-US" dirty="0"/>
          </a:p>
        </p:txBody>
      </p:sp>
      <p:pic>
        <p:nvPicPr>
          <p:cNvPr id="6" name="Picture 5"/>
          <p:cNvPicPr>
            <a:picLocks noChangeAspect="1"/>
          </p:cNvPicPr>
          <p:nvPr/>
        </p:nvPicPr>
        <p:blipFill>
          <a:blip r:embed="rId2"/>
          <a:stretch>
            <a:fillRect/>
          </a:stretch>
        </p:blipFill>
        <p:spPr>
          <a:xfrm>
            <a:off x="2919" y="0"/>
            <a:ext cx="710590" cy="1169036"/>
          </a:xfrm>
          <a:prstGeom prst="rect">
            <a:avLst/>
          </a:prstGeom>
        </p:spPr>
      </p:pic>
      <p:pic>
        <p:nvPicPr>
          <p:cNvPr id="6146" name="Picture 2" descr="Final game tree with pruned branches and optimal value of 3 for the maximize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85537" y="584518"/>
            <a:ext cx="5834958" cy="340752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980282" y="487178"/>
            <a:ext cx="6950098" cy="307777"/>
          </a:xfrm>
          <a:prstGeom prst="rect">
            <a:avLst/>
          </a:prstGeom>
        </p:spPr>
        <p:txBody>
          <a:bodyPr wrap="square">
            <a:spAutoFit/>
          </a:bodyPr>
          <a:lstStyle/>
          <a:p>
            <a:r>
              <a:rPr lang="en-US" dirty="0">
                <a:solidFill>
                  <a:srgbClr val="444444"/>
                </a:solidFill>
                <a:latin typeface="Inter"/>
              </a:rPr>
              <a:t>Now, C will return its node value to A, and A will calculate MAX(1, 3), resulting in 3.</a:t>
            </a:r>
            <a:endParaRPr lang="en-IN" dirty="0"/>
          </a:p>
        </p:txBody>
      </p:sp>
      <p:sp>
        <p:nvSpPr>
          <p:cNvPr id="8" name="Rectangle 7"/>
          <p:cNvSpPr/>
          <p:nvPr/>
        </p:nvSpPr>
        <p:spPr>
          <a:xfrm>
            <a:off x="1203899" y="3992042"/>
            <a:ext cx="6726481" cy="738664"/>
          </a:xfrm>
          <a:prstGeom prst="rect">
            <a:avLst/>
          </a:prstGeom>
        </p:spPr>
        <p:txBody>
          <a:bodyPr wrap="square">
            <a:spAutoFit/>
          </a:bodyPr>
          <a:lstStyle/>
          <a:p>
            <a:r>
              <a:rPr lang="en-US" dirty="0">
                <a:solidFill>
                  <a:srgbClr val="444444"/>
                </a:solidFill>
                <a:latin typeface="Inter"/>
              </a:rPr>
              <a:t>This above-represented tree is the final tree that has nodes that are computed and nodes that are not computed. Therefore, in this example, the optimal value of the maximizer would be 3.</a:t>
            </a:r>
            <a:endParaRPr lang="en-IN" dirty="0"/>
          </a:p>
        </p:txBody>
      </p:sp>
    </p:spTree>
    <p:extLst>
      <p:ext uri="{BB962C8B-B14F-4D97-AF65-F5344CB8AC3E}">
        <p14:creationId xmlns:p14="http://schemas.microsoft.com/office/powerpoint/2010/main" val="178855072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4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Key Benefits of Alpha Beta Pruning in AI</a:t>
              </a:r>
              <a:endParaRPr lang="en-US" sz="2400" b="1" i="0" u="none" strike="noStrike" cap="none" dirty="0">
                <a:solidFill>
                  <a:schemeClr val="bg2"/>
                </a:solidFill>
                <a:latin typeface="Times New Roman" panose="02020603050405020304" pitchFamily="18" charset="0"/>
                <a:ea typeface="Calibri" panose="020F0502020204030204" pitchFamily="34" charset="0"/>
                <a:cs typeface="Times New Roman" panose="02020603050405020304" pitchFamily="18" charset="0"/>
                <a:sym typeface="Arial"/>
              </a:endParaRPr>
            </a:p>
          </p:txBody>
        </p:sp>
      </p:grpSp>
      <p:sp>
        <p:nvSpPr>
          <p:cNvPr id="113" name="Google Shape;113;p2">
            <a:extLst>
              <a:ext uri="{FF2B5EF4-FFF2-40B4-BE49-F238E27FC236}">
                <a16:creationId xmlns:a16="http://schemas.microsoft.com/office/drawing/2014/main" id="{BC685EF9-A30D-D2E6-4A85-FB96E46BDA9B}"/>
              </a:ext>
            </a:extLst>
          </p:cNvPr>
          <p:cNvSpPr txBox="1"/>
          <p:nvPr/>
        </p:nvSpPr>
        <p:spPr>
          <a:xfrm>
            <a:off x="533400" y="1544732"/>
            <a:ext cx="6975764" cy="1015622"/>
          </a:xfrm>
          <a:prstGeom prst="rect">
            <a:avLst/>
          </a:prstGeom>
          <a:noFill/>
          <a:ln>
            <a:noFill/>
          </a:ln>
        </p:spPr>
        <p:txBody>
          <a:bodyPr spcFirstLastPara="1" wrap="square" lIns="91425" tIns="45700" rIns="91425" bIns="45700" anchor="t" anchorCtr="0">
            <a:spAutoFit/>
          </a:bodyPr>
          <a:lstStyle/>
          <a:p>
            <a:endParaRPr lang="en-IN" sz="2000" dirty="0"/>
          </a:p>
          <a:p>
            <a:pPr marL="0" marR="0" lvl="0" indent="0" algn="just" rtl="0">
              <a:lnSpc>
                <a:spcPct val="200000"/>
              </a:lnSpc>
              <a:spcBef>
                <a:spcPts val="0"/>
              </a:spcBef>
              <a:spcAft>
                <a:spcPts val="0"/>
              </a:spcAft>
              <a:buNone/>
            </a:pPr>
            <a:endParaRPr lang="en-US" sz="2000" b="0" i="0" u="none" strike="noStrike" cap="none" dirty="0">
              <a:solidFill>
                <a:schemeClr val="bg2"/>
              </a:solidFill>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3" name="Rectangle 2">
            <a:extLst>
              <a:ext uri="{FF2B5EF4-FFF2-40B4-BE49-F238E27FC236}">
                <a16:creationId xmlns:a16="http://schemas.microsoft.com/office/drawing/2014/main" id="{41919772-9526-8202-B52E-E9F68DE8928C}"/>
              </a:ext>
            </a:extLst>
          </p:cNvPr>
          <p:cNvSpPr>
            <a:spLocks noChangeArrowheads="1"/>
          </p:cNvSpPr>
          <p:nvPr/>
        </p:nvSpPr>
        <p:spPr bwMode="auto">
          <a:xfrm>
            <a:off x="894695" y="846058"/>
            <a:ext cx="7714829" cy="4324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lnSpc>
                <a:spcPct val="150000"/>
              </a:lnSpc>
            </a:pPr>
            <a:r>
              <a:rPr kumimoji="0" lang="en-US" altLang="en-US" sz="2000" b="1"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1. Improved </a:t>
            </a:r>
            <a:r>
              <a:rPr lang="en-IN" b="1" dirty="0" smtClean="0">
                <a:latin typeface="Times New Roman" panose="02020603050405020304" pitchFamily="18" charset="0"/>
                <a:cs typeface="Times New Roman" panose="02020603050405020304" pitchFamily="18" charset="0"/>
              </a:rPr>
              <a:t>Efficiency- </a:t>
            </a:r>
            <a:r>
              <a:rPr lang="en-US" dirty="0">
                <a:latin typeface="Times New Roman" panose="02020603050405020304" pitchFamily="18" charset="0"/>
                <a:cs typeface="Times New Roman" panose="02020603050405020304" pitchFamily="18" charset="0"/>
              </a:rPr>
              <a:t>Alpha Beta Pruning significantly reduces the amount of computation required. The algorithm can focus on evaluating only the most relevant parts of the tree, making decision-making much faster.</a:t>
            </a:r>
            <a:endParaRPr lang="en-IN" b="1" dirty="0" smtClean="0">
              <a:latin typeface="Times New Roman" panose="02020603050405020304" pitchFamily="18" charset="0"/>
              <a:cs typeface="Times New Roman" panose="02020603050405020304" pitchFamily="18" charset="0"/>
            </a:endParaRPr>
          </a:p>
          <a:p>
            <a:pPr algn="just" fontAlgn="base">
              <a:lnSpc>
                <a:spcPct val="150000"/>
              </a:lnSpc>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 Reduced Time </a:t>
            </a:r>
            <a:r>
              <a:rPr lang="en-IN" b="1" dirty="0" smtClean="0">
                <a:latin typeface="Times New Roman" panose="02020603050405020304" pitchFamily="18" charset="0"/>
                <a:cs typeface="Times New Roman" panose="02020603050405020304" pitchFamily="18" charset="0"/>
              </a:rPr>
              <a:t>Complexity- </a:t>
            </a:r>
            <a:r>
              <a:rPr lang="en-US" dirty="0">
                <a:latin typeface="Times New Roman" panose="02020603050405020304" pitchFamily="18" charset="0"/>
                <a:cs typeface="Times New Roman" panose="02020603050405020304" pitchFamily="18" charset="0"/>
              </a:rPr>
              <a:t>Without pruning, the minimax algorithm has a time complexity of O(</a:t>
            </a:r>
            <a:r>
              <a:rPr lang="en-US" dirty="0" err="1">
                <a:latin typeface="Times New Roman" panose="02020603050405020304" pitchFamily="18" charset="0"/>
                <a:cs typeface="Times New Roman" panose="02020603050405020304" pitchFamily="18" charset="0"/>
              </a:rPr>
              <a:t>b^d</a:t>
            </a:r>
            <a:r>
              <a:rPr lang="en-US" dirty="0">
                <a:latin typeface="Times New Roman" panose="02020603050405020304" pitchFamily="18" charset="0"/>
                <a:cs typeface="Times New Roman" panose="02020603050405020304" pitchFamily="18" charset="0"/>
              </a:rPr>
              <a:t>), where b represents the branching factor (the number of possible moves) and d is the depth of the tree. With Alpha Beta Pruning, the time complexity can be reduced to O(b^(d/2)) in the best case, enabling the AI to explore deeper levels of the tree much more efficiently.</a:t>
            </a:r>
            <a:endParaRPr lang="en-IN" b="1" dirty="0">
              <a:latin typeface="Times New Roman" panose="02020603050405020304" pitchFamily="18" charset="0"/>
              <a:cs typeface="Times New Roman" panose="02020603050405020304" pitchFamily="18" charset="0"/>
            </a:endParaRPr>
          </a:p>
          <a:p>
            <a:pPr algn="just" fontAlgn="base">
              <a:lnSpc>
                <a:spcPct val="150000"/>
              </a:lnSpc>
            </a:pPr>
            <a:r>
              <a:rPr lang="en-IN" b="1" dirty="0" smtClean="0">
                <a:latin typeface="Times New Roman" panose="02020603050405020304" pitchFamily="18" charset="0"/>
                <a:cs typeface="Times New Roman" panose="02020603050405020304" pitchFamily="18" charset="0"/>
              </a:rPr>
              <a:t>   3</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As AI applications become more complex and require deeper search trees (e.g., in chess or Go), </a:t>
            </a:r>
            <a:r>
              <a:rPr lang="en-US" b="1" dirty="0">
                <a:latin typeface="Times New Roman" panose="02020603050405020304" pitchFamily="18" charset="0"/>
                <a:cs typeface="Times New Roman" panose="02020603050405020304" pitchFamily="18" charset="0"/>
              </a:rPr>
              <a:t>Alpha Beta Pruning</a:t>
            </a:r>
            <a:r>
              <a:rPr lang="en-US" dirty="0">
                <a:latin typeface="Times New Roman" panose="02020603050405020304" pitchFamily="18" charset="0"/>
                <a:cs typeface="Times New Roman" panose="02020603050405020304" pitchFamily="18" charset="0"/>
              </a:rPr>
              <a:t> makes exploring these larger search spaces feasible. The ability to prune unnecessary branches means that AI systems can handle more complex decision-making tasks in real time.</a:t>
            </a:r>
            <a:endParaRPr lang="en-IN" b="1" dirty="0">
              <a:latin typeface="Times New Roman" panose="02020603050405020304" pitchFamily="18" charset="0"/>
              <a:cs typeface="Times New Roman" panose="02020603050405020304" pitchFamily="18" charset="0"/>
            </a:endParaRPr>
          </a:p>
          <a:p>
            <a:pPr algn="just" fontAlgn="base">
              <a:lnSpc>
                <a:spcPct val="150000"/>
              </a:lnSpc>
            </a:pPr>
            <a:endParaRPr lang="en-IN" b="1" dirty="0" smtClean="0">
              <a:latin typeface="Times New Roman" panose="02020603050405020304" pitchFamily="18" charset="0"/>
              <a:cs typeface="Times New Roman" panose="02020603050405020304" pitchFamily="18" charset="0"/>
            </a:endParaRPr>
          </a:p>
          <a:p>
            <a:pPr fontAlgn="base"/>
            <a:endParaRPr lang="en-IN" b="1" dirty="0"/>
          </a:p>
        </p:txBody>
      </p:sp>
    </p:spTree>
    <p:extLst>
      <p:ext uri="{BB962C8B-B14F-4D97-AF65-F5344CB8AC3E}">
        <p14:creationId xmlns:p14="http://schemas.microsoft.com/office/powerpoint/2010/main" val="155033803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AF07FB58-ECE4-103C-FAE0-D4F3B657187C}"/>
              </a:ext>
            </a:extLst>
          </p:cNvPr>
          <p:cNvSpPr/>
          <p:nvPr/>
        </p:nvSpPr>
        <p:spPr>
          <a:xfrm>
            <a:off x="748144" y="218172"/>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3" name="Google Shape;113;p2">
            <a:extLst>
              <a:ext uri="{FF2B5EF4-FFF2-40B4-BE49-F238E27FC236}">
                <a16:creationId xmlns:a16="http://schemas.microsoft.com/office/drawing/2014/main" id="{BC685EF9-A30D-D2E6-4A85-FB96E46BDA9B}"/>
              </a:ext>
            </a:extLst>
          </p:cNvPr>
          <p:cNvSpPr txBox="1"/>
          <p:nvPr/>
        </p:nvSpPr>
        <p:spPr>
          <a:xfrm>
            <a:off x="533400" y="1544732"/>
            <a:ext cx="6975764" cy="1015622"/>
          </a:xfrm>
          <a:prstGeom prst="rect">
            <a:avLst/>
          </a:prstGeom>
          <a:noFill/>
          <a:ln>
            <a:noFill/>
          </a:ln>
        </p:spPr>
        <p:txBody>
          <a:bodyPr spcFirstLastPara="1" wrap="square" lIns="91425" tIns="45700" rIns="91425" bIns="45700" anchor="t" anchorCtr="0">
            <a:spAutoFit/>
          </a:bodyPr>
          <a:lstStyle/>
          <a:p>
            <a:endParaRPr lang="en-IN" sz="2000" dirty="0"/>
          </a:p>
          <a:p>
            <a:pPr marL="0" marR="0" lvl="0" indent="0" algn="just" rtl="0">
              <a:lnSpc>
                <a:spcPct val="200000"/>
              </a:lnSpc>
              <a:spcBef>
                <a:spcPts val="0"/>
              </a:spcBef>
              <a:spcAft>
                <a:spcPts val="0"/>
              </a:spcAft>
              <a:buNone/>
            </a:pPr>
            <a:endParaRPr lang="en-US" sz="2000" b="0" i="0" u="none" strike="noStrike" cap="none" dirty="0">
              <a:solidFill>
                <a:schemeClr val="bg2"/>
              </a:solidFill>
              <a:latin typeface="Times New Roman" panose="02020603050405020304" pitchFamily="18" charset="0"/>
              <a:ea typeface="Calibri" panose="020F0502020204030204" pitchFamily="34" charset="0"/>
              <a:cs typeface="Times New Roman" panose="02020603050405020304" pitchFamily="18" charset="0"/>
              <a:sym typeface="Arial"/>
            </a:endParaRPr>
          </a:p>
        </p:txBody>
      </p:sp>
      <p:pic>
        <p:nvPicPr>
          <p:cNvPr id="7170" name="Picture 2" descr="Limitations of Alpha Beta Pruning used in 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144" y="368455"/>
            <a:ext cx="7408569" cy="4476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10478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sp>
        <p:nvSpPr>
          <p:cNvPr id="113" name="Google Shape;113;p2">
            <a:extLst>
              <a:ext uri="{FF2B5EF4-FFF2-40B4-BE49-F238E27FC236}">
                <a16:creationId xmlns:a16="http://schemas.microsoft.com/office/drawing/2014/main" id="{BC685EF9-A30D-D2E6-4A85-FB96E46BDA9B}"/>
              </a:ext>
            </a:extLst>
          </p:cNvPr>
          <p:cNvSpPr txBox="1"/>
          <p:nvPr/>
        </p:nvSpPr>
        <p:spPr>
          <a:xfrm>
            <a:off x="533400" y="1544732"/>
            <a:ext cx="6975764" cy="1015622"/>
          </a:xfrm>
          <a:prstGeom prst="rect">
            <a:avLst/>
          </a:prstGeom>
          <a:noFill/>
          <a:ln>
            <a:noFill/>
          </a:ln>
        </p:spPr>
        <p:txBody>
          <a:bodyPr spcFirstLastPara="1" wrap="square" lIns="91425" tIns="45700" rIns="91425" bIns="45700" anchor="t" anchorCtr="0">
            <a:spAutoFit/>
          </a:bodyPr>
          <a:lstStyle/>
          <a:p>
            <a:endParaRPr lang="en-IN" sz="2000" dirty="0"/>
          </a:p>
          <a:p>
            <a:pPr marL="0" marR="0" lvl="0" indent="0" algn="just" rtl="0">
              <a:lnSpc>
                <a:spcPct val="200000"/>
              </a:lnSpc>
              <a:spcBef>
                <a:spcPts val="0"/>
              </a:spcBef>
              <a:spcAft>
                <a:spcPts val="0"/>
              </a:spcAft>
              <a:buNone/>
            </a:pPr>
            <a:endParaRPr lang="en-US" sz="2000" b="0" i="0" u="none" strike="noStrike" cap="none" dirty="0">
              <a:solidFill>
                <a:schemeClr val="bg2"/>
              </a:solidFill>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3" name="Rectangle 2">
            <a:extLst>
              <a:ext uri="{FF2B5EF4-FFF2-40B4-BE49-F238E27FC236}">
                <a16:creationId xmlns:a16="http://schemas.microsoft.com/office/drawing/2014/main" id="{41919772-9526-8202-B52E-E9F68DE8928C}"/>
              </a:ext>
            </a:extLst>
          </p:cNvPr>
          <p:cNvSpPr>
            <a:spLocks noChangeArrowheads="1"/>
          </p:cNvSpPr>
          <p:nvPr/>
        </p:nvSpPr>
        <p:spPr bwMode="auto">
          <a:xfrm>
            <a:off x="894695" y="457620"/>
            <a:ext cx="7236229" cy="464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lnSpc>
                <a:spcPct val="200000"/>
              </a:lnSpc>
            </a:pPr>
            <a:r>
              <a:rPr lang="en-US" sz="2000" b="1" dirty="0">
                <a:latin typeface="Times New Roman" panose="02020603050405020304" pitchFamily="18" charset="0"/>
                <a:cs typeface="Times New Roman" panose="02020603050405020304" pitchFamily="18" charset="0"/>
              </a:rPr>
              <a:t>Alpha Beta Pruning</a:t>
            </a:r>
            <a:r>
              <a:rPr lang="en-US" sz="2000" dirty="0">
                <a:latin typeface="Times New Roman" panose="02020603050405020304" pitchFamily="18" charset="0"/>
                <a:cs typeface="Times New Roman" panose="02020603050405020304" pitchFamily="18" charset="0"/>
              </a:rPr>
              <a:t> is an essential optimization technique for AI decision-making algorithms. By significantly reducing the number of nodes that need to be evaluated, it makes complex decision-making processes more efficient and feasible, even for large-scale problems.</a:t>
            </a:r>
          </a:p>
          <a:p>
            <a:pPr algn="just" fontAlgn="base">
              <a:lnSpc>
                <a:spcPct val="200000"/>
              </a:lnSpc>
            </a:pPr>
            <a:r>
              <a:rPr lang="en-US" sz="2000" dirty="0">
                <a:latin typeface="Times New Roman" panose="02020603050405020304" pitchFamily="18" charset="0"/>
                <a:cs typeface="Times New Roman" panose="02020603050405020304" pitchFamily="18" charset="0"/>
              </a:rPr>
              <a:t>Whether in game-playing AI, robotics, or optimization systems, Alpha Beta Pruning is a cornerstone of AI algorithms that require fast and accurate decision-making.</a:t>
            </a:r>
          </a:p>
          <a:p>
            <a:pPr>
              <a:lnSpc>
                <a:spcPct val="150000"/>
              </a:lnSpc>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431437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516" y="63795"/>
            <a:ext cx="8241486" cy="730103"/>
          </a:xfrm>
        </p:spPr>
        <p:txBody>
          <a:bodyPr/>
          <a:lstStyle/>
          <a:p>
            <a:r>
              <a:rPr lang="en-US" sz="4000" b="1" dirty="0" smtClean="0">
                <a:latin typeface="Calibri" panose="020F0502020204030204" pitchFamily="34" charset="0"/>
                <a:ea typeface="Calibri" panose="020F0502020204030204" pitchFamily="34" charset="0"/>
                <a:cs typeface="Calibri" panose="020F0502020204030204" pitchFamily="34" charset="0"/>
              </a:rPr>
              <a:t>Game Tree and State representation:</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43515" y="1020726"/>
            <a:ext cx="2906233" cy="1538176"/>
          </a:xfrm>
        </p:spPr>
        <p:txBody>
          <a:bodyPr>
            <a:noAutofit/>
          </a:bodyPr>
          <a:lstStyle/>
          <a:p>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Game Tree:</a:t>
            </a:r>
          </a:p>
          <a:p>
            <a:pPr marL="146050" indent="0">
              <a:buNone/>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Tree structure showing:</a:t>
            </a:r>
          </a:p>
          <a:p>
            <a:pPr lvl="1"/>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All possible moves</a:t>
            </a:r>
          </a:p>
          <a:p>
            <a:pPr lvl="1"/>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Opponent responses</a:t>
            </a:r>
          </a:p>
          <a:p>
            <a:pPr lvl="1"/>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Outcomes</a:t>
            </a:r>
          </a:p>
        </p:txBody>
      </p:sp>
      <p:sp>
        <p:nvSpPr>
          <p:cNvPr id="4" name="Slide Number Placeholder 3"/>
          <p:cNvSpPr>
            <a:spLocks noGrp="1"/>
          </p:cNvSpPr>
          <p:nvPr>
            <p:ph type="sldNum" sz="quarter" idx="12"/>
          </p:nvPr>
        </p:nvSpPr>
        <p:spPr/>
        <p:txBody>
          <a:bodyPr/>
          <a:lstStyle/>
          <a:p>
            <a:fld id="{54950813-634B-403A-824A-4F332B97447E}" type="slidenum">
              <a:rPr lang="en-US" smtClean="0"/>
              <a:t>33</a:t>
            </a:fld>
            <a:endParaRPr lang="en-US"/>
          </a:p>
        </p:txBody>
      </p:sp>
      <p:pic>
        <p:nvPicPr>
          <p:cNvPr id="5" name="Picture 4"/>
          <p:cNvPicPr>
            <a:picLocks noChangeAspect="1"/>
          </p:cNvPicPr>
          <p:nvPr/>
        </p:nvPicPr>
        <p:blipFill>
          <a:blip r:embed="rId2"/>
          <a:stretch>
            <a:fillRect/>
          </a:stretch>
        </p:blipFill>
        <p:spPr>
          <a:xfrm>
            <a:off x="2919" y="0"/>
            <a:ext cx="708721" cy="1165961"/>
          </a:xfrm>
          <a:prstGeom prst="rect">
            <a:avLst/>
          </a:prstGeom>
        </p:spPr>
      </p:pic>
      <p:sp>
        <p:nvSpPr>
          <p:cNvPr id="6" name="Rectangle 5"/>
          <p:cNvSpPr/>
          <p:nvPr/>
        </p:nvSpPr>
        <p:spPr>
          <a:xfrm>
            <a:off x="4164418" y="1108017"/>
            <a:ext cx="3101163" cy="1323439"/>
          </a:xfrm>
          <a:prstGeom prst="rect">
            <a:avLst/>
          </a:prstGeom>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Components:</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Root Node → Current state</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Leaf Node → Terminal state</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Branch → Possible moves</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Depth → Number of moves ahead</a:t>
            </a:r>
          </a:p>
        </p:txBody>
      </p:sp>
      <p:sp>
        <p:nvSpPr>
          <p:cNvPr id="7" name="Rectangle 6"/>
          <p:cNvSpPr/>
          <p:nvPr/>
        </p:nvSpPr>
        <p:spPr>
          <a:xfrm>
            <a:off x="896680" y="2785730"/>
            <a:ext cx="2293087" cy="1408334"/>
          </a:xfrm>
          <a:prstGeom prst="rect">
            <a:avLst/>
          </a:prstGeom>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State Representation:</a:t>
            </a:r>
          </a:p>
          <a:p>
            <a:pPr>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Board configuration</a:t>
            </a:r>
          </a:p>
          <a:p>
            <a:pPr>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Player turn</a:t>
            </a:r>
          </a:p>
          <a:p>
            <a:pPr>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Score or utility values</a:t>
            </a:r>
          </a:p>
        </p:txBody>
      </p:sp>
    </p:spTree>
    <p:extLst>
      <p:ext uri="{BB962C8B-B14F-4D97-AF65-F5344CB8AC3E}">
        <p14:creationId xmlns:p14="http://schemas.microsoft.com/office/powerpoint/2010/main" val="196421177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par>
                                <p:cTn id="39" presetID="26" presetClass="entr" presetSubtype="0" fill="hold" grpId="0"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wipe(down)">
                                      <p:cBhvr>
                                        <p:cTn id="41" dur="580">
                                          <p:stCondLst>
                                            <p:cond delay="0"/>
                                          </p:stCondLst>
                                        </p:cTn>
                                        <p:tgtEl>
                                          <p:spTgt spid="3">
                                            <p:txEl>
                                              <p:pRg st="2" end="2"/>
                                            </p:txEl>
                                          </p:spTgt>
                                        </p:tgtEl>
                                      </p:cBhvr>
                                    </p:animEffect>
                                    <p:anim calcmode="lin" valueType="num">
                                      <p:cBhvr>
                                        <p:cTn id="4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2" end="2"/>
                                            </p:txEl>
                                          </p:spTgt>
                                        </p:tgtEl>
                                      </p:cBhvr>
                                      <p:to x="100000" y="60000"/>
                                    </p:animScale>
                                    <p:animScale>
                                      <p:cBhvr>
                                        <p:cTn id="48" dur="166" decel="50000">
                                          <p:stCondLst>
                                            <p:cond delay="676"/>
                                          </p:stCondLst>
                                        </p:cTn>
                                        <p:tgtEl>
                                          <p:spTgt spid="3">
                                            <p:txEl>
                                              <p:pRg st="2" end="2"/>
                                            </p:txEl>
                                          </p:spTgt>
                                        </p:tgtEl>
                                      </p:cBhvr>
                                      <p:to x="100000" y="100000"/>
                                    </p:animScale>
                                    <p:animScale>
                                      <p:cBhvr>
                                        <p:cTn id="49" dur="26">
                                          <p:stCondLst>
                                            <p:cond delay="1312"/>
                                          </p:stCondLst>
                                        </p:cTn>
                                        <p:tgtEl>
                                          <p:spTgt spid="3">
                                            <p:txEl>
                                              <p:pRg st="2" end="2"/>
                                            </p:txEl>
                                          </p:spTgt>
                                        </p:tgtEl>
                                      </p:cBhvr>
                                      <p:to x="100000" y="80000"/>
                                    </p:animScale>
                                    <p:animScale>
                                      <p:cBhvr>
                                        <p:cTn id="50" dur="166" decel="50000">
                                          <p:stCondLst>
                                            <p:cond delay="1338"/>
                                          </p:stCondLst>
                                        </p:cTn>
                                        <p:tgtEl>
                                          <p:spTgt spid="3">
                                            <p:txEl>
                                              <p:pRg st="2" end="2"/>
                                            </p:txEl>
                                          </p:spTgt>
                                        </p:tgtEl>
                                      </p:cBhvr>
                                      <p:to x="100000" y="100000"/>
                                    </p:animScale>
                                    <p:animScale>
                                      <p:cBhvr>
                                        <p:cTn id="51" dur="26">
                                          <p:stCondLst>
                                            <p:cond delay="1642"/>
                                          </p:stCondLst>
                                        </p:cTn>
                                        <p:tgtEl>
                                          <p:spTgt spid="3">
                                            <p:txEl>
                                              <p:pRg st="2" end="2"/>
                                            </p:txEl>
                                          </p:spTgt>
                                        </p:tgtEl>
                                      </p:cBhvr>
                                      <p:to x="100000" y="90000"/>
                                    </p:animScale>
                                    <p:animScale>
                                      <p:cBhvr>
                                        <p:cTn id="52" dur="166" decel="50000">
                                          <p:stCondLst>
                                            <p:cond delay="1668"/>
                                          </p:stCondLst>
                                        </p:cTn>
                                        <p:tgtEl>
                                          <p:spTgt spid="3">
                                            <p:txEl>
                                              <p:pRg st="2" end="2"/>
                                            </p:txEl>
                                          </p:spTgt>
                                        </p:tgtEl>
                                      </p:cBhvr>
                                      <p:to x="100000" y="100000"/>
                                    </p:animScale>
                                    <p:animScale>
                                      <p:cBhvr>
                                        <p:cTn id="53" dur="26">
                                          <p:stCondLst>
                                            <p:cond delay="1808"/>
                                          </p:stCondLst>
                                        </p:cTn>
                                        <p:tgtEl>
                                          <p:spTgt spid="3">
                                            <p:txEl>
                                              <p:pRg st="2" end="2"/>
                                            </p:txEl>
                                          </p:spTgt>
                                        </p:tgtEl>
                                      </p:cBhvr>
                                      <p:to x="100000" y="95000"/>
                                    </p:animScale>
                                    <p:animScale>
                                      <p:cBhvr>
                                        <p:cTn id="54" dur="166" decel="50000">
                                          <p:stCondLst>
                                            <p:cond delay="1834"/>
                                          </p:stCondLst>
                                        </p:cTn>
                                        <p:tgtEl>
                                          <p:spTgt spid="3">
                                            <p:txEl>
                                              <p:pRg st="2" end="2"/>
                                            </p:txEl>
                                          </p:spTgt>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animEffect transition="in" filter="wipe(down)">
                                      <p:cBhvr>
                                        <p:cTn id="57" dur="580">
                                          <p:stCondLst>
                                            <p:cond delay="0"/>
                                          </p:stCondLst>
                                        </p:cTn>
                                        <p:tgtEl>
                                          <p:spTgt spid="3">
                                            <p:txEl>
                                              <p:pRg st="3" end="3"/>
                                            </p:txEl>
                                          </p:spTgt>
                                        </p:tgtEl>
                                      </p:cBhvr>
                                    </p:animEffect>
                                    <p:anim calcmode="lin" valueType="num">
                                      <p:cBhvr>
                                        <p:cTn id="5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3">
                                            <p:txEl>
                                              <p:pRg st="3" end="3"/>
                                            </p:txEl>
                                          </p:spTgt>
                                        </p:tgtEl>
                                      </p:cBhvr>
                                      <p:to x="100000" y="60000"/>
                                    </p:animScale>
                                    <p:animScale>
                                      <p:cBhvr>
                                        <p:cTn id="64" dur="166" decel="50000">
                                          <p:stCondLst>
                                            <p:cond delay="676"/>
                                          </p:stCondLst>
                                        </p:cTn>
                                        <p:tgtEl>
                                          <p:spTgt spid="3">
                                            <p:txEl>
                                              <p:pRg st="3" end="3"/>
                                            </p:txEl>
                                          </p:spTgt>
                                        </p:tgtEl>
                                      </p:cBhvr>
                                      <p:to x="100000" y="100000"/>
                                    </p:animScale>
                                    <p:animScale>
                                      <p:cBhvr>
                                        <p:cTn id="65" dur="26">
                                          <p:stCondLst>
                                            <p:cond delay="1312"/>
                                          </p:stCondLst>
                                        </p:cTn>
                                        <p:tgtEl>
                                          <p:spTgt spid="3">
                                            <p:txEl>
                                              <p:pRg st="3" end="3"/>
                                            </p:txEl>
                                          </p:spTgt>
                                        </p:tgtEl>
                                      </p:cBhvr>
                                      <p:to x="100000" y="80000"/>
                                    </p:animScale>
                                    <p:animScale>
                                      <p:cBhvr>
                                        <p:cTn id="66" dur="166" decel="50000">
                                          <p:stCondLst>
                                            <p:cond delay="1338"/>
                                          </p:stCondLst>
                                        </p:cTn>
                                        <p:tgtEl>
                                          <p:spTgt spid="3">
                                            <p:txEl>
                                              <p:pRg st="3" end="3"/>
                                            </p:txEl>
                                          </p:spTgt>
                                        </p:tgtEl>
                                      </p:cBhvr>
                                      <p:to x="100000" y="100000"/>
                                    </p:animScale>
                                    <p:animScale>
                                      <p:cBhvr>
                                        <p:cTn id="67" dur="26">
                                          <p:stCondLst>
                                            <p:cond delay="1642"/>
                                          </p:stCondLst>
                                        </p:cTn>
                                        <p:tgtEl>
                                          <p:spTgt spid="3">
                                            <p:txEl>
                                              <p:pRg st="3" end="3"/>
                                            </p:txEl>
                                          </p:spTgt>
                                        </p:tgtEl>
                                      </p:cBhvr>
                                      <p:to x="100000" y="90000"/>
                                    </p:animScale>
                                    <p:animScale>
                                      <p:cBhvr>
                                        <p:cTn id="68" dur="166" decel="50000">
                                          <p:stCondLst>
                                            <p:cond delay="1668"/>
                                          </p:stCondLst>
                                        </p:cTn>
                                        <p:tgtEl>
                                          <p:spTgt spid="3">
                                            <p:txEl>
                                              <p:pRg st="3" end="3"/>
                                            </p:txEl>
                                          </p:spTgt>
                                        </p:tgtEl>
                                      </p:cBhvr>
                                      <p:to x="100000" y="100000"/>
                                    </p:animScale>
                                    <p:animScale>
                                      <p:cBhvr>
                                        <p:cTn id="69" dur="26">
                                          <p:stCondLst>
                                            <p:cond delay="1808"/>
                                          </p:stCondLst>
                                        </p:cTn>
                                        <p:tgtEl>
                                          <p:spTgt spid="3">
                                            <p:txEl>
                                              <p:pRg st="3" end="3"/>
                                            </p:txEl>
                                          </p:spTgt>
                                        </p:tgtEl>
                                      </p:cBhvr>
                                      <p:to x="100000" y="95000"/>
                                    </p:animScale>
                                    <p:animScale>
                                      <p:cBhvr>
                                        <p:cTn id="70" dur="166" decel="50000">
                                          <p:stCondLst>
                                            <p:cond delay="1834"/>
                                          </p:stCondLst>
                                        </p:cTn>
                                        <p:tgtEl>
                                          <p:spTgt spid="3">
                                            <p:txEl>
                                              <p:pRg st="3" end="3"/>
                                            </p:txEl>
                                          </p:spTgt>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3">
                                            <p:txEl>
                                              <p:pRg st="4" end="4"/>
                                            </p:txEl>
                                          </p:spTgt>
                                        </p:tgtEl>
                                        <p:attrNameLst>
                                          <p:attrName>style.visibility</p:attrName>
                                        </p:attrNameLst>
                                      </p:cBhvr>
                                      <p:to>
                                        <p:strVal val="visible"/>
                                      </p:to>
                                    </p:set>
                                    <p:animEffect transition="in" filter="wipe(down)">
                                      <p:cBhvr>
                                        <p:cTn id="73" dur="580">
                                          <p:stCondLst>
                                            <p:cond delay="0"/>
                                          </p:stCondLst>
                                        </p:cTn>
                                        <p:tgtEl>
                                          <p:spTgt spid="3">
                                            <p:txEl>
                                              <p:pRg st="4" end="4"/>
                                            </p:txEl>
                                          </p:spTgt>
                                        </p:tgtEl>
                                      </p:cBhvr>
                                    </p:animEffect>
                                    <p:anim calcmode="lin" valueType="num">
                                      <p:cBhvr>
                                        <p:cTn id="74"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9" dur="26">
                                          <p:stCondLst>
                                            <p:cond delay="650"/>
                                          </p:stCondLst>
                                        </p:cTn>
                                        <p:tgtEl>
                                          <p:spTgt spid="3">
                                            <p:txEl>
                                              <p:pRg st="4" end="4"/>
                                            </p:txEl>
                                          </p:spTgt>
                                        </p:tgtEl>
                                      </p:cBhvr>
                                      <p:to x="100000" y="60000"/>
                                    </p:animScale>
                                    <p:animScale>
                                      <p:cBhvr>
                                        <p:cTn id="80" dur="166" decel="50000">
                                          <p:stCondLst>
                                            <p:cond delay="676"/>
                                          </p:stCondLst>
                                        </p:cTn>
                                        <p:tgtEl>
                                          <p:spTgt spid="3">
                                            <p:txEl>
                                              <p:pRg st="4" end="4"/>
                                            </p:txEl>
                                          </p:spTgt>
                                        </p:tgtEl>
                                      </p:cBhvr>
                                      <p:to x="100000" y="100000"/>
                                    </p:animScale>
                                    <p:animScale>
                                      <p:cBhvr>
                                        <p:cTn id="81" dur="26">
                                          <p:stCondLst>
                                            <p:cond delay="1312"/>
                                          </p:stCondLst>
                                        </p:cTn>
                                        <p:tgtEl>
                                          <p:spTgt spid="3">
                                            <p:txEl>
                                              <p:pRg st="4" end="4"/>
                                            </p:txEl>
                                          </p:spTgt>
                                        </p:tgtEl>
                                      </p:cBhvr>
                                      <p:to x="100000" y="80000"/>
                                    </p:animScale>
                                    <p:animScale>
                                      <p:cBhvr>
                                        <p:cTn id="82" dur="166" decel="50000">
                                          <p:stCondLst>
                                            <p:cond delay="1338"/>
                                          </p:stCondLst>
                                        </p:cTn>
                                        <p:tgtEl>
                                          <p:spTgt spid="3">
                                            <p:txEl>
                                              <p:pRg st="4" end="4"/>
                                            </p:txEl>
                                          </p:spTgt>
                                        </p:tgtEl>
                                      </p:cBhvr>
                                      <p:to x="100000" y="100000"/>
                                    </p:animScale>
                                    <p:animScale>
                                      <p:cBhvr>
                                        <p:cTn id="83" dur="26">
                                          <p:stCondLst>
                                            <p:cond delay="1642"/>
                                          </p:stCondLst>
                                        </p:cTn>
                                        <p:tgtEl>
                                          <p:spTgt spid="3">
                                            <p:txEl>
                                              <p:pRg st="4" end="4"/>
                                            </p:txEl>
                                          </p:spTgt>
                                        </p:tgtEl>
                                      </p:cBhvr>
                                      <p:to x="100000" y="90000"/>
                                    </p:animScale>
                                    <p:animScale>
                                      <p:cBhvr>
                                        <p:cTn id="84" dur="166" decel="50000">
                                          <p:stCondLst>
                                            <p:cond delay="1668"/>
                                          </p:stCondLst>
                                        </p:cTn>
                                        <p:tgtEl>
                                          <p:spTgt spid="3">
                                            <p:txEl>
                                              <p:pRg st="4" end="4"/>
                                            </p:txEl>
                                          </p:spTgt>
                                        </p:tgtEl>
                                      </p:cBhvr>
                                      <p:to x="100000" y="100000"/>
                                    </p:animScale>
                                    <p:animScale>
                                      <p:cBhvr>
                                        <p:cTn id="85" dur="26">
                                          <p:stCondLst>
                                            <p:cond delay="1808"/>
                                          </p:stCondLst>
                                        </p:cTn>
                                        <p:tgtEl>
                                          <p:spTgt spid="3">
                                            <p:txEl>
                                              <p:pRg st="4" end="4"/>
                                            </p:txEl>
                                          </p:spTgt>
                                        </p:tgtEl>
                                      </p:cBhvr>
                                      <p:to x="100000" y="95000"/>
                                    </p:animScale>
                                    <p:animScale>
                                      <p:cBhvr>
                                        <p:cTn id="86" dur="166" decel="50000">
                                          <p:stCondLst>
                                            <p:cond delay="1834"/>
                                          </p:stCondLst>
                                        </p:cTn>
                                        <p:tgtEl>
                                          <p:spTgt spid="3">
                                            <p:txEl>
                                              <p:pRg st="4" end="4"/>
                                            </p:txEl>
                                          </p:spTgt>
                                        </p:tgtEl>
                                      </p:cBhvr>
                                      <p:to x="100000" y="100000"/>
                                    </p:animScale>
                                  </p:childTnLst>
                                </p:cTn>
                              </p:par>
                            </p:childTnLst>
                          </p:cTn>
                        </p:par>
                      </p:childTnLst>
                    </p:cTn>
                  </p:par>
                  <p:par>
                    <p:cTn id="87" fill="hold">
                      <p:stCondLst>
                        <p:cond delay="indefinite"/>
                      </p:stCondLst>
                      <p:childTnLst>
                        <p:par>
                          <p:cTn id="88" fill="hold">
                            <p:stCondLst>
                              <p:cond delay="0"/>
                            </p:stCondLst>
                            <p:childTnLst>
                              <p:par>
                                <p:cTn id="89" presetID="26" presetClass="entr" presetSubtype="0" fill="hold" nodeType="clickEffect">
                                  <p:stCondLst>
                                    <p:cond delay="0"/>
                                  </p:stCondLst>
                                  <p:childTnLst>
                                    <p:set>
                                      <p:cBhvr>
                                        <p:cTn id="90" dur="1" fill="hold">
                                          <p:stCondLst>
                                            <p:cond delay="0"/>
                                          </p:stCondLst>
                                        </p:cTn>
                                        <p:tgtEl>
                                          <p:spTgt spid="6">
                                            <p:txEl>
                                              <p:pRg st="0" end="0"/>
                                            </p:txEl>
                                          </p:spTgt>
                                        </p:tgtEl>
                                        <p:attrNameLst>
                                          <p:attrName>style.visibility</p:attrName>
                                        </p:attrNameLst>
                                      </p:cBhvr>
                                      <p:to>
                                        <p:strVal val="visible"/>
                                      </p:to>
                                    </p:set>
                                    <p:animEffect transition="in" filter="wipe(down)">
                                      <p:cBhvr>
                                        <p:cTn id="91" dur="580">
                                          <p:stCondLst>
                                            <p:cond delay="0"/>
                                          </p:stCondLst>
                                        </p:cTn>
                                        <p:tgtEl>
                                          <p:spTgt spid="6">
                                            <p:txEl>
                                              <p:pRg st="0" end="0"/>
                                            </p:txEl>
                                          </p:spTgt>
                                        </p:tgtEl>
                                      </p:cBhvr>
                                    </p:animEffect>
                                    <p:anim calcmode="lin" valueType="num">
                                      <p:cBhvr>
                                        <p:cTn id="92"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97" dur="26">
                                          <p:stCondLst>
                                            <p:cond delay="650"/>
                                          </p:stCondLst>
                                        </p:cTn>
                                        <p:tgtEl>
                                          <p:spTgt spid="6">
                                            <p:txEl>
                                              <p:pRg st="0" end="0"/>
                                            </p:txEl>
                                          </p:spTgt>
                                        </p:tgtEl>
                                      </p:cBhvr>
                                      <p:to x="100000" y="60000"/>
                                    </p:animScale>
                                    <p:animScale>
                                      <p:cBhvr>
                                        <p:cTn id="98" dur="166" decel="50000">
                                          <p:stCondLst>
                                            <p:cond delay="676"/>
                                          </p:stCondLst>
                                        </p:cTn>
                                        <p:tgtEl>
                                          <p:spTgt spid="6">
                                            <p:txEl>
                                              <p:pRg st="0" end="0"/>
                                            </p:txEl>
                                          </p:spTgt>
                                        </p:tgtEl>
                                      </p:cBhvr>
                                      <p:to x="100000" y="100000"/>
                                    </p:animScale>
                                    <p:animScale>
                                      <p:cBhvr>
                                        <p:cTn id="99" dur="26">
                                          <p:stCondLst>
                                            <p:cond delay="1312"/>
                                          </p:stCondLst>
                                        </p:cTn>
                                        <p:tgtEl>
                                          <p:spTgt spid="6">
                                            <p:txEl>
                                              <p:pRg st="0" end="0"/>
                                            </p:txEl>
                                          </p:spTgt>
                                        </p:tgtEl>
                                      </p:cBhvr>
                                      <p:to x="100000" y="80000"/>
                                    </p:animScale>
                                    <p:animScale>
                                      <p:cBhvr>
                                        <p:cTn id="100" dur="166" decel="50000">
                                          <p:stCondLst>
                                            <p:cond delay="1338"/>
                                          </p:stCondLst>
                                        </p:cTn>
                                        <p:tgtEl>
                                          <p:spTgt spid="6">
                                            <p:txEl>
                                              <p:pRg st="0" end="0"/>
                                            </p:txEl>
                                          </p:spTgt>
                                        </p:tgtEl>
                                      </p:cBhvr>
                                      <p:to x="100000" y="100000"/>
                                    </p:animScale>
                                    <p:animScale>
                                      <p:cBhvr>
                                        <p:cTn id="101" dur="26">
                                          <p:stCondLst>
                                            <p:cond delay="1642"/>
                                          </p:stCondLst>
                                        </p:cTn>
                                        <p:tgtEl>
                                          <p:spTgt spid="6">
                                            <p:txEl>
                                              <p:pRg st="0" end="0"/>
                                            </p:txEl>
                                          </p:spTgt>
                                        </p:tgtEl>
                                      </p:cBhvr>
                                      <p:to x="100000" y="90000"/>
                                    </p:animScale>
                                    <p:animScale>
                                      <p:cBhvr>
                                        <p:cTn id="102" dur="166" decel="50000">
                                          <p:stCondLst>
                                            <p:cond delay="1668"/>
                                          </p:stCondLst>
                                        </p:cTn>
                                        <p:tgtEl>
                                          <p:spTgt spid="6">
                                            <p:txEl>
                                              <p:pRg st="0" end="0"/>
                                            </p:txEl>
                                          </p:spTgt>
                                        </p:tgtEl>
                                      </p:cBhvr>
                                      <p:to x="100000" y="100000"/>
                                    </p:animScale>
                                    <p:animScale>
                                      <p:cBhvr>
                                        <p:cTn id="103" dur="26">
                                          <p:stCondLst>
                                            <p:cond delay="1808"/>
                                          </p:stCondLst>
                                        </p:cTn>
                                        <p:tgtEl>
                                          <p:spTgt spid="6">
                                            <p:txEl>
                                              <p:pRg st="0" end="0"/>
                                            </p:txEl>
                                          </p:spTgt>
                                        </p:tgtEl>
                                      </p:cBhvr>
                                      <p:to x="100000" y="95000"/>
                                    </p:animScale>
                                    <p:animScale>
                                      <p:cBhvr>
                                        <p:cTn id="104" dur="166" decel="50000">
                                          <p:stCondLst>
                                            <p:cond delay="1834"/>
                                          </p:stCondLst>
                                        </p:cTn>
                                        <p:tgtEl>
                                          <p:spTgt spid="6">
                                            <p:txEl>
                                              <p:pRg st="0" end="0"/>
                                            </p:txEl>
                                          </p:spTgt>
                                        </p:tgtEl>
                                      </p:cBhvr>
                                      <p:to x="100000" y="100000"/>
                                    </p:animScale>
                                  </p:childTnLst>
                                </p:cTn>
                              </p:par>
                              <p:par>
                                <p:cTn id="105" presetID="26" presetClass="entr" presetSubtype="0" fill="hold" nodeType="withEffect">
                                  <p:stCondLst>
                                    <p:cond delay="0"/>
                                  </p:stCondLst>
                                  <p:childTnLst>
                                    <p:set>
                                      <p:cBhvr>
                                        <p:cTn id="106" dur="1" fill="hold">
                                          <p:stCondLst>
                                            <p:cond delay="0"/>
                                          </p:stCondLst>
                                        </p:cTn>
                                        <p:tgtEl>
                                          <p:spTgt spid="6">
                                            <p:txEl>
                                              <p:pRg st="1" end="1"/>
                                            </p:txEl>
                                          </p:spTgt>
                                        </p:tgtEl>
                                        <p:attrNameLst>
                                          <p:attrName>style.visibility</p:attrName>
                                        </p:attrNameLst>
                                      </p:cBhvr>
                                      <p:to>
                                        <p:strVal val="visible"/>
                                      </p:to>
                                    </p:set>
                                    <p:animEffect transition="in" filter="wipe(down)">
                                      <p:cBhvr>
                                        <p:cTn id="107" dur="580">
                                          <p:stCondLst>
                                            <p:cond delay="0"/>
                                          </p:stCondLst>
                                        </p:cTn>
                                        <p:tgtEl>
                                          <p:spTgt spid="6">
                                            <p:txEl>
                                              <p:pRg st="1" end="1"/>
                                            </p:txEl>
                                          </p:spTgt>
                                        </p:tgtEl>
                                      </p:cBhvr>
                                    </p:animEffect>
                                    <p:anim calcmode="lin" valueType="num">
                                      <p:cBhvr>
                                        <p:cTn id="108"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113" dur="26">
                                          <p:stCondLst>
                                            <p:cond delay="650"/>
                                          </p:stCondLst>
                                        </p:cTn>
                                        <p:tgtEl>
                                          <p:spTgt spid="6">
                                            <p:txEl>
                                              <p:pRg st="1" end="1"/>
                                            </p:txEl>
                                          </p:spTgt>
                                        </p:tgtEl>
                                      </p:cBhvr>
                                      <p:to x="100000" y="60000"/>
                                    </p:animScale>
                                    <p:animScale>
                                      <p:cBhvr>
                                        <p:cTn id="114" dur="166" decel="50000">
                                          <p:stCondLst>
                                            <p:cond delay="676"/>
                                          </p:stCondLst>
                                        </p:cTn>
                                        <p:tgtEl>
                                          <p:spTgt spid="6">
                                            <p:txEl>
                                              <p:pRg st="1" end="1"/>
                                            </p:txEl>
                                          </p:spTgt>
                                        </p:tgtEl>
                                      </p:cBhvr>
                                      <p:to x="100000" y="100000"/>
                                    </p:animScale>
                                    <p:animScale>
                                      <p:cBhvr>
                                        <p:cTn id="115" dur="26">
                                          <p:stCondLst>
                                            <p:cond delay="1312"/>
                                          </p:stCondLst>
                                        </p:cTn>
                                        <p:tgtEl>
                                          <p:spTgt spid="6">
                                            <p:txEl>
                                              <p:pRg st="1" end="1"/>
                                            </p:txEl>
                                          </p:spTgt>
                                        </p:tgtEl>
                                      </p:cBhvr>
                                      <p:to x="100000" y="80000"/>
                                    </p:animScale>
                                    <p:animScale>
                                      <p:cBhvr>
                                        <p:cTn id="116" dur="166" decel="50000">
                                          <p:stCondLst>
                                            <p:cond delay="1338"/>
                                          </p:stCondLst>
                                        </p:cTn>
                                        <p:tgtEl>
                                          <p:spTgt spid="6">
                                            <p:txEl>
                                              <p:pRg st="1" end="1"/>
                                            </p:txEl>
                                          </p:spTgt>
                                        </p:tgtEl>
                                      </p:cBhvr>
                                      <p:to x="100000" y="100000"/>
                                    </p:animScale>
                                    <p:animScale>
                                      <p:cBhvr>
                                        <p:cTn id="117" dur="26">
                                          <p:stCondLst>
                                            <p:cond delay="1642"/>
                                          </p:stCondLst>
                                        </p:cTn>
                                        <p:tgtEl>
                                          <p:spTgt spid="6">
                                            <p:txEl>
                                              <p:pRg st="1" end="1"/>
                                            </p:txEl>
                                          </p:spTgt>
                                        </p:tgtEl>
                                      </p:cBhvr>
                                      <p:to x="100000" y="90000"/>
                                    </p:animScale>
                                    <p:animScale>
                                      <p:cBhvr>
                                        <p:cTn id="118" dur="166" decel="50000">
                                          <p:stCondLst>
                                            <p:cond delay="1668"/>
                                          </p:stCondLst>
                                        </p:cTn>
                                        <p:tgtEl>
                                          <p:spTgt spid="6">
                                            <p:txEl>
                                              <p:pRg st="1" end="1"/>
                                            </p:txEl>
                                          </p:spTgt>
                                        </p:tgtEl>
                                      </p:cBhvr>
                                      <p:to x="100000" y="100000"/>
                                    </p:animScale>
                                    <p:animScale>
                                      <p:cBhvr>
                                        <p:cTn id="119" dur="26">
                                          <p:stCondLst>
                                            <p:cond delay="1808"/>
                                          </p:stCondLst>
                                        </p:cTn>
                                        <p:tgtEl>
                                          <p:spTgt spid="6">
                                            <p:txEl>
                                              <p:pRg st="1" end="1"/>
                                            </p:txEl>
                                          </p:spTgt>
                                        </p:tgtEl>
                                      </p:cBhvr>
                                      <p:to x="100000" y="95000"/>
                                    </p:animScale>
                                    <p:animScale>
                                      <p:cBhvr>
                                        <p:cTn id="120" dur="166" decel="50000">
                                          <p:stCondLst>
                                            <p:cond delay="1834"/>
                                          </p:stCondLst>
                                        </p:cTn>
                                        <p:tgtEl>
                                          <p:spTgt spid="6">
                                            <p:txEl>
                                              <p:pRg st="1" end="1"/>
                                            </p:txEl>
                                          </p:spTgt>
                                        </p:tgtEl>
                                      </p:cBhvr>
                                      <p:to x="100000" y="100000"/>
                                    </p:animScale>
                                  </p:childTnLst>
                                </p:cTn>
                              </p:par>
                              <p:par>
                                <p:cTn id="121" presetID="26" presetClass="entr" presetSubtype="0" fill="hold" nodeType="withEffect">
                                  <p:stCondLst>
                                    <p:cond delay="0"/>
                                  </p:stCondLst>
                                  <p:childTnLst>
                                    <p:set>
                                      <p:cBhvr>
                                        <p:cTn id="122" dur="1" fill="hold">
                                          <p:stCondLst>
                                            <p:cond delay="0"/>
                                          </p:stCondLst>
                                        </p:cTn>
                                        <p:tgtEl>
                                          <p:spTgt spid="6">
                                            <p:txEl>
                                              <p:pRg st="2" end="2"/>
                                            </p:txEl>
                                          </p:spTgt>
                                        </p:tgtEl>
                                        <p:attrNameLst>
                                          <p:attrName>style.visibility</p:attrName>
                                        </p:attrNameLst>
                                      </p:cBhvr>
                                      <p:to>
                                        <p:strVal val="visible"/>
                                      </p:to>
                                    </p:set>
                                    <p:animEffect transition="in" filter="wipe(down)">
                                      <p:cBhvr>
                                        <p:cTn id="123" dur="580">
                                          <p:stCondLst>
                                            <p:cond delay="0"/>
                                          </p:stCondLst>
                                        </p:cTn>
                                        <p:tgtEl>
                                          <p:spTgt spid="6">
                                            <p:txEl>
                                              <p:pRg st="2" end="2"/>
                                            </p:txEl>
                                          </p:spTgt>
                                        </p:tgtEl>
                                      </p:cBhvr>
                                    </p:animEffect>
                                    <p:anim calcmode="lin" valueType="num">
                                      <p:cBhvr>
                                        <p:cTn id="124"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129" dur="26">
                                          <p:stCondLst>
                                            <p:cond delay="650"/>
                                          </p:stCondLst>
                                        </p:cTn>
                                        <p:tgtEl>
                                          <p:spTgt spid="6">
                                            <p:txEl>
                                              <p:pRg st="2" end="2"/>
                                            </p:txEl>
                                          </p:spTgt>
                                        </p:tgtEl>
                                      </p:cBhvr>
                                      <p:to x="100000" y="60000"/>
                                    </p:animScale>
                                    <p:animScale>
                                      <p:cBhvr>
                                        <p:cTn id="130" dur="166" decel="50000">
                                          <p:stCondLst>
                                            <p:cond delay="676"/>
                                          </p:stCondLst>
                                        </p:cTn>
                                        <p:tgtEl>
                                          <p:spTgt spid="6">
                                            <p:txEl>
                                              <p:pRg st="2" end="2"/>
                                            </p:txEl>
                                          </p:spTgt>
                                        </p:tgtEl>
                                      </p:cBhvr>
                                      <p:to x="100000" y="100000"/>
                                    </p:animScale>
                                    <p:animScale>
                                      <p:cBhvr>
                                        <p:cTn id="131" dur="26">
                                          <p:stCondLst>
                                            <p:cond delay="1312"/>
                                          </p:stCondLst>
                                        </p:cTn>
                                        <p:tgtEl>
                                          <p:spTgt spid="6">
                                            <p:txEl>
                                              <p:pRg st="2" end="2"/>
                                            </p:txEl>
                                          </p:spTgt>
                                        </p:tgtEl>
                                      </p:cBhvr>
                                      <p:to x="100000" y="80000"/>
                                    </p:animScale>
                                    <p:animScale>
                                      <p:cBhvr>
                                        <p:cTn id="132" dur="166" decel="50000">
                                          <p:stCondLst>
                                            <p:cond delay="1338"/>
                                          </p:stCondLst>
                                        </p:cTn>
                                        <p:tgtEl>
                                          <p:spTgt spid="6">
                                            <p:txEl>
                                              <p:pRg st="2" end="2"/>
                                            </p:txEl>
                                          </p:spTgt>
                                        </p:tgtEl>
                                      </p:cBhvr>
                                      <p:to x="100000" y="100000"/>
                                    </p:animScale>
                                    <p:animScale>
                                      <p:cBhvr>
                                        <p:cTn id="133" dur="26">
                                          <p:stCondLst>
                                            <p:cond delay="1642"/>
                                          </p:stCondLst>
                                        </p:cTn>
                                        <p:tgtEl>
                                          <p:spTgt spid="6">
                                            <p:txEl>
                                              <p:pRg st="2" end="2"/>
                                            </p:txEl>
                                          </p:spTgt>
                                        </p:tgtEl>
                                      </p:cBhvr>
                                      <p:to x="100000" y="90000"/>
                                    </p:animScale>
                                    <p:animScale>
                                      <p:cBhvr>
                                        <p:cTn id="134" dur="166" decel="50000">
                                          <p:stCondLst>
                                            <p:cond delay="1668"/>
                                          </p:stCondLst>
                                        </p:cTn>
                                        <p:tgtEl>
                                          <p:spTgt spid="6">
                                            <p:txEl>
                                              <p:pRg st="2" end="2"/>
                                            </p:txEl>
                                          </p:spTgt>
                                        </p:tgtEl>
                                      </p:cBhvr>
                                      <p:to x="100000" y="100000"/>
                                    </p:animScale>
                                    <p:animScale>
                                      <p:cBhvr>
                                        <p:cTn id="135" dur="26">
                                          <p:stCondLst>
                                            <p:cond delay="1808"/>
                                          </p:stCondLst>
                                        </p:cTn>
                                        <p:tgtEl>
                                          <p:spTgt spid="6">
                                            <p:txEl>
                                              <p:pRg st="2" end="2"/>
                                            </p:txEl>
                                          </p:spTgt>
                                        </p:tgtEl>
                                      </p:cBhvr>
                                      <p:to x="100000" y="95000"/>
                                    </p:animScale>
                                    <p:animScale>
                                      <p:cBhvr>
                                        <p:cTn id="136" dur="166" decel="50000">
                                          <p:stCondLst>
                                            <p:cond delay="1834"/>
                                          </p:stCondLst>
                                        </p:cTn>
                                        <p:tgtEl>
                                          <p:spTgt spid="6">
                                            <p:txEl>
                                              <p:pRg st="2" end="2"/>
                                            </p:txEl>
                                          </p:spTgt>
                                        </p:tgtEl>
                                      </p:cBhvr>
                                      <p:to x="100000" y="100000"/>
                                    </p:animScale>
                                  </p:childTnLst>
                                </p:cTn>
                              </p:par>
                              <p:par>
                                <p:cTn id="137" presetID="26" presetClass="entr" presetSubtype="0" fill="hold" nodeType="withEffect">
                                  <p:stCondLst>
                                    <p:cond delay="0"/>
                                  </p:stCondLst>
                                  <p:childTnLst>
                                    <p:set>
                                      <p:cBhvr>
                                        <p:cTn id="138" dur="1" fill="hold">
                                          <p:stCondLst>
                                            <p:cond delay="0"/>
                                          </p:stCondLst>
                                        </p:cTn>
                                        <p:tgtEl>
                                          <p:spTgt spid="6">
                                            <p:txEl>
                                              <p:pRg st="3" end="3"/>
                                            </p:txEl>
                                          </p:spTgt>
                                        </p:tgtEl>
                                        <p:attrNameLst>
                                          <p:attrName>style.visibility</p:attrName>
                                        </p:attrNameLst>
                                      </p:cBhvr>
                                      <p:to>
                                        <p:strVal val="visible"/>
                                      </p:to>
                                    </p:set>
                                    <p:animEffect transition="in" filter="wipe(down)">
                                      <p:cBhvr>
                                        <p:cTn id="139" dur="580">
                                          <p:stCondLst>
                                            <p:cond delay="0"/>
                                          </p:stCondLst>
                                        </p:cTn>
                                        <p:tgtEl>
                                          <p:spTgt spid="6">
                                            <p:txEl>
                                              <p:pRg st="3" end="3"/>
                                            </p:txEl>
                                          </p:spTgt>
                                        </p:tgtEl>
                                      </p:cBhvr>
                                    </p:animEffect>
                                    <p:anim calcmode="lin" valueType="num">
                                      <p:cBhvr>
                                        <p:cTn id="140" dur="1822" tmFilter="0,0; 0.14,0.36; 0.43,0.73; 0.71,0.91; 1.0,1.0">
                                          <p:stCondLst>
                                            <p:cond delay="0"/>
                                          </p:stCondLst>
                                        </p:cTn>
                                        <p:tgtEl>
                                          <p:spTgt spid="6">
                                            <p:txEl>
                                              <p:pRg st="3" end="3"/>
                                            </p:txEl>
                                          </p:spTgt>
                                        </p:tgtEl>
                                        <p:attrNameLst>
                                          <p:attrName>ppt_x</p:attrName>
                                        </p:attrNameLst>
                                      </p:cBhvr>
                                      <p:tavLst>
                                        <p:tav tm="0">
                                          <p:val>
                                            <p:strVal val="#ppt_x-0.25"/>
                                          </p:val>
                                        </p:tav>
                                        <p:tav tm="100000">
                                          <p:val>
                                            <p:strVal val="#ppt_x"/>
                                          </p:val>
                                        </p:tav>
                                      </p:tavLst>
                                    </p:anim>
                                    <p:anim calcmode="lin" valueType="num">
                                      <p:cBhvr>
                                        <p:cTn id="141" dur="664" tmFilter="0.0,0.0; 0.25,0.07; 0.50,0.2; 0.75,0.467; 1.0,1.0">
                                          <p:stCondLst>
                                            <p:cond delay="0"/>
                                          </p:stCondLst>
                                        </p:cTn>
                                        <p:tgtEl>
                                          <p:spTgt spid="6">
                                            <p:txEl>
                                              <p:pRg st="3" end="3"/>
                                            </p:txEl>
                                          </p:spTgt>
                                        </p:tgtEl>
                                        <p:attrNameLst>
                                          <p:attrName>ppt_y</p:attrName>
                                        </p:attrNameLst>
                                      </p:cBhvr>
                                      <p:tavLst>
                                        <p:tav tm="0" fmla="#ppt_y-sin(pi*$)/3">
                                          <p:val>
                                            <p:fltVal val="0.5"/>
                                          </p:val>
                                        </p:tav>
                                        <p:tav tm="100000">
                                          <p:val>
                                            <p:fltVal val="1"/>
                                          </p:val>
                                        </p:tav>
                                      </p:tavLst>
                                    </p:anim>
                                    <p:anim calcmode="lin" valueType="num">
                                      <p:cBhvr>
                                        <p:cTn id="142" dur="664" tmFilter="0, 0; 0.125,0.2665; 0.25,0.4; 0.375,0.465; 0.5,0.5;  0.625,0.535; 0.75,0.6; 0.875,0.7335; 1,1">
                                          <p:stCondLst>
                                            <p:cond delay="664"/>
                                          </p:stCondLst>
                                        </p:cTn>
                                        <p:tgtEl>
                                          <p:spTgt spid="6">
                                            <p:txEl>
                                              <p:pRg st="3" end="3"/>
                                            </p:txEl>
                                          </p:spTgt>
                                        </p:tgtEl>
                                        <p:attrNameLst>
                                          <p:attrName>ppt_y</p:attrName>
                                        </p:attrNameLst>
                                      </p:cBhvr>
                                      <p:tavLst>
                                        <p:tav tm="0" fmla="#ppt_y-sin(pi*$)/9">
                                          <p:val>
                                            <p:fltVal val="0"/>
                                          </p:val>
                                        </p:tav>
                                        <p:tav tm="100000">
                                          <p:val>
                                            <p:fltVal val="1"/>
                                          </p:val>
                                        </p:tav>
                                      </p:tavLst>
                                    </p:anim>
                                    <p:anim calcmode="lin" valueType="num">
                                      <p:cBhvr>
                                        <p:cTn id="143" dur="332" tmFilter="0, 0; 0.125,0.2665; 0.25,0.4; 0.375,0.465; 0.5,0.5;  0.625,0.535; 0.75,0.6; 0.875,0.7335; 1,1">
                                          <p:stCondLst>
                                            <p:cond delay="1324"/>
                                          </p:stCondLst>
                                        </p:cTn>
                                        <p:tgtEl>
                                          <p:spTgt spid="6">
                                            <p:txEl>
                                              <p:pRg st="3" end="3"/>
                                            </p:txEl>
                                          </p:spTgt>
                                        </p:tgtEl>
                                        <p:attrNameLst>
                                          <p:attrName>ppt_y</p:attrName>
                                        </p:attrNameLst>
                                      </p:cBhvr>
                                      <p:tavLst>
                                        <p:tav tm="0" fmla="#ppt_y-sin(pi*$)/27">
                                          <p:val>
                                            <p:fltVal val="0"/>
                                          </p:val>
                                        </p:tav>
                                        <p:tav tm="100000">
                                          <p:val>
                                            <p:fltVal val="1"/>
                                          </p:val>
                                        </p:tav>
                                      </p:tavLst>
                                    </p:anim>
                                    <p:anim calcmode="lin" valueType="num">
                                      <p:cBhvr>
                                        <p:cTn id="144" dur="164" tmFilter="0, 0; 0.125,0.2665; 0.25,0.4; 0.375,0.465; 0.5,0.5;  0.625,0.535; 0.75,0.6; 0.875,0.7335; 1,1">
                                          <p:stCondLst>
                                            <p:cond delay="1656"/>
                                          </p:stCondLst>
                                        </p:cTn>
                                        <p:tgtEl>
                                          <p:spTgt spid="6">
                                            <p:txEl>
                                              <p:pRg st="3" end="3"/>
                                            </p:txEl>
                                          </p:spTgt>
                                        </p:tgtEl>
                                        <p:attrNameLst>
                                          <p:attrName>ppt_y</p:attrName>
                                        </p:attrNameLst>
                                      </p:cBhvr>
                                      <p:tavLst>
                                        <p:tav tm="0" fmla="#ppt_y-sin(pi*$)/81">
                                          <p:val>
                                            <p:fltVal val="0"/>
                                          </p:val>
                                        </p:tav>
                                        <p:tav tm="100000">
                                          <p:val>
                                            <p:fltVal val="1"/>
                                          </p:val>
                                        </p:tav>
                                      </p:tavLst>
                                    </p:anim>
                                    <p:animScale>
                                      <p:cBhvr>
                                        <p:cTn id="145" dur="26">
                                          <p:stCondLst>
                                            <p:cond delay="650"/>
                                          </p:stCondLst>
                                        </p:cTn>
                                        <p:tgtEl>
                                          <p:spTgt spid="6">
                                            <p:txEl>
                                              <p:pRg st="3" end="3"/>
                                            </p:txEl>
                                          </p:spTgt>
                                        </p:tgtEl>
                                      </p:cBhvr>
                                      <p:to x="100000" y="60000"/>
                                    </p:animScale>
                                    <p:animScale>
                                      <p:cBhvr>
                                        <p:cTn id="146" dur="166" decel="50000">
                                          <p:stCondLst>
                                            <p:cond delay="676"/>
                                          </p:stCondLst>
                                        </p:cTn>
                                        <p:tgtEl>
                                          <p:spTgt spid="6">
                                            <p:txEl>
                                              <p:pRg st="3" end="3"/>
                                            </p:txEl>
                                          </p:spTgt>
                                        </p:tgtEl>
                                      </p:cBhvr>
                                      <p:to x="100000" y="100000"/>
                                    </p:animScale>
                                    <p:animScale>
                                      <p:cBhvr>
                                        <p:cTn id="147" dur="26">
                                          <p:stCondLst>
                                            <p:cond delay="1312"/>
                                          </p:stCondLst>
                                        </p:cTn>
                                        <p:tgtEl>
                                          <p:spTgt spid="6">
                                            <p:txEl>
                                              <p:pRg st="3" end="3"/>
                                            </p:txEl>
                                          </p:spTgt>
                                        </p:tgtEl>
                                      </p:cBhvr>
                                      <p:to x="100000" y="80000"/>
                                    </p:animScale>
                                    <p:animScale>
                                      <p:cBhvr>
                                        <p:cTn id="148" dur="166" decel="50000">
                                          <p:stCondLst>
                                            <p:cond delay="1338"/>
                                          </p:stCondLst>
                                        </p:cTn>
                                        <p:tgtEl>
                                          <p:spTgt spid="6">
                                            <p:txEl>
                                              <p:pRg st="3" end="3"/>
                                            </p:txEl>
                                          </p:spTgt>
                                        </p:tgtEl>
                                      </p:cBhvr>
                                      <p:to x="100000" y="100000"/>
                                    </p:animScale>
                                    <p:animScale>
                                      <p:cBhvr>
                                        <p:cTn id="149" dur="26">
                                          <p:stCondLst>
                                            <p:cond delay="1642"/>
                                          </p:stCondLst>
                                        </p:cTn>
                                        <p:tgtEl>
                                          <p:spTgt spid="6">
                                            <p:txEl>
                                              <p:pRg st="3" end="3"/>
                                            </p:txEl>
                                          </p:spTgt>
                                        </p:tgtEl>
                                      </p:cBhvr>
                                      <p:to x="100000" y="90000"/>
                                    </p:animScale>
                                    <p:animScale>
                                      <p:cBhvr>
                                        <p:cTn id="150" dur="166" decel="50000">
                                          <p:stCondLst>
                                            <p:cond delay="1668"/>
                                          </p:stCondLst>
                                        </p:cTn>
                                        <p:tgtEl>
                                          <p:spTgt spid="6">
                                            <p:txEl>
                                              <p:pRg st="3" end="3"/>
                                            </p:txEl>
                                          </p:spTgt>
                                        </p:tgtEl>
                                      </p:cBhvr>
                                      <p:to x="100000" y="100000"/>
                                    </p:animScale>
                                    <p:animScale>
                                      <p:cBhvr>
                                        <p:cTn id="151" dur="26">
                                          <p:stCondLst>
                                            <p:cond delay="1808"/>
                                          </p:stCondLst>
                                        </p:cTn>
                                        <p:tgtEl>
                                          <p:spTgt spid="6">
                                            <p:txEl>
                                              <p:pRg st="3" end="3"/>
                                            </p:txEl>
                                          </p:spTgt>
                                        </p:tgtEl>
                                      </p:cBhvr>
                                      <p:to x="100000" y="95000"/>
                                    </p:animScale>
                                    <p:animScale>
                                      <p:cBhvr>
                                        <p:cTn id="152" dur="166" decel="50000">
                                          <p:stCondLst>
                                            <p:cond delay="1834"/>
                                          </p:stCondLst>
                                        </p:cTn>
                                        <p:tgtEl>
                                          <p:spTgt spid="6">
                                            <p:txEl>
                                              <p:pRg st="3" end="3"/>
                                            </p:txEl>
                                          </p:spTgt>
                                        </p:tgtEl>
                                      </p:cBhvr>
                                      <p:to x="100000" y="100000"/>
                                    </p:animScale>
                                  </p:childTnLst>
                                </p:cTn>
                              </p:par>
                              <p:par>
                                <p:cTn id="153" presetID="26" presetClass="entr" presetSubtype="0" fill="hold" nodeType="withEffect">
                                  <p:stCondLst>
                                    <p:cond delay="0"/>
                                  </p:stCondLst>
                                  <p:childTnLst>
                                    <p:set>
                                      <p:cBhvr>
                                        <p:cTn id="154" dur="1" fill="hold">
                                          <p:stCondLst>
                                            <p:cond delay="0"/>
                                          </p:stCondLst>
                                        </p:cTn>
                                        <p:tgtEl>
                                          <p:spTgt spid="6">
                                            <p:txEl>
                                              <p:pRg st="4" end="4"/>
                                            </p:txEl>
                                          </p:spTgt>
                                        </p:tgtEl>
                                        <p:attrNameLst>
                                          <p:attrName>style.visibility</p:attrName>
                                        </p:attrNameLst>
                                      </p:cBhvr>
                                      <p:to>
                                        <p:strVal val="visible"/>
                                      </p:to>
                                    </p:set>
                                    <p:animEffect transition="in" filter="wipe(down)">
                                      <p:cBhvr>
                                        <p:cTn id="155" dur="580">
                                          <p:stCondLst>
                                            <p:cond delay="0"/>
                                          </p:stCondLst>
                                        </p:cTn>
                                        <p:tgtEl>
                                          <p:spTgt spid="6">
                                            <p:txEl>
                                              <p:pRg st="4" end="4"/>
                                            </p:txEl>
                                          </p:spTgt>
                                        </p:tgtEl>
                                      </p:cBhvr>
                                    </p:animEffect>
                                    <p:anim calcmode="lin" valueType="num">
                                      <p:cBhvr>
                                        <p:cTn id="156" dur="1822" tmFilter="0,0; 0.14,0.36; 0.43,0.73; 0.71,0.91; 1.0,1.0">
                                          <p:stCondLst>
                                            <p:cond delay="0"/>
                                          </p:stCondLst>
                                        </p:cTn>
                                        <p:tgtEl>
                                          <p:spTgt spid="6">
                                            <p:txEl>
                                              <p:pRg st="4" end="4"/>
                                            </p:txEl>
                                          </p:spTgt>
                                        </p:tgtEl>
                                        <p:attrNameLst>
                                          <p:attrName>ppt_x</p:attrName>
                                        </p:attrNameLst>
                                      </p:cBhvr>
                                      <p:tavLst>
                                        <p:tav tm="0">
                                          <p:val>
                                            <p:strVal val="#ppt_x-0.25"/>
                                          </p:val>
                                        </p:tav>
                                        <p:tav tm="100000">
                                          <p:val>
                                            <p:strVal val="#ppt_x"/>
                                          </p:val>
                                        </p:tav>
                                      </p:tavLst>
                                    </p:anim>
                                    <p:anim calcmode="lin" valueType="num">
                                      <p:cBhvr>
                                        <p:cTn id="157" dur="664" tmFilter="0.0,0.0; 0.25,0.07; 0.50,0.2; 0.75,0.467; 1.0,1.0">
                                          <p:stCondLst>
                                            <p:cond delay="0"/>
                                          </p:stCondLst>
                                        </p:cTn>
                                        <p:tgtEl>
                                          <p:spTgt spid="6">
                                            <p:txEl>
                                              <p:pRg st="4" end="4"/>
                                            </p:txEl>
                                          </p:spTgt>
                                        </p:tgtEl>
                                        <p:attrNameLst>
                                          <p:attrName>ppt_y</p:attrName>
                                        </p:attrNameLst>
                                      </p:cBhvr>
                                      <p:tavLst>
                                        <p:tav tm="0" fmla="#ppt_y-sin(pi*$)/3">
                                          <p:val>
                                            <p:fltVal val="0.5"/>
                                          </p:val>
                                        </p:tav>
                                        <p:tav tm="100000">
                                          <p:val>
                                            <p:fltVal val="1"/>
                                          </p:val>
                                        </p:tav>
                                      </p:tavLst>
                                    </p:anim>
                                    <p:anim calcmode="lin" valueType="num">
                                      <p:cBhvr>
                                        <p:cTn id="158" dur="664" tmFilter="0, 0; 0.125,0.2665; 0.25,0.4; 0.375,0.465; 0.5,0.5;  0.625,0.535; 0.75,0.6; 0.875,0.7335; 1,1">
                                          <p:stCondLst>
                                            <p:cond delay="664"/>
                                          </p:stCondLst>
                                        </p:cTn>
                                        <p:tgtEl>
                                          <p:spTgt spid="6">
                                            <p:txEl>
                                              <p:pRg st="4" end="4"/>
                                            </p:txEl>
                                          </p:spTgt>
                                        </p:tgtEl>
                                        <p:attrNameLst>
                                          <p:attrName>ppt_y</p:attrName>
                                        </p:attrNameLst>
                                      </p:cBhvr>
                                      <p:tavLst>
                                        <p:tav tm="0" fmla="#ppt_y-sin(pi*$)/9">
                                          <p:val>
                                            <p:fltVal val="0"/>
                                          </p:val>
                                        </p:tav>
                                        <p:tav tm="100000">
                                          <p:val>
                                            <p:fltVal val="1"/>
                                          </p:val>
                                        </p:tav>
                                      </p:tavLst>
                                    </p:anim>
                                    <p:anim calcmode="lin" valueType="num">
                                      <p:cBhvr>
                                        <p:cTn id="159" dur="332" tmFilter="0, 0; 0.125,0.2665; 0.25,0.4; 0.375,0.465; 0.5,0.5;  0.625,0.535; 0.75,0.6; 0.875,0.7335; 1,1">
                                          <p:stCondLst>
                                            <p:cond delay="1324"/>
                                          </p:stCondLst>
                                        </p:cTn>
                                        <p:tgtEl>
                                          <p:spTgt spid="6">
                                            <p:txEl>
                                              <p:pRg st="4" end="4"/>
                                            </p:txEl>
                                          </p:spTgt>
                                        </p:tgtEl>
                                        <p:attrNameLst>
                                          <p:attrName>ppt_y</p:attrName>
                                        </p:attrNameLst>
                                      </p:cBhvr>
                                      <p:tavLst>
                                        <p:tav tm="0" fmla="#ppt_y-sin(pi*$)/27">
                                          <p:val>
                                            <p:fltVal val="0"/>
                                          </p:val>
                                        </p:tav>
                                        <p:tav tm="100000">
                                          <p:val>
                                            <p:fltVal val="1"/>
                                          </p:val>
                                        </p:tav>
                                      </p:tavLst>
                                    </p:anim>
                                    <p:anim calcmode="lin" valueType="num">
                                      <p:cBhvr>
                                        <p:cTn id="160" dur="164" tmFilter="0, 0; 0.125,0.2665; 0.25,0.4; 0.375,0.465; 0.5,0.5;  0.625,0.535; 0.75,0.6; 0.875,0.7335; 1,1">
                                          <p:stCondLst>
                                            <p:cond delay="1656"/>
                                          </p:stCondLst>
                                        </p:cTn>
                                        <p:tgtEl>
                                          <p:spTgt spid="6">
                                            <p:txEl>
                                              <p:pRg st="4" end="4"/>
                                            </p:txEl>
                                          </p:spTgt>
                                        </p:tgtEl>
                                        <p:attrNameLst>
                                          <p:attrName>ppt_y</p:attrName>
                                        </p:attrNameLst>
                                      </p:cBhvr>
                                      <p:tavLst>
                                        <p:tav tm="0" fmla="#ppt_y-sin(pi*$)/81">
                                          <p:val>
                                            <p:fltVal val="0"/>
                                          </p:val>
                                        </p:tav>
                                        <p:tav tm="100000">
                                          <p:val>
                                            <p:fltVal val="1"/>
                                          </p:val>
                                        </p:tav>
                                      </p:tavLst>
                                    </p:anim>
                                    <p:animScale>
                                      <p:cBhvr>
                                        <p:cTn id="161" dur="26">
                                          <p:stCondLst>
                                            <p:cond delay="650"/>
                                          </p:stCondLst>
                                        </p:cTn>
                                        <p:tgtEl>
                                          <p:spTgt spid="6">
                                            <p:txEl>
                                              <p:pRg st="4" end="4"/>
                                            </p:txEl>
                                          </p:spTgt>
                                        </p:tgtEl>
                                      </p:cBhvr>
                                      <p:to x="100000" y="60000"/>
                                    </p:animScale>
                                    <p:animScale>
                                      <p:cBhvr>
                                        <p:cTn id="162" dur="166" decel="50000">
                                          <p:stCondLst>
                                            <p:cond delay="676"/>
                                          </p:stCondLst>
                                        </p:cTn>
                                        <p:tgtEl>
                                          <p:spTgt spid="6">
                                            <p:txEl>
                                              <p:pRg st="4" end="4"/>
                                            </p:txEl>
                                          </p:spTgt>
                                        </p:tgtEl>
                                      </p:cBhvr>
                                      <p:to x="100000" y="100000"/>
                                    </p:animScale>
                                    <p:animScale>
                                      <p:cBhvr>
                                        <p:cTn id="163" dur="26">
                                          <p:stCondLst>
                                            <p:cond delay="1312"/>
                                          </p:stCondLst>
                                        </p:cTn>
                                        <p:tgtEl>
                                          <p:spTgt spid="6">
                                            <p:txEl>
                                              <p:pRg st="4" end="4"/>
                                            </p:txEl>
                                          </p:spTgt>
                                        </p:tgtEl>
                                      </p:cBhvr>
                                      <p:to x="100000" y="80000"/>
                                    </p:animScale>
                                    <p:animScale>
                                      <p:cBhvr>
                                        <p:cTn id="164" dur="166" decel="50000">
                                          <p:stCondLst>
                                            <p:cond delay="1338"/>
                                          </p:stCondLst>
                                        </p:cTn>
                                        <p:tgtEl>
                                          <p:spTgt spid="6">
                                            <p:txEl>
                                              <p:pRg st="4" end="4"/>
                                            </p:txEl>
                                          </p:spTgt>
                                        </p:tgtEl>
                                      </p:cBhvr>
                                      <p:to x="100000" y="100000"/>
                                    </p:animScale>
                                    <p:animScale>
                                      <p:cBhvr>
                                        <p:cTn id="165" dur="26">
                                          <p:stCondLst>
                                            <p:cond delay="1642"/>
                                          </p:stCondLst>
                                        </p:cTn>
                                        <p:tgtEl>
                                          <p:spTgt spid="6">
                                            <p:txEl>
                                              <p:pRg st="4" end="4"/>
                                            </p:txEl>
                                          </p:spTgt>
                                        </p:tgtEl>
                                      </p:cBhvr>
                                      <p:to x="100000" y="90000"/>
                                    </p:animScale>
                                    <p:animScale>
                                      <p:cBhvr>
                                        <p:cTn id="166" dur="166" decel="50000">
                                          <p:stCondLst>
                                            <p:cond delay="1668"/>
                                          </p:stCondLst>
                                        </p:cTn>
                                        <p:tgtEl>
                                          <p:spTgt spid="6">
                                            <p:txEl>
                                              <p:pRg st="4" end="4"/>
                                            </p:txEl>
                                          </p:spTgt>
                                        </p:tgtEl>
                                      </p:cBhvr>
                                      <p:to x="100000" y="100000"/>
                                    </p:animScale>
                                    <p:animScale>
                                      <p:cBhvr>
                                        <p:cTn id="167" dur="26">
                                          <p:stCondLst>
                                            <p:cond delay="1808"/>
                                          </p:stCondLst>
                                        </p:cTn>
                                        <p:tgtEl>
                                          <p:spTgt spid="6">
                                            <p:txEl>
                                              <p:pRg st="4" end="4"/>
                                            </p:txEl>
                                          </p:spTgt>
                                        </p:tgtEl>
                                      </p:cBhvr>
                                      <p:to x="100000" y="95000"/>
                                    </p:animScale>
                                    <p:animScale>
                                      <p:cBhvr>
                                        <p:cTn id="168" dur="166" decel="50000">
                                          <p:stCondLst>
                                            <p:cond delay="1834"/>
                                          </p:stCondLst>
                                        </p:cTn>
                                        <p:tgtEl>
                                          <p:spTgt spid="6">
                                            <p:txEl>
                                              <p:pRg st="4" end="4"/>
                                            </p:txEl>
                                          </p:spTgt>
                                        </p:tgtEl>
                                      </p:cBhvr>
                                      <p:to x="100000" y="100000"/>
                                    </p:animScale>
                                  </p:childTnLst>
                                </p:cTn>
                              </p:par>
                            </p:childTnLst>
                          </p:cTn>
                        </p:par>
                      </p:childTnLst>
                    </p:cTn>
                  </p:par>
                  <p:par>
                    <p:cTn id="169" fill="hold">
                      <p:stCondLst>
                        <p:cond delay="indefinite"/>
                      </p:stCondLst>
                      <p:childTnLst>
                        <p:par>
                          <p:cTn id="170" fill="hold">
                            <p:stCondLst>
                              <p:cond delay="0"/>
                            </p:stCondLst>
                            <p:childTnLst>
                              <p:par>
                                <p:cTn id="171" presetID="26" presetClass="entr" presetSubtype="0" fill="hold" grpId="0" nodeType="clickEffect">
                                  <p:stCondLst>
                                    <p:cond delay="0"/>
                                  </p:stCondLst>
                                  <p:childTnLst>
                                    <p:set>
                                      <p:cBhvr>
                                        <p:cTn id="172" dur="1" fill="hold">
                                          <p:stCondLst>
                                            <p:cond delay="0"/>
                                          </p:stCondLst>
                                        </p:cTn>
                                        <p:tgtEl>
                                          <p:spTgt spid="7"/>
                                        </p:tgtEl>
                                        <p:attrNameLst>
                                          <p:attrName>style.visibility</p:attrName>
                                        </p:attrNameLst>
                                      </p:cBhvr>
                                      <p:to>
                                        <p:strVal val="visible"/>
                                      </p:to>
                                    </p:set>
                                    <p:animEffect transition="in" filter="wipe(down)">
                                      <p:cBhvr>
                                        <p:cTn id="173" dur="580">
                                          <p:stCondLst>
                                            <p:cond delay="0"/>
                                          </p:stCondLst>
                                        </p:cTn>
                                        <p:tgtEl>
                                          <p:spTgt spid="7"/>
                                        </p:tgtEl>
                                      </p:cBhvr>
                                    </p:animEffect>
                                    <p:anim calcmode="lin" valueType="num">
                                      <p:cBhvr>
                                        <p:cTn id="17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79" dur="26">
                                          <p:stCondLst>
                                            <p:cond delay="650"/>
                                          </p:stCondLst>
                                        </p:cTn>
                                        <p:tgtEl>
                                          <p:spTgt spid="7"/>
                                        </p:tgtEl>
                                      </p:cBhvr>
                                      <p:to x="100000" y="60000"/>
                                    </p:animScale>
                                    <p:animScale>
                                      <p:cBhvr>
                                        <p:cTn id="180" dur="166" decel="50000">
                                          <p:stCondLst>
                                            <p:cond delay="676"/>
                                          </p:stCondLst>
                                        </p:cTn>
                                        <p:tgtEl>
                                          <p:spTgt spid="7"/>
                                        </p:tgtEl>
                                      </p:cBhvr>
                                      <p:to x="100000" y="100000"/>
                                    </p:animScale>
                                    <p:animScale>
                                      <p:cBhvr>
                                        <p:cTn id="181" dur="26">
                                          <p:stCondLst>
                                            <p:cond delay="1312"/>
                                          </p:stCondLst>
                                        </p:cTn>
                                        <p:tgtEl>
                                          <p:spTgt spid="7"/>
                                        </p:tgtEl>
                                      </p:cBhvr>
                                      <p:to x="100000" y="80000"/>
                                    </p:animScale>
                                    <p:animScale>
                                      <p:cBhvr>
                                        <p:cTn id="182" dur="166" decel="50000">
                                          <p:stCondLst>
                                            <p:cond delay="1338"/>
                                          </p:stCondLst>
                                        </p:cTn>
                                        <p:tgtEl>
                                          <p:spTgt spid="7"/>
                                        </p:tgtEl>
                                      </p:cBhvr>
                                      <p:to x="100000" y="100000"/>
                                    </p:animScale>
                                    <p:animScale>
                                      <p:cBhvr>
                                        <p:cTn id="183" dur="26">
                                          <p:stCondLst>
                                            <p:cond delay="1642"/>
                                          </p:stCondLst>
                                        </p:cTn>
                                        <p:tgtEl>
                                          <p:spTgt spid="7"/>
                                        </p:tgtEl>
                                      </p:cBhvr>
                                      <p:to x="100000" y="90000"/>
                                    </p:animScale>
                                    <p:animScale>
                                      <p:cBhvr>
                                        <p:cTn id="184" dur="166" decel="50000">
                                          <p:stCondLst>
                                            <p:cond delay="1668"/>
                                          </p:stCondLst>
                                        </p:cTn>
                                        <p:tgtEl>
                                          <p:spTgt spid="7"/>
                                        </p:tgtEl>
                                      </p:cBhvr>
                                      <p:to x="100000" y="100000"/>
                                    </p:animScale>
                                    <p:animScale>
                                      <p:cBhvr>
                                        <p:cTn id="185" dur="26">
                                          <p:stCondLst>
                                            <p:cond delay="1808"/>
                                          </p:stCondLst>
                                        </p:cTn>
                                        <p:tgtEl>
                                          <p:spTgt spid="7"/>
                                        </p:tgtEl>
                                      </p:cBhvr>
                                      <p:to x="100000" y="95000"/>
                                    </p:animScale>
                                    <p:animScale>
                                      <p:cBhvr>
                                        <p:cTn id="18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950813-634B-403A-824A-4F332B97447E}" type="slidenum">
              <a:rPr lang="en-US" smtClean="0"/>
              <a:t>34</a:t>
            </a:fld>
            <a:endParaRPr lang="en-US"/>
          </a:p>
        </p:txBody>
      </p:sp>
      <p:pic>
        <p:nvPicPr>
          <p:cNvPr id="5" name="Picture 4"/>
          <p:cNvPicPr>
            <a:picLocks noChangeAspect="1"/>
          </p:cNvPicPr>
          <p:nvPr/>
        </p:nvPicPr>
        <p:blipFill>
          <a:blip r:embed="rId2"/>
          <a:stretch>
            <a:fillRect/>
          </a:stretch>
        </p:blipFill>
        <p:spPr>
          <a:xfrm>
            <a:off x="2920" y="1"/>
            <a:ext cx="549974" cy="904796"/>
          </a:xfrm>
          <a:prstGeom prst="rect">
            <a:avLst/>
          </a:prstGeom>
        </p:spPr>
      </p:pic>
      <p:sp>
        <p:nvSpPr>
          <p:cNvPr id="2" name="Rectangle 1"/>
          <p:cNvSpPr/>
          <p:nvPr/>
        </p:nvSpPr>
        <p:spPr>
          <a:xfrm>
            <a:off x="1383969" y="298510"/>
            <a:ext cx="5192447" cy="584775"/>
          </a:xfrm>
          <a:prstGeom prst="rect">
            <a:avLst/>
          </a:prstGeom>
        </p:spPr>
        <p:txBody>
          <a:bodyPr wrap="none">
            <a:spAutoFit/>
          </a:bodyPr>
          <a:lstStyle/>
          <a:p>
            <a:r>
              <a:rPr lang="en-IN" sz="3200" b="1" dirty="0" smtClean="0">
                <a:latin typeface="Calibri" panose="020F0502020204030204" pitchFamily="34" charset="0"/>
                <a:ea typeface="Calibri" panose="020F0502020204030204" pitchFamily="34" charset="0"/>
                <a:cs typeface="Calibri" panose="020F0502020204030204" pitchFamily="34" charset="0"/>
              </a:rPr>
              <a:t>Real World applications in AI </a:t>
            </a:r>
            <a:endParaRPr lang="en-IN" sz="32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p:cNvSpPr/>
          <p:nvPr/>
        </p:nvSpPr>
        <p:spPr>
          <a:xfrm>
            <a:off x="326066" y="1148316"/>
            <a:ext cx="4649972" cy="3323987"/>
          </a:xfrm>
          <a:prstGeom prst="rect">
            <a:avLst/>
          </a:prstGeom>
        </p:spPr>
        <p:txBody>
          <a:bodyPr wrap="square">
            <a:spAutoFit/>
          </a:bodyPr>
          <a:lstStyle/>
          <a:p>
            <a:pPr>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Uses:</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Chess engines (</a:t>
            </a:r>
            <a:r>
              <a:rPr lang="en-US" sz="2000" dirty="0" err="1">
                <a:latin typeface="Calibri" panose="020F0502020204030204" pitchFamily="34" charset="0"/>
                <a:ea typeface="Calibri" panose="020F0502020204030204" pitchFamily="34" charset="0"/>
                <a:cs typeface="Calibri" panose="020F0502020204030204" pitchFamily="34" charset="0"/>
              </a:rPr>
              <a:t>Stockfish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AlphaZero</a:t>
            </a:r>
            <a:r>
              <a:rPr lang="en-US" sz="2000" dirty="0">
                <a:latin typeface="Calibri" panose="020F0502020204030204" pitchFamily="34" charset="0"/>
                <a:ea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Strategy games</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Robotics planning</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Military simulation</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Stock market modeling</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Cyber-security attack-defense modeling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1457" y="904797"/>
            <a:ext cx="3432093" cy="1930552"/>
          </a:xfrm>
          <a:prstGeom prst="rect">
            <a:avLst/>
          </a:prstGeom>
        </p:spPr>
      </p:pic>
    </p:spTree>
    <p:extLst>
      <p:ext uri="{BB962C8B-B14F-4D97-AF65-F5344CB8AC3E}">
        <p14:creationId xmlns:p14="http://schemas.microsoft.com/office/powerpoint/2010/main" val="223854794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down)">
                                      <p:cBhvr>
                                        <p:cTn id="11" dur="580">
                                          <p:stCondLst>
                                            <p:cond delay="0"/>
                                          </p:stCondLst>
                                        </p:cTn>
                                        <p:tgtEl>
                                          <p:spTgt spid="3">
                                            <p:txEl>
                                              <p:pRg st="1" end="1"/>
                                            </p:txEl>
                                          </p:spTgt>
                                        </p:tgtEl>
                                      </p:cBhvr>
                                    </p:animEffect>
                                    <p:anim calcmode="lin" valueType="num">
                                      <p:cBhvr>
                                        <p:cTn id="12"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1" end="1"/>
                                            </p:txEl>
                                          </p:spTgt>
                                        </p:tgtEl>
                                      </p:cBhvr>
                                      <p:to x="100000" y="60000"/>
                                    </p:animScale>
                                    <p:animScale>
                                      <p:cBhvr>
                                        <p:cTn id="18" dur="166" decel="50000">
                                          <p:stCondLst>
                                            <p:cond delay="676"/>
                                          </p:stCondLst>
                                        </p:cTn>
                                        <p:tgtEl>
                                          <p:spTgt spid="3">
                                            <p:txEl>
                                              <p:pRg st="1" end="1"/>
                                            </p:txEl>
                                          </p:spTgt>
                                        </p:tgtEl>
                                      </p:cBhvr>
                                      <p:to x="100000" y="100000"/>
                                    </p:animScale>
                                    <p:animScale>
                                      <p:cBhvr>
                                        <p:cTn id="19" dur="26">
                                          <p:stCondLst>
                                            <p:cond delay="1312"/>
                                          </p:stCondLst>
                                        </p:cTn>
                                        <p:tgtEl>
                                          <p:spTgt spid="3">
                                            <p:txEl>
                                              <p:pRg st="1" end="1"/>
                                            </p:txEl>
                                          </p:spTgt>
                                        </p:tgtEl>
                                      </p:cBhvr>
                                      <p:to x="100000" y="80000"/>
                                    </p:animScale>
                                    <p:animScale>
                                      <p:cBhvr>
                                        <p:cTn id="20" dur="166" decel="50000">
                                          <p:stCondLst>
                                            <p:cond delay="1338"/>
                                          </p:stCondLst>
                                        </p:cTn>
                                        <p:tgtEl>
                                          <p:spTgt spid="3">
                                            <p:txEl>
                                              <p:pRg st="1" end="1"/>
                                            </p:txEl>
                                          </p:spTgt>
                                        </p:tgtEl>
                                      </p:cBhvr>
                                      <p:to x="100000" y="100000"/>
                                    </p:animScale>
                                    <p:animScale>
                                      <p:cBhvr>
                                        <p:cTn id="21" dur="26">
                                          <p:stCondLst>
                                            <p:cond delay="1642"/>
                                          </p:stCondLst>
                                        </p:cTn>
                                        <p:tgtEl>
                                          <p:spTgt spid="3">
                                            <p:txEl>
                                              <p:pRg st="1" end="1"/>
                                            </p:txEl>
                                          </p:spTgt>
                                        </p:tgtEl>
                                      </p:cBhvr>
                                      <p:to x="100000" y="90000"/>
                                    </p:animScale>
                                    <p:animScale>
                                      <p:cBhvr>
                                        <p:cTn id="22" dur="166" decel="50000">
                                          <p:stCondLst>
                                            <p:cond delay="1668"/>
                                          </p:stCondLst>
                                        </p:cTn>
                                        <p:tgtEl>
                                          <p:spTgt spid="3">
                                            <p:txEl>
                                              <p:pRg st="1" end="1"/>
                                            </p:txEl>
                                          </p:spTgt>
                                        </p:tgtEl>
                                      </p:cBhvr>
                                      <p:to x="100000" y="100000"/>
                                    </p:animScale>
                                    <p:animScale>
                                      <p:cBhvr>
                                        <p:cTn id="23" dur="26">
                                          <p:stCondLst>
                                            <p:cond delay="1808"/>
                                          </p:stCondLst>
                                        </p:cTn>
                                        <p:tgtEl>
                                          <p:spTgt spid="3">
                                            <p:txEl>
                                              <p:pRg st="1" end="1"/>
                                            </p:txEl>
                                          </p:spTgt>
                                        </p:tgtEl>
                                      </p:cBhvr>
                                      <p:to x="100000" y="95000"/>
                                    </p:animScale>
                                    <p:animScale>
                                      <p:cBhvr>
                                        <p:cTn id="24" dur="166" decel="50000">
                                          <p:stCondLst>
                                            <p:cond delay="1834"/>
                                          </p:stCondLst>
                                        </p:cTn>
                                        <p:tgtEl>
                                          <p:spTgt spid="3">
                                            <p:txEl>
                                              <p:pRg st="1" end="1"/>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wipe(down)">
                                      <p:cBhvr>
                                        <p:cTn id="47" dur="580">
                                          <p:stCondLst>
                                            <p:cond delay="0"/>
                                          </p:stCondLst>
                                        </p:cTn>
                                        <p:tgtEl>
                                          <p:spTgt spid="3">
                                            <p:txEl>
                                              <p:pRg st="2" end="2"/>
                                            </p:txEl>
                                          </p:spTgt>
                                        </p:tgtEl>
                                      </p:cBhvr>
                                    </p:animEffect>
                                    <p:anim calcmode="lin" valueType="num">
                                      <p:cBhvr>
                                        <p:cTn id="48"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2" end="2"/>
                                            </p:txEl>
                                          </p:spTgt>
                                        </p:tgtEl>
                                      </p:cBhvr>
                                      <p:to x="100000" y="60000"/>
                                    </p:animScale>
                                    <p:animScale>
                                      <p:cBhvr>
                                        <p:cTn id="54" dur="166" decel="50000">
                                          <p:stCondLst>
                                            <p:cond delay="676"/>
                                          </p:stCondLst>
                                        </p:cTn>
                                        <p:tgtEl>
                                          <p:spTgt spid="3">
                                            <p:txEl>
                                              <p:pRg st="2" end="2"/>
                                            </p:txEl>
                                          </p:spTgt>
                                        </p:tgtEl>
                                      </p:cBhvr>
                                      <p:to x="100000" y="100000"/>
                                    </p:animScale>
                                    <p:animScale>
                                      <p:cBhvr>
                                        <p:cTn id="55" dur="26">
                                          <p:stCondLst>
                                            <p:cond delay="1312"/>
                                          </p:stCondLst>
                                        </p:cTn>
                                        <p:tgtEl>
                                          <p:spTgt spid="3">
                                            <p:txEl>
                                              <p:pRg st="2" end="2"/>
                                            </p:txEl>
                                          </p:spTgt>
                                        </p:tgtEl>
                                      </p:cBhvr>
                                      <p:to x="100000" y="80000"/>
                                    </p:animScale>
                                    <p:animScale>
                                      <p:cBhvr>
                                        <p:cTn id="56" dur="166" decel="50000">
                                          <p:stCondLst>
                                            <p:cond delay="1338"/>
                                          </p:stCondLst>
                                        </p:cTn>
                                        <p:tgtEl>
                                          <p:spTgt spid="3">
                                            <p:txEl>
                                              <p:pRg st="2" end="2"/>
                                            </p:txEl>
                                          </p:spTgt>
                                        </p:tgtEl>
                                      </p:cBhvr>
                                      <p:to x="100000" y="100000"/>
                                    </p:animScale>
                                    <p:animScale>
                                      <p:cBhvr>
                                        <p:cTn id="57" dur="26">
                                          <p:stCondLst>
                                            <p:cond delay="1642"/>
                                          </p:stCondLst>
                                        </p:cTn>
                                        <p:tgtEl>
                                          <p:spTgt spid="3">
                                            <p:txEl>
                                              <p:pRg st="2" end="2"/>
                                            </p:txEl>
                                          </p:spTgt>
                                        </p:tgtEl>
                                      </p:cBhvr>
                                      <p:to x="100000" y="90000"/>
                                    </p:animScale>
                                    <p:animScale>
                                      <p:cBhvr>
                                        <p:cTn id="58" dur="166" decel="50000">
                                          <p:stCondLst>
                                            <p:cond delay="1668"/>
                                          </p:stCondLst>
                                        </p:cTn>
                                        <p:tgtEl>
                                          <p:spTgt spid="3">
                                            <p:txEl>
                                              <p:pRg st="2" end="2"/>
                                            </p:txEl>
                                          </p:spTgt>
                                        </p:tgtEl>
                                      </p:cBhvr>
                                      <p:to x="100000" y="100000"/>
                                    </p:animScale>
                                    <p:animScale>
                                      <p:cBhvr>
                                        <p:cTn id="59" dur="26">
                                          <p:stCondLst>
                                            <p:cond delay="1808"/>
                                          </p:stCondLst>
                                        </p:cTn>
                                        <p:tgtEl>
                                          <p:spTgt spid="3">
                                            <p:txEl>
                                              <p:pRg st="2" end="2"/>
                                            </p:txEl>
                                          </p:spTgt>
                                        </p:tgtEl>
                                      </p:cBhvr>
                                      <p:to x="100000" y="95000"/>
                                    </p:animScale>
                                    <p:animScale>
                                      <p:cBhvr>
                                        <p:cTn id="60" dur="166" decel="50000">
                                          <p:stCondLst>
                                            <p:cond delay="1834"/>
                                          </p:stCondLst>
                                        </p:cTn>
                                        <p:tgtEl>
                                          <p:spTgt spid="3">
                                            <p:txEl>
                                              <p:pRg st="2" end="2"/>
                                            </p:txEl>
                                          </p:spTgt>
                                        </p:tgtEl>
                                      </p:cBhvr>
                                      <p:to x="100000" y="100000"/>
                                    </p:animScale>
                                  </p:childTnLst>
                                </p:cTn>
                              </p:par>
                              <p:par>
                                <p:cTn id="61" presetID="26" presetClass="entr" presetSubtype="0" fill="hold" nodeType="with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animEffect transition="in" filter="wipe(down)">
                                      <p:cBhvr>
                                        <p:cTn id="63" dur="580">
                                          <p:stCondLst>
                                            <p:cond delay="0"/>
                                          </p:stCondLst>
                                        </p:cTn>
                                        <p:tgtEl>
                                          <p:spTgt spid="3">
                                            <p:txEl>
                                              <p:pRg st="3" end="3"/>
                                            </p:txEl>
                                          </p:spTgt>
                                        </p:tgtEl>
                                      </p:cBhvr>
                                    </p:animEffect>
                                    <p:anim calcmode="lin" valueType="num">
                                      <p:cBhvr>
                                        <p:cTn id="6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9" dur="26">
                                          <p:stCondLst>
                                            <p:cond delay="650"/>
                                          </p:stCondLst>
                                        </p:cTn>
                                        <p:tgtEl>
                                          <p:spTgt spid="3">
                                            <p:txEl>
                                              <p:pRg st="3" end="3"/>
                                            </p:txEl>
                                          </p:spTgt>
                                        </p:tgtEl>
                                      </p:cBhvr>
                                      <p:to x="100000" y="60000"/>
                                    </p:animScale>
                                    <p:animScale>
                                      <p:cBhvr>
                                        <p:cTn id="70" dur="166" decel="50000">
                                          <p:stCondLst>
                                            <p:cond delay="676"/>
                                          </p:stCondLst>
                                        </p:cTn>
                                        <p:tgtEl>
                                          <p:spTgt spid="3">
                                            <p:txEl>
                                              <p:pRg st="3" end="3"/>
                                            </p:txEl>
                                          </p:spTgt>
                                        </p:tgtEl>
                                      </p:cBhvr>
                                      <p:to x="100000" y="100000"/>
                                    </p:animScale>
                                    <p:animScale>
                                      <p:cBhvr>
                                        <p:cTn id="71" dur="26">
                                          <p:stCondLst>
                                            <p:cond delay="1312"/>
                                          </p:stCondLst>
                                        </p:cTn>
                                        <p:tgtEl>
                                          <p:spTgt spid="3">
                                            <p:txEl>
                                              <p:pRg st="3" end="3"/>
                                            </p:txEl>
                                          </p:spTgt>
                                        </p:tgtEl>
                                      </p:cBhvr>
                                      <p:to x="100000" y="80000"/>
                                    </p:animScale>
                                    <p:animScale>
                                      <p:cBhvr>
                                        <p:cTn id="72" dur="166" decel="50000">
                                          <p:stCondLst>
                                            <p:cond delay="1338"/>
                                          </p:stCondLst>
                                        </p:cTn>
                                        <p:tgtEl>
                                          <p:spTgt spid="3">
                                            <p:txEl>
                                              <p:pRg st="3" end="3"/>
                                            </p:txEl>
                                          </p:spTgt>
                                        </p:tgtEl>
                                      </p:cBhvr>
                                      <p:to x="100000" y="100000"/>
                                    </p:animScale>
                                    <p:animScale>
                                      <p:cBhvr>
                                        <p:cTn id="73" dur="26">
                                          <p:stCondLst>
                                            <p:cond delay="1642"/>
                                          </p:stCondLst>
                                        </p:cTn>
                                        <p:tgtEl>
                                          <p:spTgt spid="3">
                                            <p:txEl>
                                              <p:pRg st="3" end="3"/>
                                            </p:txEl>
                                          </p:spTgt>
                                        </p:tgtEl>
                                      </p:cBhvr>
                                      <p:to x="100000" y="90000"/>
                                    </p:animScale>
                                    <p:animScale>
                                      <p:cBhvr>
                                        <p:cTn id="74" dur="166" decel="50000">
                                          <p:stCondLst>
                                            <p:cond delay="1668"/>
                                          </p:stCondLst>
                                        </p:cTn>
                                        <p:tgtEl>
                                          <p:spTgt spid="3">
                                            <p:txEl>
                                              <p:pRg st="3" end="3"/>
                                            </p:txEl>
                                          </p:spTgt>
                                        </p:tgtEl>
                                      </p:cBhvr>
                                      <p:to x="100000" y="100000"/>
                                    </p:animScale>
                                    <p:animScale>
                                      <p:cBhvr>
                                        <p:cTn id="75" dur="26">
                                          <p:stCondLst>
                                            <p:cond delay="1808"/>
                                          </p:stCondLst>
                                        </p:cTn>
                                        <p:tgtEl>
                                          <p:spTgt spid="3">
                                            <p:txEl>
                                              <p:pRg st="3" end="3"/>
                                            </p:txEl>
                                          </p:spTgt>
                                        </p:tgtEl>
                                      </p:cBhvr>
                                      <p:to x="100000" y="95000"/>
                                    </p:animScale>
                                    <p:animScale>
                                      <p:cBhvr>
                                        <p:cTn id="76" dur="166" decel="50000">
                                          <p:stCondLst>
                                            <p:cond delay="1834"/>
                                          </p:stCondLst>
                                        </p:cTn>
                                        <p:tgtEl>
                                          <p:spTgt spid="3">
                                            <p:txEl>
                                              <p:pRg st="3" end="3"/>
                                            </p:txEl>
                                          </p:spTgt>
                                        </p:tgtEl>
                                      </p:cBhvr>
                                      <p:to x="100000" y="100000"/>
                                    </p:animScale>
                                  </p:childTnLst>
                                </p:cTn>
                              </p:par>
                              <p:par>
                                <p:cTn id="77" presetID="26" presetClass="entr" presetSubtype="0" fill="hold" nodeType="with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par>
                                <p:cTn id="93" presetID="26" presetClass="entr" presetSubtype="0" fill="hold" nodeType="withEffect">
                                  <p:stCondLst>
                                    <p:cond delay="0"/>
                                  </p:stCondLst>
                                  <p:childTnLst>
                                    <p:set>
                                      <p:cBhvr>
                                        <p:cTn id="94" dur="1" fill="hold">
                                          <p:stCondLst>
                                            <p:cond delay="0"/>
                                          </p:stCondLst>
                                        </p:cTn>
                                        <p:tgtEl>
                                          <p:spTgt spid="3">
                                            <p:txEl>
                                              <p:pRg st="5" end="5"/>
                                            </p:txEl>
                                          </p:spTgt>
                                        </p:tgtEl>
                                        <p:attrNameLst>
                                          <p:attrName>style.visibility</p:attrName>
                                        </p:attrNameLst>
                                      </p:cBhvr>
                                      <p:to>
                                        <p:strVal val="visible"/>
                                      </p:to>
                                    </p:set>
                                    <p:animEffect transition="in" filter="wipe(down)">
                                      <p:cBhvr>
                                        <p:cTn id="95" dur="580">
                                          <p:stCondLst>
                                            <p:cond delay="0"/>
                                          </p:stCondLst>
                                        </p:cTn>
                                        <p:tgtEl>
                                          <p:spTgt spid="3">
                                            <p:txEl>
                                              <p:pRg st="5" end="5"/>
                                            </p:txEl>
                                          </p:spTgt>
                                        </p:tgtEl>
                                      </p:cBhvr>
                                    </p:animEffect>
                                    <p:anim calcmode="lin" valueType="num">
                                      <p:cBhvr>
                                        <p:cTn id="96"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7"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8"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9"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0"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1" dur="26">
                                          <p:stCondLst>
                                            <p:cond delay="650"/>
                                          </p:stCondLst>
                                        </p:cTn>
                                        <p:tgtEl>
                                          <p:spTgt spid="3">
                                            <p:txEl>
                                              <p:pRg st="5" end="5"/>
                                            </p:txEl>
                                          </p:spTgt>
                                        </p:tgtEl>
                                      </p:cBhvr>
                                      <p:to x="100000" y="60000"/>
                                    </p:animScale>
                                    <p:animScale>
                                      <p:cBhvr>
                                        <p:cTn id="102" dur="166" decel="50000">
                                          <p:stCondLst>
                                            <p:cond delay="676"/>
                                          </p:stCondLst>
                                        </p:cTn>
                                        <p:tgtEl>
                                          <p:spTgt spid="3">
                                            <p:txEl>
                                              <p:pRg st="5" end="5"/>
                                            </p:txEl>
                                          </p:spTgt>
                                        </p:tgtEl>
                                      </p:cBhvr>
                                      <p:to x="100000" y="100000"/>
                                    </p:animScale>
                                    <p:animScale>
                                      <p:cBhvr>
                                        <p:cTn id="103" dur="26">
                                          <p:stCondLst>
                                            <p:cond delay="1312"/>
                                          </p:stCondLst>
                                        </p:cTn>
                                        <p:tgtEl>
                                          <p:spTgt spid="3">
                                            <p:txEl>
                                              <p:pRg st="5" end="5"/>
                                            </p:txEl>
                                          </p:spTgt>
                                        </p:tgtEl>
                                      </p:cBhvr>
                                      <p:to x="100000" y="80000"/>
                                    </p:animScale>
                                    <p:animScale>
                                      <p:cBhvr>
                                        <p:cTn id="104" dur="166" decel="50000">
                                          <p:stCondLst>
                                            <p:cond delay="1338"/>
                                          </p:stCondLst>
                                        </p:cTn>
                                        <p:tgtEl>
                                          <p:spTgt spid="3">
                                            <p:txEl>
                                              <p:pRg st="5" end="5"/>
                                            </p:txEl>
                                          </p:spTgt>
                                        </p:tgtEl>
                                      </p:cBhvr>
                                      <p:to x="100000" y="100000"/>
                                    </p:animScale>
                                    <p:animScale>
                                      <p:cBhvr>
                                        <p:cTn id="105" dur="26">
                                          <p:stCondLst>
                                            <p:cond delay="1642"/>
                                          </p:stCondLst>
                                        </p:cTn>
                                        <p:tgtEl>
                                          <p:spTgt spid="3">
                                            <p:txEl>
                                              <p:pRg st="5" end="5"/>
                                            </p:txEl>
                                          </p:spTgt>
                                        </p:tgtEl>
                                      </p:cBhvr>
                                      <p:to x="100000" y="90000"/>
                                    </p:animScale>
                                    <p:animScale>
                                      <p:cBhvr>
                                        <p:cTn id="106" dur="166" decel="50000">
                                          <p:stCondLst>
                                            <p:cond delay="1668"/>
                                          </p:stCondLst>
                                        </p:cTn>
                                        <p:tgtEl>
                                          <p:spTgt spid="3">
                                            <p:txEl>
                                              <p:pRg st="5" end="5"/>
                                            </p:txEl>
                                          </p:spTgt>
                                        </p:tgtEl>
                                      </p:cBhvr>
                                      <p:to x="100000" y="100000"/>
                                    </p:animScale>
                                    <p:animScale>
                                      <p:cBhvr>
                                        <p:cTn id="107" dur="26">
                                          <p:stCondLst>
                                            <p:cond delay="1808"/>
                                          </p:stCondLst>
                                        </p:cTn>
                                        <p:tgtEl>
                                          <p:spTgt spid="3">
                                            <p:txEl>
                                              <p:pRg st="5" end="5"/>
                                            </p:txEl>
                                          </p:spTgt>
                                        </p:tgtEl>
                                      </p:cBhvr>
                                      <p:to x="100000" y="95000"/>
                                    </p:animScale>
                                    <p:animScale>
                                      <p:cBhvr>
                                        <p:cTn id="108" dur="166" decel="50000">
                                          <p:stCondLst>
                                            <p:cond delay="1834"/>
                                          </p:stCondLst>
                                        </p:cTn>
                                        <p:tgtEl>
                                          <p:spTgt spid="3">
                                            <p:txEl>
                                              <p:pRg st="5" end="5"/>
                                            </p:txEl>
                                          </p:spTgt>
                                        </p:tgtEl>
                                      </p:cBhvr>
                                      <p:to x="100000" y="100000"/>
                                    </p:animScale>
                                  </p:childTnLst>
                                </p:cTn>
                              </p:par>
                              <p:par>
                                <p:cTn id="109" presetID="26" presetClass="entr" presetSubtype="0" fill="hold" nodeType="withEffect">
                                  <p:stCondLst>
                                    <p:cond delay="0"/>
                                  </p:stCondLst>
                                  <p:childTnLst>
                                    <p:set>
                                      <p:cBhvr>
                                        <p:cTn id="110" dur="1" fill="hold">
                                          <p:stCondLst>
                                            <p:cond delay="0"/>
                                          </p:stCondLst>
                                        </p:cTn>
                                        <p:tgtEl>
                                          <p:spTgt spid="3">
                                            <p:txEl>
                                              <p:pRg st="6" end="6"/>
                                            </p:txEl>
                                          </p:spTgt>
                                        </p:tgtEl>
                                        <p:attrNameLst>
                                          <p:attrName>style.visibility</p:attrName>
                                        </p:attrNameLst>
                                      </p:cBhvr>
                                      <p:to>
                                        <p:strVal val="visible"/>
                                      </p:to>
                                    </p:set>
                                    <p:animEffect transition="in" filter="wipe(down)">
                                      <p:cBhvr>
                                        <p:cTn id="111" dur="580">
                                          <p:stCondLst>
                                            <p:cond delay="0"/>
                                          </p:stCondLst>
                                        </p:cTn>
                                        <p:tgtEl>
                                          <p:spTgt spid="3">
                                            <p:txEl>
                                              <p:pRg st="6" end="6"/>
                                            </p:txEl>
                                          </p:spTgt>
                                        </p:tgtEl>
                                      </p:cBhvr>
                                    </p:animEffect>
                                    <p:anim calcmode="lin" valueType="num">
                                      <p:cBhvr>
                                        <p:cTn id="11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7" dur="26">
                                          <p:stCondLst>
                                            <p:cond delay="650"/>
                                          </p:stCondLst>
                                        </p:cTn>
                                        <p:tgtEl>
                                          <p:spTgt spid="3">
                                            <p:txEl>
                                              <p:pRg st="6" end="6"/>
                                            </p:txEl>
                                          </p:spTgt>
                                        </p:tgtEl>
                                      </p:cBhvr>
                                      <p:to x="100000" y="60000"/>
                                    </p:animScale>
                                    <p:animScale>
                                      <p:cBhvr>
                                        <p:cTn id="118" dur="166" decel="50000">
                                          <p:stCondLst>
                                            <p:cond delay="676"/>
                                          </p:stCondLst>
                                        </p:cTn>
                                        <p:tgtEl>
                                          <p:spTgt spid="3">
                                            <p:txEl>
                                              <p:pRg st="6" end="6"/>
                                            </p:txEl>
                                          </p:spTgt>
                                        </p:tgtEl>
                                      </p:cBhvr>
                                      <p:to x="100000" y="100000"/>
                                    </p:animScale>
                                    <p:animScale>
                                      <p:cBhvr>
                                        <p:cTn id="119" dur="26">
                                          <p:stCondLst>
                                            <p:cond delay="1312"/>
                                          </p:stCondLst>
                                        </p:cTn>
                                        <p:tgtEl>
                                          <p:spTgt spid="3">
                                            <p:txEl>
                                              <p:pRg st="6" end="6"/>
                                            </p:txEl>
                                          </p:spTgt>
                                        </p:tgtEl>
                                      </p:cBhvr>
                                      <p:to x="100000" y="80000"/>
                                    </p:animScale>
                                    <p:animScale>
                                      <p:cBhvr>
                                        <p:cTn id="120" dur="166" decel="50000">
                                          <p:stCondLst>
                                            <p:cond delay="1338"/>
                                          </p:stCondLst>
                                        </p:cTn>
                                        <p:tgtEl>
                                          <p:spTgt spid="3">
                                            <p:txEl>
                                              <p:pRg st="6" end="6"/>
                                            </p:txEl>
                                          </p:spTgt>
                                        </p:tgtEl>
                                      </p:cBhvr>
                                      <p:to x="100000" y="100000"/>
                                    </p:animScale>
                                    <p:animScale>
                                      <p:cBhvr>
                                        <p:cTn id="121" dur="26">
                                          <p:stCondLst>
                                            <p:cond delay="1642"/>
                                          </p:stCondLst>
                                        </p:cTn>
                                        <p:tgtEl>
                                          <p:spTgt spid="3">
                                            <p:txEl>
                                              <p:pRg st="6" end="6"/>
                                            </p:txEl>
                                          </p:spTgt>
                                        </p:tgtEl>
                                      </p:cBhvr>
                                      <p:to x="100000" y="90000"/>
                                    </p:animScale>
                                    <p:animScale>
                                      <p:cBhvr>
                                        <p:cTn id="122" dur="166" decel="50000">
                                          <p:stCondLst>
                                            <p:cond delay="1668"/>
                                          </p:stCondLst>
                                        </p:cTn>
                                        <p:tgtEl>
                                          <p:spTgt spid="3">
                                            <p:txEl>
                                              <p:pRg st="6" end="6"/>
                                            </p:txEl>
                                          </p:spTgt>
                                        </p:tgtEl>
                                      </p:cBhvr>
                                      <p:to x="100000" y="100000"/>
                                    </p:animScale>
                                    <p:animScale>
                                      <p:cBhvr>
                                        <p:cTn id="123" dur="26">
                                          <p:stCondLst>
                                            <p:cond delay="1808"/>
                                          </p:stCondLst>
                                        </p:cTn>
                                        <p:tgtEl>
                                          <p:spTgt spid="3">
                                            <p:txEl>
                                              <p:pRg st="6" end="6"/>
                                            </p:txEl>
                                          </p:spTgt>
                                        </p:tgtEl>
                                      </p:cBhvr>
                                      <p:to x="100000" y="95000"/>
                                    </p:animScale>
                                    <p:animScale>
                                      <p:cBhvr>
                                        <p:cTn id="124"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25B2D-5E70-705A-DA8E-AA76A0A61FA6}"/>
              </a:ext>
            </a:extLst>
          </p:cNvPr>
          <p:cNvSpPr txBox="1">
            <a:spLocks/>
          </p:cNvSpPr>
          <p:nvPr/>
        </p:nvSpPr>
        <p:spPr>
          <a:xfrm>
            <a:off x="1396410" y="65314"/>
            <a:ext cx="6273210" cy="608082"/>
          </a:xfrm>
          <a:prstGeom prst="rect">
            <a:avLst/>
          </a:prstGeom>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8" name="Rectangle 4"/>
          <p:cNvSpPr>
            <a:spLocks noChangeArrowheads="1"/>
          </p:cNvSpPr>
          <p:nvPr/>
        </p:nvSpPr>
        <p:spPr bwMode="auto">
          <a:xfrm>
            <a:off x="720499" y="951434"/>
            <a:ext cx="797693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Game playing is adversarial</a:t>
            </a:r>
          </a:p>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Mini-Max evaluates max-min strategy</a:t>
            </a:r>
          </a:p>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Alpha-Beta improves runtime</a:t>
            </a:r>
          </a:p>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Game trees represent choices</a:t>
            </a:r>
          </a:p>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Move ordering improves performance</a:t>
            </a:r>
          </a:p>
          <a:p>
            <a:pPr marL="342900" indent="-342900">
              <a:lnSpc>
                <a:spcPct val="2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Game AI applied to many domains</a:t>
            </a:r>
          </a:p>
        </p:txBody>
      </p:sp>
    </p:spTree>
    <p:extLst>
      <p:ext uri="{BB962C8B-B14F-4D97-AF65-F5344CB8AC3E}">
        <p14:creationId xmlns:p14="http://schemas.microsoft.com/office/powerpoint/2010/main" val="421483330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80">
                                          <p:stCondLst>
                                            <p:cond delay="0"/>
                                          </p:stCondLst>
                                        </p:cTn>
                                        <p:tgtEl>
                                          <p:spTgt spid="8">
                                            <p:txEl>
                                              <p:pRg st="0" end="0"/>
                                            </p:txEl>
                                          </p:spTgt>
                                        </p:tgtEl>
                                      </p:cBhvr>
                                    </p:animEffect>
                                    <p:anim calcmode="lin" valueType="num">
                                      <p:cBhvr>
                                        <p:cTn id="8"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xEl>
                                              <p:pRg st="0" end="0"/>
                                            </p:txEl>
                                          </p:spTgt>
                                        </p:tgtEl>
                                      </p:cBhvr>
                                      <p:to x="100000" y="60000"/>
                                    </p:animScale>
                                    <p:animScale>
                                      <p:cBhvr>
                                        <p:cTn id="14" dur="166" decel="50000">
                                          <p:stCondLst>
                                            <p:cond delay="676"/>
                                          </p:stCondLst>
                                        </p:cTn>
                                        <p:tgtEl>
                                          <p:spTgt spid="8">
                                            <p:txEl>
                                              <p:pRg st="0" end="0"/>
                                            </p:txEl>
                                          </p:spTgt>
                                        </p:tgtEl>
                                      </p:cBhvr>
                                      <p:to x="100000" y="100000"/>
                                    </p:animScale>
                                    <p:animScale>
                                      <p:cBhvr>
                                        <p:cTn id="15" dur="26">
                                          <p:stCondLst>
                                            <p:cond delay="1312"/>
                                          </p:stCondLst>
                                        </p:cTn>
                                        <p:tgtEl>
                                          <p:spTgt spid="8">
                                            <p:txEl>
                                              <p:pRg st="0" end="0"/>
                                            </p:txEl>
                                          </p:spTgt>
                                        </p:tgtEl>
                                      </p:cBhvr>
                                      <p:to x="100000" y="80000"/>
                                    </p:animScale>
                                    <p:animScale>
                                      <p:cBhvr>
                                        <p:cTn id="16" dur="166" decel="50000">
                                          <p:stCondLst>
                                            <p:cond delay="1338"/>
                                          </p:stCondLst>
                                        </p:cTn>
                                        <p:tgtEl>
                                          <p:spTgt spid="8">
                                            <p:txEl>
                                              <p:pRg st="0" end="0"/>
                                            </p:txEl>
                                          </p:spTgt>
                                        </p:tgtEl>
                                      </p:cBhvr>
                                      <p:to x="100000" y="100000"/>
                                    </p:animScale>
                                    <p:animScale>
                                      <p:cBhvr>
                                        <p:cTn id="17" dur="26">
                                          <p:stCondLst>
                                            <p:cond delay="1642"/>
                                          </p:stCondLst>
                                        </p:cTn>
                                        <p:tgtEl>
                                          <p:spTgt spid="8">
                                            <p:txEl>
                                              <p:pRg st="0" end="0"/>
                                            </p:txEl>
                                          </p:spTgt>
                                        </p:tgtEl>
                                      </p:cBhvr>
                                      <p:to x="100000" y="90000"/>
                                    </p:animScale>
                                    <p:animScale>
                                      <p:cBhvr>
                                        <p:cTn id="18" dur="166" decel="50000">
                                          <p:stCondLst>
                                            <p:cond delay="1668"/>
                                          </p:stCondLst>
                                        </p:cTn>
                                        <p:tgtEl>
                                          <p:spTgt spid="8">
                                            <p:txEl>
                                              <p:pRg st="0" end="0"/>
                                            </p:txEl>
                                          </p:spTgt>
                                        </p:tgtEl>
                                      </p:cBhvr>
                                      <p:to x="100000" y="100000"/>
                                    </p:animScale>
                                    <p:animScale>
                                      <p:cBhvr>
                                        <p:cTn id="19" dur="26">
                                          <p:stCondLst>
                                            <p:cond delay="1808"/>
                                          </p:stCondLst>
                                        </p:cTn>
                                        <p:tgtEl>
                                          <p:spTgt spid="8">
                                            <p:txEl>
                                              <p:pRg st="0" end="0"/>
                                            </p:txEl>
                                          </p:spTgt>
                                        </p:tgtEl>
                                      </p:cBhvr>
                                      <p:to x="100000" y="95000"/>
                                    </p:animScale>
                                    <p:animScale>
                                      <p:cBhvr>
                                        <p:cTn id="20" dur="166" decel="50000">
                                          <p:stCondLst>
                                            <p:cond delay="1834"/>
                                          </p:stCondLst>
                                        </p:cTn>
                                        <p:tgtEl>
                                          <p:spTgt spid="8">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wipe(down)">
                                      <p:cBhvr>
                                        <p:cTn id="25" dur="580">
                                          <p:stCondLst>
                                            <p:cond delay="0"/>
                                          </p:stCondLst>
                                        </p:cTn>
                                        <p:tgtEl>
                                          <p:spTgt spid="8">
                                            <p:txEl>
                                              <p:pRg st="1" end="1"/>
                                            </p:txEl>
                                          </p:spTgt>
                                        </p:tgtEl>
                                      </p:cBhvr>
                                    </p:animEffect>
                                    <p:anim calcmode="lin" valueType="num">
                                      <p:cBhvr>
                                        <p:cTn id="26" dur="1822" tmFilter="0,0; 0.14,0.36; 0.43,0.73; 0.71,0.91; 1.0,1.0">
                                          <p:stCondLst>
                                            <p:cond delay="0"/>
                                          </p:stCondLst>
                                        </p:cTn>
                                        <p:tgtEl>
                                          <p:spTgt spid="8">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8">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8">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8">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8">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8">
                                            <p:txEl>
                                              <p:pRg st="1" end="1"/>
                                            </p:txEl>
                                          </p:spTgt>
                                        </p:tgtEl>
                                      </p:cBhvr>
                                      <p:to x="100000" y="60000"/>
                                    </p:animScale>
                                    <p:animScale>
                                      <p:cBhvr>
                                        <p:cTn id="32" dur="166" decel="50000">
                                          <p:stCondLst>
                                            <p:cond delay="676"/>
                                          </p:stCondLst>
                                        </p:cTn>
                                        <p:tgtEl>
                                          <p:spTgt spid="8">
                                            <p:txEl>
                                              <p:pRg st="1" end="1"/>
                                            </p:txEl>
                                          </p:spTgt>
                                        </p:tgtEl>
                                      </p:cBhvr>
                                      <p:to x="100000" y="100000"/>
                                    </p:animScale>
                                    <p:animScale>
                                      <p:cBhvr>
                                        <p:cTn id="33" dur="26">
                                          <p:stCondLst>
                                            <p:cond delay="1312"/>
                                          </p:stCondLst>
                                        </p:cTn>
                                        <p:tgtEl>
                                          <p:spTgt spid="8">
                                            <p:txEl>
                                              <p:pRg st="1" end="1"/>
                                            </p:txEl>
                                          </p:spTgt>
                                        </p:tgtEl>
                                      </p:cBhvr>
                                      <p:to x="100000" y="80000"/>
                                    </p:animScale>
                                    <p:animScale>
                                      <p:cBhvr>
                                        <p:cTn id="34" dur="166" decel="50000">
                                          <p:stCondLst>
                                            <p:cond delay="1338"/>
                                          </p:stCondLst>
                                        </p:cTn>
                                        <p:tgtEl>
                                          <p:spTgt spid="8">
                                            <p:txEl>
                                              <p:pRg st="1" end="1"/>
                                            </p:txEl>
                                          </p:spTgt>
                                        </p:tgtEl>
                                      </p:cBhvr>
                                      <p:to x="100000" y="100000"/>
                                    </p:animScale>
                                    <p:animScale>
                                      <p:cBhvr>
                                        <p:cTn id="35" dur="26">
                                          <p:stCondLst>
                                            <p:cond delay="1642"/>
                                          </p:stCondLst>
                                        </p:cTn>
                                        <p:tgtEl>
                                          <p:spTgt spid="8">
                                            <p:txEl>
                                              <p:pRg st="1" end="1"/>
                                            </p:txEl>
                                          </p:spTgt>
                                        </p:tgtEl>
                                      </p:cBhvr>
                                      <p:to x="100000" y="90000"/>
                                    </p:animScale>
                                    <p:animScale>
                                      <p:cBhvr>
                                        <p:cTn id="36" dur="166" decel="50000">
                                          <p:stCondLst>
                                            <p:cond delay="1668"/>
                                          </p:stCondLst>
                                        </p:cTn>
                                        <p:tgtEl>
                                          <p:spTgt spid="8">
                                            <p:txEl>
                                              <p:pRg st="1" end="1"/>
                                            </p:txEl>
                                          </p:spTgt>
                                        </p:tgtEl>
                                      </p:cBhvr>
                                      <p:to x="100000" y="100000"/>
                                    </p:animScale>
                                    <p:animScale>
                                      <p:cBhvr>
                                        <p:cTn id="37" dur="26">
                                          <p:stCondLst>
                                            <p:cond delay="1808"/>
                                          </p:stCondLst>
                                        </p:cTn>
                                        <p:tgtEl>
                                          <p:spTgt spid="8">
                                            <p:txEl>
                                              <p:pRg st="1" end="1"/>
                                            </p:txEl>
                                          </p:spTgt>
                                        </p:tgtEl>
                                      </p:cBhvr>
                                      <p:to x="100000" y="95000"/>
                                    </p:animScale>
                                    <p:animScale>
                                      <p:cBhvr>
                                        <p:cTn id="38" dur="166" decel="50000">
                                          <p:stCondLst>
                                            <p:cond delay="1834"/>
                                          </p:stCondLst>
                                        </p:cTn>
                                        <p:tgtEl>
                                          <p:spTgt spid="8">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animEffect transition="in" filter="wipe(down)">
                                      <p:cBhvr>
                                        <p:cTn id="43" dur="580">
                                          <p:stCondLst>
                                            <p:cond delay="0"/>
                                          </p:stCondLst>
                                        </p:cTn>
                                        <p:tgtEl>
                                          <p:spTgt spid="8">
                                            <p:txEl>
                                              <p:pRg st="2" end="2"/>
                                            </p:txEl>
                                          </p:spTgt>
                                        </p:tgtEl>
                                      </p:cBhvr>
                                    </p:animEffect>
                                    <p:anim calcmode="lin" valueType="num">
                                      <p:cBhvr>
                                        <p:cTn id="44" dur="1822" tmFilter="0,0; 0.14,0.36; 0.43,0.73; 0.71,0.91; 1.0,1.0">
                                          <p:stCondLst>
                                            <p:cond delay="0"/>
                                          </p:stCondLst>
                                        </p:cTn>
                                        <p:tgtEl>
                                          <p:spTgt spid="8">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8">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8">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8">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8">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8">
                                            <p:txEl>
                                              <p:pRg st="2" end="2"/>
                                            </p:txEl>
                                          </p:spTgt>
                                        </p:tgtEl>
                                      </p:cBhvr>
                                      <p:to x="100000" y="60000"/>
                                    </p:animScale>
                                    <p:animScale>
                                      <p:cBhvr>
                                        <p:cTn id="50" dur="166" decel="50000">
                                          <p:stCondLst>
                                            <p:cond delay="676"/>
                                          </p:stCondLst>
                                        </p:cTn>
                                        <p:tgtEl>
                                          <p:spTgt spid="8">
                                            <p:txEl>
                                              <p:pRg st="2" end="2"/>
                                            </p:txEl>
                                          </p:spTgt>
                                        </p:tgtEl>
                                      </p:cBhvr>
                                      <p:to x="100000" y="100000"/>
                                    </p:animScale>
                                    <p:animScale>
                                      <p:cBhvr>
                                        <p:cTn id="51" dur="26">
                                          <p:stCondLst>
                                            <p:cond delay="1312"/>
                                          </p:stCondLst>
                                        </p:cTn>
                                        <p:tgtEl>
                                          <p:spTgt spid="8">
                                            <p:txEl>
                                              <p:pRg st="2" end="2"/>
                                            </p:txEl>
                                          </p:spTgt>
                                        </p:tgtEl>
                                      </p:cBhvr>
                                      <p:to x="100000" y="80000"/>
                                    </p:animScale>
                                    <p:animScale>
                                      <p:cBhvr>
                                        <p:cTn id="52" dur="166" decel="50000">
                                          <p:stCondLst>
                                            <p:cond delay="1338"/>
                                          </p:stCondLst>
                                        </p:cTn>
                                        <p:tgtEl>
                                          <p:spTgt spid="8">
                                            <p:txEl>
                                              <p:pRg st="2" end="2"/>
                                            </p:txEl>
                                          </p:spTgt>
                                        </p:tgtEl>
                                      </p:cBhvr>
                                      <p:to x="100000" y="100000"/>
                                    </p:animScale>
                                    <p:animScale>
                                      <p:cBhvr>
                                        <p:cTn id="53" dur="26">
                                          <p:stCondLst>
                                            <p:cond delay="1642"/>
                                          </p:stCondLst>
                                        </p:cTn>
                                        <p:tgtEl>
                                          <p:spTgt spid="8">
                                            <p:txEl>
                                              <p:pRg st="2" end="2"/>
                                            </p:txEl>
                                          </p:spTgt>
                                        </p:tgtEl>
                                      </p:cBhvr>
                                      <p:to x="100000" y="90000"/>
                                    </p:animScale>
                                    <p:animScale>
                                      <p:cBhvr>
                                        <p:cTn id="54" dur="166" decel="50000">
                                          <p:stCondLst>
                                            <p:cond delay="1668"/>
                                          </p:stCondLst>
                                        </p:cTn>
                                        <p:tgtEl>
                                          <p:spTgt spid="8">
                                            <p:txEl>
                                              <p:pRg st="2" end="2"/>
                                            </p:txEl>
                                          </p:spTgt>
                                        </p:tgtEl>
                                      </p:cBhvr>
                                      <p:to x="100000" y="100000"/>
                                    </p:animScale>
                                    <p:animScale>
                                      <p:cBhvr>
                                        <p:cTn id="55" dur="26">
                                          <p:stCondLst>
                                            <p:cond delay="1808"/>
                                          </p:stCondLst>
                                        </p:cTn>
                                        <p:tgtEl>
                                          <p:spTgt spid="8">
                                            <p:txEl>
                                              <p:pRg st="2" end="2"/>
                                            </p:txEl>
                                          </p:spTgt>
                                        </p:tgtEl>
                                      </p:cBhvr>
                                      <p:to x="100000" y="95000"/>
                                    </p:animScale>
                                    <p:animScale>
                                      <p:cBhvr>
                                        <p:cTn id="56" dur="166" decel="50000">
                                          <p:stCondLst>
                                            <p:cond delay="1834"/>
                                          </p:stCondLst>
                                        </p:cTn>
                                        <p:tgtEl>
                                          <p:spTgt spid="8">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8">
                                            <p:txEl>
                                              <p:pRg st="3" end="3"/>
                                            </p:txEl>
                                          </p:spTgt>
                                        </p:tgtEl>
                                        <p:attrNameLst>
                                          <p:attrName>style.visibility</p:attrName>
                                        </p:attrNameLst>
                                      </p:cBhvr>
                                      <p:to>
                                        <p:strVal val="visible"/>
                                      </p:to>
                                    </p:set>
                                    <p:animEffect transition="in" filter="wipe(down)">
                                      <p:cBhvr>
                                        <p:cTn id="61" dur="580">
                                          <p:stCondLst>
                                            <p:cond delay="0"/>
                                          </p:stCondLst>
                                        </p:cTn>
                                        <p:tgtEl>
                                          <p:spTgt spid="8">
                                            <p:txEl>
                                              <p:pRg st="3" end="3"/>
                                            </p:txEl>
                                          </p:spTgt>
                                        </p:tgtEl>
                                      </p:cBhvr>
                                    </p:animEffect>
                                    <p:anim calcmode="lin" valueType="num">
                                      <p:cBhvr>
                                        <p:cTn id="62" dur="1822" tmFilter="0,0; 0.14,0.36; 0.43,0.73; 0.71,0.91; 1.0,1.0">
                                          <p:stCondLst>
                                            <p:cond delay="0"/>
                                          </p:stCondLst>
                                        </p:cTn>
                                        <p:tgtEl>
                                          <p:spTgt spid="8">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8">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8">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8">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8">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8">
                                            <p:txEl>
                                              <p:pRg st="3" end="3"/>
                                            </p:txEl>
                                          </p:spTgt>
                                        </p:tgtEl>
                                      </p:cBhvr>
                                      <p:to x="100000" y="60000"/>
                                    </p:animScale>
                                    <p:animScale>
                                      <p:cBhvr>
                                        <p:cTn id="68" dur="166" decel="50000">
                                          <p:stCondLst>
                                            <p:cond delay="676"/>
                                          </p:stCondLst>
                                        </p:cTn>
                                        <p:tgtEl>
                                          <p:spTgt spid="8">
                                            <p:txEl>
                                              <p:pRg st="3" end="3"/>
                                            </p:txEl>
                                          </p:spTgt>
                                        </p:tgtEl>
                                      </p:cBhvr>
                                      <p:to x="100000" y="100000"/>
                                    </p:animScale>
                                    <p:animScale>
                                      <p:cBhvr>
                                        <p:cTn id="69" dur="26">
                                          <p:stCondLst>
                                            <p:cond delay="1312"/>
                                          </p:stCondLst>
                                        </p:cTn>
                                        <p:tgtEl>
                                          <p:spTgt spid="8">
                                            <p:txEl>
                                              <p:pRg st="3" end="3"/>
                                            </p:txEl>
                                          </p:spTgt>
                                        </p:tgtEl>
                                      </p:cBhvr>
                                      <p:to x="100000" y="80000"/>
                                    </p:animScale>
                                    <p:animScale>
                                      <p:cBhvr>
                                        <p:cTn id="70" dur="166" decel="50000">
                                          <p:stCondLst>
                                            <p:cond delay="1338"/>
                                          </p:stCondLst>
                                        </p:cTn>
                                        <p:tgtEl>
                                          <p:spTgt spid="8">
                                            <p:txEl>
                                              <p:pRg st="3" end="3"/>
                                            </p:txEl>
                                          </p:spTgt>
                                        </p:tgtEl>
                                      </p:cBhvr>
                                      <p:to x="100000" y="100000"/>
                                    </p:animScale>
                                    <p:animScale>
                                      <p:cBhvr>
                                        <p:cTn id="71" dur="26">
                                          <p:stCondLst>
                                            <p:cond delay="1642"/>
                                          </p:stCondLst>
                                        </p:cTn>
                                        <p:tgtEl>
                                          <p:spTgt spid="8">
                                            <p:txEl>
                                              <p:pRg st="3" end="3"/>
                                            </p:txEl>
                                          </p:spTgt>
                                        </p:tgtEl>
                                      </p:cBhvr>
                                      <p:to x="100000" y="90000"/>
                                    </p:animScale>
                                    <p:animScale>
                                      <p:cBhvr>
                                        <p:cTn id="72" dur="166" decel="50000">
                                          <p:stCondLst>
                                            <p:cond delay="1668"/>
                                          </p:stCondLst>
                                        </p:cTn>
                                        <p:tgtEl>
                                          <p:spTgt spid="8">
                                            <p:txEl>
                                              <p:pRg st="3" end="3"/>
                                            </p:txEl>
                                          </p:spTgt>
                                        </p:tgtEl>
                                      </p:cBhvr>
                                      <p:to x="100000" y="100000"/>
                                    </p:animScale>
                                    <p:animScale>
                                      <p:cBhvr>
                                        <p:cTn id="73" dur="26">
                                          <p:stCondLst>
                                            <p:cond delay="1808"/>
                                          </p:stCondLst>
                                        </p:cTn>
                                        <p:tgtEl>
                                          <p:spTgt spid="8">
                                            <p:txEl>
                                              <p:pRg st="3" end="3"/>
                                            </p:txEl>
                                          </p:spTgt>
                                        </p:tgtEl>
                                      </p:cBhvr>
                                      <p:to x="100000" y="95000"/>
                                    </p:animScale>
                                    <p:animScale>
                                      <p:cBhvr>
                                        <p:cTn id="74" dur="166" decel="50000">
                                          <p:stCondLst>
                                            <p:cond delay="1834"/>
                                          </p:stCondLst>
                                        </p:cTn>
                                        <p:tgtEl>
                                          <p:spTgt spid="8">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8">
                                            <p:txEl>
                                              <p:pRg st="4" end="4"/>
                                            </p:txEl>
                                          </p:spTgt>
                                        </p:tgtEl>
                                        <p:attrNameLst>
                                          <p:attrName>style.visibility</p:attrName>
                                        </p:attrNameLst>
                                      </p:cBhvr>
                                      <p:to>
                                        <p:strVal val="visible"/>
                                      </p:to>
                                    </p:set>
                                    <p:animEffect transition="in" filter="wipe(down)">
                                      <p:cBhvr>
                                        <p:cTn id="79" dur="580">
                                          <p:stCondLst>
                                            <p:cond delay="0"/>
                                          </p:stCondLst>
                                        </p:cTn>
                                        <p:tgtEl>
                                          <p:spTgt spid="8">
                                            <p:txEl>
                                              <p:pRg st="4" end="4"/>
                                            </p:txEl>
                                          </p:spTgt>
                                        </p:tgtEl>
                                      </p:cBhvr>
                                    </p:animEffect>
                                    <p:anim calcmode="lin" valueType="num">
                                      <p:cBhvr>
                                        <p:cTn id="80" dur="1822" tmFilter="0,0; 0.14,0.36; 0.43,0.73; 0.71,0.91; 1.0,1.0">
                                          <p:stCondLst>
                                            <p:cond delay="0"/>
                                          </p:stCondLst>
                                        </p:cTn>
                                        <p:tgtEl>
                                          <p:spTgt spid="8">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8">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8">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8">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8">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8">
                                            <p:txEl>
                                              <p:pRg st="4" end="4"/>
                                            </p:txEl>
                                          </p:spTgt>
                                        </p:tgtEl>
                                      </p:cBhvr>
                                      <p:to x="100000" y="60000"/>
                                    </p:animScale>
                                    <p:animScale>
                                      <p:cBhvr>
                                        <p:cTn id="86" dur="166" decel="50000">
                                          <p:stCondLst>
                                            <p:cond delay="676"/>
                                          </p:stCondLst>
                                        </p:cTn>
                                        <p:tgtEl>
                                          <p:spTgt spid="8">
                                            <p:txEl>
                                              <p:pRg st="4" end="4"/>
                                            </p:txEl>
                                          </p:spTgt>
                                        </p:tgtEl>
                                      </p:cBhvr>
                                      <p:to x="100000" y="100000"/>
                                    </p:animScale>
                                    <p:animScale>
                                      <p:cBhvr>
                                        <p:cTn id="87" dur="26">
                                          <p:stCondLst>
                                            <p:cond delay="1312"/>
                                          </p:stCondLst>
                                        </p:cTn>
                                        <p:tgtEl>
                                          <p:spTgt spid="8">
                                            <p:txEl>
                                              <p:pRg st="4" end="4"/>
                                            </p:txEl>
                                          </p:spTgt>
                                        </p:tgtEl>
                                      </p:cBhvr>
                                      <p:to x="100000" y="80000"/>
                                    </p:animScale>
                                    <p:animScale>
                                      <p:cBhvr>
                                        <p:cTn id="88" dur="166" decel="50000">
                                          <p:stCondLst>
                                            <p:cond delay="1338"/>
                                          </p:stCondLst>
                                        </p:cTn>
                                        <p:tgtEl>
                                          <p:spTgt spid="8">
                                            <p:txEl>
                                              <p:pRg st="4" end="4"/>
                                            </p:txEl>
                                          </p:spTgt>
                                        </p:tgtEl>
                                      </p:cBhvr>
                                      <p:to x="100000" y="100000"/>
                                    </p:animScale>
                                    <p:animScale>
                                      <p:cBhvr>
                                        <p:cTn id="89" dur="26">
                                          <p:stCondLst>
                                            <p:cond delay="1642"/>
                                          </p:stCondLst>
                                        </p:cTn>
                                        <p:tgtEl>
                                          <p:spTgt spid="8">
                                            <p:txEl>
                                              <p:pRg st="4" end="4"/>
                                            </p:txEl>
                                          </p:spTgt>
                                        </p:tgtEl>
                                      </p:cBhvr>
                                      <p:to x="100000" y="90000"/>
                                    </p:animScale>
                                    <p:animScale>
                                      <p:cBhvr>
                                        <p:cTn id="90" dur="166" decel="50000">
                                          <p:stCondLst>
                                            <p:cond delay="1668"/>
                                          </p:stCondLst>
                                        </p:cTn>
                                        <p:tgtEl>
                                          <p:spTgt spid="8">
                                            <p:txEl>
                                              <p:pRg st="4" end="4"/>
                                            </p:txEl>
                                          </p:spTgt>
                                        </p:tgtEl>
                                      </p:cBhvr>
                                      <p:to x="100000" y="100000"/>
                                    </p:animScale>
                                    <p:animScale>
                                      <p:cBhvr>
                                        <p:cTn id="91" dur="26">
                                          <p:stCondLst>
                                            <p:cond delay="1808"/>
                                          </p:stCondLst>
                                        </p:cTn>
                                        <p:tgtEl>
                                          <p:spTgt spid="8">
                                            <p:txEl>
                                              <p:pRg st="4" end="4"/>
                                            </p:txEl>
                                          </p:spTgt>
                                        </p:tgtEl>
                                      </p:cBhvr>
                                      <p:to x="100000" y="95000"/>
                                    </p:animScale>
                                    <p:animScale>
                                      <p:cBhvr>
                                        <p:cTn id="92" dur="166" decel="50000">
                                          <p:stCondLst>
                                            <p:cond delay="1834"/>
                                          </p:stCondLst>
                                        </p:cTn>
                                        <p:tgtEl>
                                          <p:spTgt spid="8">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8">
                                            <p:txEl>
                                              <p:pRg st="5" end="5"/>
                                            </p:txEl>
                                          </p:spTgt>
                                        </p:tgtEl>
                                        <p:attrNameLst>
                                          <p:attrName>style.visibility</p:attrName>
                                        </p:attrNameLst>
                                      </p:cBhvr>
                                      <p:to>
                                        <p:strVal val="visible"/>
                                      </p:to>
                                    </p:set>
                                    <p:animEffect transition="in" filter="wipe(down)">
                                      <p:cBhvr>
                                        <p:cTn id="97" dur="580">
                                          <p:stCondLst>
                                            <p:cond delay="0"/>
                                          </p:stCondLst>
                                        </p:cTn>
                                        <p:tgtEl>
                                          <p:spTgt spid="8">
                                            <p:txEl>
                                              <p:pRg st="5" end="5"/>
                                            </p:txEl>
                                          </p:spTgt>
                                        </p:tgtEl>
                                      </p:cBhvr>
                                    </p:animEffect>
                                    <p:anim calcmode="lin" valueType="num">
                                      <p:cBhvr>
                                        <p:cTn id="98" dur="1822" tmFilter="0,0; 0.14,0.36; 0.43,0.73; 0.71,0.91; 1.0,1.0">
                                          <p:stCondLst>
                                            <p:cond delay="0"/>
                                          </p:stCondLst>
                                        </p:cTn>
                                        <p:tgtEl>
                                          <p:spTgt spid="8">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8">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8">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8">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8">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8">
                                            <p:txEl>
                                              <p:pRg st="5" end="5"/>
                                            </p:txEl>
                                          </p:spTgt>
                                        </p:tgtEl>
                                      </p:cBhvr>
                                      <p:to x="100000" y="60000"/>
                                    </p:animScale>
                                    <p:animScale>
                                      <p:cBhvr>
                                        <p:cTn id="104" dur="166" decel="50000">
                                          <p:stCondLst>
                                            <p:cond delay="676"/>
                                          </p:stCondLst>
                                        </p:cTn>
                                        <p:tgtEl>
                                          <p:spTgt spid="8">
                                            <p:txEl>
                                              <p:pRg st="5" end="5"/>
                                            </p:txEl>
                                          </p:spTgt>
                                        </p:tgtEl>
                                      </p:cBhvr>
                                      <p:to x="100000" y="100000"/>
                                    </p:animScale>
                                    <p:animScale>
                                      <p:cBhvr>
                                        <p:cTn id="105" dur="26">
                                          <p:stCondLst>
                                            <p:cond delay="1312"/>
                                          </p:stCondLst>
                                        </p:cTn>
                                        <p:tgtEl>
                                          <p:spTgt spid="8">
                                            <p:txEl>
                                              <p:pRg st="5" end="5"/>
                                            </p:txEl>
                                          </p:spTgt>
                                        </p:tgtEl>
                                      </p:cBhvr>
                                      <p:to x="100000" y="80000"/>
                                    </p:animScale>
                                    <p:animScale>
                                      <p:cBhvr>
                                        <p:cTn id="106" dur="166" decel="50000">
                                          <p:stCondLst>
                                            <p:cond delay="1338"/>
                                          </p:stCondLst>
                                        </p:cTn>
                                        <p:tgtEl>
                                          <p:spTgt spid="8">
                                            <p:txEl>
                                              <p:pRg st="5" end="5"/>
                                            </p:txEl>
                                          </p:spTgt>
                                        </p:tgtEl>
                                      </p:cBhvr>
                                      <p:to x="100000" y="100000"/>
                                    </p:animScale>
                                    <p:animScale>
                                      <p:cBhvr>
                                        <p:cTn id="107" dur="26">
                                          <p:stCondLst>
                                            <p:cond delay="1642"/>
                                          </p:stCondLst>
                                        </p:cTn>
                                        <p:tgtEl>
                                          <p:spTgt spid="8">
                                            <p:txEl>
                                              <p:pRg st="5" end="5"/>
                                            </p:txEl>
                                          </p:spTgt>
                                        </p:tgtEl>
                                      </p:cBhvr>
                                      <p:to x="100000" y="90000"/>
                                    </p:animScale>
                                    <p:animScale>
                                      <p:cBhvr>
                                        <p:cTn id="108" dur="166" decel="50000">
                                          <p:stCondLst>
                                            <p:cond delay="1668"/>
                                          </p:stCondLst>
                                        </p:cTn>
                                        <p:tgtEl>
                                          <p:spTgt spid="8">
                                            <p:txEl>
                                              <p:pRg st="5" end="5"/>
                                            </p:txEl>
                                          </p:spTgt>
                                        </p:tgtEl>
                                      </p:cBhvr>
                                      <p:to x="100000" y="100000"/>
                                    </p:animScale>
                                    <p:animScale>
                                      <p:cBhvr>
                                        <p:cTn id="109" dur="26">
                                          <p:stCondLst>
                                            <p:cond delay="1808"/>
                                          </p:stCondLst>
                                        </p:cTn>
                                        <p:tgtEl>
                                          <p:spTgt spid="8">
                                            <p:txEl>
                                              <p:pRg st="5" end="5"/>
                                            </p:txEl>
                                          </p:spTgt>
                                        </p:tgtEl>
                                      </p:cBhvr>
                                      <p:to x="100000" y="95000"/>
                                    </p:animScale>
                                    <p:animScale>
                                      <p:cBhvr>
                                        <p:cTn id="110" dur="166" decel="50000">
                                          <p:stCondLst>
                                            <p:cond delay="1834"/>
                                          </p:stCondLst>
                                        </p:cTn>
                                        <p:tgtEl>
                                          <p:spTgt spid="8">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DB9DE-E12E-9A84-B19B-87EFEE3B7869}"/>
              </a:ext>
            </a:extLst>
          </p:cNvPr>
          <p:cNvSpPr txBox="1">
            <a:spLocks/>
          </p:cNvSpPr>
          <p:nvPr/>
        </p:nvSpPr>
        <p:spPr>
          <a:xfrm>
            <a:off x="1282995" y="65313"/>
            <a:ext cx="781020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6" name="Rectangle 3"/>
          <p:cNvSpPr>
            <a:spLocks noChangeArrowheads="1"/>
          </p:cNvSpPr>
          <p:nvPr/>
        </p:nvSpPr>
        <p:spPr bwMode="auto">
          <a:xfrm>
            <a:off x="694660" y="1148413"/>
            <a:ext cx="810909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Define game playing in the context of Artificial Intelligence.</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Explain the purpose of the Min-Max algorithm in AI.</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Differentiate between Min and Max nodes in Min-Max search.</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State the types of games where the Min-Max algorithm is applicable.</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Describe the concept of Alpha-Beta Pruning in AI.</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Explain the way Alpha-Beta Pruning enhances the efficiency of game tree search.</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State the best-case and worst-case time complexity of Min-Max with Alpha-Beta Pruning.</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Describe the Monkey and Banana problem as used in AI planning.</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Explain the method of representing the Monkey and Banana problem in AI.</a:t>
            </a: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bg2"/>
                </a:solidFill>
                <a:latin typeface="Times New Roman" panose="02020603050405020304" pitchFamily="18" charset="0"/>
                <a:cs typeface="Times New Roman" panose="02020603050405020304" pitchFamily="18" charset="0"/>
              </a:rPr>
              <a:t>Identify the goal state in the Monkey and Banana problem.</a:t>
            </a:r>
          </a:p>
          <a:p>
            <a:pPr lvl="0" eaLnBrk="0" fontAlgn="base" hangingPunct="0">
              <a:spcBef>
                <a:spcPct val="0"/>
              </a:spcBef>
              <a:spcAft>
                <a:spcPct val="0"/>
              </a:spcAft>
              <a:buClrTx/>
            </a:pP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33856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43</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900222" y="65313"/>
            <a:ext cx="7793835"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353387" y="1116424"/>
            <a:ext cx="8639575" cy="2400657"/>
          </a:xfrm>
          <a:prstGeom prst="rect">
            <a:avLst/>
          </a:prstGeom>
        </p:spPr>
        <p:txBody>
          <a:bodyPr wrap="square">
            <a:spAutoFit/>
          </a:bodyPr>
          <a:lstStyle/>
          <a:p>
            <a:pPr marL="457200" indent="-457200" algn="just">
              <a:lnSpc>
                <a:spcPct val="15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hlinkClick r:id="rId3"/>
              </a:rPr>
              <a:t>https://ocw.mit.edu</a:t>
            </a:r>
            <a:r>
              <a:rPr lang="en-IN" sz="2000" dirty="0" smtClean="0">
                <a:latin typeface="Calibri" panose="020F0502020204030204" pitchFamily="34" charset="0"/>
                <a:ea typeface="Calibri" panose="020F0502020204030204" pitchFamily="34" charset="0"/>
                <a:cs typeface="Calibri" panose="020F0502020204030204" pitchFamily="34" charset="0"/>
                <a:hlinkClick r:id="rId3"/>
              </a:rPr>
              <a:t>/</a:t>
            </a:r>
            <a:endParaRPr lang="en-IN" sz="2000" dirty="0" smtClean="0">
              <a:latin typeface="Calibri" panose="020F0502020204030204" pitchFamily="34" charset="0"/>
              <a:ea typeface="Calibri" panose="020F0502020204030204" pitchFamily="34" charset="0"/>
              <a:cs typeface="Calibri" panose="020F0502020204030204" pitchFamily="34" charset="0"/>
            </a:endParaRPr>
          </a:p>
          <a:p>
            <a:pPr marL="457200" indent="-457200" algn="just">
              <a:lnSpc>
                <a:spcPct val="150000"/>
              </a:lnSpc>
              <a:buFont typeface="+mj-lt"/>
              <a:buAutoNum type="arabicPeriod"/>
            </a:pPr>
            <a:r>
              <a:rPr lang="en-IN" sz="2000" dirty="0" smtClean="0">
                <a:latin typeface="Calibri" panose="020F0502020204030204" pitchFamily="34" charset="0"/>
                <a:ea typeface="Calibri" panose="020F0502020204030204" pitchFamily="34" charset="0"/>
                <a:cs typeface="Calibri" panose="020F0502020204030204" pitchFamily="34" charset="0"/>
                <a:hlinkClick r:id="rId4"/>
              </a:rPr>
              <a:t>https</a:t>
            </a:r>
            <a:r>
              <a:rPr lang="en-IN" sz="2000" dirty="0">
                <a:latin typeface="Calibri" panose="020F0502020204030204" pitchFamily="34" charset="0"/>
                <a:ea typeface="Calibri" panose="020F0502020204030204" pitchFamily="34" charset="0"/>
                <a:cs typeface="Calibri" panose="020F0502020204030204" pitchFamily="34" charset="0"/>
                <a:hlinkClick r:id="rId4"/>
              </a:rPr>
              <a:t>://cs.stanford.edu</a:t>
            </a:r>
            <a:r>
              <a:rPr lang="en-IN" sz="2000" dirty="0" smtClean="0">
                <a:latin typeface="Calibri" panose="020F0502020204030204" pitchFamily="34" charset="0"/>
                <a:ea typeface="Calibri" panose="020F0502020204030204" pitchFamily="34" charset="0"/>
                <a:cs typeface="Calibri" panose="020F0502020204030204" pitchFamily="34" charset="0"/>
                <a:hlinkClick r:id="rId4"/>
              </a:rPr>
              <a:t>/</a:t>
            </a:r>
            <a:endParaRPr lang="en-IN" sz="2000" dirty="0" smtClean="0">
              <a:latin typeface="Calibri" panose="020F0502020204030204" pitchFamily="34" charset="0"/>
              <a:ea typeface="Calibri" panose="020F0502020204030204" pitchFamily="34" charset="0"/>
              <a:cs typeface="Calibri" panose="020F0502020204030204" pitchFamily="34" charset="0"/>
            </a:endParaRPr>
          </a:p>
          <a:p>
            <a:pPr marL="457200" indent="-457200" algn="just">
              <a:lnSpc>
                <a:spcPct val="150000"/>
              </a:lnSpc>
              <a:buFont typeface="+mj-lt"/>
              <a:buAutoNum type="arabicPeriod"/>
            </a:pPr>
            <a:r>
              <a:rPr lang="en-IN" sz="2000" dirty="0" smtClean="0">
                <a:latin typeface="Calibri" panose="020F0502020204030204" pitchFamily="34" charset="0"/>
                <a:ea typeface="Calibri" panose="020F0502020204030204" pitchFamily="34" charset="0"/>
                <a:cs typeface="Calibri" panose="020F0502020204030204" pitchFamily="34" charset="0"/>
                <a:hlinkClick r:id="rId5"/>
              </a:rPr>
              <a:t>https</a:t>
            </a:r>
            <a:r>
              <a:rPr lang="en-IN" sz="2000" dirty="0">
                <a:latin typeface="Calibri" panose="020F0502020204030204" pitchFamily="34" charset="0"/>
                <a:ea typeface="Calibri" panose="020F0502020204030204" pitchFamily="34" charset="0"/>
                <a:cs typeface="Calibri" panose="020F0502020204030204" pitchFamily="34" charset="0"/>
                <a:hlinkClick r:id="rId5"/>
              </a:rPr>
              <a:t>://</a:t>
            </a:r>
            <a:r>
              <a:rPr lang="en-IN" sz="2000" dirty="0" smtClean="0">
                <a:latin typeface="Calibri" panose="020F0502020204030204" pitchFamily="34" charset="0"/>
                <a:ea typeface="Calibri" panose="020F0502020204030204" pitchFamily="34" charset="0"/>
                <a:cs typeface="Calibri" panose="020F0502020204030204" pitchFamily="34" charset="0"/>
                <a:hlinkClick r:id="rId5"/>
              </a:rPr>
              <a:t>coursera.org</a:t>
            </a:r>
            <a:endParaRPr lang="en-IN" sz="2000" dirty="0" smtClean="0">
              <a:latin typeface="Calibri" panose="020F0502020204030204" pitchFamily="34" charset="0"/>
              <a:ea typeface="Calibri" panose="020F0502020204030204" pitchFamily="34" charset="0"/>
              <a:cs typeface="Calibri" panose="020F0502020204030204" pitchFamily="34" charset="0"/>
            </a:endParaRPr>
          </a:p>
          <a:p>
            <a:pPr marL="457200" indent="-457200" algn="just">
              <a:lnSpc>
                <a:spcPct val="150000"/>
              </a:lnSpc>
              <a:buFont typeface="+mj-lt"/>
              <a:buAutoNum type="arabicPeriod"/>
            </a:pPr>
            <a:r>
              <a:rPr lang="en-IN" sz="2000" dirty="0" smtClean="0">
                <a:latin typeface="Calibri" panose="020F0502020204030204" pitchFamily="34" charset="0"/>
                <a:ea typeface="Calibri" panose="020F0502020204030204" pitchFamily="34" charset="0"/>
                <a:cs typeface="Calibri" panose="020F0502020204030204" pitchFamily="34" charset="0"/>
                <a:hlinkClick r:id="rId6"/>
              </a:rPr>
              <a:t>https</a:t>
            </a:r>
            <a:r>
              <a:rPr lang="en-IN" sz="2000" dirty="0">
                <a:latin typeface="Calibri" panose="020F0502020204030204" pitchFamily="34" charset="0"/>
                <a:ea typeface="Calibri" panose="020F0502020204030204" pitchFamily="34" charset="0"/>
                <a:cs typeface="Calibri" panose="020F0502020204030204" pitchFamily="34" charset="0"/>
                <a:hlinkClick r:id="rId6"/>
              </a:rPr>
              <a:t>://inst.eecs.berkeley.edu/~cs188</a:t>
            </a:r>
            <a:r>
              <a:rPr lang="en-IN" sz="2000" dirty="0" smtClean="0">
                <a:latin typeface="Calibri" panose="020F0502020204030204" pitchFamily="34" charset="0"/>
                <a:ea typeface="Calibri" panose="020F0502020204030204" pitchFamily="34" charset="0"/>
                <a:cs typeface="Calibri" panose="020F0502020204030204" pitchFamily="34" charset="0"/>
                <a:hlinkClick r:id="rId6"/>
              </a:rPr>
              <a:t>/</a:t>
            </a:r>
            <a:endParaRPr lang="en-IN" sz="2000" dirty="0" smtClean="0">
              <a:latin typeface="Calibri" panose="020F0502020204030204" pitchFamily="34" charset="0"/>
              <a:ea typeface="Calibri" panose="020F0502020204030204" pitchFamily="34" charset="0"/>
              <a:cs typeface="Calibri" panose="020F0502020204030204" pitchFamily="34" charset="0"/>
            </a:endParaRPr>
          </a:p>
          <a:p>
            <a:pPr marL="457200" indent="-457200" algn="just">
              <a:lnSpc>
                <a:spcPct val="15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hlinkClick r:id="rId7"/>
              </a:rPr>
              <a:t>https://cs221.stanford.edu</a:t>
            </a:r>
            <a:r>
              <a:rPr lang="en-IN" sz="2000" dirty="0" smtClean="0">
                <a:latin typeface="Calibri" panose="020F0502020204030204" pitchFamily="34" charset="0"/>
                <a:ea typeface="Calibri" panose="020F0502020204030204" pitchFamily="34" charset="0"/>
                <a:cs typeface="Calibri" panose="020F0502020204030204" pitchFamily="34" charset="0"/>
                <a:hlinkClick r:id="rId7"/>
              </a:rPr>
              <a:t>/</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311988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smtClean="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744846" y="1399309"/>
            <a:ext cx="8614184" cy="1736597"/>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0" i="0" u="none" strike="noStrike" cap="none" dirty="0" smtClean="0">
                <a:solidFill>
                  <a:schemeClr val="bg2"/>
                </a:solidFill>
                <a:latin typeface="Calibri" panose="020F0502020204030204" pitchFamily="34" charset="0"/>
                <a:ea typeface="Times New Roman"/>
                <a:cs typeface="Calibri" panose="020F0502020204030204" pitchFamily="34" charset="0"/>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smtClean="0"/>
              <a:t>11</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250" y="860714"/>
            <a:ext cx="3922568" cy="3922568"/>
          </a:xfrm>
          <a:prstGeom prst="rect">
            <a:avLst/>
          </a:prstGeom>
        </p:spPr>
      </p:pic>
    </p:spTree>
    <p:extLst>
      <p:ext uri="{BB962C8B-B14F-4D97-AF65-F5344CB8AC3E}">
        <p14:creationId xmlns:p14="http://schemas.microsoft.com/office/powerpoint/2010/main" val="228868490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smtClean="0">
                <a:latin typeface="Calibri" panose="020F0502020204030204" pitchFamily="34" charset="0"/>
                <a:ea typeface="Calibri" panose="020F0502020204030204" pitchFamily="34" charset="0"/>
                <a:cs typeface="Calibri" panose="020F0502020204030204" pitchFamily="34" charset="0"/>
              </a:rPr>
              <a:t>Prabhjot.e16646@cumail.in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612720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2379</TotalTime>
  <Words>2129</Words>
  <Application>Microsoft Office PowerPoint</Application>
  <PresentationFormat>On-screen Show (16:9)</PresentationFormat>
  <Paragraphs>333</Paragraphs>
  <Slides>39</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Courier New</vt:lpstr>
      <vt:lpstr>Vladimir Script</vt:lpstr>
      <vt:lpstr>Times New Roman</vt:lpstr>
      <vt:lpstr>Wingdings</vt:lpstr>
      <vt:lpstr>Calibri</vt:lpstr>
      <vt:lpstr>Arial Black</vt:lpstr>
      <vt:lpstr>Inter</vt:lpstr>
      <vt:lpstr>Arial</vt:lpstr>
      <vt:lpstr>Cambria</vt:lpstr>
      <vt:lpstr>Lato</vt:lpstr>
      <vt:lpstr>Rockwell</vt:lpstr>
      <vt:lpstr>Streamline</vt:lpstr>
      <vt:lpstr>PowerPoint Presentation</vt:lpstr>
      <vt:lpstr>PowerPoint Presentation</vt:lpstr>
      <vt:lpstr>PowerPoint Presentation</vt:lpstr>
      <vt:lpstr>PowerPoint Presentation</vt:lpstr>
      <vt:lpstr>PowerPoint Presentation</vt:lpstr>
      <vt:lpstr>PowerPoint Presentation</vt:lpstr>
      <vt:lpstr>Game Playing in AI:</vt:lpstr>
      <vt:lpstr>Game (Cont.…)</vt:lpstr>
      <vt:lpstr>Key Characteristics:</vt:lpstr>
      <vt:lpstr>Adversarial Search:</vt:lpstr>
      <vt:lpstr>Game Playing in Artificial Intelligence</vt:lpstr>
      <vt:lpstr>Type of games</vt:lpstr>
      <vt:lpstr>Type of games</vt:lpstr>
      <vt:lpstr>The Role of Search Algorithms in Game Playing</vt:lpstr>
      <vt:lpstr>Min-Max Search Algorithm</vt:lpstr>
      <vt:lpstr>PowerPoint Presentation</vt:lpstr>
      <vt:lpstr>Min-Max Search Algorithm</vt:lpstr>
      <vt:lpstr>PowerPoint Presentation</vt:lpstr>
      <vt:lpstr>PowerPoint Presentation</vt:lpstr>
      <vt:lpstr>PowerPoint Presentation</vt:lpstr>
      <vt:lpstr>PowerPoint Presentation</vt:lpstr>
      <vt:lpstr>Alpha-Beta Pruning</vt:lpstr>
      <vt:lpstr>How Alpha Beta Pruning Works</vt:lpstr>
      <vt:lpstr>Working of Alpha-beta Pruning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Game Tree and State representation: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HP</cp:lastModifiedBy>
  <cp:revision>301</cp:revision>
  <dcterms:modified xsi:type="dcterms:W3CDTF">2025-12-04T18:16:14Z</dcterms:modified>
</cp:coreProperties>
</file>