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bin" ContentType="application/vnd.openxmlformats-officedocument.oleObject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5" r:id="rId2"/>
    <p:sldId id="257" r:id="rId3"/>
    <p:sldId id="297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285" r:id="rId20"/>
    <p:sldId id="286" r:id="rId21"/>
    <p:sldId id="287" r:id="rId22"/>
    <p:sldId id="288" r:id="rId23"/>
    <p:sldId id="289" r:id="rId24"/>
    <p:sldId id="290" r:id="rId25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="" xmlns:p15="http://schemas.microsoft.com/office/powerpoint/2012/main">
        <p15:guide id="1" orient="horz" pos="2862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822" y="-78"/>
      </p:cViewPr>
      <p:guideLst>
        <p:guide orient="horz" pos="2862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50" b="1" i="1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050" b="1" i="1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804386"/>
            <a:ext cx="2949178" cy="73866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143116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18466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83455"/>
            <a:ext cx="2103120" cy="276999"/>
          </a:xfr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08960" y="4783455"/>
            <a:ext cx="2926080" cy="276999"/>
          </a:xfr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83680" y="4783455"/>
            <a:ext cx="2103120" cy="276999"/>
          </a:xfr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90204" pitchFamily="34" charset="0"/>
              </a:defRPr>
            </a:lvl1pPr>
          </a:lstStyle>
          <a:p>
            <a:pPr>
              <a:defRPr/>
            </a:pPr>
            <a:fld id="{9D9B6AFD-A192-4C37-8069-CDFD0FFEA4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575" y="19050"/>
            <a:ext cx="657225" cy="10477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4977" y="89852"/>
            <a:ext cx="8234044" cy="8749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56322" y="1461452"/>
            <a:ext cx="6900545" cy="2380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50" b="1" i="1">
                <a:solidFill>
                  <a:srgbClr val="FF0000"/>
                </a:solidFill>
                <a:latin typeface="Times New Roman" panose="02020503050405090304"/>
                <a:cs typeface="Times New Roman" panose="0202050305040509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KF57CKfJj9WmhsEr5" TargetMode="External"/><Relationship Id="rId2" Type="http://schemas.openxmlformats.org/officeDocument/2006/relationships/hyperlink" Target="mailto:kamaljee.e18488@cumail.i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1588" y="3657600"/>
            <a:ext cx="9144001" cy="8536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28600" y="3962400"/>
            <a:ext cx="33338" cy="3452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44" name="Slide Number Placeholder 2"/>
          <p:cNvSpPr txBox="1"/>
          <p:nvPr/>
        </p:nvSpPr>
        <p:spPr>
          <a:xfrm>
            <a:off x="6572251" y="4302919"/>
            <a:ext cx="2055813" cy="205979"/>
          </a:xfrm>
          <a:prstGeom prst="rect">
            <a:avLst/>
          </a:prstGeom>
        </p:spPr>
        <p:txBody>
          <a:bodyPr lIns="68556" tIns="34279" rIns="68556" bIns="34279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6" name="Right Triangle 45"/>
          <p:cNvSpPr/>
          <p:nvPr/>
        </p:nvSpPr>
        <p:spPr>
          <a:xfrm flipV="1">
            <a:off x="7129464" y="3983832"/>
            <a:ext cx="968375" cy="651272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 sz="1350" kern="0">
              <a:solidFill>
                <a:srgbClr val="FFFFFF"/>
              </a:solidFill>
              <a:latin typeface="Calibri"/>
            </a:endParaRPr>
          </a:p>
        </p:txBody>
      </p:sp>
      <p:graphicFrame>
        <p:nvGraphicFramePr>
          <p:cNvPr id="19462" name="Object 47"/>
          <p:cNvGraphicFramePr>
            <a:graphicFrameLocks noChangeAspect="1"/>
          </p:cNvGraphicFramePr>
          <p:nvPr/>
        </p:nvGraphicFramePr>
        <p:xfrm>
          <a:off x="58738" y="2399110"/>
          <a:ext cx="2476500" cy="1770459"/>
        </p:xfrm>
        <a:graphic>
          <a:graphicData uri="http://schemas.openxmlformats.org/presentationml/2006/ole">
            <p:oleObj spid="_x0000_s1025" name="CorelDRAW" r:id="rId3" imgW="2169000" imgH="2169360" progId="">
              <p:embed/>
            </p:oleObj>
          </a:graphicData>
        </a:graphic>
      </p:graphicFrame>
      <p:sp>
        <p:nvSpPr>
          <p:cNvPr id="37" name="Right Triangle 36"/>
          <p:cNvSpPr/>
          <p:nvPr/>
        </p:nvSpPr>
        <p:spPr>
          <a:xfrm flipH="1">
            <a:off x="5283201" y="628650"/>
            <a:ext cx="3859213" cy="3290888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 sz="1350" kern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594093" y="1782572"/>
            <a:ext cx="5120286" cy="888823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pic>
        <p:nvPicPr>
          <p:cNvPr id="19467" name="Picture 2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14350"/>
            <a:ext cx="6629400" cy="1338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ight Triangle 42"/>
          <p:cNvSpPr/>
          <p:nvPr/>
        </p:nvSpPr>
        <p:spPr>
          <a:xfrm rot="10800000" flipV="1">
            <a:off x="7370764" y="3643313"/>
            <a:ext cx="1774825" cy="898922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5160963" y="3984070"/>
            <a:ext cx="3695700" cy="321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 panose="02020503050405090304" pitchFamily="18" charset="0"/>
                <a:ea typeface="Karla" pitchFamily="2" charset="0"/>
                <a:cs typeface="Times New Roman" panose="02020503050405090304" pitchFamily="18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Times New Roman" panose="02020503050405090304" pitchFamily="18" charset="0"/>
                <a:ea typeface="Karla" pitchFamily="2" charset="0"/>
                <a:cs typeface="Times New Roman" panose="02020503050405090304" pitchFamily="18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 panose="02020503050405090304" pitchFamily="18" charset="0"/>
                <a:ea typeface="Karla" pitchFamily="2" charset="0"/>
                <a:cs typeface="Times New Roman" panose="02020503050405090304" pitchFamily="18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164139" y="4042172"/>
            <a:ext cx="34925" cy="20835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261939" y="4353323"/>
            <a:ext cx="4822825" cy="695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 defTabSz="466725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en-IN" sz="18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Lecture</a:t>
            </a:r>
            <a:endParaRPr lang="en-US" sz="18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 defTabSz="466725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kern="1200" dirty="0" smtClean="0"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+mn-ea"/>
              </a:rPr>
              <a:t>Introduction to System Design</a:t>
            </a:r>
            <a:endParaRPr lang="en-US" sz="1600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408305" y="1833880"/>
            <a:ext cx="8324850" cy="2213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 eaLnBrk="1" hangingPunct="1"/>
            <a:r>
              <a:rPr lang="en-IN" altLang="en-US" sz="35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en-IN" sz="35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pex</a:t>
            </a:r>
            <a:r>
              <a:rPr lang="en-IN" altLang="en-US" sz="35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</a:t>
            </a:r>
            <a:r>
              <a:rPr lang="en-US" altLang="en-IN" sz="35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nstitute</a:t>
            </a:r>
            <a:r>
              <a:rPr lang="en-IN" altLang="en-US" sz="35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en-IN" sz="35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of</a:t>
            </a:r>
            <a:r>
              <a:rPr lang="en-IN" altLang="en-US" sz="35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</a:t>
            </a:r>
            <a:r>
              <a:rPr lang="en-US" altLang="en-IN" sz="35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echnology</a:t>
            </a:r>
            <a:endParaRPr lang="en-US" altLang="en-US" sz="35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 eaLnBrk="1" hangingPunct="1"/>
            <a:r>
              <a:rPr lang="en-US" altLang="en-IN" sz="21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Department of</a:t>
            </a:r>
            <a:r>
              <a:rPr lang="en-IN" altLang="en-US" sz="21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en-IN" sz="21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Artificial Intelligence and Machine Learning</a:t>
            </a:r>
            <a:endParaRPr lang="en-US" altLang="en-US" sz="21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 eaLnBrk="1" hangingPunct="1">
              <a:lnSpc>
                <a:spcPct val="90000"/>
              </a:lnSpc>
              <a:spcAft>
                <a:spcPct val="35000"/>
              </a:spcAft>
            </a:pPr>
            <a:endParaRPr lang="en-US" altLang="en-US" sz="2300" b="1" dirty="0">
              <a:solidFill>
                <a:srgbClr val="000000"/>
              </a:solidFill>
              <a:latin typeface="Times New Roman" panose="02020503050405090304" pitchFamily="18" charset="0"/>
              <a:ea typeface="Calibri" panose="020F0502020204030204" pitchFamily="34" charset="0"/>
              <a:cs typeface="Times New Roman" panose="02020503050405090304" pitchFamily="18" charset="0"/>
            </a:endParaRPr>
          </a:p>
          <a:p>
            <a:pPr algn="ctr" eaLnBrk="1" hangingPunct="1">
              <a:lnSpc>
                <a:spcPct val="90000"/>
              </a:lnSpc>
              <a:spcAft>
                <a:spcPct val="35000"/>
              </a:spcAft>
            </a:pPr>
            <a:r>
              <a:rPr lang="en-US" sz="24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System Design </a:t>
            </a:r>
            <a:r>
              <a:rPr lang="en-US" altLang="en-US" sz="2400" dirty="0" smtClean="0">
                <a:solidFill>
                  <a:srgbClr val="262626"/>
                </a:solidFill>
                <a:latin typeface="Times New Roman" panose="02020503050405090304" pitchFamily="18" charset="0"/>
                <a:ea typeface="Cambria" panose="02040503050406030204" pitchFamily="18" charset="0"/>
                <a:cs typeface="Times New Roman" panose="02020503050405090304" pitchFamily="18" charset="0"/>
              </a:rPr>
              <a:t>(</a:t>
            </a:r>
            <a:r>
              <a:rPr lang="en-US" sz="24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23CST-390</a:t>
            </a:r>
            <a:r>
              <a:rPr lang="en-US" altLang="en-US" sz="2400" dirty="0" smtClean="0">
                <a:solidFill>
                  <a:srgbClr val="262626"/>
                </a:solidFill>
                <a:latin typeface="Times New Roman" panose="02020503050405090304" pitchFamily="18" charset="0"/>
                <a:ea typeface="Cambria" panose="02040503050406030204" pitchFamily="18" charset="0"/>
                <a:cs typeface="Times New Roman" panose="02020503050405090304" pitchFamily="18" charset="0"/>
              </a:rPr>
              <a:t>)</a:t>
            </a:r>
            <a:endParaRPr lang="en-US" altLang="en-US" sz="2400" dirty="0">
              <a:solidFill>
                <a:srgbClr val="262626"/>
              </a:solidFill>
              <a:latin typeface="Times New Roman" panose="02020503050405090304" pitchFamily="18" charset="0"/>
              <a:ea typeface="Cambria" panose="02040503050406030204" pitchFamily="18" charset="0"/>
              <a:cs typeface="Times New Roman" panose="02020503050405090304" pitchFamily="18" charset="0"/>
            </a:endParaRPr>
          </a:p>
          <a:p>
            <a:pPr algn="ctr" eaLnBrk="1" hangingPunct="1">
              <a:lnSpc>
                <a:spcPct val="90000"/>
              </a:lnSpc>
              <a:spcAft>
                <a:spcPct val="35000"/>
              </a:spcAft>
            </a:pPr>
            <a:r>
              <a:rPr lang="en-US" altLang="en-US" sz="2300" b="1" dirty="0">
                <a:solidFill>
                  <a:srgbClr val="26262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Faculty:</a:t>
            </a:r>
            <a:r>
              <a:rPr lang="en-US" altLang="en-US" sz="2300" dirty="0">
                <a:solidFill>
                  <a:srgbClr val="26262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en-US" sz="2300" dirty="0" smtClean="0">
                <a:solidFill>
                  <a:srgbClr val="26262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en-US" sz="2300" dirty="0" err="1" smtClean="0">
                <a:solidFill>
                  <a:srgbClr val="26262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Er</a:t>
            </a:r>
            <a:r>
              <a:rPr lang="en-US" altLang="en-US" sz="2300" dirty="0">
                <a:solidFill>
                  <a:srgbClr val="26262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.) </a:t>
            </a:r>
            <a:r>
              <a:rPr lang="en-US" altLang="en-US" sz="2300" dirty="0" err="1" smtClean="0">
                <a:solidFill>
                  <a:srgbClr val="26262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Kamaljee</a:t>
            </a:r>
            <a:r>
              <a:rPr lang="en-IN" sz="2400" dirty="0" smtClean="0">
                <a:solidFill>
                  <a:prstClr val="black"/>
                </a:solidFill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en-US" altLang="en-US" sz="2300" dirty="0" smtClean="0">
                <a:solidFill>
                  <a:srgbClr val="26262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en-US" sz="2300" dirty="0" err="1" smtClean="0">
                <a:solidFill>
                  <a:srgbClr val="26262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Kaur </a:t>
            </a:r>
            <a:r>
              <a:rPr lang="en-US" altLang="en-US" sz="2300" dirty="0" smtClean="0">
                <a:solidFill>
                  <a:srgbClr val="26262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(E19147)</a:t>
            </a:r>
            <a:endParaRPr lang="en-US" altLang="en-US" sz="2300" dirty="0">
              <a:solidFill>
                <a:srgbClr val="262626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 eaLnBrk="1" hangingPunct="1">
              <a:lnSpc>
                <a:spcPct val="90000"/>
              </a:lnSpc>
              <a:spcAft>
                <a:spcPct val="35000"/>
              </a:spcAft>
            </a:pPr>
            <a:endParaRPr lang="en-US" altLang="en-US" sz="11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6" name="object 9"/>
          <p:cNvSpPr txBox="1"/>
          <p:nvPr/>
        </p:nvSpPr>
        <p:spPr>
          <a:xfrm>
            <a:off x="6327775" y="22860"/>
            <a:ext cx="2750185" cy="472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30"/>
              </a:spcBef>
            </a:pPr>
            <a:r>
              <a:rPr sz="1550" b="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Academic</a:t>
            </a:r>
            <a:r>
              <a:rPr sz="1550" b="0" spc="229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sz="1550" b="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Session</a:t>
            </a:r>
            <a:r>
              <a:rPr sz="1550" b="0" spc="18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sz="1550" b="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202</a:t>
            </a:r>
            <a:r>
              <a:rPr lang="en-US" altLang="" sz="1550" b="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5</a:t>
            </a:r>
            <a:r>
              <a:rPr sz="1550" b="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-</a:t>
            </a:r>
            <a:r>
              <a:rPr sz="1550" b="0" spc="-25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2</a:t>
            </a:r>
            <a:r>
              <a:rPr lang="en-US" altLang="" sz="1550" b="0" spc="-25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6</a:t>
            </a:r>
            <a:endParaRPr sz="1550" b="0" dirty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120650" algn="r">
              <a:lnSpc>
                <a:spcPct val="100000"/>
              </a:lnSpc>
              <a:spcBef>
                <a:spcPts val="20"/>
              </a:spcBef>
            </a:pPr>
            <a:r>
              <a:rPr sz="1400" b="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E</a:t>
            </a:r>
            <a:r>
              <a:rPr lang="en-US" altLang="" sz="1400" b="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ven</a:t>
            </a:r>
            <a:r>
              <a:rPr sz="1400" b="0" spc="-5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sz="1400" b="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Semester</a:t>
            </a:r>
            <a:r>
              <a:rPr sz="1400" b="0" spc="-25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sz="1400" b="0" spc="-1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Jan-</a:t>
            </a:r>
            <a:r>
              <a:rPr sz="1400" b="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Jun</a:t>
            </a:r>
            <a:r>
              <a:rPr lang="en-US" altLang="" sz="1400" b="0" spc="-45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’</a:t>
            </a:r>
            <a:r>
              <a:rPr sz="1400" b="0" spc="-2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26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61365" y="1152525"/>
            <a:ext cx="7927340" cy="2270760"/>
          </a:xfrm>
          <a:prstGeom prst="rect">
            <a:avLst/>
          </a:prstGeom>
        </p:spPr>
        <p:txBody>
          <a:bodyPr vert="horz" wrap="square" lIns="0" tIns="15875" rIns="0" bIns="0" rtlCol="0">
            <a:noAutofit/>
          </a:bodyPr>
          <a:lstStyle/>
          <a:p>
            <a:pPr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Understand the fundamental concepts of system design and its importance in building   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 scalable applications.</a:t>
            </a:r>
          </a:p>
          <a:p>
            <a:pPr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Learn the principles of scalability, availability, and reliability in large systems.</a:t>
            </a:r>
          </a:p>
          <a:p>
            <a:pPr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Differentiate between Monolithic and </a:t>
            </a:r>
            <a:r>
              <a:rPr lang="en-US" sz="1600" dirty="0" err="1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Microservices</a:t>
            </a: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architectures.</a:t>
            </a:r>
          </a:p>
          <a:p>
            <a:pPr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Explain key performance metrics such as latency and throughput.</a:t>
            </a:r>
          </a:p>
          <a:p>
            <a:pPr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Understand how caching improves system speed and reduces load on backend services.</a:t>
            </a:r>
            <a:endParaRPr 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Title 7"/>
          <p:cNvSpPr txBox="1">
            <a:spLocks noGrp="1" noChangeArrowheads="1"/>
          </p:cNvSpPr>
          <p:nvPr/>
        </p:nvSpPr>
        <p:spPr>
          <a:xfrm>
            <a:off x="761683" y="378381"/>
            <a:ext cx="4267200" cy="276860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18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Learning Objectives</a:t>
            </a:r>
            <a:endParaRPr lang="en-US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>
          <a:xfrm>
            <a:off x="761683" y="286306"/>
            <a:ext cx="4267200" cy="368935"/>
          </a:xfrm>
        </p:spPr>
        <p:txBody>
          <a:bodyPr rtlCol="0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Course </a:t>
            </a:r>
            <a:r>
              <a:rPr 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Outcomes</a:t>
            </a:r>
          </a:p>
        </p:txBody>
      </p:sp>
      <p:sp>
        <p:nvSpPr>
          <p:cNvPr id="21508" name="Rectangle 3"/>
          <p:cNvSpPr>
            <a:spLocks noChangeArrowheads="1"/>
          </p:cNvSpPr>
          <p:nvPr/>
        </p:nvSpPr>
        <p:spPr bwMode="auto">
          <a:xfrm>
            <a:off x="741998" y="971471"/>
            <a:ext cx="50722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eaLnBrk="1" hangingPunct="1"/>
            <a:r>
              <a:rPr lang="en-IN" altLang="en-US" sz="16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completion of this course, the students shall be able to:-</a:t>
            </a:r>
            <a:endParaRPr lang="en-US" altLang="en-US" sz="16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41998" y="1351360"/>
          <a:ext cx="7772881" cy="31684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94030"/>
                <a:gridCol w="7278851"/>
              </a:tblGrid>
              <a:tr h="6413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 smtClean="0"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CO1</a:t>
                      </a:r>
                      <a:endParaRPr lang="en-US" sz="1200" kern="100" dirty="0"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Understand the fundamental system design principles, including scalability, high availability, and fault tolerance, while analyzing how these core principles influence architectural decisions in real-world distributed environments.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Times New Roman" panose="02020503050405090304" pitchFamily="18" charset="0"/>
                        <a:ea typeface="+mn-ea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13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smtClean="0"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CO2</a:t>
                      </a:r>
                      <a:endParaRPr lang="en-US" sz="1200" kern="100"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Apply various distributed architectural patterns, key database models (SQL and </a:t>
                      </a:r>
                      <a:r>
                        <a:rPr lang="en-US" sz="1200" kern="1200" dirty="0" err="1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NoSQL</a:t>
                      </a: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), and critical communication protocols to evaluate their specific applications and trade-offs in modern system designs.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Times New Roman" panose="02020503050405090304" pitchFamily="18" charset="0"/>
                        <a:ea typeface="+mn-ea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13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 smtClean="0"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CO3</a:t>
                      </a:r>
                      <a:endParaRPr lang="en-US" sz="1200" kern="100" dirty="0"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Apply advanced scaling techniques, such as caching, load balancing, database </a:t>
                      </a:r>
                      <a:r>
                        <a:rPr lang="en-US" sz="1200" kern="1200" dirty="0" err="1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sharding</a:t>
                      </a: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, and replication, to design system components that effectively handle massive user traffic and data volumes.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Times New Roman" panose="02020503050405090304" pitchFamily="18" charset="0"/>
                        <a:ea typeface="+mn-ea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29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smtClean="0"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CO4</a:t>
                      </a:r>
                      <a:endParaRPr lang="en-US" sz="1200" kern="100"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Analyze the trade-offs between different system architectures, data storage solutions, and consistency models (like the CAP theorem) to select and justify optimized configurations for performance, cost, and reliability goals.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Times New Roman" panose="02020503050405090304" pitchFamily="18" charset="0"/>
                        <a:ea typeface="+mn-ea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13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smtClean="0"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CO5</a:t>
                      </a:r>
                      <a:endParaRPr lang="en-US" sz="1200" kern="100"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Create and document comprehensive, end-to-end system designs that are inherently scalable, distributed, and fault-tolerant, leveraging modern paradigms such as cloud computing and </a:t>
                      </a:r>
                      <a:r>
                        <a:rPr lang="en-US" sz="1200" kern="1200" dirty="0" err="1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microservices</a:t>
                      </a: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 architecture.</a:t>
                      </a:r>
                      <a:endParaRPr lang="en-US" sz="1200" kern="100" dirty="0"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6197" marR="36197" marT="27147" marB="271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285671"/>
            <a:ext cx="7883525" cy="483394"/>
          </a:xfrm>
        </p:spPr>
        <p:txBody>
          <a:bodyPr rtlCol="0">
            <a:normAutofit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en-IN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Unit-1 Syllabus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3900" y="1273969"/>
          <a:ext cx="7923530" cy="2432733"/>
        </p:xfrm>
        <a:graphic>
          <a:graphicData uri="http://schemas.openxmlformats.org/drawingml/2006/table">
            <a:tbl>
              <a:tblPr/>
              <a:tblGrid>
                <a:gridCol w="1850390"/>
                <a:gridCol w="6073140"/>
              </a:tblGrid>
              <a:tr h="297656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9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I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Unit-1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27146" marR="27146" marT="20360" marB="203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9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System Design 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27146" marR="27146" marT="20360" marB="2036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829056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9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75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Introduction to System Design 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73025" marR="73025" marT="47625" marB="476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9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R="0" lvl="0" indent="0" algn="l" defTabSz="6858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1200" dirty="0" smtClean="0">
                          <a:solidFill>
                            <a:srgbClr val="FF0000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Introduction to System Design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, Functional &amp; Non-Functional Requirements, Scaling Challenges, Load Balancing, Caching Strategies, Replication, 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Sharding.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73025" marR="73025" marT="47625" marB="476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57062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9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75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Databases in System Design 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73025" marR="73025" marT="47625" marB="476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9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defTabSz="685800" fontAlgn="base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Databases in System Design – SQL 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vs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NoSQL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, CAP Theorem, </a:t>
                      </a:r>
                      <a:r>
                        <a:rPr lang="en-US" sz="1600" b="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Distributed Databases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, </a:t>
                      </a:r>
                      <a:r>
                        <a:rPr lang="en-US" sz="1600" b="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Consistency Models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, Eventual Consistency, Distributed Caching (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Redis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, 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Memcached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), High Availability, Fault Tolerance, 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Microservices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vs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 Monolithic Architecture.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3025" marR="73025" marT="47625" marB="476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8517" y="1200146"/>
            <a:ext cx="5187950" cy="235458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lvl="3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Foundations 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&amp; Requirements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Core 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Principles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Scaling Strategies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Load Balancing &amp; Caching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Database Architecture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Distributed Theory (CAP</a:t>
            </a: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sz="155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Topic to</a:t>
            </a:r>
            <a:r>
              <a:rPr sz="2400" spc="-6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</a:t>
            </a:r>
            <a:r>
              <a:rPr sz="2400" spc="25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sz="2400" spc="-1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Covered</a:t>
            </a:r>
            <a:endParaRPr lang="en-US" altLang="en-IN" sz="24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762000" y="1304290"/>
            <a:ext cx="4114800" cy="223073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System design defines how components work together to build scalable, reliable systems.</a:t>
            </a:r>
          </a:p>
          <a:p>
            <a:endParaRPr lang="en-US" sz="16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• Designing architecture, components, data flow, and interfaces.</a:t>
            </a:r>
          </a:p>
          <a:p>
            <a:endParaRPr lang="en-US" sz="16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16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• Ensures performance, scalability, reliability.</a:t>
            </a:r>
            <a:endParaRPr 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Introduction to System Design</a:t>
            </a:r>
            <a:endParaRPr lang="en-US" sz="2400" b="1" spc="-1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26626" name="AutoShape 2" descr="blob:https://web.whatsapp.com/d08b64a0-ab81-4d37-8a86-24b3925b04b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 descr="system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00600" y="1276350"/>
            <a:ext cx="3772395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762000" y="1123950"/>
            <a:ext cx="3427095" cy="2296160"/>
          </a:xfrm>
          <a:prstGeom prst="rect">
            <a:avLst/>
          </a:prstGeom>
        </p:spPr>
        <p:txBody>
          <a:bodyPr vert="horz" wrap="square" lIns="0" tIns="14604" rIns="0" bIns="0" rtlCol="0">
            <a:noAutofit/>
          </a:bodyPr>
          <a:lstStyle/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sz="16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Functional Requirements</a:t>
            </a:r>
            <a:endParaRPr lang="en-US" sz="1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</a:t>
            </a:r>
            <a:r>
              <a:rPr lang="en-US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"What"</a:t>
            </a:r>
            <a:endParaRPr 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Defines the specific behaviors and functions the system must support.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User can send a message.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System generates an invoice.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Admin can ban users</a:t>
            </a: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US" sz="2400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Requirements Analysis</a:t>
            </a:r>
            <a:endParaRPr lang="en-US" sz="2400" b="1" spc="-1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7" name="object 5"/>
          <p:cNvSpPr txBox="1"/>
          <p:nvPr/>
        </p:nvSpPr>
        <p:spPr>
          <a:xfrm>
            <a:off x="4800600" y="1123950"/>
            <a:ext cx="3427095" cy="2295525"/>
          </a:xfrm>
          <a:prstGeom prst="rect">
            <a:avLst/>
          </a:prstGeom>
        </p:spPr>
        <p:txBody>
          <a:bodyPr vert="horz" wrap="square" lIns="0" tIns="14604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Non-Functional </a:t>
            </a:r>
            <a:r>
              <a:rPr lang="en-US" sz="16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Requirements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"How Well"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Defines the quality attributes of the system.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Scalability: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Handle 10k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req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/sec.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Latency: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&lt; 200ms response.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Availability: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99.99% uptime</a:t>
            </a:r>
            <a:r>
              <a:rPr lang="en-US" sz="14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sz="1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US" sz="2400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Requirements Analysis</a:t>
            </a:r>
            <a:endParaRPr lang="en-US" sz="2400" b="1" spc="-1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123950"/>
            <a:ext cx="55626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62000" y="978535"/>
            <a:ext cx="7753985" cy="173355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Vertical Scaling (Scale Up):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Adding more power (CPU, RAM) to your existing server. Simple, but has a hard ceiling (hardware limits).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Horizontal Scaling (Scale Out):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Adding more servers to your resource pool. Requires complex logic to distribute load but offers infinite theoretical scale.</a:t>
            </a:r>
          </a:p>
          <a:p>
            <a:endParaRPr 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29698" name="Picture 2" descr="Diagram comparing vertical vs horizontal scaling architectur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2495550"/>
            <a:ext cx="4838065" cy="2438400"/>
          </a:xfrm>
          <a:prstGeom prst="rect">
            <a:avLst/>
          </a:prstGeom>
          <a:noFill/>
        </p:spPr>
      </p:pic>
      <p:sp>
        <p:nvSpPr>
          <p:cNvPr id="5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US" sz="2400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Scaling Strategies</a:t>
            </a:r>
            <a:endParaRPr lang="en-US" sz="2400" b="1" spc="-1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 txBox="1"/>
          <p:nvPr/>
        </p:nvSpPr>
        <p:spPr>
          <a:xfrm>
            <a:off x="909956" y="1047750"/>
            <a:ext cx="8234044" cy="1130300"/>
          </a:xfrm>
          <a:prstGeom prst="rect">
            <a:avLst/>
          </a:prstGeom>
        </p:spPr>
        <p:txBody>
          <a:bodyPr vert="horz" wrap="square" lIns="0" tIns="391795" rIns="0" bIns="0" rtlCol="0">
            <a:spAutoFit/>
          </a:bodyPr>
          <a:lstStyle/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Latency: Time per request.</a:t>
            </a: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Throughput: Requests per second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imes New Roman" panose="02020503050405090304" pitchFamily="18" charset="0"/>
              <a:ea typeface="+mj-ea"/>
              <a:cs typeface="Times New Roman" panose="02020503050405090304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US" sz="2400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Latency &amp; Throughput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 fontAlgn="auto">
              <a:spcAft>
                <a:spcPts val="0"/>
              </a:spcAft>
              <a:defRPr/>
            </a:pPr>
            <a:endParaRPr lang="en-US" sz="2400" b="1" spc="-1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pic>
        <p:nvPicPr>
          <p:cNvPr id="4" name="Picture 3" descr="Screenshot 2025-12-03 at 10.14.24 AM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16660" y="2571750"/>
            <a:ext cx="6692900" cy="2197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61365" y="1121410"/>
            <a:ext cx="4200525" cy="355981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Monolithic: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A single codebase where all components are tightly coupled. Easy to develop initially, hard to scale</a:t>
            </a: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endParaRPr 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16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1600" b="1" dirty="0" err="1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Microservices</a:t>
            </a:r>
            <a:r>
              <a:rPr lang="en-US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A collection of loosely coupled services. Each service runs independently and communicates via </a:t>
            </a: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API.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Allows 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independent scaling and deployment.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Increases 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operational complexity.</a:t>
            </a:r>
          </a:p>
        </p:txBody>
      </p:sp>
      <p:pic>
        <p:nvPicPr>
          <p:cNvPr id="5" name="Picture 2" descr="Diagram of a load balancer distributing traffic to multiple servers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4536000" y="-10388249"/>
            <a:ext cx="2360815" cy="1022465"/>
          </a:xfrm>
          <a:prstGeom prst="rect">
            <a:avLst/>
          </a:prstGeom>
          <a:noFill/>
        </p:spPr>
      </p:pic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US" sz="2400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Architecture Patterns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 fontAlgn="auto">
              <a:spcAft>
                <a:spcPts val="0"/>
              </a:spcAft>
              <a:defRPr/>
            </a:pPr>
            <a:endParaRPr lang="en-US" sz="2400" b="1" spc="-1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pic>
        <p:nvPicPr>
          <p:cNvPr id="7" name="Picture 2" descr="Diagram contrasting monolithic vs microservices architectur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1200150"/>
            <a:ext cx="3581400" cy="3276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15975" y="1173480"/>
            <a:ext cx="3747135" cy="3726180"/>
          </a:xfrm>
          <a:prstGeom prst="rect">
            <a:avLst/>
          </a:prstGeom>
        </p:spPr>
        <p:txBody>
          <a:bodyPr vert="horz" wrap="square" lIns="0" tIns="9525" rIns="0" bIns="0" rtlCol="0">
            <a:no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A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lang="en-US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Load Balancer (LB)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sits between clients and servers. It acts as a traffic cop, distributing incoming requests across multiple healthy servers</a:t>
            </a: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endParaRPr 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Prevents 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overload on a single server.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Increases 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availability (reroutes traffic if a server dies).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16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Algorithms</a:t>
            </a:r>
            <a:r>
              <a:rPr lang="en-US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Round Robin, Least Connections, IP Hash.</a:t>
            </a:r>
          </a:p>
        </p:txBody>
      </p:sp>
      <p:pic>
        <p:nvPicPr>
          <p:cNvPr id="44047" name="Picture 15" descr="https://www.psychz.net/content/loadbalancing/load-balancin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63110" y="1123950"/>
            <a:ext cx="4236085" cy="3484245"/>
          </a:xfrm>
          <a:prstGeom prst="rect">
            <a:avLst/>
          </a:prstGeom>
          <a:noFill/>
        </p:spPr>
      </p:pic>
      <p:sp>
        <p:nvSpPr>
          <p:cNvPr id="5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US" sz="2400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Load Balancing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 fontAlgn="auto">
              <a:spcAft>
                <a:spcPts val="0"/>
              </a:spcAft>
              <a:defRPr/>
            </a:pPr>
            <a:endParaRPr lang="en-US" sz="2400" b="1" spc="-1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61365" y="1113154"/>
            <a:ext cx="7883525" cy="1839595"/>
          </a:xfrm>
          <a:prstGeom prst="rect">
            <a:avLst/>
          </a:prstGeom>
        </p:spPr>
        <p:txBody>
          <a:bodyPr vert="horz" wrap="square" lIns="0" tIns="15875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Caching is the strategy of storing copies of frequently accessed data in fast memory (RAM) to reduce database load and latency.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Read-Through: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App checks cache first; if missing, reads from DB and updates cache.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Tools: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lang="en-US" sz="16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Redis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en-US" sz="16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Memcached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Challenge: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Cache Invalidation (keeping cache and DB in sync).</a:t>
            </a:r>
          </a:p>
        </p:txBody>
      </p:sp>
      <p:pic>
        <p:nvPicPr>
          <p:cNvPr id="5" name="Picture 4" descr="Screenshot 2025-12-03 at 10.29.37 AM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47800" y="3009265"/>
            <a:ext cx="6643370" cy="2058035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US" sz="2400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Caching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 fontAlgn="auto">
              <a:spcAft>
                <a:spcPts val="0"/>
              </a:spcAft>
              <a:defRPr/>
            </a:pPr>
            <a:endParaRPr lang="en-US" sz="2400" b="1" spc="-1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61365" y="1183005"/>
            <a:ext cx="7884160" cy="3750945"/>
          </a:xfrm>
          <a:prstGeom prst="rect">
            <a:avLst/>
          </a:prstGeom>
        </p:spPr>
        <p:txBody>
          <a:bodyPr vert="horz" wrap="square" lIns="0" tIns="15875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Reliability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system continues to function correctly even when things go wrong (hardware failure, software faults, human error</a:t>
            </a: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Scalability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system's ability to cope with increased load (e.g., more users, more data) by adding resources.</a:t>
            </a:r>
          </a:p>
          <a:p>
            <a:pPr>
              <a:lnSpc>
                <a:spcPct val="150000"/>
              </a:lnSpc>
            </a:pPr>
            <a:endParaRPr lang="en-US" sz="16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Maintainability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How easy it is for engineers to understand the system, fix bugs, and add new features over time</a:t>
            </a: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US" sz="2400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Core Principles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 fontAlgn="auto">
              <a:spcAft>
                <a:spcPts val="0"/>
              </a:spcAft>
              <a:defRPr/>
            </a:pPr>
            <a:endParaRPr lang="en-US" sz="2400" b="1" spc="-1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762000" y="1200150"/>
            <a:ext cx="3810635" cy="35007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SQL 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(Relational)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Structured data with strict schemas.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1600" b="1" dirty="0">
                <a:latin typeface="Times New Roman Bold" panose="02020503050405090304" charset="0"/>
                <a:cs typeface="Times New Roman Bold" panose="02020503050405090304" charset="0"/>
              </a:rPr>
              <a:t>ACID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transactions</a:t>
            </a: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sz="1600" b="1" i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</a:t>
            </a:r>
            <a:r>
              <a:rPr lang="en-US" sz="16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tomicity, </a:t>
            </a:r>
            <a:r>
              <a:rPr lang="en-US" sz="1600" b="1" i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C</a:t>
            </a:r>
            <a:r>
              <a:rPr lang="en-US" sz="16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onsistency, </a:t>
            </a:r>
            <a:r>
              <a:rPr lang="en-US" sz="1600" b="1" i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</a:t>
            </a:r>
            <a:r>
              <a:rPr lang="en-US" sz="16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solation, </a:t>
            </a:r>
            <a:r>
              <a:rPr lang="en-US" sz="1600" b="1" i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D</a:t>
            </a:r>
            <a:r>
              <a:rPr lang="en-US" sz="16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urability.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Good 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for complex queries (JOINs) and financial data.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16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MySQL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lang="en-US" sz="16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PostgreSQ</a:t>
            </a:r>
            <a:endParaRPr 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635" y="1200785"/>
            <a:ext cx="3810635" cy="350012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 </a:t>
            </a:r>
            <a:r>
              <a:rPr lang="en-US" sz="16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NoSQL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(Non-Relational)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Flexible 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schema for unstructured data.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BASE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consistency</a:t>
            </a: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sz="1600" b="1" i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</a:t>
            </a:r>
            <a:r>
              <a:rPr lang="en-US" sz="16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asically </a:t>
            </a:r>
            <a:r>
              <a:rPr lang="en-US" sz="1600" b="1" i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</a:t>
            </a:r>
            <a:r>
              <a:rPr lang="en-US" sz="16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vailable, </a:t>
            </a:r>
            <a:r>
              <a:rPr lang="en-US" sz="1600" b="1" i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</a:t>
            </a:r>
            <a:r>
              <a:rPr lang="en-US" sz="16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oft state, </a:t>
            </a:r>
            <a:r>
              <a:rPr lang="en-US" sz="1600" b="1" i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E</a:t>
            </a:r>
            <a:r>
              <a:rPr lang="en-US" sz="16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ventual consistency.</a:t>
            </a:r>
            <a:endParaRPr 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Great 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for high throughput and horizontal scaling.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1600" dirty="0" err="1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MongoDB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Cassandra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US" sz="2400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SQL </a:t>
            </a:r>
            <a:r>
              <a:rPr lang="en-US" sz="2400" dirty="0" err="1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vs</a:t>
            </a:r>
            <a:r>
              <a:rPr lang="en-US" sz="2400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sz="2400" dirty="0" err="1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NoSQL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 fontAlgn="auto">
              <a:spcAft>
                <a:spcPts val="0"/>
              </a:spcAft>
              <a:defRPr/>
            </a:pPr>
            <a:endParaRPr lang="en-US" sz="2400" b="1" spc="-1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65175" y="1173480"/>
            <a:ext cx="7817485" cy="2928620"/>
          </a:xfrm>
          <a:prstGeom prst="rect">
            <a:avLst/>
          </a:prstGeom>
        </p:spPr>
        <p:txBody>
          <a:bodyPr vert="horz" wrap="square" lIns="0" tIns="9525" rIns="0" bIns="0" rtlCol="0">
            <a:noAutofit/>
          </a:bodyPr>
          <a:lstStyle/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sz="16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Sharding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involves splitting a large database into smaller, faster, more easily managed parts called shards</a:t>
            </a: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Horizontal 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Partitioning: Rows are distributed across different servers based on a Shard Key (e.g., </a:t>
            </a:r>
            <a:r>
              <a:rPr lang="en-US" sz="16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UserID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sz="16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Pros: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Unlimited storage scaling.</a:t>
            </a: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sz="16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Cons: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Complex queries (joins) across shards are difficult.</a:t>
            </a: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US" sz="2400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Database </a:t>
            </a:r>
            <a:r>
              <a:rPr lang="en-US" sz="2400" dirty="0" err="1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Sharding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 fontAlgn="auto">
              <a:spcAft>
                <a:spcPts val="0"/>
              </a:spcAft>
              <a:defRPr/>
            </a:pPr>
            <a:endParaRPr lang="en-US" sz="2400" b="1" spc="-1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pic>
        <p:nvPicPr>
          <p:cNvPr id="20482" name="Picture 2" descr="Database sharding diagram showing horizontal partitioni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2800350"/>
            <a:ext cx="2906395" cy="2222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62000" y="1123950"/>
            <a:ext cx="7883525" cy="1448435"/>
          </a:xfrm>
          <a:prstGeom prst="rect">
            <a:avLst/>
          </a:prstGeom>
        </p:spPr>
        <p:txBody>
          <a:bodyPr vert="horz" wrap="square" lIns="0" tIns="9525" rIns="0" bIns="0" rtlCol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 a distributed data store, you can only guarantee </a:t>
            </a:r>
            <a:r>
              <a:rPr lang="en-US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two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of the following three:</a:t>
            </a:r>
          </a:p>
          <a:p>
            <a:pPr algn="just">
              <a:lnSpc>
                <a:spcPct val="150000"/>
              </a:lnSpc>
            </a:pPr>
            <a:r>
              <a:rPr lang="en-US" sz="1600" b="1" i="1" dirty="0" smtClean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C</a:t>
            </a:r>
            <a:r>
              <a:rPr lang="en-US" sz="1600" b="0" i="1" dirty="0" smtClean="0">
                <a:solidFill>
                  <a:srgbClr val="FF0000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onsistency</a:t>
            </a:r>
            <a:r>
              <a:rPr lang="en-US" sz="1600" b="0" i="1" dirty="0">
                <a:solidFill>
                  <a:srgbClr val="FF0000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: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Every read receives the most recent write.</a:t>
            </a:r>
          </a:p>
          <a:p>
            <a:pPr algn="just">
              <a:lnSpc>
                <a:spcPct val="150000"/>
              </a:lnSpc>
            </a:pPr>
            <a:r>
              <a:rPr lang="en-US" sz="1600" b="1" i="1" dirty="0" smtClean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A</a:t>
            </a:r>
            <a:r>
              <a:rPr lang="en-US" sz="1600" b="0" i="1" dirty="0" smtClean="0">
                <a:solidFill>
                  <a:srgbClr val="FF0000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vailability</a:t>
            </a:r>
            <a:r>
              <a:rPr lang="en-US" sz="1600" b="0" i="1" dirty="0">
                <a:solidFill>
                  <a:srgbClr val="FF0000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: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Every request receives a response (even if data is stale).</a:t>
            </a:r>
          </a:p>
          <a:p>
            <a:pPr algn="just">
              <a:lnSpc>
                <a:spcPct val="150000"/>
              </a:lnSpc>
            </a:pPr>
            <a:r>
              <a:rPr lang="en-US" sz="1600" b="1" i="1" dirty="0" smtClean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P</a:t>
            </a:r>
            <a:r>
              <a:rPr lang="en-US" sz="1600" b="0" i="1" dirty="0" smtClean="0">
                <a:solidFill>
                  <a:srgbClr val="FF0000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artition </a:t>
            </a:r>
            <a:r>
              <a:rPr lang="en-US" sz="1600" b="0" i="1" dirty="0">
                <a:solidFill>
                  <a:srgbClr val="FF0000"/>
                </a:solidFill>
                <a:latin typeface="Times New Roman Italic" panose="02020503050405090304" charset="0"/>
                <a:cs typeface="Times New Roman Italic" panose="02020503050405090304" charset="0"/>
              </a:rPr>
              <a:t>Tolerance</a:t>
            </a:r>
            <a:r>
              <a:rPr lang="en-US" sz="16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: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The system works despite network failures.</a:t>
            </a:r>
          </a:p>
        </p:txBody>
      </p:sp>
      <p:pic>
        <p:nvPicPr>
          <p:cNvPr id="19458" name="Picture 2" descr="Venn diagram illustrating the CAP theorem trade-off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2647950"/>
            <a:ext cx="3352800" cy="2286000"/>
          </a:xfrm>
          <a:prstGeom prst="rect">
            <a:avLst/>
          </a:prstGeom>
          <a:noFill/>
        </p:spPr>
      </p:pic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US" sz="2400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CAP Theorem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 fontAlgn="auto">
              <a:spcAft>
                <a:spcPts val="0"/>
              </a:spcAft>
              <a:defRPr/>
            </a:pPr>
            <a:endParaRPr lang="en-US" sz="2400" b="1" spc="-1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62000" y="1123950"/>
            <a:ext cx="7883525" cy="3048000"/>
          </a:xfrm>
          <a:prstGeom prst="rect">
            <a:avLst/>
          </a:prstGeom>
        </p:spPr>
        <p:txBody>
          <a:bodyPr vert="horz" wrap="square" lIns="0" tIns="9525" rIns="0" bIns="0" rtlCol="0">
            <a:no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A distributed database is a database that runs and stores data across multiple computers, as opposed to doing everything on a single machine.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Typically, distributed databases operate on two or more interconnected servers on a computer network.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Each location where a version of the database is running is often called an instance or a node.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A distributed database is basically a database that is not limited to one system, it is spread over different sites,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i.e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, on multiple computers or over a network of computers.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A distributed database system is located on various sites that don’t share physical components.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en-IN" sz="2400" dirty="0" smtClean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Introduction to Distributed Databases</a:t>
            </a:r>
            <a:endParaRPr lang="en-US" sz="2400" b="1" spc="-1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32772" name="AutoShape 4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4" name="AutoShape 6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6" name="AutoShape 8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8" name="AutoShape 10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80" name="AutoShape 12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1999" y="285686"/>
            <a:ext cx="361696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Summary</a:t>
            </a:r>
            <a:r>
              <a:rPr sz="2400" spc="-2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of</a:t>
            </a:r>
            <a:r>
              <a:rPr sz="2400" spc="-1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</a:t>
            </a:r>
            <a:r>
              <a:rPr sz="2400" spc="-1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2400" spc="-1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Lecture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000" y="742950"/>
            <a:ext cx="7790180" cy="3722370"/>
          </a:xfrm>
          <a:prstGeom prst="rect">
            <a:avLst/>
          </a:prstGeom>
        </p:spPr>
        <p:txBody>
          <a:bodyPr vert="horz" wrap="square" lIns="0" tIns="15875" rIns="0" bIns="0" rtlCol="0">
            <a:noAutofit/>
          </a:bodyPr>
          <a:lstStyle/>
          <a:p>
            <a:pPr marL="12700" indent="0">
              <a:lnSpc>
                <a:spcPct val="150000"/>
              </a:lnSpc>
              <a:spcBef>
                <a:spcPts val="1700"/>
              </a:spcBef>
              <a:buClr>
                <a:srgbClr val="000000"/>
              </a:buClr>
              <a:buFont typeface="Arial MT"/>
              <a:buNone/>
              <a:tabLst>
                <a:tab pos="298450" algn="l"/>
              </a:tabLst>
            </a:pPr>
            <a:r>
              <a:rPr lang="en-US" sz="16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Scalability, Availability, and Reliability:</a:t>
            </a: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/>
            </a:r>
            <a:b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The lecture explained how systems must grow with user demand (scalability), stay accessible without downtime (availability), and function correctly even during failures (reliability).</a:t>
            </a:r>
          </a:p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sz="16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Monolithic </a:t>
            </a:r>
            <a:r>
              <a:rPr lang="en-US" sz="1600" b="1" dirty="0" err="1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vs</a:t>
            </a:r>
            <a:r>
              <a:rPr lang="en-US" sz="16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1600" b="1" dirty="0" err="1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Microservices</a:t>
            </a:r>
            <a:r>
              <a:rPr lang="en-US" sz="16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/>
            </a:r>
            <a:b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We learned the difference between a single, unified application (monolith) and a collection of small, independent services (</a:t>
            </a:r>
            <a:r>
              <a:rPr lang="en-US" sz="1600" dirty="0" err="1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microservices</a:t>
            </a: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), including when each approach is useful.</a:t>
            </a: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sz="16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Latency and Throughput:</a:t>
            </a: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/>
            </a:r>
            <a:b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These performance metrics were discussed to understand system efficiency—latency measures response time, while throughput measures how many requests a system can handle per second.</a:t>
            </a: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sz="16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Caching:</a:t>
            </a: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/>
            </a:r>
            <a:b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The lecture highlighted caching as a method to store frequently accessed data for quick retrieval, helping to reduce load on servers and speed up system performance.</a:t>
            </a:r>
            <a:endParaRPr 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62000" y="1276350"/>
            <a:ext cx="7630160" cy="2821940"/>
          </a:xfrm>
          <a:prstGeom prst="rect">
            <a:avLst/>
          </a:prstGeom>
        </p:spPr>
        <p:txBody>
          <a:bodyPr vert="horz" wrap="square" lIns="0" tIns="16510" rIns="0" bIns="0" rtlCol="0">
            <a:noAutofit/>
          </a:bodyPr>
          <a:lstStyle/>
          <a:p>
            <a:pPr marL="355600" indent="-342900">
              <a:lnSpc>
                <a:spcPts val="2290"/>
              </a:lnSpc>
              <a:spcBef>
                <a:spcPts val="130"/>
              </a:spcBef>
              <a:buClr>
                <a:srgbClr val="000000"/>
              </a:buClr>
              <a:buFont typeface="Arial MT"/>
              <a:buChar char="•"/>
              <a:tabLst>
                <a:tab pos="355600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Load Balancing Algorithms (RR, Weighted RR, Least Connection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55600" indent="-342900">
              <a:lnSpc>
                <a:spcPts val="2290"/>
              </a:lnSpc>
              <a:spcBef>
                <a:spcPts val="130"/>
              </a:spcBef>
              <a:buClr>
                <a:srgbClr val="000000"/>
              </a:buClr>
              <a:buFont typeface="Arial MT"/>
              <a:buChar char="•"/>
              <a:tabLst>
                <a:tab pos="355600" algn="l"/>
              </a:tabLst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Caching Strategies – Cache Placement and Policy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Client-Side vs. Server-Side Caching 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marL="355600" indent="-342900">
              <a:lnSpc>
                <a:spcPts val="2290"/>
              </a:lnSpc>
              <a:spcBef>
                <a:spcPts val="130"/>
              </a:spcBef>
              <a:buClr>
                <a:srgbClr val="000000"/>
              </a:buClr>
              <a:buFont typeface="Arial MT"/>
              <a:buChar char="•"/>
              <a:tabLst>
                <a:tab pos="355600" algn="l"/>
              </a:tabLst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CDN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Basics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Cache Invalidation and Advanced Caching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Patterns</a:t>
            </a:r>
          </a:p>
          <a:p>
            <a:pPr marL="355600" indent="-342900">
              <a:lnSpc>
                <a:spcPts val="2290"/>
              </a:lnSpc>
              <a:spcBef>
                <a:spcPts val="130"/>
              </a:spcBef>
              <a:buClr>
                <a:srgbClr val="000000"/>
              </a:buClr>
              <a:buFont typeface="Arial MT"/>
              <a:buChar char="•"/>
              <a:tabLst>
                <a:tab pos="355600" algn="l"/>
              </a:tabLst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Replication – Master-Slave and Multi-Master Architectures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Next</a:t>
            </a:r>
            <a:r>
              <a:rPr sz="2400" spc="-65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sz="2400" spc="-1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Lecture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 fontAlgn="auto">
              <a:spcAft>
                <a:spcPts val="0"/>
              </a:spcAft>
              <a:defRPr/>
            </a:pPr>
            <a:endParaRPr lang="en-US" sz="2400" b="1" spc="-1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62000" y="1124585"/>
            <a:ext cx="7696200" cy="379920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r>
              <a:rPr lang="en-US" sz="1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1. What is the main difference between vertical and horizontal scaling?</a:t>
            </a:r>
          </a:p>
          <a:p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A. Vertical scaling adds more machines; horizontal scaling increases RAM</a:t>
            </a:r>
            <a:b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B. Vertical scaling increases resources of one machine; horizontal scaling adds more machines</a:t>
            </a:r>
            <a:b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C. Both increase CPU only</a:t>
            </a:r>
            <a:b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D. None of the above</a:t>
            </a:r>
            <a:b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Correct Answer:</a:t>
            </a:r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1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endParaRPr lang="en-US" sz="1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12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1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2. Which component helps distribute traffic among multiple servers?</a:t>
            </a:r>
          </a:p>
          <a:p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A. Cache</a:t>
            </a:r>
            <a:b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B. Database</a:t>
            </a:r>
            <a:b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C. Load Balancer</a:t>
            </a:r>
            <a:b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D. API Gateway</a:t>
            </a:r>
            <a:b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Correct Answer:</a:t>
            </a:r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1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</a:t>
            </a:r>
            <a:endParaRPr lang="en-US" sz="1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12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1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3. What is the purpose of caching in a system?</a:t>
            </a:r>
          </a:p>
          <a:p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A. To store data permanently</a:t>
            </a:r>
            <a:b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B. To speed up data retrieval by storing frequently accessed data</a:t>
            </a:r>
            <a:b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C. To replace the database</a:t>
            </a:r>
            <a:b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D. To improve </a:t>
            </a:r>
            <a:r>
              <a:rPr lang="en-US" sz="1200" dirty="0" err="1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microservices</a:t>
            </a:r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communication</a:t>
            </a:r>
            <a:b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sz="1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Correct Answer:</a:t>
            </a:r>
            <a:r>
              <a:rPr lang="en-US" sz="1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1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endParaRPr lang="en-US" sz="1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sz="2400" spc="-1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Quiz/ FAQ’s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 fontAlgn="auto">
              <a:spcAft>
                <a:spcPts val="0"/>
              </a:spcAft>
              <a:defRPr/>
            </a:pPr>
            <a:endParaRPr lang="en-US" sz="2400" b="1" spc="-1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762000" y="1123950"/>
            <a:ext cx="7982585" cy="3582035"/>
          </a:xfrm>
          <a:prstGeom prst="rect">
            <a:avLst/>
          </a:prstGeom>
        </p:spPr>
        <p:txBody>
          <a:bodyPr vert="horz" wrap="square" lIns="0" tIns="15875" rIns="0" bIns="0" rtlCol="0">
            <a:noAutofit/>
          </a:bodyPr>
          <a:lstStyle/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n-US" altLang="en-US" sz="1600" i="0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Book Reference:</a:t>
            </a:r>
            <a:endParaRPr lang="en-US" altLang="en-US" sz="1600" b="0" i="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n-US" altLang="en-US" sz="1600" b="0" i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System Design Guide for Software Professionals- Kindle Edition by</a:t>
            </a:r>
            <a:r>
              <a:rPr lang="" altLang="en-US" sz="1600" b="0" i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lang="en-US" altLang="en-US" sz="1600" b="0" i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Dhirendra Sinha</a:t>
            </a:r>
            <a:r>
              <a:rPr lang="" altLang="en-US" sz="1600" b="0" i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lang="en-US" altLang="en-US" sz="1600" b="0" i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(Author),</a:t>
            </a:r>
            <a:r>
              <a:rPr lang="" altLang="en-US" sz="1600" b="0" i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lang="en-US" altLang="en-US" sz="1600" b="0" i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Tejas Chopra</a:t>
            </a:r>
            <a:r>
              <a:rPr lang="" altLang="en-US" sz="1600" b="0" i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lang="en-US" altLang="en-US" sz="1600" b="0" i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(Author)</a:t>
            </a:r>
            <a:r>
              <a:rPr lang="" altLang="en-US" sz="1600" b="0" i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 </a:t>
            </a:r>
            <a:r>
              <a:rPr lang="en-US" altLang="en-US" sz="1600" b="0" i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Format</a:t>
            </a:r>
          </a:p>
          <a:p>
            <a:pPr marL="12700">
              <a:lnSpc>
                <a:spcPct val="150000"/>
              </a:lnSpc>
              <a:spcBef>
                <a:spcPts val="125"/>
              </a:spcBef>
            </a:pPr>
            <a:endParaRPr lang="en-US" altLang="en-US" sz="1600" b="0" i="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n-US" altLang="en-US" sz="1600" i="0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Tutorial Link:</a:t>
            </a:r>
            <a:endParaRPr lang="en-US" altLang="en-US" sz="1600" b="0" i="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n-US" altLang="en-US" sz="1600" b="0" i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https://www.geeksforgeeks.org/system-design/system-design-tutorial/ </a:t>
            </a:r>
          </a:p>
          <a:p>
            <a:pPr marL="12700">
              <a:lnSpc>
                <a:spcPct val="150000"/>
              </a:lnSpc>
              <a:spcBef>
                <a:spcPts val="125"/>
              </a:spcBef>
            </a:pPr>
            <a:endParaRPr lang="en-US" altLang="en-US" sz="1600" b="0" i="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n-US" altLang="en-US" sz="1600" i="0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Video Link:</a:t>
            </a:r>
            <a:endParaRPr lang="en-US" altLang="en-US" sz="1600" b="0" i="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n-US" altLang="en-US" sz="1600" b="0" i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https://www.youtube.com/results?search_query=Introduction+to+System+Design </a:t>
            </a:r>
          </a:p>
          <a:p>
            <a:pPr marL="12700">
              <a:lnSpc>
                <a:spcPct val="150000"/>
              </a:lnSpc>
              <a:spcBef>
                <a:spcPts val="125"/>
              </a:spcBef>
            </a:pPr>
            <a:r>
              <a:rPr lang="en-US" altLang="en-US" sz="1600" b="0" i="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https://x.com/ShradhaKhapra_</a:t>
            </a: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References/</a:t>
            </a:r>
            <a:r>
              <a:rPr sz="2400" spc="-9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sz="24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Articles/</a:t>
            </a:r>
            <a:r>
              <a:rPr sz="2400" spc="-85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sz="2400" spc="-1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Videos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 fontAlgn="auto">
              <a:spcAft>
                <a:spcPts val="0"/>
              </a:spcAft>
              <a:defRPr/>
            </a:pPr>
            <a:endParaRPr lang="en-US" sz="2400" b="1" spc="-1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/>
        </p:nvSpPr>
        <p:spPr>
          <a:xfrm>
            <a:off x="762001" y="285671"/>
            <a:ext cx="7883525" cy="483394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>
            <a:lvl1pPr>
              <a:defRPr sz="3950" b="1" i="0">
                <a:solidFill>
                  <a:srgbClr val="1A1A1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sz="2400" spc="-1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Class-Wise Feedback</a:t>
            </a:r>
            <a:endParaRPr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 fontAlgn="auto">
              <a:spcAft>
                <a:spcPts val="0"/>
              </a:spcAft>
              <a:defRPr/>
            </a:pPr>
            <a:endParaRPr lang="en-US" sz="2400" b="1" spc="-1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15362" name="AutoShape 2" descr="Homogeneous Distributed Database (Self Creation) | Download Scientific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qr-code-bee-is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96457" y="986972"/>
            <a:ext cx="3979636" cy="312601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47306" rIns="0" bIns="0" rtlCol="0">
            <a:spAutoFit/>
          </a:bodyPr>
          <a:lstStyle/>
          <a:p>
            <a:pPr marL="1548765">
              <a:lnSpc>
                <a:spcPct val="100000"/>
              </a:lnSpc>
              <a:spcBef>
                <a:spcPts val="90"/>
              </a:spcBef>
            </a:pPr>
            <a:r>
              <a:rPr spc="-819" dirty="0"/>
              <a:t>Thank</a:t>
            </a:r>
            <a:r>
              <a:rPr spc="-30" dirty="0"/>
              <a:t> </a:t>
            </a:r>
            <a:r>
              <a:rPr spc="-580" dirty="0"/>
              <a:t>You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9585" y="4324350"/>
            <a:ext cx="5624830" cy="323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latin typeface="Times New Roman" pitchFamily="18" charset="0"/>
                <a:cs typeface="Times New Roman" pitchFamily="18" charset="0"/>
              </a:rPr>
              <a:t>For</a:t>
            </a:r>
            <a:r>
              <a:rPr sz="2000" spc="-10" dirty="0">
                <a:latin typeface="Times New Roman" pitchFamily="18" charset="0"/>
                <a:cs typeface="Times New Roman" pitchFamily="18" charset="0"/>
              </a:rPr>
              <a:t> queries</a:t>
            </a:r>
            <a:r>
              <a:rPr lang="en-US" altLang="" sz="20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Email:</a:t>
            </a:r>
            <a:r>
              <a:rPr lang="en-US" altLang="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  <a:hlinkClick r:id="rId2"/>
              </a:rPr>
              <a:t>kamaljee</a:t>
            </a:r>
            <a:r>
              <a:rPr lang="en-US" sz="2000" u="sng" spc="-10" dirty="0" smtClean="0">
                <a:solidFill>
                  <a:srgbClr val="1C3678"/>
                </a:solidFill>
                <a:uFill>
                  <a:solidFill>
                    <a:srgbClr val="1C3678"/>
                  </a:solidFill>
                </a:uFill>
                <a:latin typeface="Times New Roman" pitchFamily="18" charset="0"/>
                <a:cs typeface="Times New Roman" pitchFamily="18" charset="0"/>
                <a:hlinkClick r:id="rId3"/>
              </a:rPr>
              <a:t>t</a:t>
            </a:r>
            <a:r>
              <a:rPr sz="2000" spc="-10" dirty="0" smtClean="0">
                <a:latin typeface="Times New Roman" pitchFamily="18" charset="0"/>
                <a:cs typeface="Times New Roman" pitchFamily="18" charset="0"/>
                <a:hlinkClick r:id="rId2"/>
              </a:rPr>
              <a:t>.e1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  <a:hlinkClick r:id="rId2"/>
              </a:rPr>
              <a:t>9147</a:t>
            </a:r>
            <a:r>
              <a:rPr sz="2000" spc="-10" dirty="0" smtClean="0">
                <a:latin typeface="Times New Roman" pitchFamily="18" charset="0"/>
                <a:cs typeface="Times New Roman" pitchFamily="18" charset="0"/>
                <a:hlinkClick r:id="rId2"/>
              </a:rPr>
              <a:t>@cumail.in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875</Words>
  <Application>Microsoft Office PowerPoint</Application>
  <PresentationFormat>On-screen Show (16:9)</PresentationFormat>
  <Paragraphs>159</Paragraphs>
  <Slides>24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Office Theme</vt:lpstr>
      <vt:lpstr>CorelDRAW</vt:lpstr>
      <vt:lpstr>Slide 1</vt:lpstr>
      <vt:lpstr>Slide 2</vt:lpstr>
      <vt:lpstr>Course Outcomes</vt:lpstr>
      <vt:lpstr>Unit-1 Syllabus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Summary of the Lecture</vt:lpstr>
      <vt:lpstr>Slide 20</vt:lpstr>
      <vt:lpstr>Slide 21</vt:lpstr>
      <vt:lpstr>Slide 22</vt:lpstr>
      <vt:lpstr>Slide 23</vt:lpstr>
      <vt:lpstr>Slide 24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 INSTITUTE OF TECHNOLOGY DEPARTMENT OF COMPUTER SCIENCE &amp; ENGINEERING</dc:title>
  <dc:creator>DELL-LATITUDE</dc:creator>
  <cp:lastModifiedBy>DELL-LATITUDE</cp:lastModifiedBy>
  <cp:revision>93</cp:revision>
  <dcterms:created xsi:type="dcterms:W3CDTF">2025-12-03T05:18:11Z</dcterms:created>
  <dcterms:modified xsi:type="dcterms:W3CDTF">2025-12-15T05:43:17Z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2025-11-29T05:30:00Z</vt:filetime>
  </property>
  <property fmtid="{D5CDD505-2E9C-101B-9397-08002B2CF9AE}" pid="3" name="LastSaved">
    <vt:filetime>2025-11-30T05:30:00Z</vt:filetime>
  </property>
  <property fmtid="{D5CDD505-2E9C-101B-9397-08002B2CF9AE}" pid="4" name="ICV">
    <vt:lpwstr>BE53AF1E6976AF6A8CBC2F69ADEE211E_42</vt:lpwstr>
  </property>
  <property fmtid="{D5CDD505-2E9C-101B-9397-08002B2CF9AE}" pid="5" name="KSOProductBuildVer">
    <vt:lpwstr>1033-12.1.23143.23143</vt:lpwstr>
  </property>
</Properties>
</file>