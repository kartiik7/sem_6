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2"/>
    <p:sldId id="257" r:id="rId3"/>
    <p:sldId id="297" r:id="rId4"/>
    <p:sldId id="298" r:id="rId5"/>
    <p:sldId id="310" r:id="rId6"/>
    <p:sldId id="311" r:id="rId7"/>
    <p:sldId id="300" r:id="rId8"/>
    <p:sldId id="301" r:id="rId9"/>
    <p:sldId id="303" r:id="rId10"/>
    <p:sldId id="304" r:id="rId11"/>
    <p:sldId id="302" r:id="rId12"/>
    <p:sldId id="285" r:id="rId13"/>
    <p:sldId id="286" r:id="rId14"/>
    <p:sldId id="287" r:id="rId15"/>
    <p:sldId id="313" r:id="rId16"/>
    <p:sldId id="288" r:id="rId17"/>
    <p:sldId id="289" r:id="rId18"/>
    <p:sldId id="290" r:id="rId19"/>
  </p:sldIdLst>
  <p:sldSz cx="9144000" cy="5143500" type="screen16x9"/>
  <p:notesSz cx="9144000" cy="5143500"/>
  <p:defaultTextStyle>
    <a:defPPr>
      <a:defRPr kern="0"/>
    </a:defPPr>
  </p:defaultTextStyle>
  <p:extLst>
    <p:ext uri="{EFAFB233-063F-42B5-8137-9DF3F51BA10A}">
      <p15:sldGuideLst xmlns="" xmlns:p15="http://schemas.microsoft.com/office/powerpoint/2012/main">
        <p15:guide id="1" orient="horz" pos="286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822" y="-78"/>
      </p:cViewPr>
      <p:guideLst>
        <p:guide orient="horz" pos="2862"/>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804386"/>
            <a:ext cx="2949178" cy="738664"/>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0"/>
            <a:ext cx="4629150" cy="143116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45720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6" name="Footer Placeholder 5"/>
          <p:cNvSpPr>
            <a:spLocks noGrp="1"/>
          </p:cNvSpPr>
          <p:nvPr>
            <p:ph type="ftr" sz="quarter" idx="11"/>
          </p:nvPr>
        </p:nvSpPr>
        <p:spPr>
          <a:xfrm>
            <a:off x="3108960" y="4783455"/>
            <a:ext cx="292608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7" name="Slide Number Placeholder 6"/>
          <p:cNvSpPr>
            <a:spLocks noGrp="1"/>
          </p:cNvSpPr>
          <p:nvPr>
            <p:ph type="sldNum" sz="quarter" idx="12"/>
          </p:nvPr>
        </p:nvSpPr>
        <p:spPr>
          <a:xfrm>
            <a:off x="658368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fld id="{9D9B6AFD-A192-4C37-8069-CDFD0FFEA4A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8575" y="19050"/>
            <a:ext cx="657225" cy="1047750"/>
          </a:xfrm>
          <a:prstGeom prst="rect">
            <a:avLst/>
          </a:prstGeom>
        </p:spPr>
      </p:pic>
      <p:sp>
        <p:nvSpPr>
          <p:cNvPr id="2" name="Holder 2"/>
          <p:cNvSpPr>
            <a:spLocks noGrp="1"/>
          </p:cNvSpPr>
          <p:nvPr>
            <p:ph type="title"/>
          </p:nvPr>
        </p:nvSpPr>
        <p:spPr>
          <a:xfrm>
            <a:off x="454977" y="89852"/>
            <a:ext cx="8234044" cy="874966"/>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a:xfrm>
            <a:off x="1056322" y="1461452"/>
            <a:ext cx="6900545" cy="238061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Q5aTUc7c4j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forms.gle/KF57CKfJj9WmhsEr5" TargetMode="External"/><Relationship Id="rId2" Type="http://schemas.openxmlformats.org/officeDocument/2006/relationships/hyperlink" Target="mailto:kamaljee.e18488@cumail.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588" y="3657600"/>
            <a:ext cx="9144001" cy="85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2" name="Rectangle 31"/>
          <p:cNvSpPr/>
          <p:nvPr/>
        </p:nvSpPr>
        <p:spPr>
          <a:xfrm>
            <a:off x="228600" y="3962400"/>
            <a:ext cx="33338" cy="345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44" name="Slide Number Placeholder 2"/>
          <p:cNvSpPr txBox="1"/>
          <p:nvPr/>
        </p:nvSpPr>
        <p:spPr>
          <a:xfrm>
            <a:off x="6572251" y="4302919"/>
            <a:ext cx="2055813" cy="205979"/>
          </a:xfrm>
          <a:prstGeom prst="rect">
            <a:avLst/>
          </a:prstGeom>
        </p:spPr>
        <p:txBody>
          <a:bodyPr lIns="68556" tIns="34279" rIns="68556" bIns="34279"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900" dirty="0">
              <a:solidFill>
                <a:prstClr val="black">
                  <a:tint val="75000"/>
                </a:prstClr>
              </a:solidFill>
            </a:endParaRPr>
          </a:p>
        </p:txBody>
      </p:sp>
      <p:sp>
        <p:nvSpPr>
          <p:cNvPr id="46" name="Right Triangle 45"/>
          <p:cNvSpPr/>
          <p:nvPr/>
        </p:nvSpPr>
        <p:spPr>
          <a:xfrm flipV="1">
            <a:off x="7129464" y="3983832"/>
            <a:ext cx="968375" cy="65127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graphicFrame>
        <p:nvGraphicFramePr>
          <p:cNvPr id="19462" name="Object 47"/>
          <p:cNvGraphicFramePr>
            <a:graphicFrameLocks noChangeAspect="1"/>
          </p:cNvGraphicFramePr>
          <p:nvPr/>
        </p:nvGraphicFramePr>
        <p:xfrm>
          <a:off x="58738" y="2399110"/>
          <a:ext cx="2476500" cy="1770459"/>
        </p:xfrm>
        <a:graphic>
          <a:graphicData uri="http://schemas.openxmlformats.org/presentationml/2006/ole">
            <p:oleObj spid="_x0000_s1025" name="CorelDRAW" r:id="rId3" imgW="2169000" imgH="2169360" progId="">
              <p:embed/>
            </p:oleObj>
          </a:graphicData>
        </a:graphic>
      </p:graphicFrame>
      <p:sp>
        <p:nvSpPr>
          <p:cNvPr id="37" name="Right Triangle 36"/>
          <p:cNvSpPr/>
          <p:nvPr/>
        </p:nvSpPr>
        <p:spPr>
          <a:xfrm flipH="1">
            <a:off x="5283201" y="628650"/>
            <a:ext cx="3859213" cy="32908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sp>
        <p:nvSpPr>
          <p:cNvPr id="45" name="Rectangle 44"/>
          <p:cNvSpPr/>
          <p:nvPr/>
        </p:nvSpPr>
        <p:spPr>
          <a:xfrm>
            <a:off x="1594093" y="1782572"/>
            <a:ext cx="5120286" cy="888823"/>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pic>
        <p:nvPicPr>
          <p:cNvPr id="19467" name="Picture 29"/>
          <p:cNvPicPr>
            <a:picLocks noChangeAspect="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219200" y="514350"/>
            <a:ext cx="6629400" cy="13385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7370764" y="3643313"/>
            <a:ext cx="1774825" cy="898922"/>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6" name="TextBox 35"/>
          <p:cNvSpPr txBox="1">
            <a:spLocks noChangeArrowheads="1"/>
          </p:cNvSpPr>
          <p:nvPr/>
        </p:nvSpPr>
        <p:spPr bwMode="auto">
          <a:xfrm>
            <a:off x="5160963" y="3984070"/>
            <a:ext cx="3695700" cy="321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DISCOVER . </a:t>
            </a:r>
            <a:r>
              <a:rPr lang="en-US" sz="1500" b="1" dirty="0">
                <a:solidFill>
                  <a:srgbClr val="C00000"/>
                </a:solidFill>
                <a:latin typeface="Times New Roman" panose="02020503050405090304" pitchFamily="18" charset="0"/>
                <a:ea typeface="Karla" pitchFamily="2" charset="0"/>
                <a:cs typeface="Times New Roman" panose="02020503050405090304" pitchFamily="18" charset="0"/>
              </a:rPr>
              <a:t>LEARN</a:t>
            </a: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 . EMPOWER</a:t>
            </a:r>
            <a:endParaRPr lang="en-US" sz="1200" b="1" dirty="0">
              <a:solidFill>
                <a:prstClr val="black"/>
              </a:solidFill>
              <a:latin typeface="Casper" panose="02000506000000020004" pitchFamily="2" charset="0"/>
            </a:endParaRPr>
          </a:p>
        </p:txBody>
      </p:sp>
      <p:sp>
        <p:nvSpPr>
          <p:cNvPr id="52" name="Rectangle 51"/>
          <p:cNvSpPr/>
          <p:nvPr/>
        </p:nvSpPr>
        <p:spPr>
          <a:xfrm>
            <a:off x="5164139" y="4042172"/>
            <a:ext cx="34925" cy="2083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53" name="TextBox 52"/>
          <p:cNvSpPr txBox="1">
            <a:spLocks noChangeArrowheads="1"/>
          </p:cNvSpPr>
          <p:nvPr/>
        </p:nvSpPr>
        <p:spPr bwMode="auto">
          <a:xfrm>
            <a:off x="261939" y="4353323"/>
            <a:ext cx="4822825" cy="695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eaLnBrk="1" fontAlgn="auto" hangingPunct="1">
              <a:lnSpc>
                <a:spcPct val="90000"/>
              </a:lnSpc>
              <a:spcAft>
                <a:spcPct val="35000"/>
              </a:spcAft>
              <a:defRPr/>
            </a:pPr>
            <a:r>
              <a:rPr lang="en-IN" sz="1800" b="1" dirty="0" smtClean="0">
                <a:solidFill>
                  <a:prstClr val="black">
                    <a:lumMod val="85000"/>
                    <a:lumOff val="15000"/>
                  </a:prstClr>
                </a:solidFill>
                <a:latin typeface="Times New Roman" panose="02020503050405090304" pitchFamily="18" charset="0"/>
                <a:cs typeface="Times New Roman" panose="02020503050405090304" pitchFamily="18" charset="0"/>
              </a:rPr>
              <a:t>Lecture</a:t>
            </a:r>
            <a:endParaRPr lang="en-US" sz="1800" b="1" dirty="0">
              <a:solidFill>
                <a:prstClr val="black">
                  <a:lumMod val="85000"/>
                  <a:lumOff val="15000"/>
                </a:prstClr>
              </a:solidFill>
              <a:latin typeface="Times New Roman" panose="02020503050405090304" pitchFamily="18" charset="0"/>
              <a:cs typeface="Times New Roman" panose="02020503050405090304" pitchFamily="18" charset="0"/>
            </a:endParaRPr>
          </a:p>
          <a:p>
            <a:pPr algn="ctr" defTabSz="466725" eaLnBrk="1" fontAlgn="auto" hangingPunct="1">
              <a:lnSpc>
                <a:spcPct val="90000"/>
              </a:lnSpc>
              <a:spcAft>
                <a:spcPct val="35000"/>
              </a:spcAft>
              <a:defRPr/>
            </a:pPr>
            <a:r>
              <a:rPr lang="en-US" kern="1200" dirty="0" smtClean="0">
                <a:latin typeface="Times New Roman" panose="02020503050405090304" pitchFamily="18" charset="0"/>
                <a:ea typeface="+mn-ea"/>
                <a:cs typeface="Times New Roman" panose="02020503050405090304" pitchFamily="18" charset="0"/>
                <a:sym typeface="+mn-ea"/>
              </a:rPr>
              <a:t>Databases in System Design</a:t>
            </a:r>
            <a:endParaRPr lang="en-US" sz="1600" dirty="0">
              <a:solidFill>
                <a:prstClr val="black"/>
              </a:solidFill>
              <a:latin typeface="Times New Roman" panose="02020503050405090304" pitchFamily="18" charset="0"/>
              <a:cs typeface="Times New Roman" panose="02020503050405090304" pitchFamily="18" charset="0"/>
            </a:endParaRPr>
          </a:p>
        </p:txBody>
      </p:sp>
      <p:sp>
        <p:nvSpPr>
          <p:cNvPr id="26" name="TextBox 25"/>
          <p:cNvSpPr txBox="1">
            <a:spLocks noChangeArrowheads="1"/>
          </p:cNvSpPr>
          <p:nvPr/>
        </p:nvSpPr>
        <p:spPr bwMode="auto">
          <a:xfrm>
            <a:off x="408305" y="1833880"/>
            <a:ext cx="8324850" cy="2213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r>
              <a:rPr lang="en-IN" altLang="en-US" sz="3500" b="1" dirty="0">
                <a:solidFill>
                  <a:srgbClr val="000000"/>
                </a:solidFill>
                <a:latin typeface="Times New Roman" panose="02020503050405090304" pitchFamily="18" charset="0"/>
                <a:cs typeface="Times New Roman" panose="02020503050405090304" pitchFamily="18" charset="0"/>
              </a:rPr>
              <a:t>A</a:t>
            </a:r>
            <a:r>
              <a:rPr lang="en-US" altLang="en-IN" sz="3500" b="1" dirty="0">
                <a:solidFill>
                  <a:srgbClr val="000000"/>
                </a:solidFill>
                <a:latin typeface="Times New Roman" panose="02020503050405090304" pitchFamily="18" charset="0"/>
                <a:cs typeface="Times New Roman" panose="02020503050405090304" pitchFamily="18" charset="0"/>
              </a:rPr>
              <a:t>pex</a:t>
            </a:r>
            <a:r>
              <a:rPr lang="en-IN" altLang="en-US" sz="3500" b="1" dirty="0">
                <a:solidFill>
                  <a:srgbClr val="000000"/>
                </a:solidFill>
                <a:latin typeface="Times New Roman" panose="02020503050405090304" pitchFamily="18" charset="0"/>
                <a:cs typeface="Times New Roman" panose="02020503050405090304" pitchFamily="18" charset="0"/>
              </a:rPr>
              <a:t> I</a:t>
            </a:r>
            <a:r>
              <a:rPr lang="en-US" altLang="en-IN" sz="3500" b="1" dirty="0">
                <a:solidFill>
                  <a:srgbClr val="000000"/>
                </a:solidFill>
                <a:latin typeface="Times New Roman" panose="02020503050405090304" pitchFamily="18" charset="0"/>
                <a:cs typeface="Times New Roman" panose="02020503050405090304" pitchFamily="18" charset="0"/>
              </a:rPr>
              <a:t>nstitute</a:t>
            </a:r>
            <a:r>
              <a:rPr lang="en-IN" altLang="en-US" sz="3500" b="1" dirty="0">
                <a:solidFill>
                  <a:srgbClr val="000000"/>
                </a:solidFill>
                <a:latin typeface="Times New Roman" panose="02020503050405090304" pitchFamily="18" charset="0"/>
                <a:cs typeface="Times New Roman" panose="02020503050405090304" pitchFamily="18" charset="0"/>
              </a:rPr>
              <a:t> </a:t>
            </a:r>
            <a:r>
              <a:rPr lang="en-US" altLang="en-IN" sz="3500" b="1" dirty="0">
                <a:solidFill>
                  <a:srgbClr val="000000"/>
                </a:solidFill>
                <a:latin typeface="Times New Roman" panose="02020503050405090304" pitchFamily="18" charset="0"/>
                <a:cs typeface="Times New Roman" panose="02020503050405090304" pitchFamily="18" charset="0"/>
              </a:rPr>
              <a:t>of</a:t>
            </a:r>
            <a:r>
              <a:rPr lang="en-IN" altLang="en-US" sz="3500" b="1" dirty="0">
                <a:solidFill>
                  <a:srgbClr val="000000"/>
                </a:solidFill>
                <a:latin typeface="Times New Roman" panose="02020503050405090304" pitchFamily="18" charset="0"/>
                <a:cs typeface="Times New Roman" panose="02020503050405090304" pitchFamily="18" charset="0"/>
              </a:rPr>
              <a:t> T</a:t>
            </a:r>
            <a:r>
              <a:rPr lang="en-US" altLang="en-IN" sz="3500" b="1" dirty="0">
                <a:solidFill>
                  <a:srgbClr val="000000"/>
                </a:solidFill>
                <a:latin typeface="Times New Roman" panose="02020503050405090304" pitchFamily="18" charset="0"/>
                <a:cs typeface="Times New Roman" panose="02020503050405090304" pitchFamily="18" charset="0"/>
              </a:rPr>
              <a:t>echnology</a:t>
            </a:r>
            <a:endParaRPr lang="en-US" altLang="en-US" sz="3500" dirty="0">
              <a:solidFill>
                <a:srgbClr val="000000"/>
              </a:solidFill>
              <a:latin typeface="Times New Roman" panose="02020503050405090304" pitchFamily="18" charset="0"/>
              <a:cs typeface="Times New Roman" panose="02020503050405090304" pitchFamily="18" charset="0"/>
            </a:endParaRPr>
          </a:p>
          <a:p>
            <a:pPr algn="ctr" eaLnBrk="1" hangingPunct="1"/>
            <a:r>
              <a:rPr lang="en-US" altLang="en-IN" sz="2100" b="1" dirty="0">
                <a:solidFill>
                  <a:srgbClr val="000000"/>
                </a:solidFill>
                <a:latin typeface="Times New Roman" panose="02020503050405090304" pitchFamily="18" charset="0"/>
                <a:cs typeface="Times New Roman" panose="02020503050405090304" pitchFamily="18" charset="0"/>
              </a:rPr>
              <a:t>Department of</a:t>
            </a:r>
            <a:r>
              <a:rPr lang="en-IN" altLang="en-US" sz="2100" b="1" dirty="0">
                <a:solidFill>
                  <a:srgbClr val="000000"/>
                </a:solidFill>
                <a:latin typeface="Times New Roman" panose="02020503050405090304" pitchFamily="18" charset="0"/>
                <a:cs typeface="Times New Roman" panose="02020503050405090304" pitchFamily="18" charset="0"/>
              </a:rPr>
              <a:t> </a:t>
            </a:r>
            <a:r>
              <a:rPr lang="en-US" altLang="en-IN" sz="2100" b="1" dirty="0">
                <a:solidFill>
                  <a:srgbClr val="000000"/>
                </a:solidFill>
                <a:latin typeface="Times New Roman" panose="02020503050405090304" pitchFamily="18" charset="0"/>
                <a:cs typeface="Times New Roman" panose="02020503050405090304" pitchFamily="18" charset="0"/>
              </a:rPr>
              <a:t>Artificial Intelligence and Machine Learning</a:t>
            </a:r>
            <a:endParaRPr lang="en-US" altLang="en-US" sz="2100" b="1" dirty="0">
              <a:solidFill>
                <a:srgbClr val="000000"/>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2300" b="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endParaRPr>
          </a:p>
          <a:p>
            <a:pPr algn="ctr" eaLnBrk="1" hangingPunct="1">
              <a:lnSpc>
                <a:spcPct val="90000"/>
              </a:lnSpc>
              <a:spcAft>
                <a:spcPct val="35000"/>
              </a:spcAft>
            </a:pPr>
            <a:r>
              <a:rPr lang="en-US" sz="2400" dirty="0" smtClean="0">
                <a:latin typeface="Times New Roman" panose="02020503050405090304" pitchFamily="18" charset="0"/>
                <a:cs typeface="Times New Roman" panose="02020503050405090304" pitchFamily="18" charset="0"/>
              </a:rPr>
              <a:t>System Design </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r>
              <a:rPr lang="en-US" sz="2400" dirty="0" smtClean="0">
                <a:latin typeface="Times New Roman" panose="02020503050405090304" pitchFamily="18" charset="0"/>
                <a:cs typeface="Times New Roman" panose="02020503050405090304" pitchFamily="18" charset="0"/>
              </a:rPr>
              <a:t>23CST-390</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endParaRPr lang="en-US" altLang="en-US" sz="2400" dirty="0">
              <a:solidFill>
                <a:srgbClr val="262626"/>
              </a:solidFill>
              <a:latin typeface="Times New Roman" panose="02020503050405090304" pitchFamily="18" charset="0"/>
              <a:ea typeface="Cambria" panose="02040503050406030204" pitchFamily="18" charset="0"/>
              <a:cs typeface="Times New Roman" panose="02020503050405090304" pitchFamily="18" charset="0"/>
            </a:endParaRPr>
          </a:p>
          <a:p>
            <a:pPr algn="ctr" eaLnBrk="1" hangingPunct="1">
              <a:lnSpc>
                <a:spcPct val="90000"/>
              </a:lnSpc>
              <a:spcAft>
                <a:spcPct val="35000"/>
              </a:spcAft>
            </a:pPr>
            <a:r>
              <a:rPr lang="en-US" altLang="en-US" sz="2300" b="1" dirty="0">
                <a:solidFill>
                  <a:srgbClr val="262626"/>
                </a:solidFill>
                <a:latin typeface="Times New Roman" panose="02020503050405090304" pitchFamily="18" charset="0"/>
                <a:cs typeface="Times New Roman" panose="02020503050405090304" pitchFamily="18" charset="0"/>
              </a:rPr>
              <a:t>Faculty:</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smtClean="0">
                <a:solidFill>
                  <a:srgbClr val="262626"/>
                </a:solidFill>
                <a:latin typeface="Times New Roman" panose="02020503050405090304" pitchFamily="18" charset="0"/>
                <a:cs typeface="Times New Roman" panose="02020503050405090304" pitchFamily="18" charset="0"/>
              </a:rPr>
              <a:t>(</a:t>
            </a:r>
            <a:r>
              <a:rPr lang="en-US" altLang="en-US" sz="2300" dirty="0" err="1" smtClean="0">
                <a:solidFill>
                  <a:srgbClr val="262626"/>
                </a:solidFill>
                <a:latin typeface="Times New Roman" panose="02020503050405090304" pitchFamily="18" charset="0"/>
                <a:cs typeface="Times New Roman" panose="02020503050405090304" pitchFamily="18" charset="0"/>
              </a:rPr>
              <a:t>Er</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Kamaljee</a:t>
            </a:r>
            <a:r>
              <a:rPr lang="en-IN" sz="2400" dirty="0" smtClean="0">
                <a:solidFill>
                  <a:prstClr val="black"/>
                </a:solidFill>
                <a:latin typeface="Times New Roman" panose="02020503050405090304" pitchFamily="18" charset="0"/>
                <a:ea typeface="Times New Roman" panose="02020503050405090304" pitchFamily="18" charset="0"/>
                <a:cs typeface="Times New Roman" panose="02020503050405090304" pitchFamily="18" charset="0"/>
              </a:rPr>
              <a:t>t</a:t>
            </a:r>
            <a:r>
              <a:rPr lang="en-US" altLang="en-US" sz="2300" dirty="0" smtClean="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Kaur </a:t>
            </a:r>
            <a:r>
              <a:rPr lang="en-US" altLang="en-US" sz="2300" dirty="0" smtClean="0">
                <a:solidFill>
                  <a:srgbClr val="262626"/>
                </a:solidFill>
                <a:latin typeface="Times New Roman" panose="02020503050405090304" pitchFamily="18" charset="0"/>
                <a:cs typeface="Times New Roman" panose="02020503050405090304" pitchFamily="18" charset="0"/>
              </a:rPr>
              <a:t>(E19147)</a:t>
            </a:r>
            <a:endParaRPr lang="en-US" altLang="en-US" sz="2300" dirty="0">
              <a:solidFill>
                <a:srgbClr val="262626"/>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1100" dirty="0">
              <a:solidFill>
                <a:srgbClr val="000000"/>
              </a:solidFill>
              <a:latin typeface="Times New Roman" panose="02020503050405090304" pitchFamily="18" charset="0"/>
              <a:cs typeface="Times New Roman" panose="02020503050405090304" pitchFamily="18" charset="0"/>
            </a:endParaRPr>
          </a:p>
        </p:txBody>
      </p:sp>
      <p:sp>
        <p:nvSpPr>
          <p:cNvPr id="16" name="object 9"/>
          <p:cNvSpPr txBox="1"/>
          <p:nvPr/>
        </p:nvSpPr>
        <p:spPr>
          <a:xfrm>
            <a:off x="6327775" y="22860"/>
            <a:ext cx="2750185" cy="472440"/>
          </a:xfrm>
          <a:prstGeom prst="rect">
            <a:avLst/>
          </a:prstGeom>
        </p:spPr>
        <p:txBody>
          <a:bodyPr vert="horz" wrap="square" lIns="0" tIns="16510" rIns="0" bIns="0" rtlCol="0">
            <a:spAutoFit/>
          </a:bodyPr>
          <a:lstStyle/>
          <a:p>
            <a:pPr marL="12700" algn="r">
              <a:lnSpc>
                <a:spcPct val="100000"/>
              </a:lnSpc>
              <a:spcBef>
                <a:spcPts val="130"/>
              </a:spcBef>
            </a:pPr>
            <a:r>
              <a:rPr sz="1550" b="0" dirty="0">
                <a:solidFill>
                  <a:schemeClr val="tx1"/>
                </a:solidFill>
                <a:latin typeface="Times New Roman Regular" panose="02020503050405090304" charset="0"/>
                <a:cs typeface="Times New Roman Regular" panose="02020503050405090304" charset="0"/>
              </a:rPr>
              <a:t>Academic</a:t>
            </a:r>
            <a:r>
              <a:rPr sz="1550" b="0" spc="229"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Session</a:t>
            </a:r>
            <a:r>
              <a:rPr sz="1550" b="0" spc="180"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202</a:t>
            </a:r>
            <a:r>
              <a:rPr lang="en-US" altLang="" sz="1550" b="0" dirty="0">
                <a:solidFill>
                  <a:schemeClr val="tx1"/>
                </a:solidFill>
                <a:latin typeface="Times New Roman Regular" panose="02020503050405090304" charset="0"/>
                <a:cs typeface="Times New Roman Regular" panose="02020503050405090304" charset="0"/>
              </a:rPr>
              <a:t>5</a:t>
            </a:r>
            <a:r>
              <a:rPr sz="1550" b="0" dirty="0">
                <a:solidFill>
                  <a:schemeClr val="tx1"/>
                </a:solidFill>
                <a:latin typeface="Times New Roman Regular" panose="02020503050405090304" charset="0"/>
                <a:cs typeface="Times New Roman Regular" panose="02020503050405090304" charset="0"/>
              </a:rPr>
              <a:t>-</a:t>
            </a:r>
            <a:r>
              <a:rPr sz="1550" b="0" spc="-25" dirty="0">
                <a:solidFill>
                  <a:schemeClr val="tx1"/>
                </a:solidFill>
                <a:latin typeface="Times New Roman Regular" panose="02020503050405090304" charset="0"/>
                <a:cs typeface="Times New Roman Regular" panose="02020503050405090304" charset="0"/>
              </a:rPr>
              <a:t>2</a:t>
            </a:r>
            <a:r>
              <a:rPr lang="en-US" altLang="" sz="1550" b="0" spc="-25" dirty="0">
                <a:solidFill>
                  <a:schemeClr val="tx1"/>
                </a:solidFill>
                <a:latin typeface="Times New Roman Regular" panose="02020503050405090304" charset="0"/>
                <a:cs typeface="Times New Roman Regular" panose="02020503050405090304" charset="0"/>
              </a:rPr>
              <a:t>6</a:t>
            </a:r>
            <a:endParaRPr sz="1550" b="0" dirty="0">
              <a:solidFill>
                <a:schemeClr val="tx1"/>
              </a:solidFill>
              <a:latin typeface="Times New Roman Regular" panose="02020503050405090304" charset="0"/>
              <a:cs typeface="Times New Roman Regular" panose="02020503050405090304" charset="0"/>
            </a:endParaRPr>
          </a:p>
          <a:p>
            <a:pPr marL="120650" algn="r">
              <a:lnSpc>
                <a:spcPct val="100000"/>
              </a:lnSpc>
              <a:spcBef>
                <a:spcPts val="20"/>
              </a:spcBef>
            </a:pPr>
            <a:r>
              <a:rPr sz="1400" b="0" dirty="0">
                <a:solidFill>
                  <a:schemeClr val="tx1"/>
                </a:solidFill>
                <a:latin typeface="Times New Roman Regular" panose="02020503050405090304" charset="0"/>
                <a:cs typeface="Times New Roman Regular" panose="02020503050405090304" charset="0"/>
              </a:rPr>
              <a:t>E</a:t>
            </a:r>
            <a:r>
              <a:rPr lang="en-US" altLang="" sz="1400" b="0" dirty="0">
                <a:solidFill>
                  <a:schemeClr val="tx1"/>
                </a:solidFill>
                <a:latin typeface="Times New Roman Regular" panose="02020503050405090304" charset="0"/>
                <a:cs typeface="Times New Roman Regular" panose="02020503050405090304" charset="0"/>
              </a:rPr>
              <a:t>ven</a:t>
            </a:r>
            <a:r>
              <a:rPr sz="1400" b="0" spc="-5" dirty="0">
                <a:solidFill>
                  <a:schemeClr val="tx1"/>
                </a:solidFill>
                <a:latin typeface="Times New Roman Regular" panose="02020503050405090304" charset="0"/>
                <a:cs typeface="Times New Roman Regular" panose="02020503050405090304" charset="0"/>
              </a:rPr>
              <a:t> </a:t>
            </a:r>
            <a:r>
              <a:rPr sz="1400" b="0" dirty="0">
                <a:solidFill>
                  <a:schemeClr val="tx1"/>
                </a:solidFill>
                <a:latin typeface="Times New Roman Regular" panose="02020503050405090304" charset="0"/>
                <a:cs typeface="Times New Roman Regular" panose="02020503050405090304" charset="0"/>
              </a:rPr>
              <a:t>Semester</a:t>
            </a:r>
            <a:r>
              <a:rPr sz="1400" b="0" spc="-25" dirty="0">
                <a:solidFill>
                  <a:schemeClr val="tx1"/>
                </a:solidFill>
                <a:latin typeface="Times New Roman Regular" panose="02020503050405090304" charset="0"/>
                <a:cs typeface="Times New Roman Regular" panose="02020503050405090304" charset="0"/>
              </a:rPr>
              <a:t> </a:t>
            </a:r>
            <a:r>
              <a:rPr sz="1400" b="0" spc="-10" dirty="0">
                <a:solidFill>
                  <a:schemeClr val="tx1"/>
                </a:solidFill>
                <a:latin typeface="Times New Roman Regular" panose="02020503050405090304" charset="0"/>
                <a:cs typeface="Times New Roman Regular" panose="02020503050405090304" charset="0"/>
              </a:rPr>
              <a:t>Jan-</a:t>
            </a:r>
            <a:r>
              <a:rPr sz="1400" b="0" dirty="0">
                <a:solidFill>
                  <a:schemeClr val="tx1"/>
                </a:solidFill>
                <a:latin typeface="Times New Roman Regular" panose="02020503050405090304" charset="0"/>
                <a:cs typeface="Times New Roman Regular" panose="02020503050405090304" charset="0"/>
              </a:rPr>
              <a:t>Jun</a:t>
            </a:r>
            <a:r>
              <a:rPr lang="en-US" altLang="" sz="1400" b="0" spc="-45" dirty="0">
                <a:solidFill>
                  <a:schemeClr val="tx1"/>
                </a:solidFill>
                <a:latin typeface="Times New Roman Regular" panose="02020503050405090304" charset="0"/>
                <a:cs typeface="Times New Roman Regular" panose="02020503050405090304" charset="0"/>
              </a:rPr>
              <a:t>’</a:t>
            </a:r>
            <a:r>
              <a:rPr sz="1400" b="0" spc="-20" dirty="0">
                <a:solidFill>
                  <a:schemeClr val="tx1"/>
                </a:solidFill>
                <a:latin typeface="Times New Roman Regular" panose="02020503050405090304" charset="0"/>
                <a:cs typeface="Times New Roman Regular" panose="02020503050405090304" charset="0"/>
              </a:rPr>
              <a:t>26</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1365" y="1152525"/>
            <a:ext cx="7927340" cy="2270760"/>
          </a:xfrm>
          <a:prstGeom prst="rect">
            <a:avLst/>
          </a:prstGeom>
        </p:spPr>
        <p:txBody>
          <a:bodyPr vert="horz" wrap="square" lIns="0" tIns="15875" rIns="0" bIns="0" rtlCol="0">
            <a:noAutofit/>
          </a:bodyPr>
          <a:lstStyle/>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the fundamental concepts of system design and its importance in building   </a:t>
            </a:r>
          </a:p>
          <a:p>
            <a:pPr indent="0" algn="just">
              <a:lnSpc>
                <a:spcPct val="150000"/>
              </a:lnSpc>
              <a:buFont typeface="Arial" panose="020B0604020202090204" pitchFamily="34" charset="0"/>
              <a:buNone/>
            </a:pPr>
            <a:r>
              <a:rPr lang="en-US" sz="1600" dirty="0" smtClean="0">
                <a:latin typeface="Times New Roman" panose="02020503050405090304" pitchFamily="18" charset="0"/>
                <a:cs typeface="Times New Roman" panose="02020503050405090304" pitchFamily="18" charset="0"/>
              </a:rPr>
              <a:t>   scalable applications.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Learn the principles of scalability, availability, and reliability in large systems.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Differentiate between Monolithic and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architectures.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Explain key performance metrics such as latency and throughput.</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how caching improves system speed and reduces load on backend services.</a:t>
            </a:r>
            <a:endParaRPr lang="en-US" sz="1600" dirty="0">
              <a:latin typeface="Times New Roman" panose="02020503050405090304" pitchFamily="18" charset="0"/>
              <a:cs typeface="Times New Roman" panose="02020503050405090304" pitchFamily="18" charset="0"/>
            </a:endParaRPr>
          </a:p>
        </p:txBody>
      </p:sp>
      <p:sp>
        <p:nvSpPr>
          <p:cNvPr id="8" name="Title 7"/>
          <p:cNvSpPr txBox="1">
            <a:spLocks noGrp="1" noChangeArrowheads="1"/>
          </p:cNvSpPr>
          <p:nvPr/>
        </p:nvSpPr>
        <p:spPr>
          <a:xfrm>
            <a:off x="761683" y="378381"/>
            <a:ext cx="4267200" cy="276860"/>
          </a:xfrm>
          <a:prstGeom prst="rect">
            <a:avLst/>
          </a:prstGeom>
        </p:spPr>
        <p:txBody>
          <a:bodyPr wrap="square" lIns="0" tIns="0" rIns="0" bIns="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sz="1800" b="1" dirty="0">
                <a:latin typeface="Times New Roman" panose="02020503050405090304" pitchFamily="18" charset="0"/>
                <a:cs typeface="Times New Roman" panose="02020503050405090304" pitchFamily="18" charset="0"/>
                <a:sym typeface="+mn-ea"/>
              </a:rPr>
              <a:t>Learning Objectives</a:t>
            </a:r>
            <a:endParaRPr lang="en-US"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761683" y="286306"/>
            <a:ext cx="4267200" cy="368935"/>
          </a:xfrm>
        </p:spPr>
        <p:txBody>
          <a:bodyPr rtlCol="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b="1" dirty="0" smtClean="0">
                <a:latin typeface="Times New Roman" panose="02020503050405090304" pitchFamily="18" charset="0"/>
                <a:cs typeface="Times New Roman" panose="02020503050405090304" pitchFamily="18" charset="0"/>
              </a:rPr>
              <a:t>Course </a:t>
            </a:r>
            <a:r>
              <a:rPr lang="en-US" b="1" dirty="0">
                <a:latin typeface="Times New Roman" panose="02020503050405090304" pitchFamily="18" charset="0"/>
                <a:cs typeface="Times New Roman" panose="02020503050405090304" pitchFamily="18" charset="0"/>
              </a:rPr>
              <a:t>Outcomes</a:t>
            </a:r>
          </a:p>
        </p:txBody>
      </p:sp>
      <p:sp>
        <p:nvSpPr>
          <p:cNvPr id="21508" name="Rectangle 3"/>
          <p:cNvSpPr>
            <a:spLocks noChangeArrowheads="1"/>
          </p:cNvSpPr>
          <p:nvPr/>
        </p:nvSpPr>
        <p:spPr bwMode="auto">
          <a:xfrm>
            <a:off x="741998" y="971471"/>
            <a:ext cx="507222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IN" altLang="en-US" sz="1600" dirty="0">
                <a:solidFill>
                  <a:srgbClr val="000000"/>
                </a:solidFill>
                <a:latin typeface="Times New Roman" panose="02020503050405090304" pitchFamily="18" charset="0"/>
                <a:cs typeface="Times New Roman" panose="02020503050405090304" pitchFamily="18" charset="0"/>
              </a:rPr>
              <a:t>On completion of this course, the students shall be able to:-</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graphicFrame>
        <p:nvGraphicFramePr>
          <p:cNvPr id="3" name="Table 2"/>
          <p:cNvGraphicFramePr>
            <a:graphicFrameLocks noGrp="1"/>
          </p:cNvGraphicFramePr>
          <p:nvPr/>
        </p:nvGraphicFramePr>
        <p:xfrm>
          <a:off x="741998" y="1351360"/>
          <a:ext cx="7772881" cy="3168460"/>
        </p:xfrm>
        <a:graphic>
          <a:graphicData uri="http://schemas.openxmlformats.org/drawingml/2006/table">
            <a:tbl>
              <a:tblPr bandRow="1">
                <a:tableStyleId>{5C22544A-7EE6-4342-B048-85BDC9FD1C3A}</a:tableStyleId>
              </a:tblPr>
              <a:tblGrid>
                <a:gridCol w="494030"/>
                <a:gridCol w="7278851"/>
              </a:tblGrid>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CO1</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Understand the fundamental system design principles, including scalability, high availability, and fault tolerance, while analyzing how these core principles influence architectural decisions in real-world distributed environments.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CO2</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various distributed architectural patterns, key database models (SQL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NoSQL</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critical communication protocols to evaluate their specific applications and trade-offs in modern system designs.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CO3</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advanced scaling techniques, such as caching, load balancing, database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sharding</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replication, to design system components that effectively handle massive user traffic and data volumes.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2934">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CO4</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Analyze the trade-offs between different system architectures, data storage solutions, and consistency models (like the CAP theorem) to select and justify optimized configurations for performance, cost, and reliability goals.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68">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CO5</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US" sz="1200" kern="1200" dirty="0" smtClean="0">
                          <a:solidFill>
                            <a:schemeClr val="dk1"/>
                          </a:solidFill>
                          <a:latin typeface="Times New Roman" panose="02020503050405090304" pitchFamily="18" charset="0"/>
                          <a:ea typeface="+mn-ea"/>
                          <a:cs typeface="Times New Roman" panose="02020503050405090304" pitchFamily="18" charset="0"/>
                        </a:rPr>
                        <a:t>Create and document comprehensive, end-to-end system designs that are inherently scalable, distributed, and fault-tolerant, leveraging modern paradigms such as cloud computing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microservices</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architecture.</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285671"/>
            <a:ext cx="7883525" cy="483394"/>
          </a:xfrm>
        </p:spPr>
        <p:txBody>
          <a:bodyPr rtlCol="0">
            <a:normAutofit/>
          </a:bodyPr>
          <a:lstStyle/>
          <a:p>
            <a:pPr algn="l" fontAlgn="auto">
              <a:spcAft>
                <a:spcPts val="0"/>
              </a:spcAft>
              <a:defRPr/>
            </a:pPr>
            <a:r>
              <a:rPr lang="en-IN" sz="2400" b="1" dirty="0">
                <a:latin typeface="Times New Roman" panose="02020503050405090304" pitchFamily="18" charset="0"/>
                <a:cs typeface="Times New Roman" panose="02020503050405090304" pitchFamily="18" charset="0"/>
              </a:rPr>
              <a:t>Unit-1 Syllabus</a:t>
            </a:r>
          </a:p>
        </p:txBody>
      </p:sp>
      <p:graphicFrame>
        <p:nvGraphicFramePr>
          <p:cNvPr id="7" name="Table 6"/>
          <p:cNvGraphicFramePr>
            <a:graphicFrameLocks noGrp="1"/>
          </p:cNvGraphicFramePr>
          <p:nvPr/>
        </p:nvGraphicFramePr>
        <p:xfrm>
          <a:off x="723900" y="1273969"/>
          <a:ext cx="7923530" cy="2432733"/>
        </p:xfrm>
        <a:graphic>
          <a:graphicData uri="http://schemas.openxmlformats.org/drawingml/2006/table">
            <a:tbl>
              <a:tblPr/>
              <a:tblGrid>
                <a:gridCol w="1850390"/>
                <a:gridCol w="6073140"/>
              </a:tblGrid>
              <a:tr h="2976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kumimoji="0" lang="en-IN" altLang="en-US" sz="1600" b="1"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rPr>
                        <a:t>Unit-1</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8290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R="0" lvl="0" indent="0" algn="l" defTabSz="685800" rtl="0" eaLnBrk="1" fontAlgn="base" latinLnBrk="0" hangingPunct="1">
                        <a:lnSpc>
                          <a:spcPct val="107000"/>
                        </a:lnSpc>
                        <a:spcBef>
                          <a:spcPct val="0"/>
                        </a:spcBef>
                        <a:spcAft>
                          <a:spcPts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Functional &amp; Non-Functional Requirements, Scaling Challenges, </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Load Balancing</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Caching Strategies, Replication,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Sharding.</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57062">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ct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Databases in System Design – </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SQL </a:t>
                      </a:r>
                      <a:r>
                        <a:rPr lang="en-US" sz="1600" b="1" kern="1200" dirty="0" err="1" smtClean="0">
                          <a:solidFill>
                            <a:srgbClr val="FF0000"/>
                          </a:solidFill>
                          <a:latin typeface="Times New Roman" panose="02020503050405090304" pitchFamily="18" charset="0"/>
                          <a:ea typeface="+mn-ea"/>
                          <a:cs typeface="Times New Roman" panose="02020503050405090304" pitchFamily="18" charset="0"/>
                        </a:rPr>
                        <a:t>vs</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 </a:t>
                      </a:r>
                      <a:r>
                        <a:rPr lang="en-US" sz="1600" b="1" kern="1200" dirty="0" err="1" smtClean="0">
                          <a:solidFill>
                            <a:srgbClr val="FF0000"/>
                          </a:solidFill>
                          <a:latin typeface="Times New Roman" panose="02020503050405090304" pitchFamily="18" charset="0"/>
                          <a:ea typeface="+mn-ea"/>
                          <a:cs typeface="Times New Roman" panose="02020503050405090304" pitchFamily="18" charset="0"/>
                        </a:rPr>
                        <a:t>NoSQL</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 CAP Theorem, Distributed Databases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Consistency Models, </a:t>
                      </a:r>
                      <a:r>
                        <a:rPr lang="en-US" sz="1600" b="0" kern="1200" dirty="0" smtClean="0">
                          <a:solidFill>
                            <a:schemeClr val="tx1">
                              <a:lumMod val="50000"/>
                              <a:lumOff val="50000"/>
                            </a:schemeClr>
                          </a:solidFill>
                          <a:latin typeface="Times New Roman" panose="02020503050405090304" pitchFamily="18" charset="0"/>
                          <a:ea typeface="+mn-ea"/>
                          <a:cs typeface="Times New Roman" panose="02020503050405090304" pitchFamily="18" charset="0"/>
                        </a:rPr>
                        <a:t>Eventual Consistency</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Distributed Caching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Redis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Memcached</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High Availability, Fault Tolerance,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Microservices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Monolithic Architecture.</a:t>
                      </a:r>
                      <a:endParaRPr kumimoji="0" lang="en-US" altLang="en-US" sz="1600" b="0"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38517" y="1200146"/>
            <a:ext cx="5187950" cy="3329758"/>
          </a:xfrm>
          <a:prstGeom prst="rect">
            <a:avLst/>
          </a:prstGeom>
        </p:spPr>
        <p:txBody>
          <a:bodyPr vert="horz" wrap="square" lIns="0" tIns="139065" rIns="0" bIns="0" rtlCol="0">
            <a:spAutoFit/>
          </a:bodyPr>
          <a:lstStyle/>
          <a:p>
            <a:pPr lvl="3" algn="just">
              <a:lnSpc>
                <a:spcPct val="150000"/>
              </a:lnSpc>
              <a:buFont typeface="Arial" pitchFamily="34" charset="0"/>
              <a:buChar char="•"/>
            </a:pPr>
            <a:r>
              <a:rPr lang="en-US" sz="1600" dirty="0">
                <a:solidFill>
                  <a:schemeClr val="tx1"/>
                </a:solidFill>
                <a:latin typeface="Times New Roman" panose="02020503050405090304" pitchFamily="18" charset="0"/>
                <a:cs typeface="Times New Roman" panose="02020503050405090304" pitchFamily="18" charset="0"/>
              </a:rPr>
              <a:t> </a:t>
            </a:r>
            <a:r>
              <a:rPr lang="en-US" sz="1600" dirty="0" smtClean="0">
                <a:solidFill>
                  <a:schemeClr val="tx1"/>
                </a:solidFill>
                <a:latin typeface="Times New Roman" pitchFamily="18" charset="0"/>
                <a:ea typeface="Lato Bold" pitchFamily="34" charset="-122"/>
                <a:cs typeface="Times New Roman" pitchFamily="18" charset="0"/>
              </a:rPr>
              <a:t>SQL </a:t>
            </a:r>
            <a:r>
              <a:rPr lang="en-US" sz="1600" dirty="0" err="1" smtClean="0">
                <a:solidFill>
                  <a:schemeClr val="tx1"/>
                </a:solidFill>
                <a:latin typeface="Times New Roman" pitchFamily="18" charset="0"/>
                <a:ea typeface="Lato Bold" pitchFamily="34" charset="-122"/>
                <a:cs typeface="Times New Roman" pitchFamily="18" charset="0"/>
              </a:rPr>
              <a:t>vs</a:t>
            </a:r>
            <a:r>
              <a:rPr lang="en-US" sz="1600" dirty="0" smtClean="0">
                <a:solidFill>
                  <a:schemeClr val="tx1"/>
                </a:solidFill>
                <a:latin typeface="Times New Roman" pitchFamily="18" charset="0"/>
                <a:ea typeface="Lato Bold" pitchFamily="34" charset="-122"/>
                <a:cs typeface="Times New Roman" pitchFamily="18" charset="0"/>
              </a:rPr>
              <a:t> </a:t>
            </a:r>
            <a:r>
              <a:rPr lang="en-US" sz="1600" dirty="0" err="1" smtClean="0">
                <a:solidFill>
                  <a:schemeClr val="tx1"/>
                </a:solidFill>
                <a:latin typeface="Times New Roman" pitchFamily="18" charset="0"/>
                <a:ea typeface="Lato Bold" pitchFamily="34" charset="-122"/>
                <a:cs typeface="Times New Roman" pitchFamily="18" charset="0"/>
              </a:rPr>
              <a:t>NoSQL</a:t>
            </a:r>
            <a:r>
              <a:rPr lang="en-US" sz="1600" dirty="0" smtClean="0">
                <a:solidFill>
                  <a:schemeClr val="tx1"/>
                </a:solidFill>
                <a:latin typeface="Times New Roman" pitchFamily="18" charset="0"/>
                <a:ea typeface="Lato Bold" pitchFamily="34" charset="-122"/>
                <a:cs typeface="Times New Roman" pitchFamily="18" charset="0"/>
              </a:rPr>
              <a:t> Databases</a:t>
            </a:r>
            <a:endParaRPr lang="en-IN" sz="1600" dirty="0" smtClean="0">
              <a:solidFill>
                <a:schemeClr val="tx1"/>
              </a:solidFill>
              <a:latin typeface="Times New Roman" pitchFamily="18" charset="0"/>
              <a:cs typeface="Times New Roman" pitchFamily="18" charset="0"/>
            </a:endParaRPr>
          </a:p>
          <a:p>
            <a:pPr algn="just">
              <a:lnSpc>
                <a:spcPct val="150000"/>
              </a:lnSpc>
              <a:buFont typeface="Arial" pitchFamily="34" charset="0"/>
              <a:buChar char="•"/>
            </a:pPr>
            <a:r>
              <a:rPr lang="en-US" sz="1600" dirty="0" smtClean="0">
                <a:solidFill>
                  <a:schemeClr val="tx1"/>
                </a:solidFill>
                <a:latin typeface="Times New Roman" panose="02020503050405090304" pitchFamily="18" charset="0"/>
                <a:cs typeface="Times New Roman" panose="02020503050405090304" pitchFamily="18" charset="0"/>
              </a:rPr>
              <a:t> </a:t>
            </a:r>
            <a:r>
              <a:rPr lang="en-US" sz="1600" dirty="0" smtClean="0">
                <a:solidFill>
                  <a:schemeClr val="tx1"/>
                </a:solidFill>
                <a:latin typeface="Times New Roman" pitchFamily="18" charset="0"/>
                <a:ea typeface="Lato Bold" pitchFamily="34" charset="-122"/>
                <a:cs typeface="Times New Roman" pitchFamily="18" charset="0"/>
              </a:rPr>
              <a:t>Relational Model</a:t>
            </a:r>
            <a:endParaRPr lang="en-US" sz="1600" dirty="0" smtClean="0">
              <a:solidFill>
                <a:schemeClr val="tx1"/>
              </a:solidFill>
              <a:latin typeface="Times New Roman" pitchFamily="18" charset="0"/>
              <a:cs typeface="Times New Roman" pitchFamily="18" charset="0"/>
            </a:endParaRPr>
          </a:p>
          <a:p>
            <a:pPr algn="just">
              <a:buFont typeface="Arial" pitchFamily="34" charset="0"/>
              <a:buChar char="•"/>
              <a:defRPr/>
            </a:pPr>
            <a:r>
              <a:rPr lang="en-US" sz="1600" dirty="0" smtClean="0">
                <a:solidFill>
                  <a:schemeClr val="tx1"/>
                </a:solidFill>
                <a:latin typeface="Times New Roman" pitchFamily="18" charset="0"/>
                <a:cs typeface="Times New Roman" pitchFamily="18" charset="0"/>
              </a:rPr>
              <a:t> </a:t>
            </a:r>
            <a:r>
              <a:rPr lang="en-US" sz="1600" dirty="0" err="1" smtClean="0">
                <a:solidFill>
                  <a:schemeClr val="tx1"/>
                </a:solidFill>
                <a:latin typeface="Times New Roman" pitchFamily="18" charset="0"/>
                <a:ea typeface="Lato Bold" pitchFamily="34" charset="-122"/>
                <a:cs typeface="Times New Roman" pitchFamily="18" charset="0"/>
              </a:rPr>
              <a:t>NoSQL</a:t>
            </a:r>
            <a:r>
              <a:rPr lang="en-US" sz="1600" dirty="0" smtClean="0">
                <a:solidFill>
                  <a:schemeClr val="tx1"/>
                </a:solidFill>
                <a:latin typeface="Times New Roman" pitchFamily="18" charset="0"/>
                <a:ea typeface="Lato Bold" pitchFamily="34" charset="-122"/>
                <a:cs typeface="Times New Roman" pitchFamily="18" charset="0"/>
              </a:rPr>
              <a:t> </a:t>
            </a:r>
            <a:r>
              <a:rPr lang="en-US" sz="1600" dirty="0">
                <a:solidFill>
                  <a:schemeClr val="tx1"/>
                </a:solidFill>
                <a:latin typeface="Times New Roman" pitchFamily="18" charset="0"/>
                <a:ea typeface="Lato Bold" pitchFamily="34" charset="-122"/>
                <a:cs typeface="Times New Roman" pitchFamily="18" charset="0"/>
              </a:rPr>
              <a:t>Databases: Flexibility and </a:t>
            </a:r>
            <a:r>
              <a:rPr lang="en-US" sz="1600" dirty="0" smtClean="0">
                <a:solidFill>
                  <a:schemeClr val="tx1"/>
                </a:solidFill>
                <a:latin typeface="Times New Roman" pitchFamily="18" charset="0"/>
                <a:ea typeface="Lato Bold" pitchFamily="34" charset="-122"/>
                <a:cs typeface="Times New Roman" pitchFamily="18" charset="0"/>
              </a:rPr>
              <a:t>Scale</a:t>
            </a:r>
            <a:endParaRPr lang="en-US" sz="1600" dirty="0">
              <a:solidFill>
                <a:schemeClr val="tx1"/>
              </a:solidFill>
              <a:latin typeface="Times New Roman" pitchFamily="18" charset="0"/>
              <a:cs typeface="Times New Roman" pitchFamily="18" charset="0"/>
            </a:endParaRPr>
          </a:p>
          <a:p>
            <a:pPr algn="just">
              <a:lnSpc>
                <a:spcPct val="150000"/>
              </a:lnSpc>
              <a:buFont typeface="Arial" pitchFamily="34" charset="0"/>
              <a:buChar char="•"/>
            </a:pPr>
            <a:r>
              <a:rPr lang="en-US" sz="1600" dirty="0" smtClean="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ea typeface="Lato Bold" pitchFamily="34" charset="-122"/>
                <a:cs typeface="Times New Roman" pitchFamily="18" charset="0"/>
              </a:rPr>
              <a:t>Key-Value Stores</a:t>
            </a: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Document Databases</a:t>
            </a: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Column-Family Stores</a:t>
            </a:r>
          </a:p>
          <a:p>
            <a:pPr algn="just">
              <a:lnSpc>
                <a:spcPct val="150000"/>
              </a:lnSpc>
              <a:buFont typeface="Arial" pitchFamily="34" charset="0"/>
              <a:buChar char="•"/>
            </a:pPr>
            <a:r>
              <a:rPr lang="en-US" sz="1600" dirty="0" smtClean="0">
                <a:solidFill>
                  <a:schemeClr val="tx1"/>
                </a:solidFill>
                <a:latin typeface="Times New Roman" pitchFamily="18" charset="0"/>
                <a:ea typeface="Lato Bold" pitchFamily="34" charset="-122"/>
                <a:cs typeface="Times New Roman" pitchFamily="18" charset="0"/>
              </a:rPr>
              <a:t> Graph Databases</a:t>
            </a:r>
          </a:p>
          <a:p>
            <a:pPr algn="just">
              <a:lnSpc>
                <a:spcPct val="150000"/>
              </a:lnSpc>
              <a:buFont typeface="Arial" pitchFamily="34" charset="0"/>
              <a:buChar char="•"/>
            </a:pPr>
            <a:r>
              <a:rPr lang="en-US" sz="1600" dirty="0" smtClean="0">
                <a:solidFill>
                  <a:schemeClr val="tx1"/>
                </a:solidFill>
                <a:latin typeface="Times New Roman" pitchFamily="18" charset="0"/>
                <a:cs typeface="Times New Roman" pitchFamily="18" charset="0"/>
              </a:rPr>
              <a:t>  </a:t>
            </a:r>
            <a:r>
              <a:rPr lang="en-US" sz="1600" dirty="0" smtClean="0">
                <a:solidFill>
                  <a:schemeClr val="tx1"/>
                </a:solidFill>
                <a:latin typeface="Times New Roman" pitchFamily="18" charset="0"/>
                <a:ea typeface="Lato Bold" pitchFamily="34" charset="-122"/>
                <a:cs typeface="Times New Roman" pitchFamily="18" charset="0"/>
              </a:rPr>
              <a:t>SQL </a:t>
            </a:r>
            <a:r>
              <a:rPr lang="en-US" sz="1600" dirty="0" err="1" smtClean="0">
                <a:solidFill>
                  <a:schemeClr val="tx1"/>
                </a:solidFill>
                <a:latin typeface="Times New Roman" pitchFamily="18" charset="0"/>
                <a:ea typeface="Lato Bold" pitchFamily="34" charset="-122"/>
                <a:cs typeface="Times New Roman" pitchFamily="18" charset="0"/>
              </a:rPr>
              <a:t>vs</a:t>
            </a:r>
            <a:r>
              <a:rPr lang="en-US" sz="1600" dirty="0" smtClean="0">
                <a:solidFill>
                  <a:schemeClr val="tx1"/>
                </a:solidFill>
                <a:latin typeface="Times New Roman" pitchFamily="18" charset="0"/>
                <a:ea typeface="Lato Bold" pitchFamily="34" charset="-122"/>
                <a:cs typeface="Times New Roman" pitchFamily="18" charset="0"/>
              </a:rPr>
              <a:t> </a:t>
            </a:r>
            <a:r>
              <a:rPr lang="en-US" sz="1600" dirty="0" err="1" smtClean="0">
                <a:solidFill>
                  <a:schemeClr val="tx1"/>
                </a:solidFill>
                <a:latin typeface="Times New Roman" pitchFamily="18" charset="0"/>
                <a:ea typeface="Lato Bold" pitchFamily="34" charset="-122"/>
                <a:cs typeface="Times New Roman" pitchFamily="18" charset="0"/>
              </a:rPr>
              <a:t>NoSQL</a:t>
            </a:r>
            <a:r>
              <a:rPr lang="en-US" sz="1600" dirty="0" smtClean="0">
                <a:solidFill>
                  <a:schemeClr val="tx1"/>
                </a:solidFill>
                <a:latin typeface="Times New Roman" pitchFamily="18" charset="0"/>
                <a:ea typeface="Lato Bold" pitchFamily="34" charset="-122"/>
                <a:cs typeface="Times New Roman" pitchFamily="18" charset="0"/>
              </a:rPr>
              <a:t>: A Detailed Comparison </a:t>
            </a:r>
            <a:endParaRPr lang="en-US" sz="1600" dirty="0" smtClean="0">
              <a:solidFill>
                <a:schemeClr val="tx1"/>
              </a:solidFill>
              <a:latin typeface="Times New Roman" pitchFamily="18" charset="0"/>
              <a:cs typeface="Times New Roman" pitchFamily="18" charset="0"/>
            </a:endParaRPr>
          </a:p>
          <a:p>
            <a:pPr algn="just">
              <a:lnSpc>
                <a:spcPct val="150000"/>
              </a:lnSpc>
              <a:buFont typeface="Arial" pitchFamily="34" charset="0"/>
              <a:buChar char="•"/>
            </a:pPr>
            <a:endParaRPr sz="1550" dirty="0">
              <a:solidFill>
                <a:schemeClr val="tx1"/>
              </a:solidFill>
              <a:latin typeface="Times New Roman" panose="02020503050405090304" pitchFamily="18" charset="0"/>
              <a:cs typeface="Times New Roman" panose="02020503050405090304" pitchFamily="18" charset="0"/>
            </a:endParaRPr>
          </a:p>
        </p:txBody>
      </p:sp>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Topic to</a:t>
            </a:r>
            <a:r>
              <a:rPr sz="2400" spc="-6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be</a:t>
            </a:r>
            <a:r>
              <a:rPr sz="2400" spc="2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Covered</a:t>
            </a:r>
            <a:endParaRPr lang="en-US" altLang="en-IN" sz="2400"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4977" y="89852"/>
            <a:ext cx="8234044" cy="819711"/>
          </a:xfrm>
          <a:prstGeom prst="rect">
            <a:avLst/>
          </a:prstGeom>
        </p:spPr>
        <p:txBody>
          <a:bodyPr vert="horz" wrap="square" lIns="0" tIns="189483" rIns="0" bIns="0" rtlCol="0">
            <a:spAutoFit/>
          </a:bodyPr>
          <a:lstStyle/>
          <a:p>
            <a:pPr marL="0" indent="0">
              <a:lnSpc>
                <a:spcPts val="4850"/>
              </a:lnSpc>
            </a:pPr>
            <a:r>
              <a:rPr lang="en-US" sz="2400" dirty="0" smtClean="0">
                <a:solidFill>
                  <a:srgbClr val="282824"/>
                </a:solidFill>
                <a:latin typeface="Times New Roman" pitchFamily="18" charset="0"/>
                <a:ea typeface="Lato Bold" pitchFamily="34" charset="-122"/>
                <a:cs typeface="Times New Roman" pitchFamily="18" charset="0"/>
              </a:rPr>
              <a:t>     SQL </a:t>
            </a:r>
            <a:r>
              <a:rPr lang="en-US" sz="2400" dirty="0" err="1" smtClean="0">
                <a:solidFill>
                  <a:srgbClr val="282824"/>
                </a:solidFill>
                <a:latin typeface="Times New Roman" pitchFamily="18" charset="0"/>
                <a:ea typeface="Lato Bold" pitchFamily="34" charset="-122"/>
                <a:cs typeface="Times New Roman" pitchFamily="18" charset="0"/>
              </a:rPr>
              <a:t>vs</a:t>
            </a:r>
            <a:r>
              <a:rPr lang="en-US" sz="2400" dirty="0" smtClean="0">
                <a:solidFill>
                  <a:srgbClr val="282824"/>
                </a:solidFill>
                <a:latin typeface="Times New Roman" pitchFamily="18" charset="0"/>
                <a:ea typeface="Lato Bold" pitchFamily="34" charset="-122"/>
                <a:cs typeface="Times New Roman" pitchFamily="18" charset="0"/>
              </a:rPr>
              <a:t> </a:t>
            </a:r>
            <a:r>
              <a:rPr lang="en-US" sz="2400" dirty="0" err="1" smtClean="0">
                <a:solidFill>
                  <a:srgbClr val="282824"/>
                </a:solidFill>
                <a:latin typeface="Times New Roman" pitchFamily="18" charset="0"/>
                <a:ea typeface="Lato Bold" pitchFamily="34" charset="-122"/>
                <a:cs typeface="Times New Roman" pitchFamily="18" charset="0"/>
              </a:rPr>
              <a:t>NoSQL</a:t>
            </a:r>
            <a:r>
              <a:rPr lang="en-US" sz="2400" dirty="0" smtClean="0">
                <a:solidFill>
                  <a:srgbClr val="282824"/>
                </a:solidFill>
                <a:latin typeface="Times New Roman" pitchFamily="18" charset="0"/>
                <a:ea typeface="Lato Bold" pitchFamily="34" charset="-122"/>
                <a:cs typeface="Times New Roman" pitchFamily="18" charset="0"/>
              </a:rPr>
              <a:t> Databases</a:t>
            </a:r>
            <a:endParaRPr lang="en-US" sz="2400" dirty="0">
              <a:latin typeface="Times New Roman" pitchFamily="18" charset="0"/>
              <a:cs typeface="Times New Roman" pitchFamily="18" charset="0"/>
            </a:endParaRPr>
          </a:p>
        </p:txBody>
      </p:sp>
      <p:sp>
        <p:nvSpPr>
          <p:cNvPr id="3" name="object 3"/>
          <p:cNvSpPr txBox="1"/>
          <p:nvPr/>
        </p:nvSpPr>
        <p:spPr>
          <a:xfrm>
            <a:off x="8697214" y="109791"/>
            <a:ext cx="126364" cy="243204"/>
          </a:xfrm>
          <a:prstGeom prst="rect">
            <a:avLst/>
          </a:prstGeom>
        </p:spPr>
        <p:txBody>
          <a:bodyPr vert="horz" wrap="square" lIns="0" tIns="15875" rIns="0" bIns="0" rtlCol="0">
            <a:spAutoFit/>
          </a:bodyPr>
          <a:lstStyle/>
          <a:p>
            <a:pPr marL="12700">
              <a:lnSpc>
                <a:spcPct val="100000"/>
              </a:lnSpc>
              <a:spcBef>
                <a:spcPts val="125"/>
              </a:spcBef>
            </a:pPr>
            <a:r>
              <a:rPr sz="1400" spc="-50" dirty="0">
                <a:latin typeface="Arial MT"/>
                <a:cs typeface="Arial MT"/>
              </a:rPr>
              <a:t>9</a:t>
            </a:r>
            <a:endParaRPr sz="1400">
              <a:latin typeface="Arial MT"/>
              <a:cs typeface="Arial MT"/>
            </a:endParaRPr>
          </a:p>
        </p:txBody>
      </p:sp>
      <p:sp>
        <p:nvSpPr>
          <p:cNvPr id="4" name="object 4"/>
          <p:cNvSpPr txBox="1"/>
          <p:nvPr/>
        </p:nvSpPr>
        <p:spPr>
          <a:xfrm>
            <a:off x="1065847" y="1173416"/>
            <a:ext cx="4344353" cy="3856825"/>
          </a:xfrm>
          <a:prstGeom prst="rect">
            <a:avLst/>
          </a:prstGeom>
        </p:spPr>
        <p:txBody>
          <a:bodyPr vert="horz" wrap="square" lIns="0" tIns="9525" rIns="0" bIns="0" rtlCol="0">
            <a:spAutoFit/>
          </a:bodyPr>
          <a:lstStyle/>
          <a:p>
            <a:pPr marL="0" indent="0" algn="just">
              <a:lnSpc>
                <a:spcPts val="2500"/>
              </a:lnSpc>
              <a:buFont typeface="Arial" pitchFamily="34" charset="0"/>
              <a:buChar char="•"/>
            </a:pPr>
            <a:r>
              <a:rPr lang="en-US" sz="1600" dirty="0" smtClean="0">
                <a:solidFill>
                  <a:srgbClr val="4A4A45"/>
                </a:solidFill>
                <a:latin typeface="Times New Roman" pitchFamily="18" charset="0"/>
                <a:ea typeface="Lato" pitchFamily="34" charset="-122"/>
                <a:cs typeface="Times New Roman" pitchFamily="18" charset="0"/>
              </a:rPr>
              <a:t> SQL (Structured Query Language) databases are relational database management systems that store data in structured tables with predefined schemas. They use SQL for defining and manipulating data, ensuring ACID properties for reliable transactions.</a:t>
            </a:r>
          </a:p>
          <a:p>
            <a:pPr marL="0" indent="0" algn="just">
              <a:lnSpc>
                <a:spcPts val="2500"/>
              </a:lnSpc>
              <a:buFont typeface="Arial" pitchFamily="34" charset="0"/>
              <a:buChar char="•"/>
            </a:pPr>
            <a:endParaRPr lang="en-US" sz="1600" dirty="0" smtClean="0">
              <a:solidFill>
                <a:srgbClr val="4A4A45"/>
              </a:solidFill>
              <a:latin typeface="Times New Roman" pitchFamily="18" charset="0"/>
              <a:ea typeface="Lato" pitchFamily="34" charset="-122"/>
              <a:cs typeface="Times New Roman" pitchFamily="18" charset="0"/>
            </a:endParaRPr>
          </a:p>
          <a:p>
            <a:pPr algn="just">
              <a:lnSpc>
                <a:spcPts val="2500"/>
              </a:lnSpc>
              <a:buFont typeface="Arial" pitchFamily="34" charset="0"/>
              <a:buChar char="•"/>
            </a:pPr>
            <a:r>
              <a:rPr lang="en-US" sz="1600" dirty="0" smtClean="0">
                <a:solidFill>
                  <a:srgbClr val="4A4A45"/>
                </a:solidFill>
                <a:latin typeface="Times New Roman" pitchFamily="18" charset="0"/>
                <a:ea typeface="Lato" pitchFamily="34" charset="-122"/>
                <a:cs typeface="Times New Roman" pitchFamily="18" charset="0"/>
              </a:rPr>
              <a:t> SQL databases excel in scenarios requiring complex queries, transactions, and strict data consistency. They're the traditional choice for financial systems, e-commerce platforms, and enterprise resource planning applications.</a:t>
            </a:r>
            <a:endParaRPr lang="en-US" sz="1600" dirty="0" smtClean="0">
              <a:latin typeface="Times New Roman" pitchFamily="18" charset="0"/>
              <a:cs typeface="Times New Roman" pitchFamily="18" charset="0"/>
            </a:endParaRPr>
          </a:p>
          <a:p>
            <a:pPr marL="0" indent="0" algn="just">
              <a:lnSpc>
                <a:spcPts val="2500"/>
              </a:lnSpc>
              <a:buNone/>
            </a:pPr>
            <a:endParaRPr lang="en-US" sz="1600" dirty="0">
              <a:latin typeface="Times New Roman" pitchFamily="18" charset="0"/>
              <a:cs typeface="Times New Roman" pitchFamily="18" charset="0"/>
            </a:endParaRPr>
          </a:p>
        </p:txBody>
      </p:sp>
      <p:pic>
        <p:nvPicPr>
          <p:cNvPr id="6" name="Image 0" descr="preencoded.png"/>
          <p:cNvPicPr>
            <a:picLocks noChangeAspect="1"/>
          </p:cNvPicPr>
          <p:nvPr/>
        </p:nvPicPr>
        <p:blipFill>
          <a:blip r:embed="rId2" cstate="print"/>
          <a:stretch>
            <a:fillRect/>
          </a:stretch>
        </p:blipFill>
        <p:spPr>
          <a:xfrm>
            <a:off x="5562600" y="1371600"/>
            <a:ext cx="3200400" cy="3409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048000"/>
          </a:xfrm>
          <a:prstGeom prst="rect">
            <a:avLst/>
          </a:prstGeom>
        </p:spPr>
        <p:txBody>
          <a:bodyPr vert="horz" wrap="square" lIns="0" tIns="9525" rIns="0" bIns="0" rtlCol="0">
            <a:noAutofit/>
          </a:bodyPr>
          <a:lstStyle/>
          <a:p>
            <a:pPr marL="0" indent="0" algn="just">
              <a:lnSpc>
                <a:spcPts val="2500"/>
              </a:lnSpc>
              <a:buFont typeface="Arial" pitchFamily="34" charset="0"/>
              <a:buChar char="•"/>
            </a:pPr>
            <a:r>
              <a:rPr lang="en-US" sz="1600" dirty="0" smtClean="0">
                <a:solidFill>
                  <a:srgbClr val="4A4A45"/>
                </a:solidFill>
                <a:latin typeface="Times New Roman" pitchFamily="18" charset="0"/>
                <a:ea typeface="Lato" pitchFamily="34" charset="-122"/>
                <a:cs typeface="Times New Roman" pitchFamily="18" charset="0"/>
              </a:rPr>
              <a:t> Data is </a:t>
            </a:r>
            <a:r>
              <a:rPr lang="en-US" sz="1600" dirty="0" err="1" smtClean="0">
                <a:solidFill>
                  <a:srgbClr val="4A4A45"/>
                </a:solidFill>
                <a:latin typeface="Times New Roman" pitchFamily="18" charset="0"/>
                <a:ea typeface="Lato" pitchFamily="34" charset="-122"/>
                <a:cs typeface="Times New Roman" pitchFamily="18" charset="0"/>
              </a:rPr>
              <a:t>organised</a:t>
            </a:r>
            <a:r>
              <a:rPr lang="en-US" sz="1600" dirty="0" smtClean="0">
                <a:solidFill>
                  <a:srgbClr val="4A4A45"/>
                </a:solidFill>
                <a:latin typeface="Times New Roman" pitchFamily="18" charset="0"/>
                <a:ea typeface="Lato" pitchFamily="34" charset="-122"/>
                <a:cs typeface="Times New Roman" pitchFamily="18" charset="0"/>
              </a:rPr>
              <a:t> into tables (relations) with rows and columns. Tables are linked through foreign keys, enabling complex queries across multiple tables. This </a:t>
            </a:r>
            <a:r>
              <a:rPr lang="en-US" sz="1600" dirty="0" err="1" smtClean="0">
                <a:solidFill>
                  <a:srgbClr val="4A4A45"/>
                </a:solidFill>
                <a:latin typeface="Times New Roman" pitchFamily="18" charset="0"/>
                <a:ea typeface="Lato" pitchFamily="34" charset="-122"/>
                <a:cs typeface="Times New Roman" pitchFamily="18" charset="0"/>
              </a:rPr>
              <a:t>normalised</a:t>
            </a:r>
            <a:r>
              <a:rPr lang="en-US" sz="1600" dirty="0" smtClean="0">
                <a:solidFill>
                  <a:srgbClr val="4A4A45"/>
                </a:solidFill>
                <a:latin typeface="Times New Roman" pitchFamily="18" charset="0"/>
                <a:ea typeface="Lato" pitchFamily="34" charset="-122"/>
                <a:cs typeface="Times New Roman" pitchFamily="18" charset="0"/>
              </a:rPr>
              <a:t> structure eliminates data redundancy and maintains consistency.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marL="0" indent="0" algn="l">
              <a:lnSpc>
                <a:spcPts val="2400"/>
              </a:lnSpc>
              <a:buNone/>
            </a:pPr>
            <a:r>
              <a:rPr lang="en-US" sz="2400" dirty="0" smtClean="0">
                <a:solidFill>
                  <a:srgbClr val="4A4A45"/>
                </a:solidFill>
                <a:latin typeface="Times New Roman" pitchFamily="18" charset="0"/>
                <a:ea typeface="Lato Bold" pitchFamily="34" charset="-122"/>
                <a:cs typeface="Times New Roman" pitchFamily="18" charset="0"/>
              </a:rPr>
              <a:t>Relational Model</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2514600"/>
          </a:xfrm>
          <a:prstGeom prst="rect">
            <a:avLst/>
          </a:prstGeom>
        </p:spPr>
        <p:txBody>
          <a:bodyPr vert="horz" wrap="square" lIns="0" tIns="9525" rIns="0" bIns="0" rtlCol="0">
            <a:noAutofit/>
          </a:bodyPr>
          <a:lstStyle/>
          <a:p>
            <a:pPr marL="342900" indent="-342900" algn="l">
              <a:lnSpc>
                <a:spcPts val="2500"/>
              </a:lnSpc>
              <a:buSzPct val="100000"/>
              <a:buChar char="•"/>
            </a:pPr>
            <a:r>
              <a:rPr lang="en-US" sz="1600" b="1" dirty="0" err="1" smtClean="0">
                <a:solidFill>
                  <a:srgbClr val="4A4A45"/>
                </a:solidFill>
                <a:latin typeface="Times New Roman" pitchFamily="18" charset="0"/>
                <a:ea typeface="Lato" pitchFamily="34" charset="-122"/>
                <a:cs typeface="Times New Roman" pitchFamily="18" charset="0"/>
              </a:rPr>
              <a:t>MySQL</a:t>
            </a:r>
            <a:r>
              <a:rPr lang="en-US" sz="1600" b="1" dirty="0" smtClean="0">
                <a:solidFill>
                  <a:srgbClr val="4A4A45"/>
                </a:solidFill>
                <a:latin typeface="Times New Roman" pitchFamily="18" charset="0"/>
                <a:ea typeface="Lato" pitchFamily="34" charset="-122"/>
                <a:cs typeface="Times New Roman" pitchFamily="18" charset="0"/>
              </a:rPr>
              <a:t>:</a:t>
            </a:r>
            <a:r>
              <a:rPr lang="en-US" sz="1600" dirty="0" smtClean="0">
                <a:solidFill>
                  <a:srgbClr val="4A4A45"/>
                </a:solidFill>
                <a:latin typeface="Times New Roman" pitchFamily="18" charset="0"/>
                <a:ea typeface="Lato" pitchFamily="34" charset="-122"/>
                <a:cs typeface="Times New Roman" pitchFamily="18" charset="0"/>
              </a:rPr>
              <a:t> Open-source, widely used for web applications</a:t>
            </a:r>
          </a:p>
          <a:p>
            <a:pPr marL="342900" indent="-342900" algn="l">
              <a:lnSpc>
                <a:spcPts val="2500"/>
              </a:lnSpc>
              <a:buSzPct val="100000"/>
              <a:buChar char="•"/>
            </a:pPr>
            <a:endParaRPr lang="en-US" sz="1600" dirty="0">
              <a:solidFill>
                <a:srgbClr val="4A4A45"/>
              </a:solidFill>
              <a:latin typeface="Times New Roman" pitchFamily="18" charset="0"/>
              <a:cs typeface="Times New Roman" pitchFamily="18" charset="0"/>
            </a:endParaRPr>
          </a:p>
          <a:p>
            <a:pPr marL="342900" indent="-342900" algn="l">
              <a:lnSpc>
                <a:spcPts val="2500"/>
              </a:lnSpc>
              <a:buSzPct val="100000"/>
              <a:buFontTx/>
              <a:buChar char="•"/>
            </a:pPr>
            <a:r>
              <a:rPr lang="en-US" sz="1600" b="1" dirty="0" err="1" smtClean="0">
                <a:solidFill>
                  <a:srgbClr val="4A4A45"/>
                </a:solidFill>
                <a:latin typeface="Times New Roman" pitchFamily="18" charset="0"/>
                <a:ea typeface="Lato" pitchFamily="34" charset="-122"/>
                <a:cs typeface="Times New Roman" pitchFamily="18" charset="0"/>
              </a:rPr>
              <a:t>PostgreSQL</a:t>
            </a:r>
            <a:r>
              <a:rPr lang="en-US" sz="1600" b="1" dirty="0" smtClean="0">
                <a:solidFill>
                  <a:srgbClr val="4A4A45"/>
                </a:solidFill>
                <a:latin typeface="Times New Roman" pitchFamily="18" charset="0"/>
                <a:ea typeface="Lato" pitchFamily="34" charset="-122"/>
                <a:cs typeface="Times New Roman" pitchFamily="18" charset="0"/>
              </a:rPr>
              <a:t>:</a:t>
            </a:r>
            <a:r>
              <a:rPr lang="en-US" sz="1600" dirty="0" smtClean="0">
                <a:solidFill>
                  <a:srgbClr val="4A4A45"/>
                </a:solidFill>
                <a:latin typeface="Times New Roman" pitchFamily="18" charset="0"/>
                <a:ea typeface="Lato" pitchFamily="34" charset="-122"/>
                <a:cs typeface="Times New Roman" pitchFamily="18" charset="0"/>
              </a:rPr>
              <a:t> Advanced features, strong ACID compliance</a:t>
            </a:r>
            <a:endParaRPr lang="en-US" sz="1600" dirty="0" smtClean="0">
              <a:latin typeface="Times New Roman" pitchFamily="18" charset="0"/>
              <a:cs typeface="Times New Roman" pitchFamily="18" charset="0"/>
            </a:endParaRPr>
          </a:p>
          <a:p>
            <a:pPr marL="342900" indent="-342900" algn="l">
              <a:lnSpc>
                <a:spcPts val="2500"/>
              </a:lnSpc>
              <a:buSzPct val="100000"/>
              <a:buChar char="•"/>
            </a:pPr>
            <a:endParaRPr lang="en-US" sz="1600" dirty="0" smtClean="0">
              <a:latin typeface="Times New Roman" pitchFamily="18" charset="0"/>
              <a:cs typeface="Times New Roman" pitchFamily="18" charset="0"/>
            </a:endParaRPr>
          </a:p>
          <a:p>
            <a:pPr marL="342900" indent="-342900" algn="l">
              <a:lnSpc>
                <a:spcPts val="2500"/>
              </a:lnSpc>
              <a:buSzPct val="100000"/>
              <a:buFontTx/>
              <a:buChar char="•"/>
            </a:pPr>
            <a:r>
              <a:rPr lang="en-US" sz="1600" b="1" dirty="0" smtClean="0">
                <a:solidFill>
                  <a:srgbClr val="4A4A45"/>
                </a:solidFill>
                <a:latin typeface="Times New Roman" pitchFamily="18" charset="0"/>
                <a:ea typeface="Lato" pitchFamily="34" charset="-122"/>
                <a:cs typeface="Times New Roman" pitchFamily="18" charset="0"/>
              </a:rPr>
              <a:t>Oracle:</a:t>
            </a:r>
            <a:r>
              <a:rPr lang="en-US" sz="1600" dirty="0" smtClean="0">
                <a:solidFill>
                  <a:srgbClr val="4A4A45"/>
                </a:solidFill>
                <a:latin typeface="Times New Roman" pitchFamily="18" charset="0"/>
                <a:ea typeface="Lato" pitchFamily="34" charset="-122"/>
                <a:cs typeface="Times New Roman" pitchFamily="18" charset="0"/>
              </a:rPr>
              <a:t> Enterprise-grade, highly scalable</a:t>
            </a:r>
            <a:endParaRPr lang="en-US" sz="1600" dirty="0" smtClean="0">
              <a:latin typeface="Times New Roman" pitchFamily="18" charset="0"/>
              <a:cs typeface="Times New Roman" pitchFamily="18" charset="0"/>
            </a:endParaRPr>
          </a:p>
          <a:p>
            <a:pPr marL="342900" indent="-342900" algn="l">
              <a:lnSpc>
                <a:spcPts val="2500"/>
              </a:lnSpc>
              <a:buSzPct val="100000"/>
              <a:buChar char="•"/>
            </a:pPr>
            <a:endParaRPr lang="en-US" sz="1600" dirty="0" smtClean="0">
              <a:latin typeface="Times New Roman" pitchFamily="18" charset="0"/>
              <a:cs typeface="Times New Roman" pitchFamily="18" charset="0"/>
            </a:endParaRPr>
          </a:p>
          <a:p>
            <a:pPr marL="342900" indent="-342900" algn="l">
              <a:lnSpc>
                <a:spcPts val="2500"/>
              </a:lnSpc>
              <a:buSzPct val="100000"/>
              <a:buFontTx/>
              <a:buChar char="•"/>
            </a:pPr>
            <a:r>
              <a:rPr lang="en-US" sz="1600" b="1" dirty="0" smtClean="0">
                <a:solidFill>
                  <a:srgbClr val="4A4A45"/>
                </a:solidFill>
                <a:latin typeface="Times New Roman" pitchFamily="18" charset="0"/>
                <a:ea typeface="Lato" pitchFamily="34" charset="-122"/>
                <a:cs typeface="Times New Roman" pitchFamily="18" charset="0"/>
              </a:rPr>
              <a:t>Microsoft SQL Server:</a:t>
            </a:r>
            <a:r>
              <a:rPr lang="en-US" sz="1600" dirty="0" smtClean="0">
                <a:solidFill>
                  <a:srgbClr val="4A4A45"/>
                </a:solidFill>
                <a:latin typeface="Times New Roman" pitchFamily="18" charset="0"/>
                <a:ea typeface="Lato" pitchFamily="34" charset="-122"/>
                <a:cs typeface="Times New Roman" pitchFamily="18" charset="0"/>
              </a:rPr>
              <a:t> Integrated with Microsoft ecosystem</a:t>
            </a:r>
            <a:endParaRPr lang="en-US" sz="1600" dirty="0" smtClean="0">
              <a:latin typeface="Times New Roman" pitchFamily="18" charset="0"/>
              <a:cs typeface="Times New Roman" pitchFamily="18" charset="0"/>
            </a:endParaRPr>
          </a:p>
          <a:p>
            <a:pPr marL="342900" indent="-342900" algn="l">
              <a:lnSpc>
                <a:spcPts val="2500"/>
              </a:lnSpc>
              <a:buSzPct val="100000"/>
              <a:buChar char="•"/>
            </a:pP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marL="0" indent="0" algn="l">
              <a:lnSpc>
                <a:spcPts val="2400"/>
              </a:lnSpc>
              <a:buNone/>
            </a:pPr>
            <a:r>
              <a:rPr lang="en-US" sz="2400" dirty="0" smtClean="0">
                <a:solidFill>
                  <a:srgbClr val="4A4A45"/>
                </a:solidFill>
                <a:latin typeface="Times New Roman" pitchFamily="18" charset="0"/>
                <a:ea typeface="Lato Bold" pitchFamily="34" charset="-122"/>
                <a:cs typeface="Times New Roman" pitchFamily="18" charset="0"/>
              </a:rPr>
              <a:t>Examples</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543799" cy="2971800"/>
          </a:xfrm>
          <a:prstGeom prst="rect">
            <a:avLst/>
          </a:prstGeom>
        </p:spPr>
        <p:txBody>
          <a:bodyPr vert="horz" wrap="square" lIns="0" tIns="9525" rIns="0" bIns="0" rtlCol="0">
            <a:noAutofit/>
          </a:bodyPr>
          <a:lstStyle/>
          <a:p>
            <a:pPr marL="0" indent="0" algn="just">
              <a:lnSpc>
                <a:spcPts val="2350"/>
              </a:lnSpc>
              <a:buNone/>
            </a:pPr>
            <a:r>
              <a:rPr lang="en-US" sz="1600" dirty="0" err="1" smtClean="0">
                <a:solidFill>
                  <a:srgbClr val="4A4A45"/>
                </a:solidFill>
                <a:latin typeface="Times New Roman" pitchFamily="18" charset="0"/>
                <a:ea typeface="Lato" pitchFamily="34" charset="-122"/>
                <a:cs typeface="Times New Roman" pitchFamily="18" charset="0"/>
              </a:rPr>
              <a:t>NoSQL</a:t>
            </a:r>
            <a:r>
              <a:rPr lang="en-US" sz="1600" dirty="0" smtClean="0">
                <a:solidFill>
                  <a:srgbClr val="4A4A45"/>
                </a:solidFill>
                <a:latin typeface="Times New Roman" pitchFamily="18" charset="0"/>
                <a:ea typeface="Lato" pitchFamily="34" charset="-122"/>
                <a:cs typeface="Times New Roman" pitchFamily="18" charset="0"/>
              </a:rPr>
              <a:t> databases emerged to address the limitations of traditional SQL databases when dealing with massive scale, unstructured data, and distributed systems. They sacrifice some consistency for availability and partition tolerance.</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4550"/>
              </a:lnSpc>
              <a:buNone/>
            </a:pPr>
            <a:r>
              <a:rPr lang="en-US" sz="2400" dirty="0" err="1" smtClean="0">
                <a:solidFill>
                  <a:srgbClr val="282824"/>
                </a:solidFill>
                <a:latin typeface="Times New Roman" pitchFamily="18" charset="0"/>
                <a:ea typeface="Lato Bold" pitchFamily="34" charset="-122"/>
                <a:cs typeface="Times New Roman" pitchFamily="18" charset="0"/>
              </a:rPr>
              <a:t>NoSQL</a:t>
            </a:r>
            <a:r>
              <a:rPr lang="en-US" sz="2400" dirty="0" smtClean="0">
                <a:solidFill>
                  <a:srgbClr val="282824"/>
                </a:solidFill>
                <a:latin typeface="Times New Roman" pitchFamily="18" charset="0"/>
                <a:ea typeface="Lato Bold" pitchFamily="34" charset="-122"/>
                <a:cs typeface="Times New Roman" pitchFamily="18" charset="0"/>
              </a:rPr>
              <a:t> Databases: Flexibility and Scale(Con….)</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6"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48600" cy="3657600"/>
          </a:xfrm>
          <a:prstGeom prst="rect">
            <a:avLst/>
          </a:prstGeom>
        </p:spPr>
        <p:txBody>
          <a:bodyPr vert="horz" wrap="square" lIns="0" tIns="9525" rIns="0" bIns="0" rtlCol="0">
            <a:noAutofit/>
          </a:bodyPr>
          <a:lstStyle/>
          <a:p>
            <a:pPr algn="just">
              <a:lnSpc>
                <a:spcPts val="2250"/>
              </a:lnSpc>
              <a:buFont typeface="Arial" pitchFamily="34" charset="0"/>
              <a:buChar char="•"/>
            </a:pPr>
            <a:r>
              <a:rPr lang="en-US" sz="1600" b="1" dirty="0" smtClean="0">
                <a:solidFill>
                  <a:srgbClr val="4A4A45"/>
                </a:solidFill>
                <a:latin typeface="Times New Roman" pitchFamily="18" charset="0"/>
                <a:ea typeface="Lato Bold" pitchFamily="34" charset="-122"/>
                <a:cs typeface="Times New Roman" pitchFamily="18" charset="0"/>
              </a:rPr>
              <a:t> Key-Value Stores</a:t>
            </a:r>
            <a:r>
              <a:rPr lang="en-US" sz="1600" dirty="0" smtClean="0">
                <a:solidFill>
                  <a:srgbClr val="282824"/>
                </a:solidFill>
                <a:latin typeface="Times New Roman" pitchFamily="18" charset="0"/>
                <a:ea typeface="Lato Bold" pitchFamily="34" charset="-122"/>
                <a:cs typeface="Times New Roman" pitchFamily="18" charset="0"/>
              </a:rPr>
              <a:t> : </a:t>
            </a:r>
            <a:r>
              <a:rPr lang="en-US" sz="1600" dirty="0" smtClean="0">
                <a:solidFill>
                  <a:srgbClr val="4A4A45"/>
                </a:solidFill>
                <a:latin typeface="Times New Roman" pitchFamily="18" charset="0"/>
                <a:ea typeface="Lato" pitchFamily="34" charset="-122"/>
                <a:cs typeface="Times New Roman" pitchFamily="18" charset="0"/>
              </a:rPr>
              <a:t>Simplest </a:t>
            </a:r>
            <a:r>
              <a:rPr lang="en-US" sz="1600" dirty="0" err="1" smtClean="0">
                <a:solidFill>
                  <a:srgbClr val="4A4A45"/>
                </a:solidFill>
                <a:latin typeface="Times New Roman" pitchFamily="18" charset="0"/>
                <a:ea typeface="Lato" pitchFamily="34" charset="-122"/>
                <a:cs typeface="Times New Roman" pitchFamily="18" charset="0"/>
              </a:rPr>
              <a:t>NoSQL</a:t>
            </a:r>
            <a:r>
              <a:rPr lang="en-US" sz="1600" dirty="0" smtClean="0">
                <a:solidFill>
                  <a:srgbClr val="4A4A45"/>
                </a:solidFill>
                <a:latin typeface="Times New Roman" pitchFamily="18" charset="0"/>
                <a:ea typeface="Lato" pitchFamily="34" charset="-122"/>
                <a:cs typeface="Times New Roman" pitchFamily="18" charset="0"/>
              </a:rPr>
              <a:t> model storing data as key-value pairs. Extremely fast for lookups and caching. </a:t>
            </a:r>
            <a:r>
              <a:rPr lang="en-US" sz="1600" b="1" dirty="0" smtClean="0">
                <a:solidFill>
                  <a:srgbClr val="4A4A45"/>
                </a:solidFill>
                <a:latin typeface="Times New Roman" pitchFamily="18" charset="0"/>
                <a:ea typeface="Lato" pitchFamily="34" charset="-122"/>
                <a:cs typeface="Times New Roman" pitchFamily="18" charset="0"/>
              </a:rPr>
              <a:t>Examples:</a:t>
            </a:r>
            <a:r>
              <a:rPr lang="en-US" sz="1600" dirty="0" smtClean="0">
                <a:solidFill>
                  <a:srgbClr val="4A4A45"/>
                </a:solidFill>
                <a:latin typeface="Times New Roman" pitchFamily="18" charset="0"/>
                <a:ea typeface="Lato" pitchFamily="34" charset="-122"/>
                <a:cs typeface="Times New Roman" pitchFamily="18" charset="0"/>
              </a:rPr>
              <a:t> </a:t>
            </a:r>
            <a:r>
              <a:rPr lang="en-US" sz="1600" dirty="0" err="1" smtClean="0">
                <a:solidFill>
                  <a:srgbClr val="4A4A45"/>
                </a:solidFill>
                <a:latin typeface="Times New Roman" pitchFamily="18" charset="0"/>
                <a:ea typeface="Lato" pitchFamily="34" charset="-122"/>
                <a:cs typeface="Times New Roman" pitchFamily="18" charset="0"/>
              </a:rPr>
              <a:t>Redis</a:t>
            </a:r>
            <a:r>
              <a:rPr lang="en-US" sz="1600" dirty="0" smtClean="0">
                <a:solidFill>
                  <a:srgbClr val="4A4A45"/>
                </a:solidFill>
                <a:latin typeface="Times New Roman" pitchFamily="18" charset="0"/>
                <a:ea typeface="Lato" pitchFamily="34" charset="-122"/>
                <a:cs typeface="Times New Roman" pitchFamily="18" charset="0"/>
              </a:rPr>
              <a:t>, Amazon </a:t>
            </a:r>
            <a:r>
              <a:rPr lang="en-US" sz="1600" dirty="0" err="1" smtClean="0">
                <a:solidFill>
                  <a:srgbClr val="4A4A45"/>
                </a:solidFill>
                <a:latin typeface="Times New Roman" pitchFamily="18" charset="0"/>
                <a:ea typeface="Lato" pitchFamily="34" charset="-122"/>
                <a:cs typeface="Times New Roman" pitchFamily="18" charset="0"/>
              </a:rPr>
              <a:t>DynamoDB</a:t>
            </a:r>
            <a:r>
              <a:rPr lang="en-US" sz="1600" dirty="0" smtClean="0">
                <a:solidFill>
                  <a:srgbClr val="4A4A45"/>
                </a:solidFill>
                <a:latin typeface="Times New Roman" pitchFamily="18" charset="0"/>
                <a:ea typeface="Lato" pitchFamily="34" charset="-122"/>
                <a:cs typeface="Times New Roman" pitchFamily="18" charset="0"/>
              </a:rPr>
              <a:t>, </a:t>
            </a:r>
            <a:r>
              <a:rPr lang="en-US" sz="1600" dirty="0" err="1" smtClean="0">
                <a:solidFill>
                  <a:srgbClr val="4A4A45"/>
                </a:solidFill>
                <a:latin typeface="Times New Roman" pitchFamily="18" charset="0"/>
                <a:ea typeface="Lato" pitchFamily="34" charset="-122"/>
                <a:cs typeface="Times New Roman" pitchFamily="18" charset="0"/>
              </a:rPr>
              <a:t>Riak</a:t>
            </a:r>
            <a:r>
              <a:rPr lang="en-US" sz="1600" dirty="0" smtClean="0">
                <a:solidFill>
                  <a:srgbClr val="4A4A45"/>
                </a:solidFill>
                <a:latin typeface="Times New Roman" pitchFamily="18" charset="0"/>
                <a:ea typeface="Lato" pitchFamily="34" charset="-122"/>
                <a:cs typeface="Times New Roman" pitchFamily="18" charset="0"/>
              </a:rPr>
              <a:t>.</a:t>
            </a:r>
          </a:p>
          <a:p>
            <a:pPr algn="just">
              <a:lnSpc>
                <a:spcPts val="2250"/>
              </a:lnSpc>
              <a:buFont typeface="Arial" pitchFamily="34" charset="0"/>
              <a:buChar char="•"/>
            </a:pPr>
            <a:endParaRPr lang="en-US" sz="1600" dirty="0" smtClean="0">
              <a:solidFill>
                <a:srgbClr val="4A4A45"/>
              </a:solidFill>
              <a:latin typeface="Times New Roman" pitchFamily="18" charset="0"/>
              <a:ea typeface="Lato" pitchFamily="34" charset="-122"/>
              <a:cs typeface="Times New Roman" pitchFamily="18" charset="0"/>
            </a:endParaRPr>
          </a:p>
          <a:p>
            <a:pPr algn="just">
              <a:lnSpc>
                <a:spcPts val="2250"/>
              </a:lnSpc>
              <a:buFont typeface="Arial" pitchFamily="34" charset="0"/>
              <a:buChar char="•"/>
            </a:pPr>
            <a:r>
              <a:rPr lang="en-US" sz="1600" dirty="0">
                <a:solidFill>
                  <a:srgbClr val="4A4A45"/>
                </a:solidFill>
                <a:latin typeface="Times New Roman" pitchFamily="18" charset="0"/>
                <a:cs typeface="Times New Roman" pitchFamily="18" charset="0"/>
              </a:rPr>
              <a:t> </a:t>
            </a:r>
            <a:r>
              <a:rPr lang="en-US" sz="1600" b="1" dirty="0" smtClean="0">
                <a:solidFill>
                  <a:srgbClr val="4A4A45"/>
                </a:solidFill>
                <a:latin typeface="Times New Roman" pitchFamily="18" charset="0"/>
                <a:ea typeface="Lato Bold" pitchFamily="34" charset="-122"/>
                <a:cs typeface="Times New Roman" pitchFamily="18" charset="0"/>
              </a:rPr>
              <a:t>Document Databases</a:t>
            </a:r>
            <a:r>
              <a:rPr lang="en-US" sz="1600" dirty="0" smtClean="0">
                <a:solidFill>
                  <a:srgbClr val="282824"/>
                </a:solidFill>
                <a:latin typeface="Times New Roman" pitchFamily="18" charset="0"/>
                <a:ea typeface="Lato Bold" pitchFamily="34" charset="-122"/>
                <a:cs typeface="Times New Roman" pitchFamily="18" charset="0"/>
              </a:rPr>
              <a:t> : </a:t>
            </a:r>
            <a:r>
              <a:rPr lang="en-US" sz="1600" dirty="0" smtClean="0">
                <a:solidFill>
                  <a:srgbClr val="4A4A45"/>
                </a:solidFill>
                <a:latin typeface="Times New Roman" pitchFamily="18" charset="0"/>
                <a:ea typeface="Lato" pitchFamily="34" charset="-122"/>
                <a:cs typeface="Times New Roman" pitchFamily="18" charset="0"/>
              </a:rPr>
              <a:t>Store data in flexible, JSON-like documents. Schema-less design allows easy iteration. </a:t>
            </a:r>
            <a:r>
              <a:rPr lang="en-US" sz="1600" b="1" dirty="0" smtClean="0">
                <a:solidFill>
                  <a:srgbClr val="4A4A45"/>
                </a:solidFill>
                <a:latin typeface="Times New Roman" pitchFamily="18" charset="0"/>
                <a:ea typeface="Lato" pitchFamily="34" charset="-122"/>
                <a:cs typeface="Times New Roman" pitchFamily="18" charset="0"/>
              </a:rPr>
              <a:t>Examples:</a:t>
            </a:r>
            <a:r>
              <a:rPr lang="en-US" sz="1600" dirty="0" smtClean="0">
                <a:solidFill>
                  <a:srgbClr val="4A4A45"/>
                </a:solidFill>
                <a:latin typeface="Times New Roman" pitchFamily="18" charset="0"/>
                <a:ea typeface="Lato" pitchFamily="34" charset="-122"/>
                <a:cs typeface="Times New Roman" pitchFamily="18" charset="0"/>
              </a:rPr>
              <a:t> </a:t>
            </a:r>
            <a:r>
              <a:rPr lang="en-US" sz="1600" dirty="0" err="1" smtClean="0">
                <a:solidFill>
                  <a:srgbClr val="4A4A45"/>
                </a:solidFill>
                <a:latin typeface="Times New Roman" pitchFamily="18" charset="0"/>
                <a:ea typeface="Lato" pitchFamily="34" charset="-122"/>
                <a:cs typeface="Times New Roman" pitchFamily="18" charset="0"/>
              </a:rPr>
              <a:t>MongoDB</a:t>
            </a:r>
            <a:r>
              <a:rPr lang="en-US" sz="1600" dirty="0" smtClean="0">
                <a:solidFill>
                  <a:srgbClr val="4A4A45"/>
                </a:solidFill>
                <a:latin typeface="Times New Roman" pitchFamily="18" charset="0"/>
                <a:ea typeface="Lato" pitchFamily="34" charset="-122"/>
                <a:cs typeface="Times New Roman" pitchFamily="18" charset="0"/>
              </a:rPr>
              <a:t>, </a:t>
            </a:r>
            <a:r>
              <a:rPr lang="en-US" sz="1600" dirty="0" err="1" smtClean="0">
                <a:solidFill>
                  <a:srgbClr val="4A4A45"/>
                </a:solidFill>
                <a:latin typeface="Times New Roman" pitchFamily="18" charset="0"/>
                <a:ea typeface="Lato" pitchFamily="34" charset="-122"/>
                <a:cs typeface="Times New Roman" pitchFamily="18" charset="0"/>
              </a:rPr>
              <a:t>CouchDB</a:t>
            </a:r>
            <a:r>
              <a:rPr lang="en-US" sz="1600" dirty="0" smtClean="0">
                <a:solidFill>
                  <a:srgbClr val="4A4A45"/>
                </a:solidFill>
                <a:latin typeface="Times New Roman" pitchFamily="18" charset="0"/>
                <a:ea typeface="Lato" pitchFamily="34" charset="-122"/>
                <a:cs typeface="Times New Roman" pitchFamily="18" charset="0"/>
              </a:rPr>
              <a:t>, Firebase.</a:t>
            </a:r>
          </a:p>
          <a:p>
            <a:pPr algn="just">
              <a:lnSpc>
                <a:spcPts val="2250"/>
              </a:lnSpc>
              <a:buFont typeface="Arial" pitchFamily="34" charset="0"/>
              <a:buChar char="•"/>
            </a:pPr>
            <a:endParaRPr lang="en-US" sz="1600" dirty="0">
              <a:solidFill>
                <a:srgbClr val="4A4A45"/>
              </a:solidFill>
              <a:latin typeface="Times New Roman" pitchFamily="18" charset="0"/>
              <a:cs typeface="Times New Roman" pitchFamily="18" charset="0"/>
            </a:endParaRPr>
          </a:p>
          <a:p>
            <a:pPr algn="just">
              <a:lnSpc>
                <a:spcPts val="2250"/>
              </a:lnSpc>
              <a:buFont typeface="Arial" pitchFamily="34" charset="0"/>
              <a:buChar char="•"/>
            </a:pPr>
            <a:r>
              <a:rPr lang="en-US" sz="1600" b="1" dirty="0" smtClean="0">
                <a:solidFill>
                  <a:srgbClr val="4A4A45"/>
                </a:solidFill>
                <a:latin typeface="Times New Roman" pitchFamily="18" charset="0"/>
                <a:ea typeface="Lato Bold" pitchFamily="34" charset="-122"/>
                <a:cs typeface="Times New Roman" pitchFamily="18" charset="0"/>
              </a:rPr>
              <a:t> Column-Family Stores </a:t>
            </a:r>
            <a:r>
              <a:rPr lang="en-US" sz="1600" dirty="0" smtClean="0">
                <a:solidFill>
                  <a:srgbClr val="282824"/>
                </a:solidFill>
                <a:latin typeface="Times New Roman" pitchFamily="18" charset="0"/>
                <a:ea typeface="Lato Bold" pitchFamily="34" charset="-122"/>
                <a:cs typeface="Times New Roman" pitchFamily="18" charset="0"/>
              </a:rPr>
              <a:t>: </a:t>
            </a:r>
            <a:r>
              <a:rPr lang="en-US" sz="1600" dirty="0" err="1" smtClean="0">
                <a:solidFill>
                  <a:srgbClr val="4A4A45"/>
                </a:solidFill>
                <a:latin typeface="Times New Roman" pitchFamily="18" charset="0"/>
                <a:ea typeface="Lato" pitchFamily="34" charset="-122"/>
                <a:cs typeface="Times New Roman" pitchFamily="18" charset="0"/>
              </a:rPr>
              <a:t>Optimised</a:t>
            </a:r>
            <a:r>
              <a:rPr lang="en-US" sz="1600" dirty="0" smtClean="0">
                <a:solidFill>
                  <a:srgbClr val="4A4A45"/>
                </a:solidFill>
                <a:latin typeface="Times New Roman" pitchFamily="18" charset="0"/>
                <a:ea typeface="Lato" pitchFamily="34" charset="-122"/>
                <a:cs typeface="Times New Roman" pitchFamily="18" charset="0"/>
              </a:rPr>
              <a:t> for queries over large datasets. Store data in columns rather than rows. </a:t>
            </a:r>
            <a:r>
              <a:rPr lang="en-US" sz="1600" b="1" dirty="0" smtClean="0">
                <a:solidFill>
                  <a:srgbClr val="4A4A45"/>
                </a:solidFill>
                <a:latin typeface="Times New Roman" pitchFamily="18" charset="0"/>
                <a:ea typeface="Lato" pitchFamily="34" charset="-122"/>
                <a:cs typeface="Times New Roman" pitchFamily="18" charset="0"/>
              </a:rPr>
              <a:t>Examples:</a:t>
            </a:r>
            <a:r>
              <a:rPr lang="en-US" sz="1600" dirty="0" smtClean="0">
                <a:solidFill>
                  <a:srgbClr val="4A4A45"/>
                </a:solidFill>
                <a:latin typeface="Times New Roman" pitchFamily="18" charset="0"/>
                <a:ea typeface="Lato" pitchFamily="34" charset="-122"/>
                <a:cs typeface="Times New Roman" pitchFamily="18" charset="0"/>
              </a:rPr>
              <a:t> Cassandra, </a:t>
            </a:r>
            <a:r>
              <a:rPr lang="en-US" sz="1600" dirty="0" err="1" smtClean="0">
                <a:solidFill>
                  <a:srgbClr val="4A4A45"/>
                </a:solidFill>
                <a:latin typeface="Times New Roman" pitchFamily="18" charset="0"/>
                <a:ea typeface="Lato" pitchFamily="34" charset="-122"/>
                <a:cs typeface="Times New Roman" pitchFamily="18" charset="0"/>
              </a:rPr>
              <a:t>HBase</a:t>
            </a:r>
            <a:r>
              <a:rPr lang="en-US" sz="1600" dirty="0" smtClean="0">
                <a:solidFill>
                  <a:srgbClr val="4A4A45"/>
                </a:solidFill>
                <a:latin typeface="Times New Roman" pitchFamily="18" charset="0"/>
                <a:ea typeface="Lato" pitchFamily="34" charset="-122"/>
                <a:cs typeface="Times New Roman" pitchFamily="18" charset="0"/>
              </a:rPr>
              <a:t>, </a:t>
            </a:r>
            <a:r>
              <a:rPr lang="en-US" sz="1600" dirty="0" err="1" smtClean="0">
                <a:solidFill>
                  <a:srgbClr val="4A4A45"/>
                </a:solidFill>
                <a:latin typeface="Times New Roman" pitchFamily="18" charset="0"/>
                <a:ea typeface="Lato" pitchFamily="34" charset="-122"/>
                <a:cs typeface="Times New Roman" pitchFamily="18" charset="0"/>
              </a:rPr>
              <a:t>ScyllaDB</a:t>
            </a:r>
            <a:r>
              <a:rPr lang="en-US" sz="1600" dirty="0" smtClean="0">
                <a:solidFill>
                  <a:srgbClr val="4A4A45"/>
                </a:solidFill>
                <a:latin typeface="Times New Roman" pitchFamily="18" charset="0"/>
                <a:ea typeface="Lato" pitchFamily="34" charset="-122"/>
                <a:cs typeface="Times New Roman" pitchFamily="18" charset="0"/>
              </a:rPr>
              <a:t>.</a:t>
            </a:r>
          </a:p>
          <a:p>
            <a:pPr algn="just">
              <a:lnSpc>
                <a:spcPts val="2250"/>
              </a:lnSpc>
              <a:buFont typeface="Arial" pitchFamily="34" charset="0"/>
              <a:buChar char="•"/>
            </a:pPr>
            <a:endParaRPr lang="en-US" sz="1600" dirty="0">
              <a:solidFill>
                <a:srgbClr val="4A4A45"/>
              </a:solidFill>
              <a:latin typeface="Times New Roman" pitchFamily="18" charset="0"/>
              <a:cs typeface="Times New Roman" pitchFamily="18" charset="0"/>
            </a:endParaRPr>
          </a:p>
          <a:p>
            <a:pPr algn="just">
              <a:lnSpc>
                <a:spcPts val="2250"/>
              </a:lnSpc>
              <a:buFont typeface="Arial" pitchFamily="34" charset="0"/>
              <a:buChar char="•"/>
            </a:pPr>
            <a:r>
              <a:rPr lang="en-US" sz="1600" b="1" dirty="0" smtClean="0">
                <a:solidFill>
                  <a:srgbClr val="4A4A45"/>
                </a:solidFill>
                <a:latin typeface="Times New Roman" pitchFamily="18" charset="0"/>
                <a:ea typeface="Lato Bold" pitchFamily="34" charset="-122"/>
                <a:cs typeface="Times New Roman" pitchFamily="18" charset="0"/>
              </a:rPr>
              <a:t> Graph Databases </a:t>
            </a:r>
            <a:r>
              <a:rPr lang="en-US" sz="1600" dirty="0" smtClean="0">
                <a:solidFill>
                  <a:srgbClr val="282824"/>
                </a:solidFill>
                <a:latin typeface="Times New Roman" pitchFamily="18" charset="0"/>
                <a:ea typeface="Lato Bold" pitchFamily="34" charset="-122"/>
                <a:cs typeface="Times New Roman" pitchFamily="18" charset="0"/>
              </a:rPr>
              <a:t>: </a:t>
            </a:r>
            <a:r>
              <a:rPr lang="en-US" sz="1600" dirty="0" smtClean="0">
                <a:solidFill>
                  <a:srgbClr val="4A4A45"/>
                </a:solidFill>
                <a:latin typeface="Times New Roman" pitchFamily="18" charset="0"/>
                <a:ea typeface="Lato" pitchFamily="34" charset="-122"/>
                <a:cs typeface="Times New Roman" pitchFamily="18" charset="0"/>
              </a:rPr>
              <a:t>Designed for data with complex relationships. Nodes and edges represent entities and connections. </a:t>
            </a:r>
            <a:r>
              <a:rPr lang="en-US" sz="1600" b="1" dirty="0" smtClean="0">
                <a:solidFill>
                  <a:srgbClr val="4A4A45"/>
                </a:solidFill>
                <a:latin typeface="Times New Roman" pitchFamily="18" charset="0"/>
                <a:ea typeface="Lato" pitchFamily="34" charset="-122"/>
                <a:cs typeface="Times New Roman" pitchFamily="18" charset="0"/>
              </a:rPr>
              <a:t>Examples:</a:t>
            </a:r>
            <a:r>
              <a:rPr lang="en-US" sz="1600" dirty="0" smtClean="0">
                <a:solidFill>
                  <a:srgbClr val="4A4A45"/>
                </a:solidFill>
                <a:latin typeface="Times New Roman" pitchFamily="18" charset="0"/>
                <a:ea typeface="Lato" pitchFamily="34" charset="-122"/>
                <a:cs typeface="Times New Roman" pitchFamily="18" charset="0"/>
              </a:rPr>
              <a:t> Neo4j, Amazon Neptune, </a:t>
            </a:r>
            <a:r>
              <a:rPr lang="en-US" sz="1600" dirty="0" err="1" smtClean="0">
                <a:solidFill>
                  <a:srgbClr val="4A4A45"/>
                </a:solidFill>
                <a:latin typeface="Times New Roman" pitchFamily="18" charset="0"/>
                <a:ea typeface="Lato" pitchFamily="34" charset="-122"/>
                <a:cs typeface="Times New Roman" pitchFamily="18" charset="0"/>
              </a:rPr>
              <a:t>ArangoDB</a:t>
            </a:r>
            <a:r>
              <a:rPr lang="en-US" sz="1600" dirty="0" smtClean="0">
                <a:solidFill>
                  <a:srgbClr val="4A4A45"/>
                </a:solidFill>
                <a:latin typeface="Times New Roman" pitchFamily="18" charset="0"/>
                <a:ea typeface="Lato" pitchFamily="34" charset="-122"/>
                <a:cs typeface="Times New Roman" pitchFamily="18" charset="0"/>
              </a:rPr>
              <a:t>.</a:t>
            </a:r>
            <a:endParaRPr lang="en-US" sz="1600" dirty="0" smtClean="0">
              <a:latin typeface="Times New Roman" pitchFamily="18" charset="0"/>
              <a:cs typeface="Times New Roman" pitchFamily="18" charset="0"/>
            </a:endParaRPr>
          </a:p>
          <a:p>
            <a:pPr algn="just">
              <a:lnSpc>
                <a:spcPts val="2250"/>
              </a:lnSpc>
              <a:buFont typeface="Arial" pitchFamily="34" charset="0"/>
              <a:buChar char="•"/>
            </a:pPr>
            <a:endParaRPr lang="en-US" sz="1600" dirty="0" smtClean="0">
              <a:latin typeface="Times New Roman" pitchFamily="18" charset="0"/>
              <a:cs typeface="Times New Roman" pitchFamily="18" charset="0"/>
            </a:endParaRPr>
          </a:p>
          <a:p>
            <a:pPr marL="0" indent="0" algn="just">
              <a:lnSpc>
                <a:spcPts val="2250"/>
              </a:lnSpc>
              <a:buNone/>
            </a:pPr>
            <a:endParaRPr lang="en-US" sz="1600" dirty="0" smtClean="0">
              <a:latin typeface="Times New Roman" pitchFamily="18" charset="0"/>
              <a:cs typeface="Times New Roman" pitchFamily="18" charset="0"/>
            </a:endParaRPr>
          </a:p>
          <a:p>
            <a:pPr marL="0" indent="0" algn="just">
              <a:lnSpc>
                <a:spcPts val="2250"/>
              </a:lnSpc>
              <a:buNone/>
            </a:pP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4550"/>
              </a:lnSpc>
              <a:buNone/>
            </a:pPr>
            <a:r>
              <a:rPr lang="en-US" sz="2400" dirty="0" err="1" smtClean="0">
                <a:solidFill>
                  <a:srgbClr val="282824"/>
                </a:solidFill>
                <a:latin typeface="Times New Roman" pitchFamily="18" charset="0"/>
                <a:ea typeface="Lato Bold" pitchFamily="34" charset="-122"/>
                <a:cs typeface="Times New Roman" pitchFamily="18" charset="0"/>
              </a:rPr>
              <a:t>NoSQL</a:t>
            </a:r>
            <a:r>
              <a:rPr lang="en-US" sz="2400" dirty="0" smtClean="0">
                <a:solidFill>
                  <a:srgbClr val="282824"/>
                </a:solidFill>
                <a:latin typeface="Times New Roman" pitchFamily="18" charset="0"/>
                <a:ea typeface="Lato Bold" pitchFamily="34" charset="-122"/>
                <a:cs typeface="Times New Roman" pitchFamily="18" charset="0"/>
              </a:rPr>
              <a:t> Databases: Flexibility and Scale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581400"/>
          </a:xfrm>
          <a:prstGeom prst="rect">
            <a:avLst/>
          </a:prstGeom>
        </p:spPr>
        <p:txBody>
          <a:bodyPr vert="horz" wrap="square" lIns="0" tIns="9525" rIns="0" bIns="0" rtlCol="0">
            <a:noAutofit/>
          </a:bodyPr>
          <a:lstStyle/>
          <a:p>
            <a:pPr>
              <a:buFont typeface="Arial" pitchFamily="34" charset="0"/>
              <a:buChar char="•"/>
            </a:pP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Autofit/>
          </a:bodyPr>
          <a:lstStyle>
            <a:lvl1pPr>
              <a:defRPr sz="3950" b="1" i="0">
                <a:solidFill>
                  <a:srgbClr val="1A1A1A"/>
                </a:solidFill>
                <a:latin typeface="Calibri"/>
                <a:ea typeface="+mj-ea"/>
                <a:cs typeface="Calibri"/>
              </a:defRPr>
            </a:lvl1pPr>
          </a:lstStyle>
          <a:p>
            <a:pPr marL="0" indent="0" algn="l">
              <a:lnSpc>
                <a:spcPts val="4850"/>
              </a:lnSpc>
              <a:buNone/>
            </a:pPr>
            <a:r>
              <a:rPr lang="en-US" sz="2400" dirty="0" smtClean="0">
                <a:solidFill>
                  <a:srgbClr val="282824"/>
                </a:solidFill>
                <a:latin typeface="Times New Roman" pitchFamily="18" charset="0"/>
                <a:ea typeface="Lato Bold" pitchFamily="34" charset="-122"/>
                <a:cs typeface="Times New Roman" pitchFamily="18" charset="0"/>
              </a:rPr>
              <a:t>SQL </a:t>
            </a:r>
            <a:r>
              <a:rPr lang="en-US" sz="2400" dirty="0" err="1" smtClean="0">
                <a:solidFill>
                  <a:srgbClr val="282824"/>
                </a:solidFill>
                <a:latin typeface="Times New Roman" pitchFamily="18" charset="0"/>
                <a:ea typeface="Lato Bold" pitchFamily="34" charset="-122"/>
                <a:cs typeface="Times New Roman" pitchFamily="18" charset="0"/>
              </a:rPr>
              <a:t>vs</a:t>
            </a:r>
            <a:r>
              <a:rPr lang="en-US" sz="2400" dirty="0" smtClean="0">
                <a:solidFill>
                  <a:srgbClr val="282824"/>
                </a:solidFill>
                <a:latin typeface="Times New Roman" pitchFamily="18" charset="0"/>
                <a:ea typeface="Lato Bold" pitchFamily="34" charset="-122"/>
                <a:cs typeface="Times New Roman" pitchFamily="18" charset="0"/>
              </a:rPr>
              <a:t> </a:t>
            </a:r>
            <a:r>
              <a:rPr lang="en-US" sz="2400" dirty="0" err="1" smtClean="0">
                <a:solidFill>
                  <a:srgbClr val="282824"/>
                </a:solidFill>
                <a:latin typeface="Times New Roman" pitchFamily="18" charset="0"/>
                <a:ea typeface="Lato Bold" pitchFamily="34" charset="-122"/>
                <a:cs typeface="Times New Roman" pitchFamily="18" charset="0"/>
              </a:rPr>
              <a:t>NoSQL</a:t>
            </a:r>
            <a:r>
              <a:rPr lang="en-US" sz="2400" dirty="0" smtClean="0">
                <a:solidFill>
                  <a:srgbClr val="282824"/>
                </a:solidFill>
                <a:latin typeface="Times New Roman" pitchFamily="18" charset="0"/>
                <a:ea typeface="Lato Bold" pitchFamily="34" charset="-122"/>
                <a:cs typeface="Times New Roman" pitchFamily="18" charset="0"/>
              </a:rPr>
              <a:t>: A Detailed Comparison</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0" name="Table 9"/>
          <p:cNvGraphicFramePr>
            <a:graphicFrameLocks noGrp="1"/>
          </p:cNvGraphicFramePr>
          <p:nvPr/>
        </p:nvGraphicFramePr>
        <p:xfrm>
          <a:off x="1143000" y="1047750"/>
          <a:ext cx="7696200" cy="3789680"/>
        </p:xfrm>
        <a:graphic>
          <a:graphicData uri="http://schemas.openxmlformats.org/drawingml/2006/table">
            <a:tbl>
              <a:tblPr firstRow="1" bandRow="1">
                <a:tableStyleId>{5940675A-B579-460E-94D1-54222C63F5DA}</a:tableStyleId>
              </a:tblPr>
              <a:tblGrid>
                <a:gridCol w="1524000"/>
                <a:gridCol w="3505200"/>
                <a:gridCol w="2667000"/>
              </a:tblGrid>
              <a:tr h="436880">
                <a:tc>
                  <a:txBody>
                    <a:bodyPr/>
                    <a:lstStyle/>
                    <a:p>
                      <a:pPr algn="ctr"/>
                      <a:r>
                        <a:rPr lang="en-US" sz="1600" b="1" dirty="0">
                          <a:latin typeface="Times New Roman" pitchFamily="18" charset="0"/>
                          <a:cs typeface="Times New Roman" pitchFamily="18" charset="0"/>
                        </a:rPr>
                        <a:t>Aspect</a:t>
                      </a:r>
                    </a:p>
                  </a:txBody>
                  <a:tcPr anchor="ctr"/>
                </a:tc>
                <a:tc>
                  <a:txBody>
                    <a:bodyPr/>
                    <a:lstStyle/>
                    <a:p>
                      <a:pPr marL="0" indent="0" algn="ctr">
                        <a:lnSpc>
                          <a:spcPts val="2500"/>
                        </a:lnSpc>
                        <a:buNone/>
                      </a:pPr>
                      <a:r>
                        <a:rPr lang="en-US" sz="1600" b="1" dirty="0" smtClean="0">
                          <a:solidFill>
                            <a:srgbClr val="4A4A45"/>
                          </a:solidFill>
                          <a:latin typeface="Times New Roman" pitchFamily="18" charset="0"/>
                          <a:ea typeface="Lato" pitchFamily="34" charset="-122"/>
                          <a:cs typeface="Times New Roman" pitchFamily="18" charset="0"/>
                        </a:rPr>
                        <a:t>SQL Databases</a:t>
                      </a:r>
                      <a:endParaRPr lang="en-US" sz="1600" dirty="0">
                        <a:latin typeface="Times New Roman" pitchFamily="18" charset="0"/>
                        <a:cs typeface="Times New Roman" pitchFamily="18" charset="0"/>
                      </a:endParaRPr>
                    </a:p>
                  </a:txBody>
                  <a:tcPr anchor="ctr"/>
                </a:tc>
                <a:tc>
                  <a:txBody>
                    <a:bodyPr/>
                    <a:lstStyle/>
                    <a:p>
                      <a:pPr marL="0" indent="0" algn="ctr">
                        <a:lnSpc>
                          <a:spcPts val="2500"/>
                        </a:lnSpc>
                        <a:buNone/>
                      </a:pPr>
                      <a:r>
                        <a:rPr lang="en-US" sz="1600" b="1" dirty="0" err="1" smtClean="0">
                          <a:solidFill>
                            <a:srgbClr val="4A4A45"/>
                          </a:solidFill>
                          <a:latin typeface="Times New Roman" pitchFamily="18" charset="0"/>
                          <a:ea typeface="Lato" pitchFamily="34" charset="-122"/>
                          <a:cs typeface="Times New Roman" pitchFamily="18" charset="0"/>
                        </a:rPr>
                        <a:t>NoSQL</a:t>
                      </a:r>
                      <a:r>
                        <a:rPr lang="en-US" sz="1600" b="1" dirty="0" smtClean="0">
                          <a:solidFill>
                            <a:srgbClr val="4A4A45"/>
                          </a:solidFill>
                          <a:latin typeface="Times New Roman" pitchFamily="18" charset="0"/>
                          <a:ea typeface="Lato" pitchFamily="34" charset="-122"/>
                          <a:cs typeface="Times New Roman" pitchFamily="18" charset="0"/>
                        </a:rPr>
                        <a:t> Databases</a:t>
                      </a:r>
                      <a:endParaRPr lang="en-US" sz="1600" dirty="0">
                        <a:latin typeface="Times New Roman" pitchFamily="18" charset="0"/>
                        <a:cs typeface="Times New Roman" pitchFamily="18" charset="0"/>
                      </a:endParaRPr>
                    </a:p>
                  </a:txBody>
                  <a:tcPr anchor="ctr"/>
                </a:tc>
              </a:tr>
              <a:tr h="335899">
                <a:tc>
                  <a:txBody>
                    <a:bodyPr/>
                    <a:lstStyle/>
                    <a:p>
                      <a:pPr marL="0" indent="0" algn="l">
                        <a:lnSpc>
                          <a:spcPts val="2500"/>
                        </a:lnSpc>
                        <a:buNone/>
                      </a:pPr>
                      <a:r>
                        <a:rPr lang="en-US" sz="1600" b="1" dirty="0" smtClean="0">
                          <a:solidFill>
                            <a:srgbClr val="4A4A45"/>
                          </a:solidFill>
                          <a:latin typeface="Times New Roman" pitchFamily="18" charset="0"/>
                          <a:ea typeface="Lato" pitchFamily="34" charset="-122"/>
                          <a:cs typeface="Times New Roman" pitchFamily="18" charset="0"/>
                        </a:rPr>
                        <a:t>Schema</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Fixed, predefined schema. Changes require migrations</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Dynamic, flexible schema. Easy to modify structure</a:t>
                      </a:r>
                      <a:endParaRPr lang="en-US" sz="1600" dirty="0">
                        <a:latin typeface="Times New Roman" pitchFamily="18" charset="0"/>
                        <a:cs typeface="Times New Roman" pitchFamily="18" charset="0"/>
                      </a:endParaRPr>
                    </a:p>
                  </a:txBody>
                  <a:tcPr anchor="ctr"/>
                </a:tc>
              </a:tr>
              <a:tr h="645160">
                <a:tc>
                  <a:txBody>
                    <a:bodyPr/>
                    <a:lstStyle/>
                    <a:p>
                      <a:pPr marL="0" indent="0" algn="l">
                        <a:lnSpc>
                          <a:spcPts val="2500"/>
                        </a:lnSpc>
                        <a:buNone/>
                      </a:pPr>
                      <a:r>
                        <a:rPr lang="en-US" sz="1600" b="1" dirty="0" smtClean="0">
                          <a:solidFill>
                            <a:srgbClr val="4A4A45"/>
                          </a:solidFill>
                          <a:latin typeface="Times New Roman" pitchFamily="18" charset="0"/>
                          <a:ea typeface="Lato" pitchFamily="34" charset="-122"/>
                          <a:cs typeface="Times New Roman" pitchFamily="18" charset="0"/>
                        </a:rPr>
                        <a:t>Query Language</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Standardized SQL across platforms</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Database-specific query languages</a:t>
                      </a:r>
                      <a:endParaRPr lang="en-US" sz="1600" dirty="0">
                        <a:latin typeface="Times New Roman" pitchFamily="18" charset="0"/>
                        <a:cs typeface="Times New Roman" pitchFamily="18" charset="0"/>
                      </a:endParaRPr>
                    </a:p>
                  </a:txBody>
                  <a:tcPr anchor="ctr"/>
                </a:tc>
              </a:tr>
              <a:tr h="483870">
                <a:tc>
                  <a:txBody>
                    <a:bodyPr/>
                    <a:lstStyle/>
                    <a:p>
                      <a:pPr marL="0" indent="0" algn="l">
                        <a:lnSpc>
                          <a:spcPts val="2500"/>
                        </a:lnSpc>
                        <a:buNone/>
                      </a:pPr>
                      <a:r>
                        <a:rPr lang="en-US" sz="1600" b="1" dirty="0" smtClean="0">
                          <a:solidFill>
                            <a:srgbClr val="4A4A45"/>
                          </a:solidFill>
                          <a:latin typeface="Times New Roman" pitchFamily="18" charset="0"/>
                          <a:ea typeface="Lato" pitchFamily="34" charset="-122"/>
                          <a:cs typeface="Times New Roman" pitchFamily="18" charset="0"/>
                        </a:rPr>
                        <a:t>Transactions</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Multi-row ACID transactions</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Limited transaction support</a:t>
                      </a:r>
                      <a:endParaRPr lang="en-US" sz="1600" dirty="0">
                        <a:latin typeface="Times New Roman" pitchFamily="18" charset="0"/>
                        <a:cs typeface="Times New Roman" pitchFamily="18" charset="0"/>
                      </a:endParaRPr>
                    </a:p>
                  </a:txBody>
                  <a:tcPr anchor="ctr"/>
                </a:tc>
              </a:tr>
              <a:tr h="532130">
                <a:tc>
                  <a:txBody>
                    <a:bodyPr/>
                    <a:lstStyle/>
                    <a:p>
                      <a:pPr marL="0" indent="0" algn="l">
                        <a:lnSpc>
                          <a:spcPts val="2500"/>
                        </a:lnSpc>
                        <a:buNone/>
                      </a:pPr>
                      <a:r>
                        <a:rPr lang="en-US" sz="1600" b="1" dirty="0" smtClean="0">
                          <a:solidFill>
                            <a:srgbClr val="4A4A45"/>
                          </a:solidFill>
                          <a:latin typeface="Times New Roman" pitchFamily="18" charset="0"/>
                          <a:ea typeface="Lato" pitchFamily="34" charset="-122"/>
                          <a:cs typeface="Times New Roman" pitchFamily="18" charset="0"/>
                        </a:rPr>
                        <a:t>Data Structure</a:t>
                      </a:r>
                      <a:endParaRPr lang="en-US" sz="1600" dirty="0">
                        <a:latin typeface="Times New Roman" pitchFamily="18" charset="0"/>
                        <a:cs typeface="Times New Roman" pitchFamily="18" charset="0"/>
                      </a:endParaRPr>
                    </a:p>
                  </a:txBody>
                  <a:tcPr anchor="ctr"/>
                </a:tc>
                <a:tc>
                  <a:txBody>
                    <a:bodyPr/>
                    <a:lstStyle/>
                    <a:p>
                      <a:pPr marL="0" marR="0" indent="0" algn="just" defTabSz="914400" eaLnBrk="1" fontAlgn="auto" latinLnBrk="0" hangingPunct="1">
                        <a:lnSpc>
                          <a:spcPct val="100000"/>
                        </a:lnSpc>
                        <a:spcBef>
                          <a:spcPts val="0"/>
                        </a:spcBef>
                        <a:spcAft>
                          <a:spcPts val="0"/>
                        </a:spcAft>
                        <a:buClrTx/>
                        <a:buSzTx/>
                        <a:buFontTx/>
                        <a:buNone/>
                        <a:tabLst/>
                        <a:defRPr/>
                      </a:pPr>
                      <a:r>
                        <a:rPr lang="en-US" sz="1600" dirty="0" smtClean="0">
                          <a:solidFill>
                            <a:srgbClr val="4A4A45"/>
                          </a:solidFill>
                          <a:latin typeface="Times New Roman" pitchFamily="18" charset="0"/>
                          <a:ea typeface="Lato" pitchFamily="34" charset="-122"/>
                          <a:cs typeface="Times New Roman" pitchFamily="18" charset="0"/>
                        </a:rPr>
                        <a:t>Structured, relational data</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Unstructured, semi-structured</a:t>
                      </a:r>
                      <a:endParaRPr lang="en-US" sz="1600" dirty="0">
                        <a:latin typeface="Times New Roman" pitchFamily="18" charset="0"/>
                        <a:cs typeface="Times New Roman" pitchFamily="18" charset="0"/>
                      </a:endParaRPr>
                    </a:p>
                  </a:txBody>
                  <a:tcPr anchor="ctr"/>
                </a:tc>
              </a:tr>
              <a:tr h="915670">
                <a:tc>
                  <a:txBody>
                    <a:bodyPr/>
                    <a:lstStyle/>
                    <a:p>
                      <a:r>
                        <a:rPr lang="en-US" sz="1600" b="1" dirty="0">
                          <a:latin typeface="Times New Roman" pitchFamily="18" charset="0"/>
                          <a:cs typeface="Times New Roman" pitchFamily="18" charset="0"/>
                        </a:rPr>
                        <a:t>Use Cases</a:t>
                      </a: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Financial systems, ERP, complex queries requiring joins.</a:t>
                      </a:r>
                      <a:endParaRPr lang="en-US" sz="1600" dirty="0">
                        <a:latin typeface="Times New Roman" pitchFamily="18" charset="0"/>
                        <a:cs typeface="Times New Roman" pitchFamily="18" charset="0"/>
                      </a:endParaRPr>
                    </a:p>
                  </a:txBody>
                  <a:tcPr anchor="ctr"/>
                </a:tc>
                <a:tc>
                  <a:txBody>
                    <a:bodyPr/>
                    <a:lstStyle/>
                    <a:p>
                      <a:pPr marL="0" indent="0" algn="just">
                        <a:lnSpc>
                          <a:spcPts val="2500"/>
                        </a:lnSpc>
                        <a:buNone/>
                      </a:pPr>
                      <a:r>
                        <a:rPr lang="en-US" sz="1600" dirty="0" smtClean="0">
                          <a:solidFill>
                            <a:srgbClr val="4A4A45"/>
                          </a:solidFill>
                          <a:latin typeface="Times New Roman" pitchFamily="18" charset="0"/>
                          <a:ea typeface="Lato" pitchFamily="34" charset="-122"/>
                          <a:cs typeface="Times New Roman" pitchFamily="18" charset="0"/>
                        </a:rPr>
                        <a:t>Real-time analytics, content management, social networks.</a:t>
                      </a:r>
                      <a:endParaRPr lang="en-US" sz="1600" dirty="0">
                        <a:latin typeface="Times New Roman" pitchFamily="18" charset="0"/>
                        <a:cs typeface="Times New Roman" pitchFamily="18" charset="0"/>
                      </a:endParaRPr>
                    </a:p>
                  </a:txBody>
                  <a:tcPr anchor="ct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999" y="285686"/>
            <a:ext cx="361696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503050405090304" pitchFamily="18" charset="0"/>
                <a:cs typeface="Times New Roman" panose="02020503050405090304" pitchFamily="18" charset="0"/>
              </a:rPr>
              <a:t>Summary</a:t>
            </a:r>
            <a:r>
              <a:rPr sz="2400" spc="-2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of</a:t>
            </a:r>
            <a:r>
              <a:rPr sz="2400" spc="-1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the</a:t>
            </a:r>
            <a:r>
              <a:rPr sz="2400" spc="-15" dirty="0">
                <a:latin typeface="Times New Roman" panose="02020503050405090304" pitchFamily="18" charset="0"/>
                <a:cs typeface="Times New Roman" panose="02020503050405090304" pitchFamily="18" charset="0"/>
              </a:rPr>
              <a:t> </a:t>
            </a:r>
            <a:r>
              <a:rPr sz="2400" spc="-10" dirty="0">
                <a:latin typeface="Times New Roman" panose="02020503050405090304" pitchFamily="18" charset="0"/>
                <a:cs typeface="Times New Roman" panose="02020503050405090304" pitchFamily="18" charset="0"/>
              </a:rPr>
              <a:t>Lecture</a:t>
            </a:r>
            <a:endParaRPr sz="2400" dirty="0">
              <a:latin typeface="Times New Roman" panose="02020503050405090304" pitchFamily="18" charset="0"/>
              <a:cs typeface="Times New Roman" panose="02020503050405090304" pitchFamily="18" charset="0"/>
            </a:endParaRPr>
          </a:p>
        </p:txBody>
      </p:sp>
      <p:sp>
        <p:nvSpPr>
          <p:cNvPr id="4" name="object 4"/>
          <p:cNvSpPr txBox="1"/>
          <p:nvPr/>
        </p:nvSpPr>
        <p:spPr>
          <a:xfrm>
            <a:off x="762000" y="1135380"/>
            <a:ext cx="7790180" cy="3341370"/>
          </a:xfrm>
          <a:prstGeom prst="rect">
            <a:avLst/>
          </a:prstGeom>
        </p:spPr>
        <p:txBody>
          <a:bodyPr vert="horz" wrap="square" lIns="0" tIns="15875" rIns="0" bIns="0" rtlCol="0">
            <a:noAutofit/>
          </a:bodyPr>
          <a:lstStyle/>
          <a:p>
            <a:pPr algn="just">
              <a:buFont typeface="Arial" pitchFamily="34" charset="0"/>
              <a:buChar char="•"/>
            </a:pPr>
            <a:r>
              <a:rPr lang="en-US" sz="1600" b="1" dirty="0" smtClean="0">
                <a:latin typeface="Times New Roman" pitchFamily="18" charset="0"/>
                <a:cs typeface="Times New Roman" pitchFamily="18" charset="0"/>
              </a:rPr>
              <a:t> SQL Databases (Relational Databases)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SQL databases store data in structured tables with fixed schemas, using rows and columns. They follow </a:t>
            </a:r>
            <a:r>
              <a:rPr lang="en-US" sz="1600" b="1" dirty="0" smtClean="0">
                <a:latin typeface="Times New Roman" pitchFamily="18" charset="0"/>
                <a:cs typeface="Times New Roman" pitchFamily="18" charset="0"/>
              </a:rPr>
              <a:t>ACID properties</a:t>
            </a:r>
            <a:r>
              <a:rPr lang="en-US" sz="1600" dirty="0" smtClean="0">
                <a:latin typeface="Times New Roman" pitchFamily="18" charset="0"/>
                <a:cs typeface="Times New Roman" pitchFamily="18" charset="0"/>
              </a:rPr>
              <a:t> (Atomicity, Consistency, Isolation, Durability), ensuring strong data consistency and reliability. SQL databases are best suited for applications requiring complex queries, transactions, and strict data integrity, such as banking systems, ERP, and traditional business applications.</a:t>
            </a: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err="1" smtClean="0">
                <a:latin typeface="Times New Roman" pitchFamily="18" charset="0"/>
                <a:cs typeface="Times New Roman" pitchFamily="18" charset="0"/>
              </a:rPr>
              <a:t>NoSQL</a:t>
            </a:r>
            <a:r>
              <a:rPr lang="en-US" sz="1600" b="1" dirty="0" smtClean="0">
                <a:latin typeface="Times New Roman" pitchFamily="18" charset="0"/>
                <a:cs typeface="Times New Roman" pitchFamily="18" charset="0"/>
              </a:rPr>
              <a:t> Databases (Non-Relational Databases)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NoSQL</a:t>
            </a:r>
            <a:r>
              <a:rPr lang="en-US" sz="1600" dirty="0" smtClean="0">
                <a:latin typeface="Times New Roman" pitchFamily="18" charset="0"/>
                <a:cs typeface="Times New Roman" pitchFamily="18" charset="0"/>
              </a:rPr>
              <a:t> databases are designed for flexibility and scalability, handling large volumes of unstructured or semi-structured data. They support dynamic schemas and follow BASE principles (Basically Available, Soft state, Eventual consistency). </a:t>
            </a:r>
            <a:r>
              <a:rPr lang="en-US" sz="1600" dirty="0" err="1" smtClean="0">
                <a:latin typeface="Times New Roman" pitchFamily="18" charset="0"/>
                <a:cs typeface="Times New Roman" pitchFamily="18" charset="0"/>
              </a:rPr>
              <a:t>NoSQL</a:t>
            </a:r>
            <a:r>
              <a:rPr lang="en-US" sz="1600" dirty="0" smtClean="0">
                <a:latin typeface="Times New Roman" pitchFamily="18" charset="0"/>
                <a:cs typeface="Times New Roman" pitchFamily="18" charset="0"/>
              </a:rPr>
              <a:t> databases are ideal for big data, real-time web applications, and distributed systems where high availability and horizontal scaling are critical.</a:t>
            </a:r>
            <a:endParaRPr lang="en-US" sz="1600" dirty="0">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76350"/>
            <a:ext cx="7630160" cy="2821940"/>
          </a:xfrm>
          <a:prstGeom prst="rect">
            <a:avLst/>
          </a:prstGeom>
        </p:spPr>
        <p:txBody>
          <a:bodyPr vert="horz" wrap="square" lIns="0" tIns="16510" rIns="0" bIns="0" rtlCol="0">
            <a:noAutofit/>
          </a:bodyPr>
          <a:lstStyle/>
          <a:p>
            <a:pPr marL="355600" indent="-342900">
              <a:lnSpc>
                <a:spcPts val="2290"/>
              </a:lnSpc>
              <a:spcBef>
                <a:spcPts val="130"/>
              </a:spcBef>
              <a:buClr>
                <a:srgbClr val="000000"/>
              </a:buClr>
              <a:buFont typeface="Arial MT"/>
              <a:buChar char="•"/>
              <a:tabLst>
                <a:tab pos="355600" algn="l"/>
              </a:tabLst>
            </a:pPr>
            <a:r>
              <a:rPr lang="en-US" sz="1600" dirty="0">
                <a:latin typeface="Times New Roman" pitchFamily="18" charset="0"/>
                <a:cs typeface="Times New Roman" pitchFamily="18" charset="0"/>
              </a:rPr>
              <a:t>CAP Theorem and BASE Principles </a:t>
            </a:r>
          </a:p>
          <a:p>
            <a:pPr marL="355600" indent="-342900">
              <a:lnSpc>
                <a:spcPts val="2290"/>
              </a:lnSpc>
              <a:spcBef>
                <a:spcPts val="130"/>
              </a:spcBef>
              <a:buClr>
                <a:srgbClr val="000000"/>
              </a:buClr>
              <a:buFont typeface="Arial MT"/>
              <a:buChar char="•"/>
              <a:tabLst>
                <a:tab pos="355600" algn="l"/>
              </a:tabLst>
            </a:pPr>
            <a:r>
              <a:rPr lang="en-US" sz="1600" dirty="0">
                <a:latin typeface="Times New Roman" pitchFamily="18" charset="0"/>
                <a:cs typeface="Times New Roman" pitchFamily="18" charset="0"/>
              </a:rPr>
              <a:t>Distributed Databases and Eventual Consistency</a:t>
            </a:r>
          </a:p>
          <a:p>
            <a:pPr marL="355600" indent="-342900">
              <a:lnSpc>
                <a:spcPts val="2290"/>
              </a:lnSpc>
              <a:spcBef>
                <a:spcPts val="130"/>
              </a:spcBef>
              <a:buClr>
                <a:srgbClr val="000000"/>
              </a:buClr>
              <a:buFont typeface="Arial MT"/>
              <a:buChar char="•"/>
              <a:tabLst>
                <a:tab pos="355600" algn="l"/>
              </a:tabLst>
            </a:pPr>
            <a:r>
              <a:rPr lang="en-US" sz="1600" dirty="0">
                <a:latin typeface="Times New Roman" pitchFamily="18" charset="0"/>
                <a:cs typeface="Times New Roman" pitchFamily="18" charset="0"/>
              </a:rPr>
              <a:t> Distributed Caching: Deep Dive into </a:t>
            </a:r>
            <a:r>
              <a:rPr lang="en-US" sz="1600" dirty="0" err="1">
                <a:latin typeface="Times New Roman" pitchFamily="18" charset="0"/>
                <a:cs typeface="Times New Roman" pitchFamily="18" charset="0"/>
              </a:rPr>
              <a:t>Redis</a:t>
            </a:r>
            <a:r>
              <a:rPr lang="en-US" sz="1600" dirty="0">
                <a:latin typeface="Times New Roman" pitchFamily="18" charset="0"/>
                <a:cs typeface="Times New Roman" pitchFamily="18" charset="0"/>
              </a:rPr>
              <a:t> and </a:t>
            </a:r>
            <a:r>
              <a:rPr lang="en-US" sz="1600" dirty="0" err="1">
                <a:latin typeface="Times New Roman" pitchFamily="18" charset="0"/>
                <a:cs typeface="Times New Roman" pitchFamily="18" charset="0"/>
              </a:rPr>
              <a:t>Memcached</a:t>
            </a:r>
            <a:r>
              <a:rPr lang="en-US" sz="1600" dirty="0">
                <a:latin typeface="Times New Roman" pitchFamily="18" charset="0"/>
                <a:cs typeface="Times New Roman" pitchFamily="18" charset="0"/>
              </a:rPr>
              <a:t> </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Next</a:t>
            </a:r>
            <a:r>
              <a:rPr sz="2400" spc="-6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Lecture</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848600" cy="3799205"/>
          </a:xfrm>
          <a:prstGeom prst="rect">
            <a:avLst/>
          </a:prstGeom>
        </p:spPr>
        <p:txBody>
          <a:bodyPr vert="horz" wrap="square" lIns="0" tIns="12700" rIns="0" bIns="0" rtlCol="0">
            <a:noAutofit/>
          </a:bodyPr>
          <a:lstStyle/>
          <a:p>
            <a:pPr marL="342900" indent="-342900">
              <a:buFont typeface="+mj-lt"/>
              <a:buAutoNum type="arabicPeriod"/>
            </a:pPr>
            <a:r>
              <a:rPr lang="en-US" sz="1600" dirty="0" smtClean="0">
                <a:latin typeface="Times New Roman" pitchFamily="18" charset="0"/>
                <a:cs typeface="Times New Roman" pitchFamily="18" charset="0"/>
              </a:rPr>
              <a:t>What is the primary characteristic of SQL databases?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Schema-less data storage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Fixed schema with structured tables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Graph-based data storage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Key-value data storage</a:t>
            </a:r>
          </a:p>
          <a:p>
            <a:pPr marL="342900" indent="-342900">
              <a:buFont typeface="+mj-lt"/>
              <a:buAutoNum type="arabicPeriod"/>
            </a:pPr>
            <a:r>
              <a:rPr lang="en-US" sz="1600" dirty="0" smtClean="0">
                <a:latin typeface="Times New Roman" pitchFamily="18" charset="0"/>
                <a:cs typeface="Times New Roman" pitchFamily="18" charset="0"/>
              </a:rPr>
              <a:t>Which property is followed by SQL databases?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BASE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CAP</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ACID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MAP</a:t>
            </a:r>
          </a:p>
          <a:p>
            <a:pPr marL="342900" indent="-342900">
              <a:buFont typeface="+mj-lt"/>
              <a:buAutoNum type="arabicPeriod"/>
            </a:pPr>
            <a:r>
              <a:rPr lang="en-US" sz="1600" dirty="0" err="1" smtClean="0">
                <a:latin typeface="Times New Roman" pitchFamily="18" charset="0"/>
                <a:cs typeface="Times New Roman" pitchFamily="18" charset="0"/>
              </a:rPr>
              <a:t>NoSQL</a:t>
            </a:r>
            <a:r>
              <a:rPr lang="en-US" sz="1600" dirty="0" smtClean="0">
                <a:latin typeface="Times New Roman" pitchFamily="18" charset="0"/>
                <a:cs typeface="Times New Roman" pitchFamily="18" charset="0"/>
              </a:rPr>
              <a:t> databases are mainly designed to handle:</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Small datasets only</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Highly structured data</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Unstructured and semi-structured data</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Only transactional data</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Quiz</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8001000" cy="3799205"/>
          </a:xfrm>
          <a:prstGeom prst="rect">
            <a:avLst/>
          </a:prstGeom>
        </p:spPr>
        <p:txBody>
          <a:bodyPr vert="horz" wrap="square" lIns="0" tIns="12700" rIns="0" bIns="0" rtlCol="0">
            <a:noAutofit/>
          </a:bodyPr>
          <a:lstStyle/>
          <a:p>
            <a:pPr marL="342900" indent="-342900">
              <a:buFont typeface="+mj-lt"/>
              <a:buAutoNum type="arabicPeriod"/>
            </a:pPr>
            <a:r>
              <a:rPr lang="en-US" sz="1600" b="1" dirty="0" smtClean="0">
                <a:latin typeface="Times New Roman" pitchFamily="18" charset="0"/>
                <a:cs typeface="Times New Roman" pitchFamily="18" charset="0"/>
              </a:rPr>
              <a:t>What is the main difference between SQL and </a:t>
            </a:r>
            <a:r>
              <a:rPr lang="en-US" sz="1600" b="1" dirty="0" err="1" smtClean="0">
                <a:latin typeface="Times New Roman" pitchFamily="18" charset="0"/>
                <a:cs typeface="Times New Roman" pitchFamily="18" charset="0"/>
              </a:rPr>
              <a:t>NoSQL</a:t>
            </a:r>
            <a:r>
              <a:rPr lang="en-US" sz="1600" b="1" dirty="0" smtClean="0">
                <a:latin typeface="Times New Roman" pitchFamily="18" charset="0"/>
                <a:cs typeface="Times New Roman" pitchFamily="18" charset="0"/>
              </a:rPr>
              <a:t> databases?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SQL databases use structured tables with fixed schemas and strong consistency, while </a:t>
            </a:r>
            <a:r>
              <a:rPr lang="en-US" sz="1600" dirty="0" err="1" smtClean="0">
                <a:latin typeface="Times New Roman" pitchFamily="18" charset="0"/>
                <a:cs typeface="Times New Roman" pitchFamily="18" charset="0"/>
              </a:rPr>
              <a:t>NoSQL</a:t>
            </a:r>
            <a:r>
              <a:rPr lang="en-US" sz="1600" dirty="0" smtClean="0">
                <a:latin typeface="Times New Roman" pitchFamily="18" charset="0"/>
                <a:cs typeface="Times New Roman" pitchFamily="18" charset="0"/>
              </a:rPr>
              <a:t> databases offer flexible schemas and are designed for scalability and high availability.</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When should SQL databases be used?</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SQL databases are best used when applications require complex queries, transactions, and strong data integrity, such as banking, finance, and enterprise systems.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When are </a:t>
            </a:r>
            <a:r>
              <a:rPr lang="en-US" sz="1600" b="1" dirty="0" err="1" smtClean="0">
                <a:latin typeface="Times New Roman" pitchFamily="18" charset="0"/>
                <a:cs typeface="Times New Roman" pitchFamily="18" charset="0"/>
              </a:rPr>
              <a:t>NoSQL</a:t>
            </a:r>
            <a:r>
              <a:rPr lang="en-US" sz="1600" b="1" dirty="0" smtClean="0">
                <a:latin typeface="Times New Roman" pitchFamily="18" charset="0"/>
                <a:cs typeface="Times New Roman" pitchFamily="18" charset="0"/>
              </a:rPr>
              <a:t> databases preferred?</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NoSQL</a:t>
            </a:r>
            <a:r>
              <a:rPr lang="en-US" sz="1600" dirty="0" smtClean="0">
                <a:latin typeface="Times New Roman" pitchFamily="18" charset="0"/>
                <a:cs typeface="Times New Roman" pitchFamily="18" charset="0"/>
              </a:rPr>
              <a:t> databases are preferred for handling large volumes of unstructured or semi-structured data, real-time applications, big data, and distributed systems.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Do </a:t>
            </a:r>
            <a:r>
              <a:rPr lang="en-US" sz="1600" b="1" dirty="0" err="1" smtClean="0">
                <a:latin typeface="Times New Roman" pitchFamily="18" charset="0"/>
                <a:cs typeface="Times New Roman" pitchFamily="18" charset="0"/>
              </a:rPr>
              <a:t>NoSQL</a:t>
            </a:r>
            <a:r>
              <a:rPr lang="en-US" sz="1600" b="1" dirty="0" smtClean="0">
                <a:latin typeface="Times New Roman" pitchFamily="18" charset="0"/>
                <a:cs typeface="Times New Roman" pitchFamily="18" charset="0"/>
              </a:rPr>
              <a:t> databases support transactions?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Some </a:t>
            </a:r>
            <a:r>
              <a:rPr lang="en-US" sz="1600" dirty="0" err="1" smtClean="0">
                <a:latin typeface="Times New Roman" pitchFamily="18" charset="0"/>
                <a:cs typeface="Times New Roman" pitchFamily="18" charset="0"/>
              </a:rPr>
              <a:t>NoSQL</a:t>
            </a:r>
            <a:r>
              <a:rPr lang="en-US" sz="1600" dirty="0" smtClean="0">
                <a:latin typeface="Times New Roman" pitchFamily="18" charset="0"/>
                <a:cs typeface="Times New Roman" pitchFamily="18" charset="0"/>
              </a:rPr>
              <a:t> databases support transactions, but generally they focus on performance and scalability rather than strict ACID compliance.</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FAQ’s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body" idx="1"/>
          </p:nvPr>
        </p:nvSpPr>
        <p:spPr>
          <a:xfrm>
            <a:off x="762000" y="1123950"/>
            <a:ext cx="7982585" cy="3582035"/>
          </a:xfrm>
          <a:prstGeom prst="rect">
            <a:avLst/>
          </a:prstGeom>
        </p:spPr>
        <p:txBody>
          <a:bodyPr vert="horz" wrap="square" lIns="0" tIns="15875" rIns="0" bIns="0" rtlCol="0">
            <a:noAutofit/>
          </a:bodyPr>
          <a:lstStyle/>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Book Reference:</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algn="just">
              <a:buFont typeface="Arial" pitchFamily="34" charset="0"/>
              <a:buChar char="•"/>
            </a:pPr>
            <a:r>
              <a:rPr lang="en-US" sz="1600" b="0" i="0" dirty="0" smtClean="0">
                <a:solidFill>
                  <a:schemeClr val="tx1"/>
                </a:solidFill>
              </a:rPr>
              <a:t> </a:t>
            </a:r>
            <a:r>
              <a:rPr lang="en-US" sz="1600" b="0" i="0" dirty="0" err="1" smtClean="0">
                <a:solidFill>
                  <a:schemeClr val="tx1"/>
                </a:solidFill>
              </a:rPr>
              <a:t>Silberschatz</a:t>
            </a:r>
            <a:r>
              <a:rPr lang="en-US" sz="1600" b="0" i="0" dirty="0" smtClean="0">
                <a:solidFill>
                  <a:schemeClr val="tx1"/>
                </a:solidFill>
              </a:rPr>
              <a:t>, A., </a:t>
            </a:r>
            <a:r>
              <a:rPr lang="en-US" sz="1600" b="0" i="0" dirty="0" err="1" smtClean="0">
                <a:solidFill>
                  <a:schemeClr val="tx1"/>
                </a:solidFill>
              </a:rPr>
              <a:t>Korth</a:t>
            </a:r>
            <a:r>
              <a:rPr lang="en-US" sz="1600" b="0" i="0" dirty="0" smtClean="0">
                <a:solidFill>
                  <a:schemeClr val="tx1"/>
                </a:solidFill>
              </a:rPr>
              <a:t>, H. F., &amp; </a:t>
            </a:r>
            <a:r>
              <a:rPr lang="en-US" sz="1600" b="0" i="0" dirty="0" err="1" smtClean="0">
                <a:solidFill>
                  <a:schemeClr val="tx1"/>
                </a:solidFill>
              </a:rPr>
              <a:t>Sudarshan</a:t>
            </a:r>
            <a:r>
              <a:rPr lang="en-US" sz="1600" b="0" i="0" dirty="0" smtClean="0">
                <a:solidFill>
                  <a:schemeClr val="tx1"/>
                </a:solidFill>
              </a:rPr>
              <a:t>, S.</a:t>
            </a:r>
            <a:br>
              <a:rPr lang="en-US" sz="1600" b="0" i="0" dirty="0" smtClean="0">
                <a:solidFill>
                  <a:schemeClr val="tx1"/>
                </a:solidFill>
              </a:rPr>
            </a:br>
            <a:r>
              <a:rPr lang="en-US" sz="1600" b="0" i="0" dirty="0" smtClean="0">
                <a:solidFill>
                  <a:schemeClr val="tx1"/>
                </a:solidFill>
              </a:rPr>
              <a:t>Database System Concepts, 7th Edition, McGraw-Hill.</a:t>
            </a:r>
          </a:p>
          <a:p>
            <a:pPr algn="just">
              <a:buFont typeface="Arial" pitchFamily="34" charset="0"/>
              <a:buChar char="•"/>
            </a:pPr>
            <a:r>
              <a:rPr lang="en-US" sz="1600" b="0" i="0" dirty="0" smtClean="0">
                <a:solidFill>
                  <a:schemeClr val="tx1"/>
                </a:solidFill>
              </a:rPr>
              <a:t> </a:t>
            </a:r>
            <a:r>
              <a:rPr lang="en-US" sz="1600" b="0" i="0" dirty="0" err="1" smtClean="0">
                <a:solidFill>
                  <a:schemeClr val="tx1"/>
                </a:solidFill>
              </a:rPr>
              <a:t>Ramakrishnan</a:t>
            </a:r>
            <a:r>
              <a:rPr lang="en-US" sz="1600" b="0" i="0" dirty="0" smtClean="0">
                <a:solidFill>
                  <a:schemeClr val="tx1"/>
                </a:solidFill>
              </a:rPr>
              <a:t>, R., &amp; </a:t>
            </a:r>
            <a:r>
              <a:rPr lang="en-US" sz="1600" b="0" i="0" dirty="0" err="1" smtClean="0">
                <a:solidFill>
                  <a:schemeClr val="tx1"/>
                </a:solidFill>
              </a:rPr>
              <a:t>Gehrke</a:t>
            </a:r>
            <a:r>
              <a:rPr lang="en-US" sz="1600" b="0" i="0" dirty="0" smtClean="0">
                <a:solidFill>
                  <a:schemeClr val="tx1"/>
                </a:solidFill>
              </a:rPr>
              <a:t>, J.</a:t>
            </a:r>
            <a:br>
              <a:rPr lang="en-US" sz="1600" b="0" i="0" dirty="0" smtClean="0">
                <a:solidFill>
                  <a:schemeClr val="tx1"/>
                </a:solidFill>
              </a:rPr>
            </a:br>
            <a:r>
              <a:rPr lang="en-US" sz="1600" b="0" i="0" dirty="0" smtClean="0">
                <a:solidFill>
                  <a:schemeClr val="tx1"/>
                </a:solidFill>
              </a:rPr>
              <a:t>Database Management Systems, 3rd Edition, McGraw-Hill.</a:t>
            </a:r>
          </a:p>
          <a:p>
            <a:pPr marL="12700">
              <a:lnSpc>
                <a:spcPct val="150000"/>
              </a:lnSpc>
              <a:spcBef>
                <a:spcPts val="125"/>
              </a:spcBef>
            </a:pPr>
            <a:endParaRPr lang="en-US" altLang="en-US" sz="1600" i="0" dirty="0" smtClean="0">
              <a:solidFill>
                <a:schemeClr val="tx1"/>
              </a:solidFill>
              <a:latin typeface="Times New Roman Bold" panose="02020503050405090304" charset="0"/>
              <a:cs typeface="Times New Roman Bold" panose="02020503050405090304" charset="0"/>
            </a:endParaRPr>
          </a:p>
          <a:p>
            <a:pPr marL="12700">
              <a:lnSpc>
                <a:spcPct val="150000"/>
              </a:lnSpc>
              <a:spcBef>
                <a:spcPts val="125"/>
              </a:spcBef>
            </a:pPr>
            <a:r>
              <a:rPr lang="en-US" altLang="en-US" sz="1600" i="0" dirty="0" smtClean="0">
                <a:solidFill>
                  <a:schemeClr val="tx1"/>
                </a:solidFill>
                <a:latin typeface="Times New Roman Bold" panose="02020503050405090304" charset="0"/>
                <a:cs typeface="Times New Roman Bold" panose="02020503050405090304" charset="0"/>
              </a:rPr>
              <a:t>Tutorial </a:t>
            </a:r>
            <a:r>
              <a:rPr lang="en-US" altLang="en-US" sz="1600" i="0" dirty="0">
                <a:solidFill>
                  <a:schemeClr val="tx1"/>
                </a:solidFill>
                <a:latin typeface="Times New Roman Bold" panose="02020503050405090304" charset="0"/>
                <a:cs typeface="Times New Roman Bold" panose="02020503050405090304" charset="0"/>
              </a:rPr>
              <a:t>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lumMod val="50000"/>
                    <a:lumOff val="50000"/>
                  </a:schemeClr>
                </a:solidFill>
                <a:latin typeface="Times New Roman" panose="02020503050405090304" pitchFamily="18" charset="0"/>
                <a:cs typeface="Times New Roman" panose="02020503050405090304" pitchFamily="18" charset="0"/>
                <a:hlinkClick r:id="rId2"/>
              </a:rPr>
              <a:t>https://www.youtube.com/watch?v=Q5aTUc7c4jg</a:t>
            </a:r>
            <a:endParaRPr lang="en-US" altLang="en-US" sz="1600" b="0" i="0" dirty="0" smtClean="0">
              <a:solidFill>
                <a:schemeClr val="tx1">
                  <a:lumMod val="50000"/>
                  <a:lumOff val="50000"/>
                </a:schemeClr>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smtClean="0">
                <a:solidFill>
                  <a:schemeClr val="tx1"/>
                </a:solidFill>
                <a:latin typeface="Times New Roman Bold" panose="02020503050405090304" charset="0"/>
                <a:cs typeface="Times New Roman Bold" panose="02020503050405090304" charset="0"/>
              </a:rPr>
              <a:t>Video </a:t>
            </a:r>
            <a:r>
              <a:rPr lang="en-US" altLang="en-US" sz="1600" i="0" dirty="0">
                <a:solidFill>
                  <a:schemeClr val="tx1"/>
                </a:solidFill>
                <a:latin typeface="Times New Roman Bold" panose="02020503050405090304" charset="0"/>
                <a:cs typeface="Times New Roman Bold" panose="02020503050405090304" charset="0"/>
              </a:rPr>
              <a:t>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https://www.youtube.com/watch?v=_Ss42Vb1SU4</a:t>
            </a:r>
            <a:endParaRPr lang="en-US" altLang="en-US" sz="1600" b="0" i="0" dirty="0">
              <a:solidFill>
                <a:schemeClr val="tx1"/>
              </a:solidFill>
              <a:latin typeface="Times New Roman" panose="02020503050405090304" pitchFamily="18" charset="0"/>
              <a:cs typeface="Times New Roman" panose="02020503050405090304"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References/</a:t>
            </a:r>
            <a:r>
              <a:rPr sz="2400" spc="-9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Articles/</a:t>
            </a:r>
            <a:r>
              <a:rPr sz="2400" spc="-8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Videos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Class-Wise Feedback</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
        <p:nvSpPr>
          <p:cNvPr id="15362"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qr-code-bee-is.png"/>
          <p:cNvPicPr>
            <a:picLocks noChangeAspect="1"/>
          </p:cNvPicPr>
          <p:nvPr/>
        </p:nvPicPr>
        <p:blipFill>
          <a:blip r:embed="rId2" cstate="print"/>
          <a:stretch>
            <a:fillRect/>
          </a:stretch>
        </p:blipFill>
        <p:spPr>
          <a:xfrm>
            <a:off x="2496457" y="986972"/>
            <a:ext cx="3979636" cy="312601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47306" rIns="0" bIns="0" rtlCol="0">
            <a:spAutoFit/>
          </a:bodyPr>
          <a:lstStyle/>
          <a:p>
            <a:pPr marL="1548765">
              <a:lnSpc>
                <a:spcPct val="100000"/>
              </a:lnSpc>
              <a:spcBef>
                <a:spcPts val="90"/>
              </a:spcBef>
            </a:pPr>
            <a:r>
              <a:rPr spc="-819" dirty="0"/>
              <a:t>Thank</a:t>
            </a:r>
            <a:r>
              <a:rPr spc="-30" dirty="0"/>
              <a:t> </a:t>
            </a:r>
            <a:r>
              <a:rPr spc="-580" dirty="0"/>
              <a:t>You</a:t>
            </a:r>
          </a:p>
        </p:txBody>
      </p:sp>
      <p:sp>
        <p:nvSpPr>
          <p:cNvPr id="3" name="object 3"/>
          <p:cNvSpPr txBox="1"/>
          <p:nvPr/>
        </p:nvSpPr>
        <p:spPr>
          <a:xfrm>
            <a:off x="1759585" y="4324350"/>
            <a:ext cx="5624830" cy="32385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pitchFamily="18" charset="0"/>
                <a:cs typeface="Times New Roman" pitchFamily="18" charset="0"/>
              </a:rPr>
              <a:t>For</a:t>
            </a:r>
            <a:r>
              <a:rPr sz="2000" spc="-10" dirty="0">
                <a:latin typeface="Times New Roman" pitchFamily="18" charset="0"/>
                <a:cs typeface="Times New Roman" pitchFamily="18" charset="0"/>
              </a:rPr>
              <a:t> queries</a:t>
            </a:r>
            <a:r>
              <a:rPr lang="en-US" altLang="" sz="2000" spc="-10" dirty="0">
                <a:latin typeface="Times New Roman" pitchFamily="18" charset="0"/>
                <a:cs typeface="Times New Roman" pitchFamily="18" charset="0"/>
              </a:rPr>
              <a:t> </a:t>
            </a:r>
            <a:r>
              <a:rPr sz="2000" dirty="0">
                <a:latin typeface="Times New Roman" pitchFamily="18" charset="0"/>
                <a:cs typeface="Times New Roman" pitchFamily="18" charset="0"/>
              </a:rPr>
              <a:t>Email:</a:t>
            </a:r>
            <a:r>
              <a:rPr lang="en-US" altLang="" sz="2000" dirty="0">
                <a:latin typeface="Times New Roman" pitchFamily="18" charset="0"/>
                <a:cs typeface="Times New Roman" pitchFamily="18" charset="0"/>
              </a:rPr>
              <a:t> </a:t>
            </a:r>
            <a:r>
              <a:rPr lang="en-US" sz="2000" spc="-10" dirty="0" smtClean="0">
                <a:latin typeface="Times New Roman" pitchFamily="18" charset="0"/>
                <a:cs typeface="Times New Roman" pitchFamily="18" charset="0"/>
                <a:hlinkClick r:id="rId2"/>
              </a:rPr>
              <a:t>kamaljee</a:t>
            </a:r>
            <a:r>
              <a:rPr lang="en-US" sz="2000" u="sng" spc="-10" dirty="0" smtClean="0">
                <a:solidFill>
                  <a:srgbClr val="1C3678"/>
                </a:solidFill>
                <a:uFill>
                  <a:solidFill>
                    <a:srgbClr val="1C3678"/>
                  </a:solidFill>
                </a:uFill>
                <a:latin typeface="Times New Roman" pitchFamily="18" charset="0"/>
                <a:cs typeface="Times New Roman" pitchFamily="18" charset="0"/>
                <a:hlinkClick r:id="rId3"/>
              </a:rPr>
              <a:t>t</a:t>
            </a:r>
            <a:r>
              <a:rPr sz="2000" spc="-10" dirty="0" smtClean="0">
                <a:latin typeface="Times New Roman" pitchFamily="18" charset="0"/>
                <a:cs typeface="Times New Roman" pitchFamily="18" charset="0"/>
                <a:hlinkClick r:id="rId2"/>
              </a:rPr>
              <a:t>.e1</a:t>
            </a:r>
            <a:r>
              <a:rPr lang="en-US" sz="2000" spc="-10" dirty="0" smtClean="0">
                <a:latin typeface="Times New Roman" pitchFamily="18" charset="0"/>
                <a:cs typeface="Times New Roman" pitchFamily="18" charset="0"/>
                <a:hlinkClick r:id="rId2"/>
              </a:rPr>
              <a:t>9147</a:t>
            </a:r>
            <a:r>
              <a:rPr sz="2000" spc="-10" dirty="0" smtClean="0">
                <a:latin typeface="Times New Roman" pitchFamily="18" charset="0"/>
                <a:cs typeface="Times New Roman" pitchFamily="18" charset="0"/>
                <a:hlinkClick r:id="rId2"/>
              </a:rPr>
              <a:t>@cumail.in</a:t>
            </a:r>
            <a:endParaRPr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1108</TotalTime>
  <Words>877</Words>
  <Application>Microsoft Office PowerPoint</Application>
  <PresentationFormat>On-screen Show (16:9)</PresentationFormat>
  <Paragraphs>121</Paragraphs>
  <Slides>18</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0" baseType="lpstr">
      <vt:lpstr>Office Theme</vt:lpstr>
      <vt:lpstr>CorelDRAW</vt:lpstr>
      <vt:lpstr>Slide 1</vt:lpstr>
      <vt:lpstr>Slide 2</vt:lpstr>
      <vt:lpstr>Course Outcomes</vt:lpstr>
      <vt:lpstr>Unit-1 Syllabus</vt:lpstr>
      <vt:lpstr>Slide 5</vt:lpstr>
      <vt:lpstr>     SQL vs NoSQL Databases</vt:lpstr>
      <vt:lpstr>Slide 7</vt:lpstr>
      <vt:lpstr>Slide 8</vt:lpstr>
      <vt:lpstr>Slide 9</vt:lpstr>
      <vt:lpstr>Slide 10</vt:lpstr>
      <vt:lpstr>Slide 11</vt:lpstr>
      <vt:lpstr>Summary of the Lecture</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INSTITUTE OF TECHNOLOGY DEPARTMENT OF COMPUTER SCIENCE &amp; ENGINEERING</dc:title>
  <dc:creator>DELL-LATITUDE</dc:creator>
  <cp:lastModifiedBy>DELL-LATITUDE</cp:lastModifiedBy>
  <cp:revision>147</cp:revision>
  <dcterms:created xsi:type="dcterms:W3CDTF">2025-12-03T05:18:11Z</dcterms:created>
  <dcterms:modified xsi:type="dcterms:W3CDTF">2025-12-15T05:42:38Z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2025-11-29T05:30:00Z</vt:filetime>
  </property>
  <property fmtid="{D5CDD505-2E9C-101B-9397-08002B2CF9AE}" pid="3" name="LastSaved">
    <vt:filetime>2025-11-30T05:30:00Z</vt:filetime>
  </property>
  <property fmtid="{D5CDD505-2E9C-101B-9397-08002B2CF9AE}" pid="4" name="ICV">
    <vt:lpwstr>BE53AF1E6976AF6A8CBC2F69ADEE211E_42</vt:lpwstr>
  </property>
  <property fmtid="{D5CDD505-2E9C-101B-9397-08002B2CF9AE}" pid="5" name="KSOProductBuildVer">
    <vt:lpwstr>1033-12.1.23143.23143</vt:lpwstr>
  </property>
</Properties>
</file>