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Default Extension="bin" ContentType="application/vnd.openxmlformats-officedocument.oleObject"/>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95" r:id="rId2"/>
    <p:sldId id="257" r:id="rId3"/>
    <p:sldId id="297" r:id="rId4"/>
    <p:sldId id="298" r:id="rId5"/>
    <p:sldId id="300" r:id="rId6"/>
    <p:sldId id="301" r:id="rId7"/>
    <p:sldId id="302" r:id="rId8"/>
    <p:sldId id="303" r:id="rId9"/>
    <p:sldId id="304" r:id="rId10"/>
    <p:sldId id="305" r:id="rId11"/>
    <p:sldId id="306" r:id="rId12"/>
    <p:sldId id="307" r:id="rId13"/>
    <p:sldId id="308" r:id="rId14"/>
    <p:sldId id="309" r:id="rId15"/>
    <p:sldId id="285" r:id="rId16"/>
    <p:sldId id="286" r:id="rId17"/>
    <p:sldId id="287" r:id="rId18"/>
    <p:sldId id="288" r:id="rId19"/>
    <p:sldId id="289" r:id="rId20"/>
    <p:sldId id="290" r:id="rId21"/>
  </p:sldIdLst>
  <p:sldSz cx="9144000" cy="5143500" type="screen16x9"/>
  <p:notesSz cx="9144000" cy="5143500"/>
  <p:defaultTextStyle>
    <a:defPPr>
      <a:defRPr kern="0"/>
    </a:defPPr>
  </p:defaultTextStyle>
  <p:extLst>
    <p:ext uri="{EFAFB233-063F-42B5-8137-9DF3F51BA10A}">
      <p15:sldGuideLst xmlns="" xmlns:p15="http://schemas.microsoft.com/office/powerpoint/2012/main">
        <p15:guide id="1" orient="horz" pos="2862"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6" d="100"/>
          <a:sy n="86" d="100"/>
        </p:scale>
        <p:origin x="-822" y="-78"/>
      </p:cViewPr>
      <p:guideLst>
        <p:guide orient="horz" pos="2862"/>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3950" b="1" i="0">
                <a:solidFill>
                  <a:srgbClr val="1A1A1A"/>
                </a:solidFill>
                <a:latin typeface="Calibri"/>
                <a:cs typeface="Calibri"/>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8050" b="1" i="1">
                <a:solidFill>
                  <a:srgbClr val="FF0000"/>
                </a:solidFill>
                <a:latin typeface="Times New Roman" panose="02020503050405090304"/>
                <a:cs typeface="Times New Roman" panose="0202050305040509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1A1A1A"/>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8050" b="1" i="1">
                <a:solidFill>
                  <a:srgbClr val="FF0000"/>
                </a:solidFill>
                <a:latin typeface="Times New Roman" panose="02020503050405090304"/>
                <a:cs typeface="Times New Roman" panose="0202050305040509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1A1A1A"/>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1A1A1A"/>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804386"/>
            <a:ext cx="2949178" cy="738664"/>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740570"/>
            <a:ext cx="4629150" cy="143116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1543050"/>
            <a:ext cx="2949178" cy="18466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a:xfrm>
            <a:off x="457200" y="4783455"/>
            <a:ext cx="2103120" cy="276999"/>
          </a:xfrm>
        </p:spPr>
        <p:txBody>
          <a:bodyPr/>
          <a:lstStyle>
            <a:lvl1pPr fontAlgn="base">
              <a:spcBef>
                <a:spcPct val="0"/>
              </a:spcBef>
              <a:spcAft>
                <a:spcPct val="0"/>
              </a:spcAft>
              <a:defRPr>
                <a:latin typeface="Arial" panose="020B0604020202090204" pitchFamily="34" charset="0"/>
              </a:defRPr>
            </a:lvl1pPr>
          </a:lstStyle>
          <a:p>
            <a:pPr>
              <a:defRPr/>
            </a:pPr>
            <a:endParaRPr lang="en-US"/>
          </a:p>
        </p:txBody>
      </p:sp>
      <p:sp>
        <p:nvSpPr>
          <p:cNvPr id="6" name="Footer Placeholder 5"/>
          <p:cNvSpPr>
            <a:spLocks noGrp="1"/>
          </p:cNvSpPr>
          <p:nvPr>
            <p:ph type="ftr" sz="quarter" idx="11"/>
          </p:nvPr>
        </p:nvSpPr>
        <p:spPr>
          <a:xfrm>
            <a:off x="3108960" y="4783455"/>
            <a:ext cx="2926080" cy="276999"/>
          </a:xfrm>
        </p:spPr>
        <p:txBody>
          <a:bodyPr/>
          <a:lstStyle>
            <a:lvl1pPr fontAlgn="base">
              <a:spcBef>
                <a:spcPct val="0"/>
              </a:spcBef>
              <a:spcAft>
                <a:spcPct val="0"/>
              </a:spcAft>
              <a:defRPr>
                <a:latin typeface="Arial" panose="020B0604020202090204" pitchFamily="34" charset="0"/>
              </a:defRPr>
            </a:lvl1pPr>
          </a:lstStyle>
          <a:p>
            <a:pPr>
              <a:defRPr/>
            </a:pPr>
            <a:endParaRPr lang="en-US"/>
          </a:p>
        </p:txBody>
      </p:sp>
      <p:sp>
        <p:nvSpPr>
          <p:cNvPr id="7" name="Slide Number Placeholder 6"/>
          <p:cNvSpPr>
            <a:spLocks noGrp="1"/>
          </p:cNvSpPr>
          <p:nvPr>
            <p:ph type="sldNum" sz="quarter" idx="12"/>
          </p:nvPr>
        </p:nvSpPr>
        <p:spPr>
          <a:xfrm>
            <a:off x="6583680" y="4783455"/>
            <a:ext cx="2103120" cy="276999"/>
          </a:xfrm>
        </p:spPr>
        <p:txBody>
          <a:bodyPr/>
          <a:lstStyle>
            <a:lvl1pPr fontAlgn="base">
              <a:spcBef>
                <a:spcPct val="0"/>
              </a:spcBef>
              <a:spcAft>
                <a:spcPct val="0"/>
              </a:spcAft>
              <a:defRPr>
                <a:latin typeface="Arial" panose="020B0604020202090204" pitchFamily="34" charset="0"/>
              </a:defRPr>
            </a:lvl1pPr>
          </a:lstStyle>
          <a:p>
            <a:pPr>
              <a:defRPr/>
            </a:pPr>
            <a:fld id="{9D9B6AFD-A192-4C37-8069-CDFD0FFEA4A5}"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28575" y="19050"/>
            <a:ext cx="657225" cy="1047750"/>
          </a:xfrm>
          <a:prstGeom prst="rect">
            <a:avLst/>
          </a:prstGeom>
        </p:spPr>
      </p:pic>
      <p:sp>
        <p:nvSpPr>
          <p:cNvPr id="2" name="Holder 2"/>
          <p:cNvSpPr>
            <a:spLocks noGrp="1"/>
          </p:cNvSpPr>
          <p:nvPr>
            <p:ph type="title"/>
          </p:nvPr>
        </p:nvSpPr>
        <p:spPr>
          <a:xfrm>
            <a:off x="454977" y="89852"/>
            <a:ext cx="8234044" cy="874966"/>
          </a:xfrm>
          <a:prstGeom prst="rect">
            <a:avLst/>
          </a:prstGeom>
        </p:spPr>
        <p:txBody>
          <a:bodyPr wrap="square" lIns="0" tIns="0" rIns="0" bIns="0">
            <a:spAutoFit/>
          </a:bodyPr>
          <a:lstStyle>
            <a:lvl1pPr>
              <a:defRPr sz="3950" b="1" i="0">
                <a:solidFill>
                  <a:srgbClr val="1A1A1A"/>
                </a:solidFill>
                <a:latin typeface="Calibri"/>
                <a:cs typeface="Calibri"/>
              </a:defRPr>
            </a:lvl1pPr>
          </a:lstStyle>
          <a:p>
            <a:endParaRPr/>
          </a:p>
        </p:txBody>
      </p:sp>
      <p:sp>
        <p:nvSpPr>
          <p:cNvPr id="3" name="Holder 3"/>
          <p:cNvSpPr>
            <a:spLocks noGrp="1"/>
          </p:cNvSpPr>
          <p:nvPr>
            <p:ph type="body" idx="1"/>
          </p:nvPr>
        </p:nvSpPr>
        <p:spPr>
          <a:xfrm>
            <a:off x="1056322" y="1461452"/>
            <a:ext cx="6900545" cy="2380615"/>
          </a:xfrm>
          <a:prstGeom prst="rect">
            <a:avLst/>
          </a:prstGeom>
        </p:spPr>
        <p:txBody>
          <a:bodyPr wrap="square" lIns="0" tIns="0" rIns="0" bIns="0">
            <a:spAutoFit/>
          </a:bodyPr>
          <a:lstStyle>
            <a:lvl1pPr>
              <a:defRPr sz="8050" b="1" i="1">
                <a:solidFill>
                  <a:srgbClr val="FF0000"/>
                </a:solidFill>
                <a:latin typeface="Times New Roman" panose="02020503050405090304"/>
                <a:cs typeface="Times New Roman" panose="02020503050405090304"/>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forms.gle/KF57CKfJj9WmhsEr5" TargetMode="External"/><Relationship Id="rId2" Type="http://schemas.openxmlformats.org/officeDocument/2006/relationships/hyperlink" Target="mailto:kamaljee.e18488@cumail.i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1588" y="3657600"/>
            <a:ext cx="9144001" cy="8536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sp>
        <p:nvSpPr>
          <p:cNvPr id="32" name="Rectangle 31"/>
          <p:cNvSpPr/>
          <p:nvPr/>
        </p:nvSpPr>
        <p:spPr>
          <a:xfrm>
            <a:off x="228600" y="3962400"/>
            <a:ext cx="33338" cy="3452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sp>
        <p:nvSpPr>
          <p:cNvPr id="44" name="Slide Number Placeholder 2"/>
          <p:cNvSpPr txBox="1"/>
          <p:nvPr/>
        </p:nvSpPr>
        <p:spPr>
          <a:xfrm>
            <a:off x="6572251" y="4302919"/>
            <a:ext cx="2055813" cy="205979"/>
          </a:xfrm>
          <a:prstGeom prst="rect">
            <a:avLst/>
          </a:prstGeom>
        </p:spPr>
        <p:txBody>
          <a:bodyPr lIns="68556" tIns="34279" rIns="68556" bIns="34279"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endParaRPr lang="en-US" sz="900" dirty="0">
              <a:solidFill>
                <a:prstClr val="black">
                  <a:tint val="75000"/>
                </a:prstClr>
              </a:solidFill>
            </a:endParaRPr>
          </a:p>
        </p:txBody>
      </p:sp>
      <p:sp>
        <p:nvSpPr>
          <p:cNvPr id="46" name="Right Triangle 45"/>
          <p:cNvSpPr/>
          <p:nvPr/>
        </p:nvSpPr>
        <p:spPr>
          <a:xfrm flipV="1">
            <a:off x="7129464" y="3983832"/>
            <a:ext cx="968375" cy="651272"/>
          </a:xfrm>
          <a:prstGeom prst="rtTriangle">
            <a:avLst/>
          </a:prstGeom>
          <a:solidFill>
            <a:srgbClr val="FFFFFF">
              <a:lumMod val="95000"/>
              <a:alpha val="17000"/>
            </a:srgb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en-ID" sz="1350" kern="0">
              <a:solidFill>
                <a:srgbClr val="FFFFFF"/>
              </a:solidFill>
              <a:latin typeface="Calibri"/>
            </a:endParaRPr>
          </a:p>
        </p:txBody>
      </p:sp>
      <p:graphicFrame>
        <p:nvGraphicFramePr>
          <p:cNvPr id="19462" name="Object 47"/>
          <p:cNvGraphicFramePr>
            <a:graphicFrameLocks noChangeAspect="1"/>
          </p:cNvGraphicFramePr>
          <p:nvPr/>
        </p:nvGraphicFramePr>
        <p:xfrm>
          <a:off x="58738" y="2399110"/>
          <a:ext cx="2476500" cy="1770459"/>
        </p:xfrm>
        <a:graphic>
          <a:graphicData uri="http://schemas.openxmlformats.org/presentationml/2006/ole">
            <p:oleObj spid="_x0000_s1025" name="CorelDRAW" r:id="rId3" imgW="2169000" imgH="2169360" progId="">
              <p:embed/>
            </p:oleObj>
          </a:graphicData>
        </a:graphic>
      </p:graphicFrame>
      <p:sp>
        <p:nvSpPr>
          <p:cNvPr id="37" name="Right Triangle 36"/>
          <p:cNvSpPr/>
          <p:nvPr/>
        </p:nvSpPr>
        <p:spPr>
          <a:xfrm flipH="1">
            <a:off x="5283201" y="628650"/>
            <a:ext cx="3859213" cy="3290888"/>
          </a:xfrm>
          <a:prstGeom prst="rtTriangle">
            <a:avLst/>
          </a:prstGeom>
          <a:solidFill>
            <a:srgbClr val="FFFFFF">
              <a:lumMod val="95000"/>
              <a:alpha val="17000"/>
            </a:srgb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en-ID" sz="1350" kern="0">
              <a:solidFill>
                <a:srgbClr val="FFFFFF"/>
              </a:solidFill>
              <a:latin typeface="Calibri"/>
            </a:endParaRPr>
          </a:p>
        </p:txBody>
      </p:sp>
      <p:sp>
        <p:nvSpPr>
          <p:cNvPr id="45" name="Rectangle 44"/>
          <p:cNvSpPr/>
          <p:nvPr/>
        </p:nvSpPr>
        <p:spPr>
          <a:xfrm>
            <a:off x="1594093" y="1782572"/>
            <a:ext cx="5120286" cy="888823"/>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pic>
        <p:nvPicPr>
          <p:cNvPr id="19467" name="Picture 29"/>
          <p:cNvPicPr>
            <a:picLocks noChangeAspect="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1219200" y="514350"/>
            <a:ext cx="6629400" cy="13385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3" name="Right Triangle 42"/>
          <p:cNvSpPr/>
          <p:nvPr/>
        </p:nvSpPr>
        <p:spPr>
          <a:xfrm rot="10800000" flipV="1">
            <a:off x="7370764" y="3643313"/>
            <a:ext cx="1774825" cy="898922"/>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sp>
        <p:nvSpPr>
          <p:cNvPr id="36" name="TextBox 35"/>
          <p:cNvSpPr txBox="1">
            <a:spLocks noChangeArrowheads="1"/>
          </p:cNvSpPr>
          <p:nvPr/>
        </p:nvSpPr>
        <p:spPr bwMode="auto">
          <a:xfrm>
            <a:off x="5160963" y="3984070"/>
            <a:ext cx="3695700" cy="3219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eaLnBrk="1" fontAlgn="auto" hangingPunct="1">
              <a:spcBef>
                <a:spcPts val="0"/>
              </a:spcBef>
              <a:spcAft>
                <a:spcPts val="0"/>
              </a:spcAft>
              <a:defRPr/>
            </a:pPr>
            <a:r>
              <a:rPr lang="en-US" sz="1500" b="1" dirty="0">
                <a:solidFill>
                  <a:prstClr val="black">
                    <a:lumMod val="65000"/>
                    <a:lumOff val="35000"/>
                  </a:prstClr>
                </a:solidFill>
                <a:latin typeface="Times New Roman" panose="02020503050405090304" pitchFamily="18" charset="0"/>
                <a:ea typeface="Karla" pitchFamily="2" charset="0"/>
                <a:cs typeface="Times New Roman" panose="02020503050405090304" pitchFamily="18" charset="0"/>
              </a:rPr>
              <a:t>DISCOVER . </a:t>
            </a:r>
            <a:r>
              <a:rPr lang="en-US" sz="1500" b="1" dirty="0">
                <a:solidFill>
                  <a:srgbClr val="C00000"/>
                </a:solidFill>
                <a:latin typeface="Times New Roman" panose="02020503050405090304" pitchFamily="18" charset="0"/>
                <a:ea typeface="Karla" pitchFamily="2" charset="0"/>
                <a:cs typeface="Times New Roman" panose="02020503050405090304" pitchFamily="18" charset="0"/>
              </a:rPr>
              <a:t>LEARN</a:t>
            </a:r>
            <a:r>
              <a:rPr lang="en-US" sz="1500" b="1" dirty="0">
                <a:solidFill>
                  <a:prstClr val="black">
                    <a:lumMod val="65000"/>
                    <a:lumOff val="35000"/>
                  </a:prstClr>
                </a:solidFill>
                <a:latin typeface="Times New Roman" panose="02020503050405090304" pitchFamily="18" charset="0"/>
                <a:ea typeface="Karla" pitchFamily="2" charset="0"/>
                <a:cs typeface="Times New Roman" panose="02020503050405090304" pitchFamily="18" charset="0"/>
              </a:rPr>
              <a:t> . EMPOWER</a:t>
            </a:r>
            <a:endParaRPr lang="en-US" sz="1200" b="1" dirty="0">
              <a:solidFill>
                <a:prstClr val="black"/>
              </a:solidFill>
              <a:latin typeface="Casper" panose="02000506000000020004" pitchFamily="2" charset="0"/>
            </a:endParaRPr>
          </a:p>
        </p:txBody>
      </p:sp>
      <p:sp>
        <p:nvSpPr>
          <p:cNvPr id="52" name="Rectangle 51"/>
          <p:cNvSpPr/>
          <p:nvPr/>
        </p:nvSpPr>
        <p:spPr>
          <a:xfrm>
            <a:off x="5164139" y="4042172"/>
            <a:ext cx="34925" cy="20835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sp>
        <p:nvSpPr>
          <p:cNvPr id="53" name="TextBox 52"/>
          <p:cNvSpPr txBox="1">
            <a:spLocks noChangeArrowheads="1"/>
          </p:cNvSpPr>
          <p:nvPr/>
        </p:nvSpPr>
        <p:spPr bwMode="auto">
          <a:xfrm>
            <a:off x="261939" y="4353323"/>
            <a:ext cx="4822825" cy="6959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466725" eaLnBrk="1" fontAlgn="auto" hangingPunct="1">
              <a:lnSpc>
                <a:spcPct val="90000"/>
              </a:lnSpc>
              <a:spcAft>
                <a:spcPct val="35000"/>
              </a:spcAft>
              <a:defRPr/>
            </a:pPr>
            <a:r>
              <a:rPr lang="en-IN" sz="1800" b="1" dirty="0" smtClean="0">
                <a:solidFill>
                  <a:prstClr val="black">
                    <a:lumMod val="85000"/>
                    <a:lumOff val="15000"/>
                  </a:prstClr>
                </a:solidFill>
                <a:latin typeface="Times New Roman" panose="02020503050405090304" pitchFamily="18" charset="0"/>
                <a:cs typeface="Times New Roman" panose="02020503050405090304" pitchFamily="18" charset="0"/>
              </a:rPr>
              <a:t>Lecture</a:t>
            </a:r>
            <a:endParaRPr lang="en-US" sz="1800" b="1" dirty="0">
              <a:solidFill>
                <a:prstClr val="black">
                  <a:lumMod val="85000"/>
                  <a:lumOff val="15000"/>
                </a:prstClr>
              </a:solidFill>
              <a:latin typeface="Times New Roman" panose="02020503050405090304" pitchFamily="18" charset="0"/>
              <a:cs typeface="Times New Roman" panose="02020503050405090304" pitchFamily="18" charset="0"/>
            </a:endParaRPr>
          </a:p>
          <a:p>
            <a:pPr algn="ctr" defTabSz="466725" eaLnBrk="1" fontAlgn="auto" hangingPunct="1">
              <a:lnSpc>
                <a:spcPct val="90000"/>
              </a:lnSpc>
              <a:spcAft>
                <a:spcPct val="35000"/>
              </a:spcAft>
              <a:defRPr/>
            </a:pPr>
            <a:r>
              <a:rPr lang="en-US" kern="1200" dirty="0" smtClean="0">
                <a:latin typeface="Times New Roman" panose="02020503050405090304" pitchFamily="18" charset="0"/>
                <a:ea typeface="+mn-ea"/>
                <a:cs typeface="Times New Roman" panose="02020503050405090304" pitchFamily="18" charset="0"/>
                <a:sym typeface="+mn-ea"/>
              </a:rPr>
              <a:t>Introduction to System Design</a:t>
            </a:r>
            <a:endParaRPr lang="en-US" sz="1600" dirty="0">
              <a:solidFill>
                <a:prstClr val="black"/>
              </a:solidFill>
              <a:latin typeface="Times New Roman" panose="02020503050405090304" pitchFamily="18" charset="0"/>
              <a:cs typeface="Times New Roman" panose="02020503050405090304" pitchFamily="18" charset="0"/>
            </a:endParaRPr>
          </a:p>
        </p:txBody>
      </p:sp>
      <p:sp>
        <p:nvSpPr>
          <p:cNvPr id="26" name="TextBox 25"/>
          <p:cNvSpPr txBox="1">
            <a:spLocks noChangeArrowheads="1"/>
          </p:cNvSpPr>
          <p:nvPr/>
        </p:nvSpPr>
        <p:spPr bwMode="auto">
          <a:xfrm>
            <a:off x="408305" y="1833880"/>
            <a:ext cx="8324850" cy="2213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eaLnBrk="1" hangingPunct="1"/>
            <a:r>
              <a:rPr lang="en-IN" altLang="en-US" sz="3500" b="1" dirty="0">
                <a:solidFill>
                  <a:srgbClr val="000000"/>
                </a:solidFill>
                <a:latin typeface="Times New Roman" panose="02020503050405090304" pitchFamily="18" charset="0"/>
                <a:cs typeface="Times New Roman" panose="02020503050405090304" pitchFamily="18" charset="0"/>
              </a:rPr>
              <a:t>A</a:t>
            </a:r>
            <a:r>
              <a:rPr lang="en-US" altLang="en-IN" sz="3500" b="1" dirty="0">
                <a:solidFill>
                  <a:srgbClr val="000000"/>
                </a:solidFill>
                <a:latin typeface="Times New Roman" panose="02020503050405090304" pitchFamily="18" charset="0"/>
                <a:cs typeface="Times New Roman" panose="02020503050405090304" pitchFamily="18" charset="0"/>
              </a:rPr>
              <a:t>pex</a:t>
            </a:r>
            <a:r>
              <a:rPr lang="en-IN" altLang="en-US" sz="3500" b="1" dirty="0">
                <a:solidFill>
                  <a:srgbClr val="000000"/>
                </a:solidFill>
                <a:latin typeface="Times New Roman" panose="02020503050405090304" pitchFamily="18" charset="0"/>
                <a:cs typeface="Times New Roman" panose="02020503050405090304" pitchFamily="18" charset="0"/>
              </a:rPr>
              <a:t> I</a:t>
            </a:r>
            <a:r>
              <a:rPr lang="en-US" altLang="en-IN" sz="3500" b="1" dirty="0">
                <a:solidFill>
                  <a:srgbClr val="000000"/>
                </a:solidFill>
                <a:latin typeface="Times New Roman" panose="02020503050405090304" pitchFamily="18" charset="0"/>
                <a:cs typeface="Times New Roman" panose="02020503050405090304" pitchFamily="18" charset="0"/>
              </a:rPr>
              <a:t>nstitute</a:t>
            </a:r>
            <a:r>
              <a:rPr lang="en-IN" altLang="en-US" sz="3500" b="1" dirty="0">
                <a:solidFill>
                  <a:srgbClr val="000000"/>
                </a:solidFill>
                <a:latin typeface="Times New Roman" panose="02020503050405090304" pitchFamily="18" charset="0"/>
                <a:cs typeface="Times New Roman" panose="02020503050405090304" pitchFamily="18" charset="0"/>
              </a:rPr>
              <a:t> </a:t>
            </a:r>
            <a:r>
              <a:rPr lang="en-US" altLang="en-IN" sz="3500" b="1" dirty="0">
                <a:solidFill>
                  <a:srgbClr val="000000"/>
                </a:solidFill>
                <a:latin typeface="Times New Roman" panose="02020503050405090304" pitchFamily="18" charset="0"/>
                <a:cs typeface="Times New Roman" panose="02020503050405090304" pitchFamily="18" charset="0"/>
              </a:rPr>
              <a:t>of</a:t>
            </a:r>
            <a:r>
              <a:rPr lang="en-IN" altLang="en-US" sz="3500" b="1" dirty="0">
                <a:solidFill>
                  <a:srgbClr val="000000"/>
                </a:solidFill>
                <a:latin typeface="Times New Roman" panose="02020503050405090304" pitchFamily="18" charset="0"/>
                <a:cs typeface="Times New Roman" panose="02020503050405090304" pitchFamily="18" charset="0"/>
              </a:rPr>
              <a:t> T</a:t>
            </a:r>
            <a:r>
              <a:rPr lang="en-US" altLang="en-IN" sz="3500" b="1" dirty="0">
                <a:solidFill>
                  <a:srgbClr val="000000"/>
                </a:solidFill>
                <a:latin typeface="Times New Roman" panose="02020503050405090304" pitchFamily="18" charset="0"/>
                <a:cs typeface="Times New Roman" panose="02020503050405090304" pitchFamily="18" charset="0"/>
              </a:rPr>
              <a:t>echnology</a:t>
            </a:r>
            <a:endParaRPr lang="en-US" altLang="en-US" sz="3500" dirty="0">
              <a:solidFill>
                <a:srgbClr val="000000"/>
              </a:solidFill>
              <a:latin typeface="Times New Roman" panose="02020503050405090304" pitchFamily="18" charset="0"/>
              <a:cs typeface="Times New Roman" panose="02020503050405090304" pitchFamily="18" charset="0"/>
            </a:endParaRPr>
          </a:p>
          <a:p>
            <a:pPr algn="ctr" eaLnBrk="1" hangingPunct="1"/>
            <a:r>
              <a:rPr lang="en-US" altLang="en-IN" sz="2100" b="1" dirty="0">
                <a:solidFill>
                  <a:srgbClr val="000000"/>
                </a:solidFill>
                <a:latin typeface="Times New Roman" panose="02020503050405090304" pitchFamily="18" charset="0"/>
                <a:cs typeface="Times New Roman" panose="02020503050405090304" pitchFamily="18" charset="0"/>
              </a:rPr>
              <a:t>Department of</a:t>
            </a:r>
            <a:r>
              <a:rPr lang="en-IN" altLang="en-US" sz="2100" b="1" dirty="0">
                <a:solidFill>
                  <a:srgbClr val="000000"/>
                </a:solidFill>
                <a:latin typeface="Times New Roman" panose="02020503050405090304" pitchFamily="18" charset="0"/>
                <a:cs typeface="Times New Roman" panose="02020503050405090304" pitchFamily="18" charset="0"/>
              </a:rPr>
              <a:t> </a:t>
            </a:r>
            <a:r>
              <a:rPr lang="en-US" altLang="en-IN" sz="2100" b="1" dirty="0">
                <a:solidFill>
                  <a:srgbClr val="000000"/>
                </a:solidFill>
                <a:latin typeface="Times New Roman" panose="02020503050405090304" pitchFamily="18" charset="0"/>
                <a:cs typeface="Times New Roman" panose="02020503050405090304" pitchFamily="18" charset="0"/>
              </a:rPr>
              <a:t>Artificial Intelligence and Machine Learning</a:t>
            </a:r>
            <a:endParaRPr lang="en-US" altLang="en-US" sz="2100" b="1" dirty="0">
              <a:solidFill>
                <a:srgbClr val="000000"/>
              </a:solidFill>
              <a:latin typeface="Times New Roman" panose="02020503050405090304" pitchFamily="18" charset="0"/>
              <a:cs typeface="Times New Roman" panose="02020503050405090304" pitchFamily="18" charset="0"/>
            </a:endParaRPr>
          </a:p>
          <a:p>
            <a:pPr algn="ctr" eaLnBrk="1" hangingPunct="1">
              <a:lnSpc>
                <a:spcPct val="90000"/>
              </a:lnSpc>
              <a:spcAft>
                <a:spcPct val="35000"/>
              </a:spcAft>
            </a:pPr>
            <a:endParaRPr lang="en-US" altLang="en-US" sz="2300" b="1" dirty="0">
              <a:solidFill>
                <a:srgbClr val="000000"/>
              </a:solidFill>
              <a:latin typeface="Times New Roman" panose="02020503050405090304" pitchFamily="18" charset="0"/>
              <a:ea typeface="Calibri" panose="020F0502020204030204" pitchFamily="34" charset="0"/>
              <a:cs typeface="Times New Roman" panose="02020503050405090304" pitchFamily="18" charset="0"/>
            </a:endParaRPr>
          </a:p>
          <a:p>
            <a:pPr algn="ctr" eaLnBrk="1" hangingPunct="1">
              <a:lnSpc>
                <a:spcPct val="90000"/>
              </a:lnSpc>
              <a:spcAft>
                <a:spcPct val="35000"/>
              </a:spcAft>
            </a:pPr>
            <a:r>
              <a:rPr lang="en-US" sz="2400" dirty="0" smtClean="0">
                <a:latin typeface="Times New Roman" panose="02020503050405090304" pitchFamily="18" charset="0"/>
                <a:cs typeface="Times New Roman" panose="02020503050405090304" pitchFamily="18" charset="0"/>
              </a:rPr>
              <a:t>System Design </a:t>
            </a:r>
            <a:r>
              <a:rPr lang="en-US" altLang="en-US" sz="2400" dirty="0" smtClean="0">
                <a:solidFill>
                  <a:srgbClr val="262626"/>
                </a:solidFill>
                <a:latin typeface="Times New Roman" panose="02020503050405090304" pitchFamily="18" charset="0"/>
                <a:ea typeface="Cambria" panose="02040503050406030204" pitchFamily="18" charset="0"/>
                <a:cs typeface="Times New Roman" panose="02020503050405090304" pitchFamily="18" charset="0"/>
              </a:rPr>
              <a:t>(</a:t>
            </a:r>
            <a:r>
              <a:rPr lang="en-US" sz="2400" dirty="0" smtClean="0">
                <a:latin typeface="Times New Roman" panose="02020503050405090304" pitchFamily="18" charset="0"/>
                <a:cs typeface="Times New Roman" panose="02020503050405090304" pitchFamily="18" charset="0"/>
              </a:rPr>
              <a:t>23CST-390</a:t>
            </a:r>
            <a:r>
              <a:rPr lang="en-US" altLang="en-US" sz="2400" dirty="0" smtClean="0">
                <a:solidFill>
                  <a:srgbClr val="262626"/>
                </a:solidFill>
                <a:latin typeface="Times New Roman" panose="02020503050405090304" pitchFamily="18" charset="0"/>
                <a:ea typeface="Cambria" panose="02040503050406030204" pitchFamily="18" charset="0"/>
                <a:cs typeface="Times New Roman" panose="02020503050405090304" pitchFamily="18" charset="0"/>
              </a:rPr>
              <a:t>)</a:t>
            </a:r>
            <a:endParaRPr lang="en-US" altLang="en-US" sz="2400" dirty="0">
              <a:solidFill>
                <a:srgbClr val="262626"/>
              </a:solidFill>
              <a:latin typeface="Times New Roman" panose="02020503050405090304" pitchFamily="18" charset="0"/>
              <a:ea typeface="Cambria" panose="02040503050406030204" pitchFamily="18" charset="0"/>
              <a:cs typeface="Times New Roman" panose="02020503050405090304" pitchFamily="18" charset="0"/>
            </a:endParaRPr>
          </a:p>
          <a:p>
            <a:pPr algn="ctr" eaLnBrk="1" hangingPunct="1">
              <a:lnSpc>
                <a:spcPct val="90000"/>
              </a:lnSpc>
              <a:spcAft>
                <a:spcPct val="35000"/>
              </a:spcAft>
            </a:pPr>
            <a:r>
              <a:rPr lang="en-US" altLang="en-US" sz="2300" b="1" dirty="0">
                <a:solidFill>
                  <a:srgbClr val="262626"/>
                </a:solidFill>
                <a:latin typeface="Times New Roman" panose="02020503050405090304" pitchFamily="18" charset="0"/>
                <a:cs typeface="Times New Roman" panose="02020503050405090304" pitchFamily="18" charset="0"/>
              </a:rPr>
              <a:t>Faculty:</a:t>
            </a:r>
            <a:r>
              <a:rPr lang="en-US" altLang="en-US" sz="2300" dirty="0">
                <a:solidFill>
                  <a:srgbClr val="262626"/>
                </a:solidFill>
                <a:latin typeface="Times New Roman" panose="02020503050405090304" pitchFamily="18" charset="0"/>
                <a:cs typeface="Times New Roman" panose="02020503050405090304" pitchFamily="18" charset="0"/>
              </a:rPr>
              <a:t> </a:t>
            </a:r>
            <a:r>
              <a:rPr lang="en-US" altLang="en-US" sz="2300" dirty="0" smtClean="0">
                <a:solidFill>
                  <a:srgbClr val="262626"/>
                </a:solidFill>
                <a:latin typeface="Times New Roman" panose="02020503050405090304" pitchFamily="18" charset="0"/>
                <a:cs typeface="Times New Roman" panose="02020503050405090304" pitchFamily="18" charset="0"/>
              </a:rPr>
              <a:t>(</a:t>
            </a:r>
            <a:r>
              <a:rPr lang="en-US" altLang="en-US" sz="2300" dirty="0" err="1" smtClean="0">
                <a:solidFill>
                  <a:srgbClr val="262626"/>
                </a:solidFill>
                <a:latin typeface="Times New Roman" panose="02020503050405090304" pitchFamily="18" charset="0"/>
                <a:cs typeface="Times New Roman" panose="02020503050405090304" pitchFamily="18" charset="0"/>
              </a:rPr>
              <a:t>Er</a:t>
            </a:r>
            <a:r>
              <a:rPr lang="en-US" altLang="en-US" sz="2300" dirty="0">
                <a:solidFill>
                  <a:srgbClr val="262626"/>
                </a:solidFill>
                <a:latin typeface="Times New Roman" panose="02020503050405090304" pitchFamily="18" charset="0"/>
                <a:cs typeface="Times New Roman" panose="02020503050405090304" pitchFamily="18" charset="0"/>
              </a:rPr>
              <a:t>.) </a:t>
            </a:r>
            <a:r>
              <a:rPr lang="en-US" altLang="en-US" sz="2300" dirty="0" err="1" smtClean="0">
                <a:solidFill>
                  <a:srgbClr val="262626"/>
                </a:solidFill>
                <a:latin typeface="Times New Roman" panose="02020503050405090304" pitchFamily="18" charset="0"/>
                <a:cs typeface="Times New Roman" panose="02020503050405090304" pitchFamily="18" charset="0"/>
              </a:rPr>
              <a:t>Kamaljee</a:t>
            </a:r>
            <a:r>
              <a:rPr lang="en-IN" sz="2400" dirty="0" smtClean="0">
                <a:solidFill>
                  <a:prstClr val="black"/>
                </a:solidFill>
                <a:latin typeface="Times New Roman" panose="02020503050405090304" pitchFamily="18" charset="0"/>
                <a:ea typeface="Times New Roman" panose="02020503050405090304" pitchFamily="18" charset="0"/>
                <a:cs typeface="Times New Roman" panose="02020503050405090304" pitchFamily="18" charset="0"/>
              </a:rPr>
              <a:t>t</a:t>
            </a:r>
            <a:r>
              <a:rPr lang="en-US" altLang="en-US" sz="2300" dirty="0" smtClean="0">
                <a:solidFill>
                  <a:srgbClr val="262626"/>
                </a:solidFill>
                <a:latin typeface="Times New Roman" panose="02020503050405090304" pitchFamily="18" charset="0"/>
                <a:cs typeface="Times New Roman" panose="02020503050405090304" pitchFamily="18" charset="0"/>
              </a:rPr>
              <a:t> </a:t>
            </a:r>
            <a:r>
              <a:rPr lang="en-US" altLang="en-US" sz="2300" dirty="0" err="1" smtClean="0">
                <a:solidFill>
                  <a:srgbClr val="262626"/>
                </a:solidFill>
                <a:latin typeface="Times New Roman" panose="02020503050405090304" pitchFamily="18" charset="0"/>
                <a:cs typeface="Times New Roman" panose="02020503050405090304" pitchFamily="18" charset="0"/>
              </a:rPr>
              <a:t>Kaur </a:t>
            </a:r>
            <a:r>
              <a:rPr lang="en-US" altLang="en-US" sz="2300" dirty="0" smtClean="0">
                <a:solidFill>
                  <a:srgbClr val="262626"/>
                </a:solidFill>
                <a:latin typeface="Times New Roman" panose="02020503050405090304" pitchFamily="18" charset="0"/>
                <a:cs typeface="Times New Roman" panose="02020503050405090304" pitchFamily="18" charset="0"/>
              </a:rPr>
              <a:t>(E19147)</a:t>
            </a:r>
            <a:endParaRPr lang="en-US" altLang="en-US" sz="2300" dirty="0">
              <a:solidFill>
                <a:srgbClr val="262626"/>
              </a:solidFill>
              <a:latin typeface="Times New Roman" panose="02020503050405090304" pitchFamily="18" charset="0"/>
              <a:cs typeface="Times New Roman" panose="02020503050405090304" pitchFamily="18" charset="0"/>
            </a:endParaRPr>
          </a:p>
          <a:p>
            <a:pPr algn="ctr" eaLnBrk="1" hangingPunct="1">
              <a:lnSpc>
                <a:spcPct val="90000"/>
              </a:lnSpc>
              <a:spcAft>
                <a:spcPct val="35000"/>
              </a:spcAft>
            </a:pPr>
            <a:endParaRPr lang="en-US" altLang="en-US" sz="1100" dirty="0">
              <a:solidFill>
                <a:srgbClr val="000000"/>
              </a:solidFill>
              <a:latin typeface="Times New Roman" panose="02020503050405090304" pitchFamily="18" charset="0"/>
              <a:cs typeface="Times New Roman" panose="02020503050405090304" pitchFamily="18" charset="0"/>
            </a:endParaRPr>
          </a:p>
        </p:txBody>
      </p:sp>
      <p:sp>
        <p:nvSpPr>
          <p:cNvPr id="16" name="object 9"/>
          <p:cNvSpPr txBox="1"/>
          <p:nvPr/>
        </p:nvSpPr>
        <p:spPr>
          <a:xfrm>
            <a:off x="6327775" y="22860"/>
            <a:ext cx="2750185" cy="472440"/>
          </a:xfrm>
          <a:prstGeom prst="rect">
            <a:avLst/>
          </a:prstGeom>
        </p:spPr>
        <p:txBody>
          <a:bodyPr vert="horz" wrap="square" lIns="0" tIns="16510" rIns="0" bIns="0" rtlCol="0">
            <a:spAutoFit/>
          </a:bodyPr>
          <a:lstStyle/>
          <a:p>
            <a:pPr marL="12700" algn="r">
              <a:lnSpc>
                <a:spcPct val="100000"/>
              </a:lnSpc>
              <a:spcBef>
                <a:spcPts val="130"/>
              </a:spcBef>
            </a:pPr>
            <a:r>
              <a:rPr sz="1550" b="0" dirty="0">
                <a:solidFill>
                  <a:schemeClr val="tx1"/>
                </a:solidFill>
                <a:latin typeface="Times New Roman Regular" panose="02020503050405090304" charset="0"/>
                <a:cs typeface="Times New Roman Regular" panose="02020503050405090304" charset="0"/>
              </a:rPr>
              <a:t>Academic</a:t>
            </a:r>
            <a:r>
              <a:rPr sz="1550" b="0" spc="229" dirty="0">
                <a:solidFill>
                  <a:schemeClr val="tx1"/>
                </a:solidFill>
                <a:latin typeface="Times New Roman Regular" panose="02020503050405090304" charset="0"/>
                <a:cs typeface="Times New Roman Regular" panose="02020503050405090304" charset="0"/>
              </a:rPr>
              <a:t> </a:t>
            </a:r>
            <a:r>
              <a:rPr sz="1550" b="0" dirty="0">
                <a:solidFill>
                  <a:schemeClr val="tx1"/>
                </a:solidFill>
                <a:latin typeface="Times New Roman Regular" panose="02020503050405090304" charset="0"/>
                <a:cs typeface="Times New Roman Regular" panose="02020503050405090304" charset="0"/>
              </a:rPr>
              <a:t>Session</a:t>
            </a:r>
            <a:r>
              <a:rPr sz="1550" b="0" spc="180" dirty="0">
                <a:solidFill>
                  <a:schemeClr val="tx1"/>
                </a:solidFill>
                <a:latin typeface="Times New Roman Regular" panose="02020503050405090304" charset="0"/>
                <a:cs typeface="Times New Roman Regular" panose="02020503050405090304" charset="0"/>
              </a:rPr>
              <a:t> </a:t>
            </a:r>
            <a:r>
              <a:rPr sz="1550" b="0" dirty="0">
                <a:solidFill>
                  <a:schemeClr val="tx1"/>
                </a:solidFill>
                <a:latin typeface="Times New Roman Regular" panose="02020503050405090304" charset="0"/>
                <a:cs typeface="Times New Roman Regular" panose="02020503050405090304" charset="0"/>
              </a:rPr>
              <a:t>202</a:t>
            </a:r>
            <a:r>
              <a:rPr lang="en-US" altLang="" sz="1550" b="0" dirty="0">
                <a:solidFill>
                  <a:schemeClr val="tx1"/>
                </a:solidFill>
                <a:latin typeface="Times New Roman Regular" panose="02020503050405090304" charset="0"/>
                <a:cs typeface="Times New Roman Regular" panose="02020503050405090304" charset="0"/>
              </a:rPr>
              <a:t>5</a:t>
            </a:r>
            <a:r>
              <a:rPr sz="1550" b="0" dirty="0">
                <a:solidFill>
                  <a:schemeClr val="tx1"/>
                </a:solidFill>
                <a:latin typeface="Times New Roman Regular" panose="02020503050405090304" charset="0"/>
                <a:cs typeface="Times New Roman Regular" panose="02020503050405090304" charset="0"/>
              </a:rPr>
              <a:t>-</a:t>
            </a:r>
            <a:r>
              <a:rPr sz="1550" b="0" spc="-25" dirty="0">
                <a:solidFill>
                  <a:schemeClr val="tx1"/>
                </a:solidFill>
                <a:latin typeface="Times New Roman Regular" panose="02020503050405090304" charset="0"/>
                <a:cs typeface="Times New Roman Regular" panose="02020503050405090304" charset="0"/>
              </a:rPr>
              <a:t>2</a:t>
            </a:r>
            <a:r>
              <a:rPr lang="en-US" altLang="" sz="1550" b="0" spc="-25" dirty="0">
                <a:solidFill>
                  <a:schemeClr val="tx1"/>
                </a:solidFill>
                <a:latin typeface="Times New Roman Regular" panose="02020503050405090304" charset="0"/>
                <a:cs typeface="Times New Roman Regular" panose="02020503050405090304" charset="0"/>
              </a:rPr>
              <a:t>6</a:t>
            </a:r>
            <a:endParaRPr sz="1550" b="0" dirty="0">
              <a:solidFill>
                <a:schemeClr val="tx1"/>
              </a:solidFill>
              <a:latin typeface="Times New Roman Regular" panose="02020503050405090304" charset="0"/>
              <a:cs typeface="Times New Roman Regular" panose="02020503050405090304" charset="0"/>
            </a:endParaRPr>
          </a:p>
          <a:p>
            <a:pPr marL="120650" algn="r">
              <a:lnSpc>
                <a:spcPct val="100000"/>
              </a:lnSpc>
              <a:spcBef>
                <a:spcPts val="20"/>
              </a:spcBef>
            </a:pPr>
            <a:r>
              <a:rPr sz="1400" b="0" dirty="0">
                <a:solidFill>
                  <a:schemeClr val="tx1"/>
                </a:solidFill>
                <a:latin typeface="Times New Roman Regular" panose="02020503050405090304" charset="0"/>
                <a:cs typeface="Times New Roman Regular" panose="02020503050405090304" charset="0"/>
              </a:rPr>
              <a:t>E</a:t>
            </a:r>
            <a:r>
              <a:rPr lang="en-US" altLang="" sz="1400" b="0" dirty="0">
                <a:solidFill>
                  <a:schemeClr val="tx1"/>
                </a:solidFill>
                <a:latin typeface="Times New Roman Regular" panose="02020503050405090304" charset="0"/>
                <a:cs typeface="Times New Roman Regular" panose="02020503050405090304" charset="0"/>
              </a:rPr>
              <a:t>ven</a:t>
            </a:r>
            <a:r>
              <a:rPr sz="1400" b="0" spc="-5" dirty="0">
                <a:solidFill>
                  <a:schemeClr val="tx1"/>
                </a:solidFill>
                <a:latin typeface="Times New Roman Regular" panose="02020503050405090304" charset="0"/>
                <a:cs typeface="Times New Roman Regular" panose="02020503050405090304" charset="0"/>
              </a:rPr>
              <a:t> </a:t>
            </a:r>
            <a:r>
              <a:rPr sz="1400" b="0" dirty="0">
                <a:solidFill>
                  <a:schemeClr val="tx1"/>
                </a:solidFill>
                <a:latin typeface="Times New Roman Regular" panose="02020503050405090304" charset="0"/>
                <a:cs typeface="Times New Roman Regular" panose="02020503050405090304" charset="0"/>
              </a:rPr>
              <a:t>Semester</a:t>
            </a:r>
            <a:r>
              <a:rPr sz="1400" b="0" spc="-25" dirty="0">
                <a:solidFill>
                  <a:schemeClr val="tx1"/>
                </a:solidFill>
                <a:latin typeface="Times New Roman Regular" panose="02020503050405090304" charset="0"/>
                <a:cs typeface="Times New Roman Regular" panose="02020503050405090304" charset="0"/>
              </a:rPr>
              <a:t> </a:t>
            </a:r>
            <a:r>
              <a:rPr sz="1400" b="0" spc="-10" dirty="0">
                <a:solidFill>
                  <a:schemeClr val="tx1"/>
                </a:solidFill>
                <a:latin typeface="Times New Roman Regular" panose="02020503050405090304" charset="0"/>
                <a:cs typeface="Times New Roman Regular" panose="02020503050405090304" charset="0"/>
              </a:rPr>
              <a:t>Jan-</a:t>
            </a:r>
            <a:r>
              <a:rPr sz="1400" b="0" dirty="0">
                <a:solidFill>
                  <a:schemeClr val="tx1"/>
                </a:solidFill>
                <a:latin typeface="Times New Roman Regular" panose="02020503050405090304" charset="0"/>
                <a:cs typeface="Times New Roman Regular" panose="02020503050405090304" charset="0"/>
              </a:rPr>
              <a:t>Jun</a:t>
            </a:r>
            <a:r>
              <a:rPr lang="en-US" altLang="" sz="1400" b="0" spc="-45" dirty="0">
                <a:solidFill>
                  <a:schemeClr val="tx1"/>
                </a:solidFill>
                <a:latin typeface="Times New Roman Regular" panose="02020503050405090304" charset="0"/>
                <a:cs typeface="Times New Roman Regular" panose="02020503050405090304" charset="0"/>
              </a:rPr>
              <a:t>’</a:t>
            </a:r>
            <a:r>
              <a:rPr sz="1400" b="0" spc="-20" dirty="0">
                <a:solidFill>
                  <a:schemeClr val="tx1"/>
                </a:solidFill>
                <a:latin typeface="Times New Roman Regular" panose="02020503050405090304" charset="0"/>
                <a:cs typeface="Times New Roman Regular" panose="02020503050405090304" charset="0"/>
              </a:rPr>
              <a:t>26</a:t>
            </a:r>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1365" y="1152525"/>
            <a:ext cx="7927340" cy="2270760"/>
          </a:xfrm>
          <a:prstGeom prst="rect">
            <a:avLst/>
          </a:prstGeom>
        </p:spPr>
        <p:txBody>
          <a:bodyPr vert="horz" wrap="square" lIns="0" tIns="15875" rIns="0" bIns="0" rtlCol="0">
            <a:noAutofit/>
          </a:bodyPr>
          <a:lstStyle/>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Understand the fundamental concepts of system design and its importance in building   </a:t>
            </a:r>
          </a:p>
          <a:p>
            <a:pPr indent="0" algn="just">
              <a:lnSpc>
                <a:spcPct val="150000"/>
              </a:lnSpc>
              <a:buFont typeface="Arial" panose="020B0604020202090204" pitchFamily="34" charset="0"/>
              <a:buNone/>
            </a:pPr>
            <a:r>
              <a:rPr lang="en-US" sz="1600" dirty="0" smtClean="0">
                <a:latin typeface="Times New Roman" panose="02020503050405090304" pitchFamily="18" charset="0"/>
                <a:cs typeface="Times New Roman" panose="02020503050405090304" pitchFamily="18" charset="0"/>
              </a:rPr>
              <a:t>   scalable applications.</a:t>
            </a:r>
          </a:p>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Learn the principles of scalability, availability, and reliability in large systems.</a:t>
            </a:r>
          </a:p>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Differentiate between Monolithic and </a:t>
            </a:r>
            <a:r>
              <a:rPr lang="en-US" sz="1600" dirty="0" err="1" smtClean="0">
                <a:latin typeface="Times New Roman" panose="02020503050405090304" pitchFamily="18" charset="0"/>
                <a:cs typeface="Times New Roman" panose="02020503050405090304" pitchFamily="18" charset="0"/>
              </a:rPr>
              <a:t>Microservices</a:t>
            </a:r>
            <a:r>
              <a:rPr lang="en-US" sz="1600" dirty="0" smtClean="0">
                <a:latin typeface="Times New Roman" panose="02020503050405090304" pitchFamily="18" charset="0"/>
                <a:cs typeface="Times New Roman" panose="02020503050405090304" pitchFamily="18" charset="0"/>
              </a:rPr>
              <a:t> architectures.</a:t>
            </a:r>
          </a:p>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Explain key performance metrics such as latency and throughput.</a:t>
            </a:r>
          </a:p>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Understand how caching improves system speed and reduces load on backend services.</a:t>
            </a:r>
            <a:endParaRPr lang="en-US" sz="1600" dirty="0">
              <a:latin typeface="Times New Roman" panose="02020503050405090304" pitchFamily="18" charset="0"/>
              <a:cs typeface="Times New Roman" panose="02020503050405090304" pitchFamily="18" charset="0"/>
            </a:endParaRPr>
          </a:p>
        </p:txBody>
      </p:sp>
      <p:sp>
        <p:nvSpPr>
          <p:cNvPr id="8" name="Title 7"/>
          <p:cNvSpPr txBox="1">
            <a:spLocks noGrp="1" noChangeArrowheads="1"/>
          </p:cNvSpPr>
          <p:nvPr/>
        </p:nvSpPr>
        <p:spPr>
          <a:xfrm>
            <a:off x="761683" y="378381"/>
            <a:ext cx="4267200" cy="276860"/>
          </a:xfrm>
          <a:prstGeom prst="rect">
            <a:avLst/>
          </a:prstGeom>
        </p:spPr>
        <p:txBody>
          <a:bodyPr wrap="square" lIns="0" tIns="0" rIns="0" bIns="0" rtlCol="0" anchor="b">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fontAlgn="auto">
              <a:spcAft>
                <a:spcPts val="0"/>
              </a:spcAft>
              <a:defRPr/>
            </a:pPr>
            <a:r>
              <a:rPr lang="en-US" sz="1800" b="1" dirty="0">
                <a:latin typeface="Times New Roman" panose="02020503050405090304" pitchFamily="18" charset="0"/>
                <a:cs typeface="Times New Roman" panose="02020503050405090304" pitchFamily="18" charset="0"/>
                <a:sym typeface="+mn-ea"/>
              </a:rPr>
              <a:t>Learning Objectives</a:t>
            </a:r>
            <a:endParaRPr lang="en-US" b="1"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a:xfrm>
            <a:off x="761683" y="286306"/>
            <a:ext cx="4267200" cy="368935"/>
          </a:xfrm>
        </p:spPr>
        <p:txBody>
          <a:bodyPr rtlCol="0">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fontAlgn="auto">
              <a:spcAft>
                <a:spcPts val="0"/>
              </a:spcAft>
              <a:defRPr/>
            </a:pPr>
            <a:r>
              <a:rPr lang="en-US" b="1" dirty="0" smtClean="0">
                <a:latin typeface="Times New Roman" panose="02020503050405090304" pitchFamily="18" charset="0"/>
                <a:cs typeface="Times New Roman" panose="02020503050405090304" pitchFamily="18" charset="0"/>
              </a:rPr>
              <a:t>Course </a:t>
            </a:r>
            <a:r>
              <a:rPr lang="en-US" b="1" dirty="0">
                <a:latin typeface="Times New Roman" panose="02020503050405090304" pitchFamily="18" charset="0"/>
                <a:cs typeface="Times New Roman" panose="02020503050405090304" pitchFamily="18" charset="0"/>
              </a:rPr>
              <a:t>Outcomes</a:t>
            </a:r>
          </a:p>
        </p:txBody>
      </p:sp>
      <p:sp>
        <p:nvSpPr>
          <p:cNvPr id="21508" name="Rectangle 3"/>
          <p:cNvSpPr>
            <a:spLocks noChangeArrowheads="1"/>
          </p:cNvSpPr>
          <p:nvPr/>
        </p:nvSpPr>
        <p:spPr bwMode="auto">
          <a:xfrm>
            <a:off x="741998" y="971471"/>
            <a:ext cx="507222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eaLnBrk="1" hangingPunct="1"/>
            <a:r>
              <a:rPr lang="en-IN" altLang="en-US" sz="1600" dirty="0">
                <a:solidFill>
                  <a:srgbClr val="000000"/>
                </a:solidFill>
                <a:latin typeface="Times New Roman" panose="02020503050405090304" pitchFamily="18" charset="0"/>
                <a:cs typeface="Times New Roman" panose="02020503050405090304" pitchFamily="18" charset="0"/>
              </a:rPr>
              <a:t>On completion of this course, the students shall be able to:-</a:t>
            </a:r>
            <a:endParaRPr lang="en-US" altLang="en-US" sz="1600" dirty="0">
              <a:solidFill>
                <a:srgbClr val="000000"/>
              </a:solidFill>
              <a:latin typeface="Times New Roman" panose="02020503050405090304" pitchFamily="18" charset="0"/>
              <a:cs typeface="Times New Roman" panose="02020503050405090304" pitchFamily="18" charset="0"/>
            </a:endParaRPr>
          </a:p>
        </p:txBody>
      </p:sp>
      <p:graphicFrame>
        <p:nvGraphicFramePr>
          <p:cNvPr id="3" name="Table 2"/>
          <p:cNvGraphicFramePr>
            <a:graphicFrameLocks noGrp="1"/>
          </p:cNvGraphicFramePr>
          <p:nvPr/>
        </p:nvGraphicFramePr>
        <p:xfrm>
          <a:off x="741998" y="1351360"/>
          <a:ext cx="7772881" cy="3168460"/>
        </p:xfrm>
        <a:graphic>
          <a:graphicData uri="http://schemas.openxmlformats.org/drawingml/2006/table">
            <a:tbl>
              <a:tblPr bandRow="1">
                <a:tableStyleId>{5C22544A-7EE6-4342-B048-85BDC9FD1C3A}</a:tableStyleId>
              </a:tblPr>
              <a:tblGrid>
                <a:gridCol w="494030"/>
                <a:gridCol w="7278851"/>
              </a:tblGrid>
              <a:tr h="641386">
                <a:tc>
                  <a:txBody>
                    <a:bodyPr/>
                    <a:lstStyle/>
                    <a:p>
                      <a:pPr>
                        <a:lnSpc>
                          <a:spcPct val="107000"/>
                        </a:lnSpc>
                        <a:spcAft>
                          <a:spcPts val="0"/>
                        </a:spcAft>
                      </a:pPr>
                      <a:r>
                        <a:rPr lang="en-US" sz="1200" kern="0" dirty="0" smtClean="0">
                          <a:effectLst/>
                          <a:latin typeface="Times New Roman" panose="02020503050405090304" pitchFamily="18" charset="0"/>
                          <a:cs typeface="Times New Roman" panose="02020503050405090304" pitchFamily="18" charset="0"/>
                        </a:rPr>
                        <a:t>CO1</a:t>
                      </a:r>
                      <a:endParaRPr lang="en-US" sz="1200" kern="100" dirty="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200" kern="1200" dirty="0" smtClean="0">
                          <a:solidFill>
                            <a:schemeClr val="dk1"/>
                          </a:solidFill>
                          <a:latin typeface="Times New Roman" panose="02020503050405090304" pitchFamily="18" charset="0"/>
                          <a:ea typeface="+mn-ea"/>
                          <a:cs typeface="Times New Roman" panose="02020503050405090304" pitchFamily="18" charset="0"/>
                        </a:rPr>
                        <a:t>Understand the fundamental system design principles, including scalability, high availability, and fault tolerance, while analyzing how these core principles influence architectural decisions in real-world distributed environments.</a:t>
                      </a:r>
                      <a:endParaRPr lang="en-US" sz="1200" kern="1200" dirty="0">
                        <a:solidFill>
                          <a:schemeClr val="dk1"/>
                        </a:solidFill>
                        <a:latin typeface="Times New Roman" panose="02020503050405090304" pitchFamily="18" charset="0"/>
                        <a:ea typeface="+mn-ea"/>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41386">
                <a:tc>
                  <a:txBody>
                    <a:bodyPr/>
                    <a:lstStyle/>
                    <a:p>
                      <a:pPr>
                        <a:lnSpc>
                          <a:spcPct val="107000"/>
                        </a:lnSpc>
                        <a:spcAft>
                          <a:spcPts val="0"/>
                        </a:spcAft>
                      </a:pPr>
                      <a:r>
                        <a:rPr lang="en-US" sz="1200" kern="0" smtClean="0">
                          <a:effectLst/>
                          <a:latin typeface="Times New Roman" panose="02020503050405090304" pitchFamily="18" charset="0"/>
                          <a:cs typeface="Times New Roman" panose="02020503050405090304" pitchFamily="18" charset="0"/>
                        </a:rPr>
                        <a:t>CO2</a:t>
                      </a:r>
                      <a:endParaRPr lang="en-US" sz="1200" kern="10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200" kern="1200" dirty="0" smtClean="0">
                          <a:solidFill>
                            <a:schemeClr val="dk1"/>
                          </a:solidFill>
                          <a:latin typeface="Times New Roman" panose="02020503050405090304" pitchFamily="18" charset="0"/>
                          <a:ea typeface="+mn-ea"/>
                          <a:cs typeface="Times New Roman" panose="02020503050405090304" pitchFamily="18" charset="0"/>
                        </a:rPr>
                        <a:t>Apply various distributed architectural patterns, key database models (SQL and </a:t>
                      </a:r>
                      <a:r>
                        <a:rPr lang="en-US" sz="1200" kern="1200" dirty="0" err="1" smtClean="0">
                          <a:solidFill>
                            <a:schemeClr val="dk1"/>
                          </a:solidFill>
                          <a:latin typeface="Times New Roman" panose="02020503050405090304" pitchFamily="18" charset="0"/>
                          <a:ea typeface="+mn-ea"/>
                          <a:cs typeface="Times New Roman" panose="02020503050405090304" pitchFamily="18" charset="0"/>
                        </a:rPr>
                        <a:t>NoSQL</a:t>
                      </a:r>
                      <a:r>
                        <a:rPr lang="en-US" sz="1200" kern="1200" dirty="0" smtClean="0">
                          <a:solidFill>
                            <a:schemeClr val="dk1"/>
                          </a:solidFill>
                          <a:latin typeface="Times New Roman" panose="02020503050405090304" pitchFamily="18" charset="0"/>
                          <a:ea typeface="+mn-ea"/>
                          <a:cs typeface="Times New Roman" panose="02020503050405090304" pitchFamily="18" charset="0"/>
                        </a:rPr>
                        <a:t>), and critical communication protocols to evaluate their specific applications and trade-offs in modern system designs.</a:t>
                      </a:r>
                      <a:endParaRPr lang="en-US" sz="1200" kern="1200" dirty="0">
                        <a:solidFill>
                          <a:schemeClr val="dk1"/>
                        </a:solidFill>
                        <a:latin typeface="Times New Roman" panose="02020503050405090304" pitchFamily="18" charset="0"/>
                        <a:ea typeface="+mn-ea"/>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41386">
                <a:tc>
                  <a:txBody>
                    <a:bodyPr/>
                    <a:lstStyle/>
                    <a:p>
                      <a:pPr>
                        <a:lnSpc>
                          <a:spcPct val="107000"/>
                        </a:lnSpc>
                        <a:spcAft>
                          <a:spcPts val="0"/>
                        </a:spcAft>
                      </a:pPr>
                      <a:r>
                        <a:rPr lang="en-US" sz="1200" kern="0" dirty="0" smtClean="0">
                          <a:effectLst/>
                          <a:latin typeface="Times New Roman" panose="02020503050405090304" pitchFamily="18" charset="0"/>
                          <a:cs typeface="Times New Roman" panose="02020503050405090304" pitchFamily="18" charset="0"/>
                        </a:rPr>
                        <a:t>CO3</a:t>
                      </a:r>
                      <a:endParaRPr lang="en-US" sz="1200" kern="100" dirty="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kern="1200" dirty="0" smtClean="0">
                          <a:solidFill>
                            <a:schemeClr val="dk1"/>
                          </a:solidFill>
                          <a:latin typeface="Times New Roman" panose="02020503050405090304" pitchFamily="18" charset="0"/>
                          <a:ea typeface="+mn-ea"/>
                          <a:cs typeface="Times New Roman" panose="02020503050405090304" pitchFamily="18" charset="0"/>
                        </a:rPr>
                        <a:t>Apply advanced scaling techniques, such as caching, load balancing, database </a:t>
                      </a:r>
                      <a:r>
                        <a:rPr lang="en-US" sz="1200" kern="1200" dirty="0" err="1" smtClean="0">
                          <a:solidFill>
                            <a:schemeClr val="dk1"/>
                          </a:solidFill>
                          <a:latin typeface="Times New Roman" panose="02020503050405090304" pitchFamily="18" charset="0"/>
                          <a:ea typeface="+mn-ea"/>
                          <a:cs typeface="Times New Roman" panose="02020503050405090304" pitchFamily="18" charset="0"/>
                        </a:rPr>
                        <a:t>sharding</a:t>
                      </a:r>
                      <a:r>
                        <a:rPr lang="en-US" sz="1200" kern="1200" dirty="0" smtClean="0">
                          <a:solidFill>
                            <a:schemeClr val="dk1"/>
                          </a:solidFill>
                          <a:latin typeface="Times New Roman" panose="02020503050405090304" pitchFamily="18" charset="0"/>
                          <a:ea typeface="+mn-ea"/>
                          <a:cs typeface="Times New Roman" panose="02020503050405090304" pitchFamily="18" charset="0"/>
                        </a:rPr>
                        <a:t>, and replication, to design system components that effectively handle massive user traffic and data volumes.</a:t>
                      </a:r>
                      <a:endParaRPr lang="en-US" sz="1200" kern="1200" dirty="0">
                        <a:solidFill>
                          <a:schemeClr val="dk1"/>
                        </a:solidFill>
                        <a:latin typeface="Times New Roman" panose="02020503050405090304" pitchFamily="18" charset="0"/>
                        <a:ea typeface="+mn-ea"/>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02934">
                <a:tc>
                  <a:txBody>
                    <a:bodyPr/>
                    <a:lstStyle/>
                    <a:p>
                      <a:pPr>
                        <a:lnSpc>
                          <a:spcPct val="107000"/>
                        </a:lnSpc>
                        <a:spcAft>
                          <a:spcPts val="0"/>
                        </a:spcAft>
                      </a:pPr>
                      <a:r>
                        <a:rPr lang="en-US" sz="1200" kern="0" smtClean="0">
                          <a:effectLst/>
                          <a:latin typeface="Times New Roman" panose="02020503050405090304" pitchFamily="18" charset="0"/>
                          <a:cs typeface="Times New Roman" panose="02020503050405090304" pitchFamily="18" charset="0"/>
                        </a:rPr>
                        <a:t>CO4</a:t>
                      </a:r>
                      <a:endParaRPr lang="en-US" sz="1200" kern="10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kern="1200" dirty="0" smtClean="0">
                          <a:solidFill>
                            <a:schemeClr val="dk1"/>
                          </a:solidFill>
                          <a:latin typeface="Times New Roman" panose="02020503050405090304" pitchFamily="18" charset="0"/>
                          <a:ea typeface="+mn-ea"/>
                          <a:cs typeface="Times New Roman" panose="02020503050405090304" pitchFamily="18" charset="0"/>
                        </a:rPr>
                        <a:t>Analyze the trade-offs between different system architectures, data storage solutions, and consistency models (like the CAP theorem) to select and justify optimized configurations for performance, cost, and reliability goals.</a:t>
                      </a:r>
                      <a:endParaRPr lang="en-US" sz="1200" kern="1200" dirty="0">
                        <a:solidFill>
                          <a:schemeClr val="dk1"/>
                        </a:solidFill>
                        <a:latin typeface="Times New Roman" panose="02020503050405090304" pitchFamily="18" charset="0"/>
                        <a:ea typeface="+mn-ea"/>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41368">
                <a:tc>
                  <a:txBody>
                    <a:bodyPr/>
                    <a:lstStyle/>
                    <a:p>
                      <a:pPr>
                        <a:lnSpc>
                          <a:spcPct val="107000"/>
                        </a:lnSpc>
                        <a:spcAft>
                          <a:spcPts val="0"/>
                        </a:spcAft>
                      </a:pPr>
                      <a:r>
                        <a:rPr lang="en-US" sz="1200" kern="0" smtClean="0">
                          <a:effectLst/>
                          <a:latin typeface="Times New Roman" panose="02020503050405090304" pitchFamily="18" charset="0"/>
                          <a:cs typeface="Times New Roman" panose="02020503050405090304" pitchFamily="18" charset="0"/>
                        </a:rPr>
                        <a:t>CO5</a:t>
                      </a:r>
                      <a:endParaRPr lang="en-US" sz="1200" kern="10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US" sz="1200" kern="1200" dirty="0" smtClean="0">
                          <a:solidFill>
                            <a:schemeClr val="dk1"/>
                          </a:solidFill>
                          <a:latin typeface="Times New Roman" panose="02020503050405090304" pitchFamily="18" charset="0"/>
                          <a:ea typeface="+mn-ea"/>
                          <a:cs typeface="Times New Roman" panose="02020503050405090304" pitchFamily="18" charset="0"/>
                        </a:rPr>
                        <a:t>Create and document comprehensive, end-to-end system designs that are inherently scalable, distributed, and fault-tolerant, leveraging modern paradigms such as cloud computing and </a:t>
                      </a:r>
                      <a:r>
                        <a:rPr lang="en-US" sz="1200" kern="1200" dirty="0" err="1" smtClean="0">
                          <a:solidFill>
                            <a:schemeClr val="dk1"/>
                          </a:solidFill>
                          <a:latin typeface="Times New Roman" panose="02020503050405090304" pitchFamily="18" charset="0"/>
                          <a:ea typeface="+mn-ea"/>
                          <a:cs typeface="Times New Roman" panose="02020503050405090304" pitchFamily="18" charset="0"/>
                        </a:rPr>
                        <a:t>microservices</a:t>
                      </a:r>
                      <a:r>
                        <a:rPr lang="en-US" sz="1200" kern="1200" dirty="0" smtClean="0">
                          <a:solidFill>
                            <a:schemeClr val="dk1"/>
                          </a:solidFill>
                          <a:latin typeface="Times New Roman" panose="02020503050405090304" pitchFamily="18" charset="0"/>
                          <a:ea typeface="+mn-ea"/>
                          <a:cs typeface="Times New Roman" panose="02020503050405090304" pitchFamily="18" charset="0"/>
                        </a:rPr>
                        <a:t> architecture.</a:t>
                      </a:r>
                      <a:endParaRPr lang="en-US" sz="1200" kern="100" dirty="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1" y="285671"/>
            <a:ext cx="7883525" cy="483394"/>
          </a:xfrm>
        </p:spPr>
        <p:txBody>
          <a:bodyPr rtlCol="0">
            <a:normAutofit/>
          </a:bodyPr>
          <a:lstStyle/>
          <a:p>
            <a:pPr algn="l" fontAlgn="auto">
              <a:spcAft>
                <a:spcPts val="0"/>
              </a:spcAft>
              <a:defRPr/>
            </a:pPr>
            <a:r>
              <a:rPr lang="en-IN" sz="2400" b="1" dirty="0">
                <a:latin typeface="Times New Roman" panose="02020503050405090304" pitchFamily="18" charset="0"/>
                <a:cs typeface="Times New Roman" panose="02020503050405090304" pitchFamily="18" charset="0"/>
              </a:rPr>
              <a:t>Unit-1 Syllabus</a:t>
            </a:r>
          </a:p>
        </p:txBody>
      </p:sp>
      <p:graphicFrame>
        <p:nvGraphicFramePr>
          <p:cNvPr id="7" name="Table 6"/>
          <p:cNvGraphicFramePr>
            <a:graphicFrameLocks noGrp="1"/>
          </p:cNvGraphicFramePr>
          <p:nvPr/>
        </p:nvGraphicFramePr>
        <p:xfrm>
          <a:off x="723900" y="1273969"/>
          <a:ext cx="7923530" cy="2432733"/>
        </p:xfrm>
        <a:graphic>
          <a:graphicData uri="http://schemas.openxmlformats.org/drawingml/2006/table">
            <a:tbl>
              <a:tblPr/>
              <a:tblGrid>
                <a:gridCol w="1850390"/>
                <a:gridCol w="6073140"/>
              </a:tblGrid>
              <a:tr h="297656">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just" defTabSz="685800" rtl="0" eaLnBrk="1" fontAlgn="base" latinLnBrk="0" hangingPunct="1">
                        <a:lnSpc>
                          <a:spcPct val="100000"/>
                        </a:lnSpc>
                        <a:spcBef>
                          <a:spcPct val="0"/>
                        </a:spcBef>
                        <a:spcAft>
                          <a:spcPct val="0"/>
                        </a:spcAft>
                        <a:buClrTx/>
                        <a:buSzTx/>
                        <a:buFontTx/>
                        <a:buNone/>
                      </a:pPr>
                      <a:r>
                        <a:rPr kumimoji="0" lang="en-IN" altLang="en-US" sz="1600" b="1" i="0" u="none" strike="noStrike" cap="none" normalizeH="0" baseline="0" dirty="0" smtClean="0">
                          <a:ln>
                            <a:noFill/>
                          </a:ln>
                          <a:solidFill>
                            <a:schemeClr val="tx1"/>
                          </a:solidFill>
                          <a:effectLst/>
                          <a:latin typeface="Times New Roman" panose="02020503050405090304" pitchFamily="18" charset="0"/>
                          <a:cs typeface="Times New Roman" panose="02020503050405090304" pitchFamily="18" charset="0"/>
                        </a:rPr>
                        <a:t>Unit-1</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27146" marR="27146" marT="20360" marB="203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just" defTabSz="685800" rtl="0" eaLnBrk="1" fontAlgn="base" latinLnBrk="0" hangingPunct="1">
                        <a:lnSpc>
                          <a:spcPct val="100000"/>
                        </a:lnSpc>
                        <a:spcBef>
                          <a:spcPct val="0"/>
                        </a:spcBef>
                        <a:spcAft>
                          <a:spcPct val="0"/>
                        </a:spcAft>
                        <a:buClrTx/>
                        <a:buSzTx/>
                        <a:buFontTx/>
                        <a:buNone/>
                      </a:pPr>
                      <a:r>
                        <a:rPr lang="en-US" sz="1600" kern="1200" dirty="0" smtClean="0">
                          <a:solidFill>
                            <a:schemeClr val="tx1"/>
                          </a:solidFill>
                          <a:latin typeface="Times New Roman" panose="02020503050405090304" pitchFamily="18" charset="0"/>
                          <a:ea typeface="+mn-ea"/>
                          <a:cs typeface="Times New Roman" panose="02020503050405090304" pitchFamily="18" charset="0"/>
                        </a:rPr>
                        <a:t>System Design </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27146" marR="27146" marT="20360" marB="203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r>
              <a:tr h="829056">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l" defTabSz="685800" rtl="0" eaLnBrk="1" fontAlgn="base" latinLnBrk="0" hangingPunct="1">
                        <a:lnSpc>
                          <a:spcPct val="107000"/>
                        </a:lnSpc>
                        <a:spcBef>
                          <a:spcPct val="0"/>
                        </a:spcBef>
                        <a:spcAft>
                          <a:spcPts val="75"/>
                        </a:spcAft>
                        <a:buClrTx/>
                        <a:buSzTx/>
                        <a:buFontTx/>
                        <a:buNone/>
                      </a:pPr>
                      <a:r>
                        <a:rPr lang="en-US" sz="1600" kern="1200" dirty="0" smtClean="0">
                          <a:solidFill>
                            <a:schemeClr val="tx1"/>
                          </a:solidFill>
                          <a:latin typeface="Times New Roman" panose="02020503050405090304" pitchFamily="18" charset="0"/>
                          <a:ea typeface="+mn-ea"/>
                          <a:cs typeface="Times New Roman" panose="02020503050405090304" pitchFamily="18" charset="0"/>
                        </a:rPr>
                        <a:t>Introduction to System Design </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73025" marR="73025" marT="47625" marB="476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R="0" lvl="0" indent="0" algn="l" defTabSz="685800" rtl="0" eaLnBrk="1" fontAlgn="base" latinLnBrk="0" hangingPunct="1">
                        <a:lnSpc>
                          <a:spcPct val="107000"/>
                        </a:lnSpc>
                        <a:spcBef>
                          <a:spcPct val="0"/>
                        </a:spcBef>
                        <a:spcAft>
                          <a:spcPts val="0"/>
                        </a:spcAft>
                        <a:buClrTx/>
                        <a:buSzTx/>
                        <a:buFontTx/>
                        <a:buNone/>
                      </a:pPr>
                      <a:r>
                        <a:rPr lang="en-US" sz="1600" b="0" kern="1200" dirty="0" smtClean="0">
                          <a:solidFill>
                            <a:schemeClr val="tx1"/>
                          </a:solidFill>
                          <a:latin typeface="Times New Roman" panose="02020503050405090304" pitchFamily="18" charset="0"/>
                          <a:ea typeface="+mn-ea"/>
                          <a:cs typeface="Times New Roman" panose="02020503050405090304" pitchFamily="18" charset="0"/>
                        </a:rPr>
                        <a:t>Introduction to System Design</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Functional &amp; Non-Functional Requirements, Scaling Challenges, Load Balancing, Caching Strategies, Replication,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Sharding.</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73025" marR="73025" marT="47625" marB="476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257062">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l" defTabSz="685800" rtl="0" eaLnBrk="1" fontAlgn="base" latinLnBrk="0" hangingPunct="1">
                        <a:lnSpc>
                          <a:spcPct val="107000"/>
                        </a:lnSpc>
                        <a:spcBef>
                          <a:spcPct val="0"/>
                        </a:spcBef>
                        <a:spcAft>
                          <a:spcPts val="75"/>
                        </a:spcAft>
                        <a:buClrTx/>
                        <a:buSzTx/>
                        <a:buFontTx/>
                        <a:buNone/>
                      </a:pPr>
                      <a:r>
                        <a:rPr lang="en-US" sz="1600" kern="1200" dirty="0" smtClean="0">
                          <a:solidFill>
                            <a:schemeClr val="tx1"/>
                          </a:solidFill>
                          <a:latin typeface="Times New Roman" panose="02020503050405090304" pitchFamily="18" charset="0"/>
                          <a:ea typeface="+mn-ea"/>
                          <a:cs typeface="Times New Roman" panose="02020503050405090304" pitchFamily="18" charset="0"/>
                        </a:rPr>
                        <a:t>Databases in System Design </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73025" marR="73025" marT="47625" marB="476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l" defTabSz="685800" rtl="0" eaLnBrk="1" fontAlgn="base" latinLnBrk="0" hangingPunct="1">
                        <a:lnSpc>
                          <a:spcPct val="107000"/>
                        </a:lnSpc>
                        <a:spcBef>
                          <a:spcPct val="0"/>
                        </a:spcBef>
                        <a:spcAft>
                          <a:spcPct val="0"/>
                        </a:spcAft>
                        <a:buClrTx/>
                        <a:buSzTx/>
                        <a:buFontTx/>
                        <a:buNone/>
                      </a:pPr>
                      <a:r>
                        <a:rPr lang="en-US" sz="1600" kern="1200" dirty="0" smtClean="0">
                          <a:solidFill>
                            <a:schemeClr val="tx1"/>
                          </a:solidFill>
                          <a:latin typeface="Times New Roman" panose="02020503050405090304" pitchFamily="18" charset="0"/>
                          <a:ea typeface="+mn-ea"/>
                          <a:cs typeface="Times New Roman" panose="02020503050405090304" pitchFamily="18" charset="0"/>
                        </a:rPr>
                        <a:t>Databases in System Design – SQL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vs</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NoSQL</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CAP Theorem, </a:t>
                      </a:r>
                      <a:r>
                        <a:rPr lang="en-US" sz="1600" b="1" kern="1200" dirty="0" smtClean="0">
                          <a:solidFill>
                            <a:srgbClr val="FF0000"/>
                          </a:solidFill>
                          <a:latin typeface="Times New Roman" panose="02020503050405090304" pitchFamily="18" charset="0"/>
                          <a:ea typeface="+mn-ea"/>
                          <a:cs typeface="Times New Roman" panose="02020503050405090304" pitchFamily="18" charset="0"/>
                        </a:rPr>
                        <a:t>Distributed Databases</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Consistency Models, Eventual Consistency, Distributed Caching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Redis</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Memcached</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High Availability, Fault Tolerance,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Microservices</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vs</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Monolithic Architecture.</a:t>
                      </a:r>
                      <a:endParaRPr kumimoji="0" lang="en-US" altLang="en-US" sz="1600" b="0" i="0" u="none" strike="noStrike" cap="none" normalizeH="0" baseline="0" dirty="0" smtClean="0">
                        <a:ln>
                          <a:noFill/>
                        </a:ln>
                        <a:solidFill>
                          <a:schemeClr val="tx1"/>
                        </a:solidFill>
                        <a:effectLst/>
                        <a:latin typeface="Times New Roman" panose="02020503050405090304" pitchFamily="18" charset="0"/>
                        <a:cs typeface="Times New Roman" panose="02020503050405090304" pitchFamily="18" charset="0"/>
                      </a:endParaRPr>
                    </a:p>
                  </a:txBody>
                  <a:tcPr marL="73025" marR="73025" marT="47625" marB="476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883525" cy="3048000"/>
          </a:xfrm>
          <a:prstGeom prst="rect">
            <a:avLst/>
          </a:prstGeom>
        </p:spPr>
        <p:txBody>
          <a:bodyPr vert="horz" wrap="square" lIns="0" tIns="9525" rIns="0" bIns="0" rtlCol="0">
            <a:noAutofit/>
          </a:bodyPr>
          <a:lstStyle/>
          <a:p>
            <a:pPr algn="just">
              <a:lnSpc>
                <a:spcPct val="150000"/>
              </a:lnSpc>
              <a:buFont typeface="Arial" pitchFamily="34" charset="0"/>
              <a:buChar char="•"/>
            </a:pPr>
            <a:r>
              <a:rPr lang="en-US" sz="1600" dirty="0" smtClean="0">
                <a:latin typeface="Times New Roman" pitchFamily="18" charset="0"/>
                <a:cs typeface="Times New Roman" pitchFamily="18" charset="0"/>
              </a:rPr>
              <a:t> A distributed database is a database that runs and stores data across multiple computers, as opposed to doing everything on a single machine. </a:t>
            </a:r>
          </a:p>
          <a:p>
            <a:pPr algn="just">
              <a:lnSpc>
                <a:spcPct val="150000"/>
              </a:lnSpc>
              <a:buFont typeface="Arial" pitchFamily="34" charset="0"/>
              <a:buChar char="•"/>
            </a:pPr>
            <a:r>
              <a:rPr lang="en-US" sz="1600" dirty="0" smtClean="0">
                <a:latin typeface="Times New Roman" pitchFamily="18" charset="0"/>
                <a:cs typeface="Times New Roman" pitchFamily="18" charset="0"/>
              </a:rPr>
              <a:t> Typically, distributed databases operate on two or more interconnected servers on a computer network. </a:t>
            </a:r>
          </a:p>
          <a:p>
            <a:pPr algn="just">
              <a:lnSpc>
                <a:spcPct val="150000"/>
              </a:lnSpc>
              <a:buFont typeface="Arial" pitchFamily="34" charset="0"/>
              <a:buChar char="•"/>
            </a:pPr>
            <a:r>
              <a:rPr lang="en-US" sz="1600" dirty="0" smtClean="0">
                <a:latin typeface="Times New Roman" pitchFamily="18" charset="0"/>
                <a:cs typeface="Times New Roman" pitchFamily="18" charset="0"/>
              </a:rPr>
              <a:t>  Each location where a version of the database is running is often called an instance or a node. </a:t>
            </a:r>
          </a:p>
          <a:p>
            <a:pPr algn="just">
              <a:lnSpc>
                <a:spcPct val="150000"/>
              </a:lnSpc>
              <a:buFont typeface="Arial" pitchFamily="34" charset="0"/>
              <a:buChar char="•"/>
            </a:pPr>
            <a:r>
              <a:rPr lang="en-US" sz="1600" dirty="0" smtClean="0">
                <a:latin typeface="Times New Roman" pitchFamily="18" charset="0"/>
                <a:cs typeface="Times New Roman" pitchFamily="18" charset="0"/>
              </a:rPr>
              <a:t> A distributed database is basically a database that is not limited to one system, it is spread over different sites, </a:t>
            </a:r>
            <a:r>
              <a:rPr lang="en-US" sz="1600" dirty="0" err="1" smtClean="0">
                <a:latin typeface="Times New Roman" pitchFamily="18" charset="0"/>
                <a:cs typeface="Times New Roman" pitchFamily="18" charset="0"/>
              </a:rPr>
              <a:t>i.e</a:t>
            </a:r>
            <a:r>
              <a:rPr lang="en-US" sz="1600" dirty="0" smtClean="0">
                <a:latin typeface="Times New Roman" pitchFamily="18" charset="0"/>
                <a:cs typeface="Times New Roman" pitchFamily="18" charset="0"/>
              </a:rPr>
              <a:t>, on multiple computers or over a network of computers.</a:t>
            </a:r>
          </a:p>
          <a:p>
            <a:pPr algn="just">
              <a:lnSpc>
                <a:spcPct val="150000"/>
              </a:lnSpc>
              <a:buFont typeface="Arial" pitchFamily="34" charset="0"/>
              <a:buChar char="•"/>
            </a:pPr>
            <a:r>
              <a:rPr lang="en-US" sz="1600" dirty="0" smtClean="0">
                <a:latin typeface="Times New Roman" pitchFamily="18" charset="0"/>
                <a:cs typeface="Times New Roman" pitchFamily="18" charset="0"/>
              </a:rPr>
              <a:t> A distributed database system is located on various sites that don’t share physical components.</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lang="en-IN" sz="2400" dirty="0" smtClean="0">
                <a:latin typeface="Times New Roman" pitchFamily="18" charset="0"/>
                <a:ea typeface="Calibri" panose="020F0502020204030204" pitchFamily="34" charset="0"/>
                <a:cs typeface="Times New Roman" pitchFamily="18" charset="0"/>
              </a:rPr>
              <a:t>Introduction to Distributed Databases</a:t>
            </a:r>
            <a:endParaRPr lang="en-US" sz="2400" b="1" spc="-10" dirty="0">
              <a:latin typeface="Times New Roman" panose="02020503050405090304" pitchFamily="18" charset="0"/>
              <a:cs typeface="Times New Roman" panose="02020503050405090304" pitchFamily="18" charset="0"/>
              <a:sym typeface="+mn-ea"/>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883525" cy="2057400"/>
          </a:xfrm>
          <a:prstGeom prst="rect">
            <a:avLst/>
          </a:prstGeom>
        </p:spPr>
        <p:txBody>
          <a:bodyPr vert="horz" wrap="square" lIns="0" tIns="9525" rIns="0" bIns="0" rtlCol="0">
            <a:noAutofit/>
          </a:bodyPr>
          <a:lstStyle/>
          <a:p>
            <a:pPr algn="just">
              <a:lnSpc>
                <a:spcPct val="150000"/>
              </a:lnSpc>
              <a:buFont typeface="Arial" pitchFamily="34" charset="0"/>
              <a:buChar char="•"/>
            </a:pPr>
            <a:r>
              <a:rPr lang="en-US" sz="1600" dirty="0" smtClean="0">
                <a:latin typeface="Times New Roman" pitchFamily="18" charset="0"/>
                <a:cs typeface="Times New Roman" pitchFamily="18" charset="0"/>
              </a:rPr>
              <a:t>  It is used in Corporate Management Information System. </a:t>
            </a:r>
          </a:p>
          <a:p>
            <a:pPr algn="just">
              <a:lnSpc>
                <a:spcPct val="150000"/>
              </a:lnSpc>
              <a:buFont typeface="Arial" pitchFamily="34" charset="0"/>
              <a:buChar char="•"/>
            </a:pPr>
            <a:r>
              <a:rPr lang="en-US" sz="1600" dirty="0" smtClean="0">
                <a:latin typeface="Times New Roman" pitchFamily="18" charset="0"/>
                <a:cs typeface="Times New Roman" pitchFamily="18" charset="0"/>
              </a:rPr>
              <a:t>  It is used in multimedia applications. </a:t>
            </a:r>
          </a:p>
          <a:p>
            <a:pPr algn="just">
              <a:lnSpc>
                <a:spcPct val="150000"/>
              </a:lnSpc>
              <a:buFont typeface="Arial" pitchFamily="34" charset="0"/>
              <a:buChar char="•"/>
            </a:pPr>
            <a:r>
              <a:rPr lang="en-US" sz="1600" dirty="0" smtClean="0">
                <a:latin typeface="Times New Roman" pitchFamily="18" charset="0"/>
                <a:cs typeface="Times New Roman" pitchFamily="18" charset="0"/>
              </a:rPr>
              <a:t>  Used in Military’s control system, Hotel chains etc. </a:t>
            </a:r>
          </a:p>
          <a:p>
            <a:pPr algn="just">
              <a:lnSpc>
                <a:spcPct val="150000"/>
              </a:lnSpc>
              <a:buFont typeface="Arial" pitchFamily="34" charset="0"/>
              <a:buChar char="•"/>
            </a:pPr>
            <a:r>
              <a:rPr lang="en-US" sz="1600" dirty="0" smtClean="0">
                <a:latin typeface="Times New Roman" pitchFamily="18" charset="0"/>
                <a:cs typeface="Times New Roman" pitchFamily="18" charset="0"/>
              </a:rPr>
              <a:t>  It is also used in manufacturing control system</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lang="en-US" sz="2400" dirty="0" smtClean="0">
                <a:latin typeface="Times New Roman" pitchFamily="18" charset="0"/>
                <a:cs typeface="Times New Roman" pitchFamily="18" charset="0"/>
              </a:rPr>
              <a:t>Applications / Uses of Distributed Database</a:t>
            </a:r>
            <a:endParaRPr lang="en-US" sz="2400" b="1" spc="-10" dirty="0">
              <a:latin typeface="Times New Roman" pitchFamily="18" charset="0"/>
              <a:cs typeface="Times New Roman" pitchFamily="18" charset="0"/>
              <a:sym typeface="+mn-ea"/>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883525" cy="1066800"/>
          </a:xfrm>
          <a:prstGeom prst="rect">
            <a:avLst/>
          </a:prstGeom>
        </p:spPr>
        <p:txBody>
          <a:bodyPr vert="horz" wrap="square" lIns="0" tIns="9525" rIns="0" bIns="0" rtlCol="0">
            <a:noAutofit/>
          </a:bodyPr>
          <a:lstStyle/>
          <a:p>
            <a:pPr algn="just">
              <a:lnSpc>
                <a:spcPct val="150000"/>
              </a:lnSpc>
            </a:pPr>
            <a:r>
              <a:rPr lang="en-US" sz="1600" dirty="0" smtClean="0">
                <a:latin typeface="Times New Roman" pitchFamily="18" charset="0"/>
                <a:cs typeface="Times New Roman" pitchFamily="18" charset="0"/>
              </a:rPr>
              <a:t>There are two types of distributed databases:</a:t>
            </a:r>
          </a:p>
          <a:p>
            <a:pPr algn="just">
              <a:lnSpc>
                <a:spcPct val="150000"/>
              </a:lnSpc>
              <a:buFont typeface="Arial" pitchFamily="34" charset="0"/>
              <a:buChar char="•"/>
            </a:pPr>
            <a:r>
              <a:rPr lang="en-US" sz="1600" dirty="0" smtClean="0">
                <a:latin typeface="Times New Roman" pitchFamily="18" charset="0"/>
                <a:cs typeface="Times New Roman" pitchFamily="18" charset="0"/>
              </a:rPr>
              <a:t>  Homogenous</a:t>
            </a:r>
          </a:p>
          <a:p>
            <a:pPr algn="just">
              <a:lnSpc>
                <a:spcPct val="150000"/>
              </a:lnSpc>
              <a:buFont typeface="Arial" pitchFamily="34" charset="0"/>
              <a:buChar char="•"/>
            </a:pPr>
            <a:r>
              <a:rPr lang="en-US" sz="1600" dirty="0" smtClean="0">
                <a:latin typeface="Times New Roman" pitchFamily="18" charset="0"/>
                <a:cs typeface="Times New Roman" pitchFamily="18" charset="0"/>
              </a:rPr>
              <a:t>  Heterogeneous</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lang="en-US" sz="2400" dirty="0" smtClean="0">
                <a:latin typeface="Times New Roman" pitchFamily="18" charset="0"/>
                <a:cs typeface="Times New Roman" pitchFamily="18" charset="0"/>
              </a:rPr>
              <a:t>Distributed Database Types</a:t>
            </a:r>
            <a:endParaRPr lang="en-US" sz="2400" b="1" spc="-10" dirty="0">
              <a:latin typeface="Times New Roman" pitchFamily="18" charset="0"/>
              <a:cs typeface="Times New Roman" pitchFamily="18" charset="0"/>
              <a:sym typeface="+mn-ea"/>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3794" name="Picture 2" descr="https://www.tutorialspoint.com/assets/questions/media/680861-1689238739.jpeg"/>
          <p:cNvPicPr>
            <a:picLocks noChangeAspect="1" noChangeArrowheads="1"/>
          </p:cNvPicPr>
          <p:nvPr/>
        </p:nvPicPr>
        <p:blipFill>
          <a:blip r:embed="rId2" cstate="print"/>
          <a:srcRect/>
          <a:stretch>
            <a:fillRect/>
          </a:stretch>
        </p:blipFill>
        <p:spPr bwMode="auto">
          <a:xfrm>
            <a:off x="4953000" y="1276350"/>
            <a:ext cx="3260725" cy="31242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1" y="1123950"/>
            <a:ext cx="4114800" cy="3048000"/>
          </a:xfrm>
          <a:prstGeom prst="rect">
            <a:avLst/>
          </a:prstGeom>
        </p:spPr>
        <p:txBody>
          <a:bodyPr vert="horz" wrap="square" lIns="0" tIns="9525" rIns="0" bIns="0" rtlCol="0">
            <a:noAutofit/>
          </a:bodyPr>
          <a:lstStyle/>
          <a:p>
            <a:pPr algn="just">
              <a:lnSpc>
                <a:spcPct val="150000"/>
              </a:lnSpc>
              <a:buFont typeface="Arial" pitchFamily="34" charset="0"/>
              <a:buChar char="•"/>
            </a:pPr>
            <a:r>
              <a:rPr lang="en-US" sz="1600" dirty="0" smtClean="0">
                <a:latin typeface="Times New Roman" pitchFamily="18" charset="0"/>
                <a:cs typeface="Times New Roman" pitchFamily="18" charset="0"/>
              </a:rPr>
              <a:t> In </a:t>
            </a:r>
            <a:r>
              <a:rPr lang="en-US" sz="1600" dirty="0">
                <a:latin typeface="Times New Roman" pitchFamily="18" charset="0"/>
                <a:cs typeface="Times New Roman" pitchFamily="18" charset="0"/>
              </a:rPr>
              <a:t>a homogeneous database, all different sites store database identically. The operating system, database management system, and the data structures used all are the same at all sites. Hence, they're easy to manage.</a:t>
            </a: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a:defRPr/>
            </a:pPr>
            <a:r>
              <a:rPr lang="en-US" sz="2400" dirty="0" smtClean="0"/>
              <a:t>Homogeneous </a:t>
            </a:r>
            <a:r>
              <a:rPr lang="en-US" sz="2400" dirty="0" smtClean="0">
                <a:latin typeface="Times New Roman" pitchFamily="18" charset="0"/>
                <a:cs typeface="Times New Roman" pitchFamily="18" charset="0"/>
              </a:rPr>
              <a:t>Database</a:t>
            </a:r>
            <a:r>
              <a:rPr lang="en-US" sz="2400" dirty="0" smtClean="0"/>
              <a:t>: </a:t>
            </a:r>
          </a:p>
          <a:p>
            <a:pPr algn="l" fontAlgn="auto">
              <a:spcAft>
                <a:spcPts val="0"/>
              </a:spcAft>
              <a:defRPr/>
            </a:pPr>
            <a:endParaRPr lang="en-US" sz="2400" b="1" spc="-10" dirty="0">
              <a:latin typeface="Times New Roman" pitchFamily="18" charset="0"/>
              <a:cs typeface="Times New Roman" pitchFamily="18" charset="0"/>
              <a:sym typeface="+mn-ea"/>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1506" name="AutoShape 2" descr="Homogeneous Distributed Database (Self Creation) | Download Scientific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1511" name="Picture 7"/>
          <p:cNvPicPr>
            <a:picLocks noChangeAspect="1" noChangeArrowheads="1"/>
          </p:cNvPicPr>
          <p:nvPr/>
        </p:nvPicPr>
        <p:blipFill>
          <a:blip r:embed="rId2" cstate="print"/>
          <a:srcRect/>
          <a:stretch>
            <a:fillRect/>
          </a:stretch>
        </p:blipFill>
        <p:spPr bwMode="auto">
          <a:xfrm>
            <a:off x="5029200" y="1276350"/>
            <a:ext cx="3743325" cy="32004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1" y="1123950"/>
            <a:ext cx="4114800" cy="3276600"/>
          </a:xfrm>
          <a:prstGeom prst="rect">
            <a:avLst/>
          </a:prstGeom>
        </p:spPr>
        <p:txBody>
          <a:bodyPr vert="horz" wrap="square" lIns="0" tIns="9525" rIns="0" bIns="0" rtlCol="0">
            <a:noAutofit/>
          </a:bodyPr>
          <a:lstStyle/>
          <a:p>
            <a:pPr algn="just">
              <a:lnSpc>
                <a:spcPct val="150000"/>
              </a:lnSpc>
            </a:pPr>
            <a:r>
              <a:rPr lang="en-US" sz="1600" dirty="0" smtClean="0">
                <a:latin typeface="Times New Roman" pitchFamily="18" charset="0"/>
                <a:cs typeface="Times New Roman" pitchFamily="18" charset="0"/>
              </a:rPr>
              <a:t>Contrary </a:t>
            </a:r>
            <a:r>
              <a:rPr lang="en-US" sz="1600" dirty="0">
                <a:latin typeface="Times New Roman" pitchFamily="18" charset="0"/>
                <a:cs typeface="Times New Roman" pitchFamily="18" charset="0"/>
              </a:rPr>
              <a:t>to homogeneous databases, heterogeneous databases allow nodes in a distributed system to use different DBMS software or possess varying database schemas. This approach caters to diverse requirements and facilitates seamless integration between nodes employing different technologies. Let's explore the characteristics and steps involved in setting up a heterogeneous database.</a:t>
            </a: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a:defRPr/>
            </a:pPr>
            <a:r>
              <a:rPr lang="en-US" sz="2400" dirty="0" smtClean="0">
                <a:latin typeface="Times New Roman" pitchFamily="18" charset="0"/>
                <a:cs typeface="Times New Roman" pitchFamily="18" charset="0"/>
              </a:rPr>
              <a:t>Heterogeneous Database</a:t>
            </a:r>
            <a:r>
              <a:rPr lang="en-US" sz="2400" dirty="0" smtClean="0"/>
              <a:t>: </a:t>
            </a:r>
          </a:p>
          <a:p>
            <a:pPr algn="l" fontAlgn="auto">
              <a:spcAft>
                <a:spcPts val="0"/>
              </a:spcAft>
              <a:defRPr/>
            </a:pPr>
            <a:endParaRPr lang="en-US" sz="2400" b="1" spc="-10" dirty="0">
              <a:latin typeface="Times New Roman" pitchFamily="18" charset="0"/>
              <a:cs typeface="Times New Roman" pitchFamily="18" charset="0"/>
              <a:sym typeface="+mn-ea"/>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2" name="Picture 11" descr="WhatsApp Image 2025-12-03 at 3.09.19 AM.jpeg"/>
          <p:cNvPicPr>
            <a:picLocks noChangeAspect="1"/>
          </p:cNvPicPr>
          <p:nvPr/>
        </p:nvPicPr>
        <p:blipFill>
          <a:blip r:embed="rId2" cstate="print"/>
          <a:stretch>
            <a:fillRect/>
          </a:stretch>
        </p:blipFill>
        <p:spPr>
          <a:xfrm>
            <a:off x="5105400" y="1200150"/>
            <a:ext cx="3429000" cy="3352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1" y="1123950"/>
            <a:ext cx="4114800" cy="3276600"/>
          </a:xfrm>
          <a:prstGeom prst="rect">
            <a:avLst/>
          </a:prstGeom>
        </p:spPr>
        <p:txBody>
          <a:bodyPr vert="horz" wrap="square" lIns="0" tIns="9525" rIns="0" bIns="0" rtlCol="0">
            <a:noAutofit/>
          </a:bodyPr>
          <a:lstStyle/>
          <a:p>
            <a:pPr algn="just">
              <a:lnSpc>
                <a:spcPct val="150000"/>
              </a:lnSpc>
            </a:pPr>
            <a:r>
              <a:rPr lang="en-US" sz="1600" dirty="0" smtClean="0"/>
              <a:t>Distributed database storage is managed in two ways: </a:t>
            </a:r>
          </a:p>
          <a:p>
            <a:pPr algn="just">
              <a:lnSpc>
                <a:spcPct val="150000"/>
              </a:lnSpc>
              <a:buFont typeface="Arial" pitchFamily="34" charset="0"/>
              <a:buChar char="•"/>
            </a:pPr>
            <a:r>
              <a:rPr lang="en-US" sz="1600" dirty="0" smtClean="0"/>
              <a:t> Replication </a:t>
            </a:r>
          </a:p>
          <a:p>
            <a:pPr algn="just">
              <a:lnSpc>
                <a:spcPct val="150000"/>
              </a:lnSpc>
              <a:buFont typeface="Arial" pitchFamily="34" charset="0"/>
              <a:buChar char="•"/>
            </a:pPr>
            <a:r>
              <a:rPr lang="en-US" sz="1600" dirty="0" smtClean="0"/>
              <a:t> Fragmentation</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a:defRPr/>
            </a:pPr>
            <a:r>
              <a:rPr lang="en-US" sz="2400" dirty="0" smtClean="0">
                <a:latin typeface="Times New Roman" pitchFamily="18" charset="0"/>
                <a:cs typeface="Times New Roman" pitchFamily="18" charset="0"/>
              </a:rPr>
              <a:t>Distributed Database Storage</a:t>
            </a:r>
            <a:endParaRPr lang="en-US" sz="2400" b="1" spc="-10" dirty="0">
              <a:latin typeface="Times New Roman" pitchFamily="18" charset="0"/>
              <a:cs typeface="Times New Roman" pitchFamily="18" charset="0"/>
              <a:sym typeface="+mn-ea"/>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1" y="1123950"/>
            <a:ext cx="4114800" cy="3276600"/>
          </a:xfrm>
          <a:prstGeom prst="rect">
            <a:avLst/>
          </a:prstGeom>
        </p:spPr>
        <p:txBody>
          <a:bodyPr vert="horz" wrap="square" lIns="0" tIns="9525" rIns="0" bIns="0" rtlCol="0">
            <a:noAutofit/>
          </a:bodyPr>
          <a:lstStyle/>
          <a:p>
            <a:pPr algn="just">
              <a:lnSpc>
                <a:spcPct val="150000"/>
              </a:lnSpc>
            </a:pPr>
            <a:r>
              <a:rPr lang="en-US" sz="1600" dirty="0" smtClean="0">
                <a:latin typeface="Times New Roman" pitchFamily="18" charset="0"/>
                <a:cs typeface="Times New Roman" pitchFamily="18" charset="0"/>
              </a:rPr>
              <a:t>In database replication, the systems store copies of data on different sites. If an entire database is available on multiple sites, it is a fully redundant database. </a:t>
            </a:r>
          </a:p>
          <a:p>
            <a:pPr algn="just">
              <a:lnSpc>
                <a:spcPct val="150000"/>
              </a:lnSpc>
            </a:pPr>
            <a:r>
              <a:rPr lang="en-US" sz="1600" dirty="0" smtClean="0">
                <a:latin typeface="Times New Roman" pitchFamily="18" charset="0"/>
                <a:cs typeface="Times New Roman" pitchFamily="18" charset="0"/>
              </a:rPr>
              <a:t> The advantage of database replication is that it increases data availability on different sites and allows for parallel query requests to be processed. </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a:defRPr/>
            </a:pPr>
            <a:r>
              <a:rPr lang="en-US" sz="2400" dirty="0" smtClean="0">
                <a:latin typeface="Times New Roman" pitchFamily="18" charset="0"/>
                <a:cs typeface="Times New Roman" pitchFamily="18" charset="0"/>
              </a:rPr>
              <a:t>Replication</a:t>
            </a:r>
            <a:endParaRPr lang="en-US" sz="2400" b="1" spc="-10" dirty="0">
              <a:latin typeface="Times New Roman" pitchFamily="18" charset="0"/>
              <a:cs typeface="Times New Roman" pitchFamily="18" charset="0"/>
              <a:sym typeface="+mn-ea"/>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 name="Picture 9" descr="relica.PNG"/>
          <p:cNvPicPr>
            <a:picLocks noChangeAspect="1"/>
          </p:cNvPicPr>
          <p:nvPr/>
        </p:nvPicPr>
        <p:blipFill>
          <a:blip r:embed="rId2" cstate="print"/>
          <a:stretch>
            <a:fillRect/>
          </a:stretch>
        </p:blipFill>
        <p:spPr>
          <a:xfrm>
            <a:off x="5105400" y="1276350"/>
            <a:ext cx="3581400" cy="2971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1" y="1123950"/>
            <a:ext cx="4114800" cy="3276600"/>
          </a:xfrm>
          <a:prstGeom prst="rect">
            <a:avLst/>
          </a:prstGeom>
        </p:spPr>
        <p:txBody>
          <a:bodyPr vert="horz" wrap="square" lIns="0" tIns="9525" rIns="0" bIns="0" rtlCol="0">
            <a:noAutofit/>
          </a:bodyPr>
          <a:lstStyle/>
          <a:p>
            <a:pPr algn="just">
              <a:lnSpc>
                <a:spcPct val="150000"/>
              </a:lnSpc>
              <a:buFont typeface="Arial" pitchFamily="34" charset="0"/>
              <a:buChar char="•"/>
            </a:pPr>
            <a:r>
              <a:rPr lang="en-US" sz="1600" dirty="0" smtClean="0">
                <a:latin typeface="Times New Roman" pitchFamily="18" charset="0"/>
                <a:cs typeface="Times New Roman" pitchFamily="18" charset="0"/>
              </a:rPr>
              <a:t> When it comes to fragmentation of distributed database storage, the relations are fragmented, which means they are split into smaller parts. Each of the fragments are stored on a different site, where it is required. </a:t>
            </a:r>
          </a:p>
          <a:p>
            <a:pPr algn="just">
              <a:lnSpc>
                <a:spcPct val="150000"/>
              </a:lnSpc>
              <a:buFont typeface="Arial" pitchFamily="34" charset="0"/>
              <a:buChar char="•"/>
            </a:pPr>
            <a:r>
              <a:rPr lang="en-US" sz="1600" dirty="0" smtClean="0">
                <a:latin typeface="Times New Roman" pitchFamily="18" charset="0"/>
                <a:cs typeface="Times New Roman" pitchFamily="18" charset="0"/>
              </a:rPr>
              <a:t> The prerequisite for fragmentation is to make sure that the fragments can later be reconstructed into the original relation without losing data. </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a:defRPr/>
            </a:pPr>
            <a:r>
              <a:rPr lang="en-US" sz="2400" dirty="0" smtClean="0">
                <a:latin typeface="Times New Roman" pitchFamily="18" charset="0"/>
                <a:cs typeface="Times New Roman" pitchFamily="18" charset="0"/>
              </a:rPr>
              <a:t>Fragmentation</a:t>
            </a:r>
            <a:endParaRPr lang="en-US" sz="2400" b="1" spc="-10" dirty="0">
              <a:latin typeface="Times New Roman" pitchFamily="18" charset="0"/>
              <a:cs typeface="Times New Roman" pitchFamily="18" charset="0"/>
              <a:sym typeface="+mn-ea"/>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1" name="Picture 10" descr="fragemen.PNG"/>
          <p:cNvPicPr>
            <a:picLocks noChangeAspect="1"/>
          </p:cNvPicPr>
          <p:nvPr/>
        </p:nvPicPr>
        <p:blipFill>
          <a:blip r:embed="rId2" cstate="print"/>
          <a:stretch>
            <a:fillRect/>
          </a:stretch>
        </p:blipFill>
        <p:spPr>
          <a:xfrm>
            <a:off x="4953000" y="1256882"/>
            <a:ext cx="3886200" cy="276266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391400" cy="3276600"/>
          </a:xfrm>
          <a:prstGeom prst="rect">
            <a:avLst/>
          </a:prstGeom>
        </p:spPr>
        <p:txBody>
          <a:bodyPr vert="horz" wrap="square" lIns="0" tIns="9525" rIns="0" bIns="0" rtlCol="0">
            <a:noAutofit/>
          </a:bodyPr>
          <a:lstStyle/>
          <a:p>
            <a:pPr algn="just">
              <a:lnSpc>
                <a:spcPct val="150000"/>
              </a:lnSpc>
              <a:buFont typeface="Arial" pitchFamily="34" charset="0"/>
              <a:buChar char="•"/>
            </a:pPr>
            <a:r>
              <a:rPr lang="en-US" sz="1600" dirty="0" smtClean="0">
                <a:latin typeface="Times New Roman" pitchFamily="18" charset="0"/>
                <a:cs typeface="Times New Roman" pitchFamily="18" charset="0"/>
              </a:rPr>
              <a:t> </a:t>
            </a:r>
            <a:r>
              <a:rPr lang="en-US" sz="1600" b="1" dirty="0" smtClean="0">
                <a:latin typeface="Times New Roman" pitchFamily="18" charset="0"/>
                <a:cs typeface="Times New Roman" pitchFamily="18" charset="0"/>
              </a:rPr>
              <a:t>Costly Software. </a:t>
            </a:r>
            <a:r>
              <a:rPr lang="en-US" sz="1600" dirty="0" smtClean="0">
                <a:latin typeface="Times New Roman" pitchFamily="18" charset="0"/>
                <a:cs typeface="Times New Roman" pitchFamily="18" charset="0"/>
              </a:rPr>
              <a:t>Ensuring data transparency and coordination across multiple sites often requires using expensive software in a distributed database system. </a:t>
            </a:r>
          </a:p>
          <a:p>
            <a:pPr algn="just">
              <a:lnSpc>
                <a:spcPct val="150000"/>
              </a:lnSpc>
              <a:buFont typeface="Arial" pitchFamily="34" charset="0"/>
              <a:buChar char="•"/>
            </a:pPr>
            <a:r>
              <a:rPr lang="en-US" sz="1600" dirty="0" smtClean="0">
                <a:latin typeface="Times New Roman" pitchFamily="18" charset="0"/>
                <a:cs typeface="Times New Roman" pitchFamily="18" charset="0"/>
              </a:rPr>
              <a:t> </a:t>
            </a:r>
            <a:r>
              <a:rPr lang="en-US" sz="1600" b="1" dirty="0" smtClean="0">
                <a:latin typeface="Times New Roman" pitchFamily="18" charset="0"/>
                <a:cs typeface="Times New Roman" pitchFamily="18" charset="0"/>
              </a:rPr>
              <a:t>Large Overhead. </a:t>
            </a:r>
            <a:r>
              <a:rPr lang="en-US" sz="1600" dirty="0" smtClean="0">
                <a:latin typeface="Times New Roman" pitchFamily="18" charset="0"/>
                <a:cs typeface="Times New Roman" pitchFamily="18" charset="0"/>
              </a:rPr>
              <a:t>Many operations on multiple sites requires numerous calculations and constant synchronization when database replication is used, causing a lot of processing overhead. </a:t>
            </a:r>
          </a:p>
          <a:p>
            <a:pPr algn="just">
              <a:lnSpc>
                <a:spcPct val="150000"/>
              </a:lnSpc>
              <a:buFont typeface="Arial" pitchFamily="34" charset="0"/>
              <a:buChar char="•"/>
            </a:pPr>
            <a:r>
              <a:rPr lang="en-US" sz="1600" dirty="0" smtClean="0">
                <a:latin typeface="Times New Roman" pitchFamily="18" charset="0"/>
                <a:cs typeface="Times New Roman" pitchFamily="18" charset="0"/>
              </a:rPr>
              <a:t> </a:t>
            </a:r>
            <a:r>
              <a:rPr lang="en-US" sz="1600" b="1" dirty="0" smtClean="0">
                <a:latin typeface="Times New Roman" pitchFamily="18" charset="0"/>
                <a:cs typeface="Times New Roman" pitchFamily="18" charset="0"/>
              </a:rPr>
              <a:t>Data Integrity. </a:t>
            </a:r>
            <a:r>
              <a:rPr lang="en-US" sz="1600" dirty="0" smtClean="0">
                <a:latin typeface="Times New Roman" pitchFamily="18" charset="0"/>
                <a:cs typeface="Times New Roman" pitchFamily="18" charset="0"/>
              </a:rPr>
              <a:t>A possible issue when using database replication is data integrity, which is compromised by updating data at multiple sites.</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a:defRPr/>
            </a:pPr>
            <a:r>
              <a:rPr lang="en-US" sz="2400" dirty="0" smtClean="0">
                <a:latin typeface="Times New Roman" pitchFamily="18" charset="0"/>
                <a:cs typeface="Times New Roman" pitchFamily="18" charset="0"/>
              </a:rPr>
              <a:t>Issues of Distributed Databases</a:t>
            </a:r>
            <a:endParaRPr lang="en-US" sz="2400" b="1" spc="-10" dirty="0">
              <a:latin typeface="Times New Roman" pitchFamily="18" charset="0"/>
              <a:cs typeface="Times New Roman" pitchFamily="18" charset="0"/>
              <a:sym typeface="+mn-ea"/>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a:defRPr/>
            </a:pPr>
            <a:r>
              <a:rPr lang="en-US" sz="2400" dirty="0" smtClean="0">
                <a:latin typeface="Times New Roman" pitchFamily="18" charset="0"/>
                <a:cs typeface="Times New Roman" pitchFamily="18" charset="0"/>
              </a:rPr>
              <a:t>Centralized Database Vs Distributed Database</a:t>
            </a:r>
            <a:endParaRPr lang="en-US" sz="2400" b="1" spc="-10" dirty="0">
              <a:latin typeface="Times New Roman" pitchFamily="18" charset="0"/>
              <a:cs typeface="Times New Roman" pitchFamily="18" charset="0"/>
              <a:sym typeface="+mn-ea"/>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10" name="Table 9"/>
          <p:cNvGraphicFramePr>
            <a:graphicFrameLocks noGrp="1"/>
          </p:cNvGraphicFramePr>
          <p:nvPr/>
        </p:nvGraphicFramePr>
        <p:xfrm>
          <a:off x="914400" y="1123950"/>
          <a:ext cx="7620000" cy="2722880"/>
        </p:xfrm>
        <a:graphic>
          <a:graphicData uri="http://schemas.openxmlformats.org/drawingml/2006/table">
            <a:tbl>
              <a:tblPr firstRow="1" bandRow="1">
                <a:tableStyleId>{5C22544A-7EE6-4342-B048-85BDC9FD1C3A}</a:tableStyleId>
              </a:tblPr>
              <a:tblGrid>
                <a:gridCol w="3810000"/>
                <a:gridCol w="3810000"/>
              </a:tblGrid>
              <a:tr h="370840">
                <a:tc>
                  <a:txBody>
                    <a:bodyPr/>
                    <a:lstStyle/>
                    <a:p>
                      <a:endParaRPr lang="en-US" sz="1600" dirty="0">
                        <a:solidFill>
                          <a:schemeClr val="tx1"/>
                        </a:solidFill>
                        <a:latin typeface="Times New Roman" pitchFamily="18" charset="0"/>
                        <a:cs typeface="Times New Roman" pitchFamily="18" charset="0"/>
                      </a:endParaRPr>
                    </a:p>
                  </a:txBody>
                  <a:tcPr/>
                </a:tc>
                <a:tc>
                  <a:txBody>
                    <a:bodyPr/>
                    <a:lstStyle/>
                    <a:p>
                      <a:r>
                        <a:rPr lang="en-US" sz="1600" dirty="0" smtClean="0">
                          <a:solidFill>
                            <a:schemeClr val="tx1"/>
                          </a:solidFill>
                          <a:latin typeface="Times New Roman" pitchFamily="18" charset="0"/>
                          <a:cs typeface="Times New Roman" pitchFamily="18" charset="0"/>
                        </a:rPr>
                        <a:t>Distributed Database</a:t>
                      </a:r>
                      <a:endParaRPr lang="en-US" sz="1600" dirty="0">
                        <a:solidFill>
                          <a:schemeClr val="tx1"/>
                        </a:solidFill>
                        <a:latin typeface="Times New Roman" pitchFamily="18" charset="0"/>
                        <a:cs typeface="Times New Roman" pitchFamily="18" charset="0"/>
                      </a:endParaRPr>
                    </a:p>
                  </a:txBody>
                  <a:tcPr/>
                </a:tc>
              </a:tr>
              <a:tr h="370840">
                <a:tc>
                  <a:txBody>
                    <a:bodyPr/>
                    <a:lstStyle/>
                    <a:p>
                      <a:r>
                        <a:rPr lang="en-US" sz="1600" dirty="0" smtClean="0">
                          <a:solidFill>
                            <a:schemeClr val="tx1"/>
                          </a:solidFill>
                          <a:latin typeface="Times New Roman" pitchFamily="18" charset="0"/>
                          <a:cs typeface="Times New Roman" pitchFamily="18" charset="0"/>
                        </a:rPr>
                        <a:t>In Centralized DBMS the database are stored in a only one site </a:t>
                      </a:r>
                      <a:endParaRPr lang="en-US" sz="1600" dirty="0">
                        <a:solidFill>
                          <a:schemeClr val="tx1"/>
                        </a:solidFill>
                        <a:latin typeface="Times New Roman" pitchFamily="18" charset="0"/>
                        <a:cs typeface="Times New Roman" pitchFamily="18" charset="0"/>
                      </a:endParaRPr>
                    </a:p>
                  </a:txBody>
                  <a:tcPr/>
                </a:tc>
                <a:tc>
                  <a:txBody>
                    <a:bodyPr/>
                    <a:lstStyle/>
                    <a:p>
                      <a:r>
                        <a:rPr lang="en-US" sz="1600" dirty="0" smtClean="0">
                          <a:solidFill>
                            <a:schemeClr val="tx1"/>
                          </a:solidFill>
                          <a:latin typeface="Times New Roman" pitchFamily="18" charset="0"/>
                          <a:cs typeface="Times New Roman" pitchFamily="18" charset="0"/>
                        </a:rPr>
                        <a:t>In Distributed DBMS the database are stored in different site and help of network it can access it </a:t>
                      </a:r>
                      <a:endParaRPr lang="en-US" sz="1600" dirty="0">
                        <a:solidFill>
                          <a:schemeClr val="tx1"/>
                        </a:solidFill>
                        <a:latin typeface="Times New Roman" pitchFamily="18" charset="0"/>
                        <a:cs typeface="Times New Roman" pitchFamily="18" charset="0"/>
                      </a:endParaRPr>
                    </a:p>
                  </a:txBody>
                  <a:tcPr/>
                </a:tc>
              </a:tr>
              <a:tr h="370840">
                <a:tc>
                  <a:txBody>
                    <a:bodyPr/>
                    <a:lstStyle/>
                    <a:p>
                      <a:r>
                        <a:rPr lang="en-US" sz="1600" dirty="0" smtClean="0">
                          <a:solidFill>
                            <a:schemeClr val="tx1"/>
                          </a:solidFill>
                          <a:latin typeface="Times New Roman" pitchFamily="18" charset="0"/>
                          <a:cs typeface="Times New Roman" pitchFamily="18" charset="0"/>
                        </a:rPr>
                        <a:t>Database is maintained at one site </a:t>
                      </a:r>
                      <a:endParaRPr lang="en-US" sz="1600" dirty="0">
                        <a:solidFill>
                          <a:schemeClr val="tx1"/>
                        </a:solidFill>
                        <a:latin typeface="Times New Roman" pitchFamily="18" charset="0"/>
                        <a:cs typeface="Times New Roman" pitchFamily="18" charset="0"/>
                      </a:endParaRPr>
                    </a:p>
                  </a:txBody>
                  <a:tcPr/>
                </a:tc>
                <a:tc>
                  <a:txBody>
                    <a:bodyPr/>
                    <a:lstStyle/>
                    <a:p>
                      <a:r>
                        <a:rPr lang="en-US" sz="1600" dirty="0" smtClean="0">
                          <a:solidFill>
                            <a:schemeClr val="tx1"/>
                          </a:solidFill>
                          <a:latin typeface="Times New Roman" pitchFamily="18" charset="0"/>
                          <a:cs typeface="Times New Roman" pitchFamily="18" charset="0"/>
                        </a:rPr>
                        <a:t>Database is maintained at a number of different sites </a:t>
                      </a:r>
                      <a:endParaRPr lang="en-US" sz="1600" dirty="0">
                        <a:solidFill>
                          <a:schemeClr val="tx1"/>
                        </a:solidFill>
                        <a:latin typeface="Times New Roman" pitchFamily="18" charset="0"/>
                        <a:cs typeface="Times New Roman" pitchFamily="18" charset="0"/>
                      </a:endParaRPr>
                    </a:p>
                  </a:txBody>
                  <a:tcPr/>
                </a:tc>
              </a:tr>
              <a:tr h="370840">
                <a:tc>
                  <a:txBody>
                    <a:bodyPr/>
                    <a:lstStyle/>
                    <a:p>
                      <a:r>
                        <a:rPr lang="en-US" sz="1600" dirty="0" smtClean="0">
                          <a:solidFill>
                            <a:schemeClr val="tx1"/>
                          </a:solidFill>
                          <a:latin typeface="Times New Roman" pitchFamily="18" charset="0"/>
                          <a:cs typeface="Times New Roman" pitchFamily="18" charset="0"/>
                        </a:rPr>
                        <a:t>If centralized system fails, entire system is halted </a:t>
                      </a:r>
                      <a:endParaRPr lang="en-US" sz="1600" dirty="0">
                        <a:solidFill>
                          <a:schemeClr val="tx1"/>
                        </a:solidFill>
                        <a:latin typeface="Times New Roman" pitchFamily="18" charset="0"/>
                        <a:cs typeface="Times New Roman" pitchFamily="18" charset="0"/>
                      </a:endParaRPr>
                    </a:p>
                  </a:txBody>
                  <a:tcPr/>
                </a:tc>
                <a:tc>
                  <a:txBody>
                    <a:bodyPr/>
                    <a:lstStyle/>
                    <a:p>
                      <a:r>
                        <a:rPr lang="en-US" sz="1600" dirty="0" smtClean="0">
                          <a:solidFill>
                            <a:schemeClr val="tx1"/>
                          </a:solidFill>
                          <a:latin typeface="Times New Roman" pitchFamily="18" charset="0"/>
                          <a:cs typeface="Times New Roman" pitchFamily="18" charset="0"/>
                        </a:rPr>
                        <a:t>If one system fails, system continues work with other site </a:t>
                      </a:r>
                      <a:endParaRPr lang="en-US" sz="1600" dirty="0">
                        <a:solidFill>
                          <a:schemeClr val="tx1"/>
                        </a:solidFill>
                        <a:latin typeface="Times New Roman" pitchFamily="18" charset="0"/>
                        <a:cs typeface="Times New Roman" pitchFamily="18" charset="0"/>
                      </a:endParaRPr>
                    </a:p>
                  </a:txBody>
                  <a:tcPr/>
                </a:tc>
              </a:tr>
              <a:tr h="370840">
                <a:tc>
                  <a:txBody>
                    <a:bodyPr/>
                    <a:lstStyle/>
                    <a:p>
                      <a:r>
                        <a:rPr lang="en-US" sz="1600" dirty="0" smtClean="0">
                          <a:solidFill>
                            <a:schemeClr val="tx1"/>
                          </a:solidFill>
                          <a:latin typeface="Times New Roman" pitchFamily="18" charset="0"/>
                          <a:cs typeface="Times New Roman" pitchFamily="18" charset="0"/>
                        </a:rPr>
                        <a:t>It is a less reliable </a:t>
                      </a:r>
                      <a:endParaRPr lang="en-US" sz="1600" dirty="0">
                        <a:solidFill>
                          <a:schemeClr val="tx1"/>
                        </a:solidFill>
                        <a:latin typeface="Times New Roman" pitchFamily="18" charset="0"/>
                        <a:cs typeface="Times New Roman" pitchFamily="18" charset="0"/>
                      </a:endParaRPr>
                    </a:p>
                  </a:txBody>
                  <a:tcPr/>
                </a:tc>
                <a:tc>
                  <a:txBody>
                    <a:bodyPr/>
                    <a:lstStyle/>
                    <a:p>
                      <a:r>
                        <a:rPr lang="en-US" sz="1600" dirty="0" smtClean="0">
                          <a:solidFill>
                            <a:schemeClr val="tx1"/>
                          </a:solidFill>
                          <a:latin typeface="Times New Roman" pitchFamily="18" charset="0"/>
                          <a:cs typeface="Times New Roman" pitchFamily="18" charset="0"/>
                        </a:rPr>
                        <a:t>It is a more reliable </a:t>
                      </a:r>
                      <a:endParaRPr lang="en-US" sz="1600" dirty="0">
                        <a:solidFill>
                          <a:schemeClr val="tx1"/>
                        </a:solidFill>
                        <a:latin typeface="Times New Roman" pitchFamily="18" charset="0"/>
                        <a:cs typeface="Times New Roman" pitchFamily="18" charset="0"/>
                      </a:endParaRPr>
                    </a:p>
                  </a:txBody>
                  <a:tcPr/>
                </a:tc>
              </a:tr>
            </a:tbl>
          </a:graphicData>
        </a:graphic>
      </p:graphicFrame>
      <p:sp>
        <p:nvSpPr>
          <p:cNvPr id="11" name="Rectangle 10"/>
          <p:cNvSpPr/>
          <p:nvPr/>
        </p:nvSpPr>
        <p:spPr>
          <a:xfrm>
            <a:off x="1752600" y="1123950"/>
            <a:ext cx="2364750" cy="369332"/>
          </a:xfrm>
          <a:prstGeom prst="rect">
            <a:avLst/>
          </a:prstGeom>
        </p:spPr>
        <p:txBody>
          <a:bodyPr wrap="none">
            <a:spAutoFit/>
          </a:bodyPr>
          <a:lstStyle/>
          <a:p>
            <a:r>
              <a:rPr lang="en-US" b="1" dirty="0" smtClean="0">
                <a:solidFill>
                  <a:schemeClr val="tx1"/>
                </a:solidFill>
                <a:latin typeface="Times New Roman" pitchFamily="18" charset="0"/>
                <a:cs typeface="Times New Roman" pitchFamily="18" charset="0"/>
              </a:rPr>
              <a:t>Centralized Database </a:t>
            </a:r>
            <a:endParaRPr lang="en-US" b="1" dirty="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1999" y="285686"/>
            <a:ext cx="3616961" cy="382156"/>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panose="02020503050405090304" pitchFamily="18" charset="0"/>
                <a:cs typeface="Times New Roman" panose="02020503050405090304" pitchFamily="18" charset="0"/>
              </a:rPr>
              <a:t>Summary</a:t>
            </a:r>
            <a:r>
              <a:rPr sz="2400" spc="-25" dirty="0">
                <a:latin typeface="Times New Roman" panose="02020503050405090304" pitchFamily="18" charset="0"/>
                <a:cs typeface="Times New Roman" panose="02020503050405090304" pitchFamily="18" charset="0"/>
              </a:rPr>
              <a:t> </a:t>
            </a:r>
            <a:r>
              <a:rPr sz="2400" dirty="0">
                <a:latin typeface="Times New Roman" panose="02020503050405090304" pitchFamily="18" charset="0"/>
                <a:cs typeface="Times New Roman" panose="02020503050405090304" pitchFamily="18" charset="0"/>
              </a:rPr>
              <a:t>of</a:t>
            </a:r>
            <a:r>
              <a:rPr sz="2400" spc="-15" dirty="0">
                <a:latin typeface="Times New Roman" panose="02020503050405090304" pitchFamily="18" charset="0"/>
                <a:cs typeface="Times New Roman" panose="02020503050405090304" pitchFamily="18" charset="0"/>
              </a:rPr>
              <a:t> </a:t>
            </a:r>
            <a:r>
              <a:rPr sz="2400" dirty="0">
                <a:latin typeface="Times New Roman" panose="02020503050405090304" pitchFamily="18" charset="0"/>
                <a:cs typeface="Times New Roman" panose="02020503050405090304" pitchFamily="18" charset="0"/>
              </a:rPr>
              <a:t>the</a:t>
            </a:r>
            <a:r>
              <a:rPr sz="2400" spc="-15" dirty="0">
                <a:latin typeface="Times New Roman" panose="02020503050405090304" pitchFamily="18" charset="0"/>
                <a:cs typeface="Times New Roman" panose="02020503050405090304" pitchFamily="18" charset="0"/>
              </a:rPr>
              <a:t> </a:t>
            </a:r>
            <a:r>
              <a:rPr sz="2400" spc="-10" dirty="0">
                <a:latin typeface="Times New Roman" panose="02020503050405090304" pitchFamily="18" charset="0"/>
                <a:cs typeface="Times New Roman" panose="02020503050405090304" pitchFamily="18" charset="0"/>
              </a:rPr>
              <a:t>Lecture</a:t>
            </a:r>
            <a:endParaRPr sz="2400" dirty="0">
              <a:latin typeface="Times New Roman" panose="02020503050405090304" pitchFamily="18" charset="0"/>
              <a:cs typeface="Times New Roman" panose="02020503050405090304" pitchFamily="18" charset="0"/>
            </a:endParaRPr>
          </a:p>
        </p:txBody>
      </p:sp>
      <p:sp>
        <p:nvSpPr>
          <p:cNvPr id="4" name="object 4"/>
          <p:cNvSpPr txBox="1"/>
          <p:nvPr/>
        </p:nvSpPr>
        <p:spPr>
          <a:xfrm>
            <a:off x="762000" y="742950"/>
            <a:ext cx="7790180" cy="3722370"/>
          </a:xfrm>
          <a:prstGeom prst="rect">
            <a:avLst/>
          </a:prstGeom>
        </p:spPr>
        <p:txBody>
          <a:bodyPr vert="horz" wrap="square" lIns="0" tIns="15875" rIns="0" bIns="0" rtlCol="0">
            <a:noAutofit/>
          </a:bodyPr>
          <a:lstStyle/>
          <a:p>
            <a:pPr marL="12700" indent="0">
              <a:lnSpc>
                <a:spcPct val="150000"/>
              </a:lnSpc>
              <a:spcBef>
                <a:spcPts val="1700"/>
              </a:spcBef>
              <a:buClr>
                <a:srgbClr val="000000"/>
              </a:buClr>
              <a:buFont typeface="Arial MT"/>
              <a:buNone/>
              <a:tabLst>
                <a:tab pos="298450" algn="l"/>
              </a:tabLst>
            </a:pPr>
            <a:r>
              <a:rPr lang="en-US" sz="1600" b="1" dirty="0" smtClean="0">
                <a:latin typeface="Times New Roman" panose="02020503050405090304" pitchFamily="18" charset="0"/>
                <a:cs typeface="Times New Roman" panose="02020503050405090304" pitchFamily="18" charset="0"/>
              </a:rPr>
              <a:t>Scalability, Availability, and Reliability:</a:t>
            </a:r>
            <a:r>
              <a:rPr lang="en-US" sz="1600" dirty="0" smtClean="0">
                <a:latin typeface="Times New Roman" panose="02020503050405090304" pitchFamily="18" charset="0"/>
                <a:cs typeface="Times New Roman" panose="02020503050405090304" pitchFamily="18" charset="0"/>
              </a:rPr>
              <a:t/>
            </a:r>
            <a:br>
              <a:rPr lang="en-US" sz="1600" dirty="0" smtClean="0">
                <a:latin typeface="Times New Roman" panose="02020503050405090304" pitchFamily="18" charset="0"/>
                <a:cs typeface="Times New Roman" panose="02020503050405090304" pitchFamily="18" charset="0"/>
              </a:rPr>
            </a:br>
            <a:r>
              <a:rPr lang="en-US" sz="1600" dirty="0" smtClean="0">
                <a:latin typeface="Times New Roman" panose="02020503050405090304" pitchFamily="18" charset="0"/>
                <a:cs typeface="Times New Roman" panose="02020503050405090304" pitchFamily="18" charset="0"/>
              </a:rPr>
              <a:t>The lecture explained how systems must grow with user demand (scalability), stay accessible without downtime (availability), and function correctly even during failures (reliability).</a:t>
            </a:r>
          </a:p>
          <a:p>
            <a:pPr indent="0" algn="l">
              <a:lnSpc>
                <a:spcPct val="150000"/>
              </a:lnSpc>
              <a:buFont typeface="Arial" panose="020B0604020202090204" pitchFamily="34" charset="0"/>
              <a:buNone/>
            </a:pPr>
            <a:r>
              <a:rPr lang="en-US" sz="1600" b="1" dirty="0" smtClean="0">
                <a:latin typeface="Times New Roman" panose="02020503050405090304" pitchFamily="18" charset="0"/>
                <a:cs typeface="Times New Roman" panose="02020503050405090304" pitchFamily="18" charset="0"/>
              </a:rPr>
              <a:t>Monolithic </a:t>
            </a:r>
            <a:r>
              <a:rPr lang="en-US" sz="1600" b="1" dirty="0" err="1" smtClean="0">
                <a:latin typeface="Times New Roman" panose="02020503050405090304" pitchFamily="18" charset="0"/>
                <a:cs typeface="Times New Roman" panose="02020503050405090304" pitchFamily="18" charset="0"/>
              </a:rPr>
              <a:t>vs</a:t>
            </a:r>
            <a:r>
              <a:rPr lang="en-US" sz="1600" b="1" dirty="0" smtClean="0">
                <a:latin typeface="Times New Roman" panose="02020503050405090304" pitchFamily="18" charset="0"/>
                <a:cs typeface="Times New Roman" panose="02020503050405090304" pitchFamily="18" charset="0"/>
              </a:rPr>
              <a:t> </a:t>
            </a:r>
            <a:r>
              <a:rPr lang="en-US" sz="1600" b="1" dirty="0" err="1" smtClean="0">
                <a:latin typeface="Times New Roman" panose="02020503050405090304" pitchFamily="18" charset="0"/>
                <a:cs typeface="Times New Roman" panose="02020503050405090304" pitchFamily="18" charset="0"/>
              </a:rPr>
              <a:t>Microservices</a:t>
            </a:r>
            <a:r>
              <a:rPr lang="en-US" sz="1600" b="1" dirty="0" smtClean="0">
                <a:latin typeface="Times New Roman" panose="02020503050405090304" pitchFamily="18" charset="0"/>
                <a:cs typeface="Times New Roman" panose="02020503050405090304" pitchFamily="18" charset="0"/>
              </a:rPr>
              <a:t>:</a:t>
            </a:r>
            <a:r>
              <a:rPr lang="en-US" sz="1600" dirty="0" smtClean="0">
                <a:latin typeface="Times New Roman" panose="02020503050405090304" pitchFamily="18" charset="0"/>
                <a:cs typeface="Times New Roman" panose="02020503050405090304" pitchFamily="18" charset="0"/>
              </a:rPr>
              <a:t/>
            </a:r>
            <a:br>
              <a:rPr lang="en-US" sz="1600" dirty="0" smtClean="0">
                <a:latin typeface="Times New Roman" panose="02020503050405090304" pitchFamily="18" charset="0"/>
                <a:cs typeface="Times New Roman" panose="02020503050405090304" pitchFamily="18" charset="0"/>
              </a:rPr>
            </a:br>
            <a:r>
              <a:rPr lang="en-US" sz="1600" dirty="0" smtClean="0">
                <a:latin typeface="Times New Roman" panose="02020503050405090304" pitchFamily="18" charset="0"/>
                <a:cs typeface="Times New Roman" panose="02020503050405090304" pitchFamily="18" charset="0"/>
              </a:rPr>
              <a:t>We learned the difference between a single, unified application (monolith) and a collection of small, independent services (</a:t>
            </a:r>
            <a:r>
              <a:rPr lang="en-US" sz="1600" dirty="0" err="1" smtClean="0">
                <a:latin typeface="Times New Roman" panose="02020503050405090304" pitchFamily="18" charset="0"/>
                <a:cs typeface="Times New Roman" panose="02020503050405090304" pitchFamily="18" charset="0"/>
              </a:rPr>
              <a:t>microservices</a:t>
            </a:r>
            <a:r>
              <a:rPr lang="en-US" sz="1600" dirty="0" smtClean="0">
                <a:latin typeface="Times New Roman" panose="02020503050405090304" pitchFamily="18" charset="0"/>
                <a:cs typeface="Times New Roman" panose="02020503050405090304" pitchFamily="18" charset="0"/>
              </a:rPr>
              <a:t>), including when each approach is useful.</a:t>
            </a:r>
          </a:p>
          <a:p>
            <a:pPr indent="0">
              <a:lnSpc>
                <a:spcPct val="150000"/>
              </a:lnSpc>
              <a:buFont typeface="Arial" panose="020B0604020202090204" pitchFamily="34" charset="0"/>
              <a:buNone/>
            </a:pPr>
            <a:r>
              <a:rPr lang="en-US" sz="1600" b="1" dirty="0" smtClean="0">
                <a:latin typeface="Times New Roman" panose="02020503050405090304" pitchFamily="18" charset="0"/>
                <a:cs typeface="Times New Roman" panose="02020503050405090304" pitchFamily="18" charset="0"/>
              </a:rPr>
              <a:t>Latency and Throughput:</a:t>
            </a:r>
            <a:r>
              <a:rPr lang="en-US" sz="1600" dirty="0" smtClean="0">
                <a:latin typeface="Times New Roman" panose="02020503050405090304" pitchFamily="18" charset="0"/>
                <a:cs typeface="Times New Roman" panose="02020503050405090304" pitchFamily="18" charset="0"/>
              </a:rPr>
              <a:t/>
            </a:r>
            <a:br>
              <a:rPr lang="en-US" sz="1600" dirty="0" smtClean="0">
                <a:latin typeface="Times New Roman" panose="02020503050405090304" pitchFamily="18" charset="0"/>
                <a:cs typeface="Times New Roman" panose="02020503050405090304" pitchFamily="18" charset="0"/>
              </a:rPr>
            </a:br>
            <a:r>
              <a:rPr lang="en-US" sz="1600" dirty="0" smtClean="0">
                <a:latin typeface="Times New Roman" panose="02020503050405090304" pitchFamily="18" charset="0"/>
                <a:cs typeface="Times New Roman" panose="02020503050405090304" pitchFamily="18" charset="0"/>
              </a:rPr>
              <a:t>These performance metrics were discussed to understand system efficiency—latency measures response time, while throughput measures how many requests a system can handle per second.</a:t>
            </a:r>
          </a:p>
          <a:p>
            <a:pPr indent="0">
              <a:lnSpc>
                <a:spcPct val="150000"/>
              </a:lnSpc>
              <a:buFont typeface="Arial" panose="020B0604020202090204" pitchFamily="34" charset="0"/>
              <a:buNone/>
            </a:pPr>
            <a:r>
              <a:rPr lang="en-US" sz="1600" b="1" dirty="0" smtClean="0">
                <a:latin typeface="Times New Roman" panose="02020503050405090304" pitchFamily="18" charset="0"/>
                <a:cs typeface="Times New Roman" panose="02020503050405090304" pitchFamily="18" charset="0"/>
              </a:rPr>
              <a:t>Caching:</a:t>
            </a:r>
            <a:r>
              <a:rPr lang="en-US" sz="1600" dirty="0" smtClean="0">
                <a:latin typeface="Times New Roman" panose="02020503050405090304" pitchFamily="18" charset="0"/>
                <a:cs typeface="Times New Roman" panose="02020503050405090304" pitchFamily="18" charset="0"/>
              </a:rPr>
              <a:t/>
            </a:r>
            <a:br>
              <a:rPr lang="en-US" sz="1600" dirty="0" smtClean="0">
                <a:latin typeface="Times New Roman" panose="02020503050405090304" pitchFamily="18" charset="0"/>
                <a:cs typeface="Times New Roman" panose="02020503050405090304" pitchFamily="18" charset="0"/>
              </a:rPr>
            </a:br>
            <a:r>
              <a:rPr lang="en-US" sz="1600" dirty="0" smtClean="0">
                <a:latin typeface="Times New Roman" panose="02020503050405090304" pitchFamily="18" charset="0"/>
                <a:cs typeface="Times New Roman" panose="02020503050405090304" pitchFamily="18" charset="0"/>
              </a:rPr>
              <a:t>The lecture highlighted caching as a method to store frequently accessed data for quick retrieval, helping to reduce load on servers and speed up system performance.</a:t>
            </a:r>
            <a:endParaRPr lang="en-US" sz="16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2000" y="1276350"/>
            <a:ext cx="7630160" cy="2821940"/>
          </a:xfrm>
          <a:prstGeom prst="rect">
            <a:avLst/>
          </a:prstGeom>
        </p:spPr>
        <p:txBody>
          <a:bodyPr vert="horz" wrap="square" lIns="0" tIns="16510" rIns="0" bIns="0" rtlCol="0">
            <a:noAutofit/>
          </a:bodyPr>
          <a:lstStyle/>
          <a:p>
            <a:pPr marL="355600" indent="-342900">
              <a:lnSpc>
                <a:spcPts val="2290"/>
              </a:lnSpc>
              <a:spcBef>
                <a:spcPts val="130"/>
              </a:spcBef>
              <a:buClr>
                <a:srgbClr val="000000"/>
              </a:buClr>
              <a:buFont typeface="Arial MT"/>
              <a:buChar char="•"/>
              <a:tabLst>
                <a:tab pos="355600" algn="l"/>
              </a:tabLst>
            </a:pPr>
            <a:r>
              <a:rPr lang="en-US" sz="1600" dirty="0" smtClean="0">
                <a:solidFill>
                  <a:schemeClr val="tx1"/>
                </a:solidFill>
                <a:latin typeface="Times New Roman" panose="02020503050405090304" pitchFamily="18" charset="0"/>
                <a:cs typeface="Times New Roman" panose="02020503050405090304" pitchFamily="18" charset="0"/>
              </a:rPr>
              <a:t>Functional vs. Non-Functional Requirements</a:t>
            </a:r>
          </a:p>
          <a:p>
            <a:pPr marL="355600" indent="-342900">
              <a:lnSpc>
                <a:spcPts val="2290"/>
              </a:lnSpc>
              <a:spcBef>
                <a:spcPts val="130"/>
              </a:spcBef>
              <a:buClr>
                <a:srgbClr val="000000"/>
              </a:buClr>
              <a:buFont typeface="Arial MT"/>
              <a:buChar char="•"/>
              <a:tabLst>
                <a:tab pos="355600" algn="l"/>
              </a:tabLst>
            </a:pPr>
            <a:r>
              <a:rPr lang="en-US" sz="1600" dirty="0" smtClean="0">
                <a:solidFill>
                  <a:schemeClr val="tx1"/>
                </a:solidFill>
                <a:latin typeface="Times New Roman" panose="02020503050405090304" pitchFamily="18" charset="0"/>
                <a:cs typeface="Times New Roman" panose="02020503050405090304" pitchFamily="18" charset="0"/>
              </a:rPr>
              <a:t>Scaling Challenges: Horizontal vs. Vertical Scaling</a:t>
            </a:r>
          </a:p>
          <a:p>
            <a:pPr marL="355600" indent="-342900">
              <a:lnSpc>
                <a:spcPts val="2290"/>
              </a:lnSpc>
              <a:spcBef>
                <a:spcPts val="130"/>
              </a:spcBef>
              <a:buClr>
                <a:srgbClr val="000000"/>
              </a:buClr>
              <a:buFont typeface="Arial MT"/>
              <a:buChar char="•"/>
              <a:tabLst>
                <a:tab pos="355600" algn="l"/>
              </a:tabLst>
            </a:pPr>
            <a:r>
              <a:rPr lang="en-US" sz="1600" dirty="0" smtClean="0">
                <a:solidFill>
                  <a:schemeClr val="tx1"/>
                </a:solidFill>
                <a:latin typeface="Times New Roman" panose="02020503050405090304" pitchFamily="18" charset="0"/>
                <a:cs typeface="Times New Roman" panose="02020503050405090304" pitchFamily="18" charset="0"/>
              </a:rPr>
              <a:t>Load Balancing – Principles and Deployment Strategies</a:t>
            </a:r>
          </a:p>
          <a:p>
            <a:pPr marL="355600" indent="-342900">
              <a:lnSpc>
                <a:spcPts val="2290"/>
              </a:lnSpc>
              <a:spcBef>
                <a:spcPts val="130"/>
              </a:spcBef>
              <a:buClr>
                <a:srgbClr val="000000"/>
              </a:buClr>
              <a:buFont typeface="Arial MT"/>
              <a:buChar char="•"/>
              <a:tabLst>
                <a:tab pos="355600" algn="l"/>
              </a:tabLst>
            </a:pPr>
            <a:r>
              <a:rPr lang="en-US" sz="1600" dirty="0" smtClean="0">
                <a:solidFill>
                  <a:schemeClr val="tx1"/>
                </a:solidFill>
                <a:latin typeface="Times New Roman" panose="02020503050405090304" pitchFamily="18" charset="0"/>
                <a:cs typeface="Times New Roman" panose="02020503050405090304" pitchFamily="18" charset="0"/>
              </a:rPr>
              <a:t>Load Balancing Algorithms (RR, Weighted RR, Least Connection)</a:t>
            </a: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dirty="0">
                <a:latin typeface="Times New Roman" panose="02020503050405090304" pitchFamily="18" charset="0"/>
                <a:cs typeface="Times New Roman" panose="02020503050405090304" pitchFamily="18" charset="0"/>
                <a:sym typeface="+mn-ea"/>
              </a:rPr>
              <a:t>Next</a:t>
            </a:r>
            <a:r>
              <a:rPr sz="2400" spc="-65" dirty="0">
                <a:latin typeface="Times New Roman" panose="02020503050405090304" pitchFamily="18" charset="0"/>
                <a:cs typeface="Times New Roman" panose="02020503050405090304" pitchFamily="18" charset="0"/>
                <a:sym typeface="+mn-ea"/>
              </a:rPr>
              <a:t> </a:t>
            </a:r>
            <a:r>
              <a:rPr sz="2400" spc="-10" dirty="0">
                <a:latin typeface="Times New Roman" panose="02020503050405090304" pitchFamily="18" charset="0"/>
                <a:cs typeface="Times New Roman" panose="02020503050405090304" pitchFamily="18" charset="0"/>
                <a:sym typeface="+mn-ea"/>
              </a:rPr>
              <a:t>Lecture</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4585"/>
            <a:ext cx="7696200" cy="3799205"/>
          </a:xfrm>
          <a:prstGeom prst="rect">
            <a:avLst/>
          </a:prstGeom>
        </p:spPr>
        <p:txBody>
          <a:bodyPr vert="horz" wrap="square" lIns="0" tIns="12700" rIns="0" bIns="0" rtlCol="0">
            <a:noAutofit/>
          </a:bodyPr>
          <a:lstStyle/>
          <a:p>
            <a:r>
              <a:rPr lang="en-US" sz="1200" b="1" dirty="0" smtClean="0">
                <a:latin typeface="Times New Roman" panose="02020503050405090304" pitchFamily="18" charset="0"/>
                <a:cs typeface="Times New Roman" panose="02020503050405090304" pitchFamily="18" charset="0"/>
              </a:rPr>
              <a:t>1. What is the main difference between vertical and horizontal scaling?</a:t>
            </a:r>
          </a:p>
          <a:p>
            <a:r>
              <a:rPr lang="en-US" sz="1200" dirty="0" smtClean="0">
                <a:latin typeface="Times New Roman" panose="02020503050405090304" pitchFamily="18" charset="0"/>
                <a:cs typeface="Times New Roman" panose="02020503050405090304" pitchFamily="18" charset="0"/>
              </a:rPr>
              <a:t>A. Vertical scaling adds more machines; horizontal scaling increases RAM</a:t>
            </a:r>
            <a:br>
              <a:rPr lang="en-US" sz="1200" dirty="0" smtClean="0">
                <a:latin typeface="Times New Roman" panose="02020503050405090304" pitchFamily="18" charset="0"/>
                <a:cs typeface="Times New Roman" panose="02020503050405090304" pitchFamily="18" charset="0"/>
              </a:rPr>
            </a:br>
            <a:r>
              <a:rPr lang="en-US" sz="1200" dirty="0" smtClean="0">
                <a:latin typeface="Times New Roman" panose="02020503050405090304" pitchFamily="18" charset="0"/>
                <a:cs typeface="Times New Roman" panose="02020503050405090304" pitchFamily="18" charset="0"/>
              </a:rPr>
              <a:t>B. Vertical scaling increases resources of one machine; horizontal scaling adds more machines</a:t>
            </a:r>
            <a:br>
              <a:rPr lang="en-US" sz="1200" dirty="0" smtClean="0">
                <a:latin typeface="Times New Roman" panose="02020503050405090304" pitchFamily="18" charset="0"/>
                <a:cs typeface="Times New Roman" panose="02020503050405090304" pitchFamily="18" charset="0"/>
              </a:rPr>
            </a:br>
            <a:r>
              <a:rPr lang="en-US" sz="1200" dirty="0" smtClean="0">
                <a:latin typeface="Times New Roman" panose="02020503050405090304" pitchFamily="18" charset="0"/>
                <a:cs typeface="Times New Roman" panose="02020503050405090304" pitchFamily="18" charset="0"/>
              </a:rPr>
              <a:t>C. Both increase CPU only</a:t>
            </a:r>
            <a:br>
              <a:rPr lang="en-US" sz="1200" dirty="0" smtClean="0">
                <a:latin typeface="Times New Roman" panose="02020503050405090304" pitchFamily="18" charset="0"/>
                <a:cs typeface="Times New Roman" panose="02020503050405090304" pitchFamily="18" charset="0"/>
              </a:rPr>
            </a:br>
            <a:r>
              <a:rPr lang="en-US" sz="1200" dirty="0" smtClean="0">
                <a:latin typeface="Times New Roman" panose="02020503050405090304" pitchFamily="18" charset="0"/>
                <a:cs typeface="Times New Roman" panose="02020503050405090304" pitchFamily="18" charset="0"/>
              </a:rPr>
              <a:t>D. None of the above</a:t>
            </a:r>
            <a:br>
              <a:rPr lang="en-US" sz="1200" dirty="0" smtClean="0">
                <a:latin typeface="Times New Roman" panose="02020503050405090304" pitchFamily="18" charset="0"/>
                <a:cs typeface="Times New Roman" panose="02020503050405090304" pitchFamily="18" charset="0"/>
              </a:rPr>
            </a:br>
            <a:r>
              <a:rPr lang="en-US" sz="1200" b="1" dirty="0" smtClean="0">
                <a:latin typeface="Times New Roman" panose="02020503050405090304" pitchFamily="18" charset="0"/>
                <a:cs typeface="Times New Roman" panose="02020503050405090304" pitchFamily="18" charset="0"/>
              </a:rPr>
              <a:t>Correct Answer:</a:t>
            </a:r>
            <a:r>
              <a:rPr lang="en-US" sz="1200" dirty="0" smtClean="0">
                <a:latin typeface="Times New Roman" panose="02020503050405090304" pitchFamily="18" charset="0"/>
                <a:cs typeface="Times New Roman" panose="02020503050405090304" pitchFamily="18" charset="0"/>
              </a:rPr>
              <a:t> </a:t>
            </a:r>
            <a:r>
              <a:rPr lang="en-US" sz="1200" b="1" dirty="0" smtClean="0">
                <a:latin typeface="Times New Roman" panose="02020503050405090304" pitchFamily="18" charset="0"/>
                <a:cs typeface="Times New Roman" panose="02020503050405090304" pitchFamily="18" charset="0"/>
              </a:rPr>
              <a:t>B</a:t>
            </a:r>
            <a:endParaRPr lang="en-US" sz="1200" dirty="0" smtClean="0">
              <a:latin typeface="Times New Roman" panose="02020503050405090304" pitchFamily="18" charset="0"/>
              <a:cs typeface="Times New Roman" panose="02020503050405090304" pitchFamily="18" charset="0"/>
            </a:endParaRPr>
          </a:p>
          <a:p>
            <a:endParaRPr lang="en-US" sz="1200" b="1" dirty="0" smtClean="0">
              <a:latin typeface="Times New Roman" panose="02020503050405090304" pitchFamily="18" charset="0"/>
              <a:cs typeface="Times New Roman" panose="02020503050405090304" pitchFamily="18" charset="0"/>
            </a:endParaRPr>
          </a:p>
          <a:p>
            <a:r>
              <a:rPr lang="en-US" sz="1200" b="1" dirty="0" smtClean="0">
                <a:latin typeface="Times New Roman" panose="02020503050405090304" pitchFamily="18" charset="0"/>
                <a:cs typeface="Times New Roman" panose="02020503050405090304" pitchFamily="18" charset="0"/>
              </a:rPr>
              <a:t>2. Which component helps distribute traffic among multiple servers?</a:t>
            </a:r>
          </a:p>
          <a:p>
            <a:r>
              <a:rPr lang="en-US" sz="1200" dirty="0" smtClean="0">
                <a:latin typeface="Times New Roman" panose="02020503050405090304" pitchFamily="18" charset="0"/>
                <a:cs typeface="Times New Roman" panose="02020503050405090304" pitchFamily="18" charset="0"/>
              </a:rPr>
              <a:t>A. Cache</a:t>
            </a:r>
            <a:br>
              <a:rPr lang="en-US" sz="1200" dirty="0" smtClean="0">
                <a:latin typeface="Times New Roman" panose="02020503050405090304" pitchFamily="18" charset="0"/>
                <a:cs typeface="Times New Roman" panose="02020503050405090304" pitchFamily="18" charset="0"/>
              </a:rPr>
            </a:br>
            <a:r>
              <a:rPr lang="en-US" sz="1200" dirty="0" smtClean="0">
                <a:latin typeface="Times New Roman" panose="02020503050405090304" pitchFamily="18" charset="0"/>
                <a:cs typeface="Times New Roman" panose="02020503050405090304" pitchFamily="18" charset="0"/>
              </a:rPr>
              <a:t>B. Database</a:t>
            </a:r>
            <a:br>
              <a:rPr lang="en-US" sz="1200" dirty="0" smtClean="0">
                <a:latin typeface="Times New Roman" panose="02020503050405090304" pitchFamily="18" charset="0"/>
                <a:cs typeface="Times New Roman" panose="02020503050405090304" pitchFamily="18" charset="0"/>
              </a:rPr>
            </a:br>
            <a:r>
              <a:rPr lang="en-US" sz="1200" dirty="0" smtClean="0">
                <a:latin typeface="Times New Roman" panose="02020503050405090304" pitchFamily="18" charset="0"/>
                <a:cs typeface="Times New Roman" panose="02020503050405090304" pitchFamily="18" charset="0"/>
              </a:rPr>
              <a:t>C. Load Balancer</a:t>
            </a:r>
            <a:br>
              <a:rPr lang="en-US" sz="1200" dirty="0" smtClean="0">
                <a:latin typeface="Times New Roman" panose="02020503050405090304" pitchFamily="18" charset="0"/>
                <a:cs typeface="Times New Roman" panose="02020503050405090304" pitchFamily="18" charset="0"/>
              </a:rPr>
            </a:br>
            <a:r>
              <a:rPr lang="en-US" sz="1200" dirty="0" smtClean="0">
                <a:latin typeface="Times New Roman" panose="02020503050405090304" pitchFamily="18" charset="0"/>
                <a:cs typeface="Times New Roman" panose="02020503050405090304" pitchFamily="18" charset="0"/>
              </a:rPr>
              <a:t>D. API Gateway</a:t>
            </a:r>
            <a:br>
              <a:rPr lang="en-US" sz="1200" dirty="0" smtClean="0">
                <a:latin typeface="Times New Roman" panose="02020503050405090304" pitchFamily="18" charset="0"/>
                <a:cs typeface="Times New Roman" panose="02020503050405090304" pitchFamily="18" charset="0"/>
              </a:rPr>
            </a:br>
            <a:r>
              <a:rPr lang="en-US" sz="1200" b="1" dirty="0" smtClean="0">
                <a:latin typeface="Times New Roman" panose="02020503050405090304" pitchFamily="18" charset="0"/>
                <a:cs typeface="Times New Roman" panose="02020503050405090304" pitchFamily="18" charset="0"/>
              </a:rPr>
              <a:t>Correct Answer:</a:t>
            </a:r>
            <a:r>
              <a:rPr lang="en-US" sz="1200" dirty="0" smtClean="0">
                <a:latin typeface="Times New Roman" panose="02020503050405090304" pitchFamily="18" charset="0"/>
                <a:cs typeface="Times New Roman" panose="02020503050405090304" pitchFamily="18" charset="0"/>
              </a:rPr>
              <a:t> </a:t>
            </a:r>
            <a:r>
              <a:rPr lang="en-US" sz="1200" b="1" dirty="0" smtClean="0">
                <a:latin typeface="Times New Roman" panose="02020503050405090304" pitchFamily="18" charset="0"/>
                <a:cs typeface="Times New Roman" panose="02020503050405090304" pitchFamily="18" charset="0"/>
              </a:rPr>
              <a:t>C</a:t>
            </a:r>
            <a:endParaRPr lang="en-US" sz="1200" dirty="0" smtClean="0">
              <a:latin typeface="Times New Roman" panose="02020503050405090304" pitchFamily="18" charset="0"/>
              <a:cs typeface="Times New Roman" panose="02020503050405090304" pitchFamily="18" charset="0"/>
            </a:endParaRPr>
          </a:p>
          <a:p>
            <a:endParaRPr lang="en-US" sz="1200" b="1" dirty="0" smtClean="0">
              <a:latin typeface="Times New Roman" panose="02020503050405090304" pitchFamily="18" charset="0"/>
              <a:cs typeface="Times New Roman" panose="02020503050405090304" pitchFamily="18" charset="0"/>
            </a:endParaRPr>
          </a:p>
          <a:p>
            <a:r>
              <a:rPr lang="en-US" sz="1200" b="1" dirty="0" smtClean="0">
                <a:latin typeface="Times New Roman" panose="02020503050405090304" pitchFamily="18" charset="0"/>
                <a:cs typeface="Times New Roman" panose="02020503050405090304" pitchFamily="18" charset="0"/>
              </a:rPr>
              <a:t>3. What is the purpose of caching in a system?</a:t>
            </a:r>
          </a:p>
          <a:p>
            <a:r>
              <a:rPr lang="en-US" sz="1200" dirty="0" smtClean="0">
                <a:latin typeface="Times New Roman" panose="02020503050405090304" pitchFamily="18" charset="0"/>
                <a:cs typeface="Times New Roman" panose="02020503050405090304" pitchFamily="18" charset="0"/>
              </a:rPr>
              <a:t>A. To store data permanently</a:t>
            </a:r>
            <a:br>
              <a:rPr lang="en-US" sz="1200" dirty="0" smtClean="0">
                <a:latin typeface="Times New Roman" panose="02020503050405090304" pitchFamily="18" charset="0"/>
                <a:cs typeface="Times New Roman" panose="02020503050405090304" pitchFamily="18" charset="0"/>
              </a:rPr>
            </a:br>
            <a:r>
              <a:rPr lang="en-US" sz="1200" dirty="0" smtClean="0">
                <a:latin typeface="Times New Roman" panose="02020503050405090304" pitchFamily="18" charset="0"/>
                <a:cs typeface="Times New Roman" panose="02020503050405090304" pitchFamily="18" charset="0"/>
              </a:rPr>
              <a:t>B. To speed up data retrieval by storing frequently accessed data</a:t>
            </a:r>
            <a:br>
              <a:rPr lang="en-US" sz="1200" dirty="0" smtClean="0">
                <a:latin typeface="Times New Roman" panose="02020503050405090304" pitchFamily="18" charset="0"/>
                <a:cs typeface="Times New Roman" panose="02020503050405090304" pitchFamily="18" charset="0"/>
              </a:rPr>
            </a:br>
            <a:r>
              <a:rPr lang="en-US" sz="1200" dirty="0" smtClean="0">
                <a:latin typeface="Times New Roman" panose="02020503050405090304" pitchFamily="18" charset="0"/>
                <a:cs typeface="Times New Roman" panose="02020503050405090304" pitchFamily="18" charset="0"/>
              </a:rPr>
              <a:t>C. To replace the database</a:t>
            </a:r>
            <a:br>
              <a:rPr lang="en-US" sz="1200" dirty="0" smtClean="0">
                <a:latin typeface="Times New Roman" panose="02020503050405090304" pitchFamily="18" charset="0"/>
                <a:cs typeface="Times New Roman" panose="02020503050405090304" pitchFamily="18" charset="0"/>
              </a:rPr>
            </a:br>
            <a:r>
              <a:rPr lang="en-US" sz="1200" dirty="0" smtClean="0">
                <a:latin typeface="Times New Roman" panose="02020503050405090304" pitchFamily="18" charset="0"/>
                <a:cs typeface="Times New Roman" panose="02020503050405090304" pitchFamily="18" charset="0"/>
              </a:rPr>
              <a:t>D. To improve </a:t>
            </a:r>
            <a:r>
              <a:rPr lang="en-US" sz="1200" dirty="0" err="1" smtClean="0">
                <a:latin typeface="Times New Roman" panose="02020503050405090304" pitchFamily="18" charset="0"/>
                <a:cs typeface="Times New Roman" panose="02020503050405090304" pitchFamily="18" charset="0"/>
              </a:rPr>
              <a:t>microservices</a:t>
            </a:r>
            <a:r>
              <a:rPr lang="en-US" sz="1200" dirty="0" smtClean="0">
                <a:latin typeface="Times New Roman" panose="02020503050405090304" pitchFamily="18" charset="0"/>
                <a:cs typeface="Times New Roman" panose="02020503050405090304" pitchFamily="18" charset="0"/>
              </a:rPr>
              <a:t> communication</a:t>
            </a:r>
            <a:br>
              <a:rPr lang="en-US" sz="1200" dirty="0" smtClean="0">
                <a:latin typeface="Times New Roman" panose="02020503050405090304" pitchFamily="18" charset="0"/>
                <a:cs typeface="Times New Roman" panose="02020503050405090304" pitchFamily="18" charset="0"/>
              </a:rPr>
            </a:br>
            <a:r>
              <a:rPr lang="en-US" sz="1200" b="1" dirty="0" smtClean="0">
                <a:latin typeface="Times New Roman" panose="02020503050405090304" pitchFamily="18" charset="0"/>
                <a:cs typeface="Times New Roman" panose="02020503050405090304" pitchFamily="18" charset="0"/>
              </a:rPr>
              <a:t>Correct Answer:</a:t>
            </a:r>
            <a:r>
              <a:rPr lang="en-US" sz="1200" dirty="0" smtClean="0">
                <a:latin typeface="Times New Roman" panose="02020503050405090304" pitchFamily="18" charset="0"/>
                <a:cs typeface="Times New Roman" panose="02020503050405090304" pitchFamily="18" charset="0"/>
              </a:rPr>
              <a:t> </a:t>
            </a:r>
            <a:r>
              <a:rPr lang="en-US" sz="1200" b="1" dirty="0" smtClean="0">
                <a:latin typeface="Times New Roman" panose="02020503050405090304" pitchFamily="18" charset="0"/>
                <a:cs typeface="Times New Roman" panose="02020503050405090304" pitchFamily="18" charset="0"/>
              </a:rPr>
              <a:t>B</a:t>
            </a:r>
            <a:endParaRPr lang="en-US" sz="1200" dirty="0">
              <a:latin typeface="Times New Roman" panose="02020503050405090304" pitchFamily="18" charset="0"/>
              <a:cs typeface="Times New Roman" panose="02020503050405090304"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spc="-10" dirty="0">
                <a:latin typeface="Times New Roman" panose="02020503050405090304" pitchFamily="18" charset="0"/>
                <a:cs typeface="Times New Roman" panose="02020503050405090304" pitchFamily="18" charset="0"/>
                <a:sym typeface="+mn-ea"/>
              </a:rPr>
              <a:t>Quiz/ FAQ’s</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body" idx="1"/>
          </p:nvPr>
        </p:nvSpPr>
        <p:spPr>
          <a:xfrm>
            <a:off x="762000" y="1123950"/>
            <a:ext cx="7982585" cy="3582035"/>
          </a:xfrm>
          <a:prstGeom prst="rect">
            <a:avLst/>
          </a:prstGeom>
        </p:spPr>
        <p:txBody>
          <a:bodyPr vert="horz" wrap="square" lIns="0" tIns="15875" rIns="0" bIns="0" rtlCol="0">
            <a:noAutofit/>
          </a:bodyPr>
          <a:lstStyle/>
          <a:p>
            <a:pPr marL="12700">
              <a:lnSpc>
                <a:spcPct val="150000"/>
              </a:lnSpc>
              <a:spcBef>
                <a:spcPts val="125"/>
              </a:spcBef>
            </a:pPr>
            <a:r>
              <a:rPr lang="en-US" altLang="en-US" sz="1600" i="0" dirty="0">
                <a:solidFill>
                  <a:schemeClr val="tx1"/>
                </a:solidFill>
                <a:latin typeface="Times New Roman Bold" panose="02020503050405090304" charset="0"/>
                <a:cs typeface="Times New Roman Bold" panose="02020503050405090304" charset="0"/>
              </a:rPr>
              <a:t>Book Reference:</a:t>
            </a:r>
            <a:endParaRPr lang="en-US" altLang="en-US" sz="1600" b="0" i="0" dirty="0">
              <a:solidFill>
                <a:schemeClr val="tx1"/>
              </a:solidFill>
              <a:latin typeface="Times New Roman" panose="02020503050405090304" pitchFamily="18" charset="0"/>
              <a:cs typeface="Times New Roman" panose="02020503050405090304" pitchFamily="18" charset="0"/>
            </a:endParaRPr>
          </a:p>
          <a:p>
            <a:pPr marL="12700">
              <a:lnSpc>
                <a:spcPct val="150000"/>
              </a:lnSpc>
              <a:spcBef>
                <a:spcPts val="125"/>
              </a:spcBef>
            </a:pPr>
            <a:r>
              <a:rPr lang="en-US" altLang="en-US" sz="1600" b="0" i="0" dirty="0">
                <a:solidFill>
                  <a:schemeClr val="tx1"/>
                </a:solidFill>
                <a:latin typeface="Times New Roman" panose="02020503050405090304" pitchFamily="18" charset="0"/>
                <a:cs typeface="Times New Roman" panose="02020503050405090304" pitchFamily="18" charset="0"/>
              </a:rPr>
              <a:t>System Design Guide for Software Professionals- Kindle Edition by</a:t>
            </a:r>
            <a:r>
              <a:rPr lang="" altLang="en-US" sz="1600" b="0" i="0" dirty="0">
                <a:solidFill>
                  <a:schemeClr val="tx1"/>
                </a:solidFill>
                <a:latin typeface="Times New Roman" panose="02020503050405090304" pitchFamily="18" charset="0"/>
                <a:cs typeface="Times New Roman" panose="02020503050405090304" pitchFamily="18" charset="0"/>
              </a:rPr>
              <a:t> </a:t>
            </a:r>
            <a:r>
              <a:rPr lang="en-US" altLang="en-US" sz="1600" b="0" i="0" dirty="0">
                <a:solidFill>
                  <a:schemeClr val="tx1"/>
                </a:solidFill>
                <a:latin typeface="Times New Roman" panose="02020503050405090304" pitchFamily="18" charset="0"/>
                <a:cs typeface="Times New Roman" panose="02020503050405090304" pitchFamily="18" charset="0"/>
              </a:rPr>
              <a:t>Dhirendra Sinha</a:t>
            </a:r>
            <a:r>
              <a:rPr lang="" altLang="en-US" sz="1600" b="0" i="0" dirty="0">
                <a:solidFill>
                  <a:schemeClr val="tx1"/>
                </a:solidFill>
                <a:latin typeface="Times New Roman" panose="02020503050405090304" pitchFamily="18" charset="0"/>
                <a:cs typeface="Times New Roman" panose="02020503050405090304" pitchFamily="18" charset="0"/>
              </a:rPr>
              <a:t> </a:t>
            </a:r>
            <a:r>
              <a:rPr lang="en-US" altLang="en-US" sz="1600" b="0" i="0" dirty="0">
                <a:solidFill>
                  <a:schemeClr val="tx1"/>
                </a:solidFill>
                <a:latin typeface="Times New Roman" panose="02020503050405090304" pitchFamily="18" charset="0"/>
                <a:cs typeface="Times New Roman" panose="02020503050405090304" pitchFamily="18" charset="0"/>
              </a:rPr>
              <a:t>(Author),</a:t>
            </a:r>
            <a:r>
              <a:rPr lang="" altLang="en-US" sz="1600" b="0" i="0" dirty="0">
                <a:solidFill>
                  <a:schemeClr val="tx1"/>
                </a:solidFill>
                <a:latin typeface="Times New Roman" panose="02020503050405090304" pitchFamily="18" charset="0"/>
                <a:cs typeface="Times New Roman" panose="02020503050405090304" pitchFamily="18" charset="0"/>
              </a:rPr>
              <a:t> </a:t>
            </a:r>
            <a:r>
              <a:rPr lang="en-US" altLang="en-US" sz="1600" b="0" i="0" dirty="0">
                <a:solidFill>
                  <a:schemeClr val="tx1"/>
                </a:solidFill>
                <a:latin typeface="Times New Roman" panose="02020503050405090304" pitchFamily="18" charset="0"/>
                <a:cs typeface="Times New Roman" panose="02020503050405090304" pitchFamily="18" charset="0"/>
              </a:rPr>
              <a:t>Tejas Chopra</a:t>
            </a:r>
            <a:r>
              <a:rPr lang="" altLang="en-US" sz="1600" b="0" i="0" dirty="0">
                <a:solidFill>
                  <a:schemeClr val="tx1"/>
                </a:solidFill>
                <a:latin typeface="Times New Roman" panose="02020503050405090304" pitchFamily="18" charset="0"/>
                <a:cs typeface="Times New Roman" panose="02020503050405090304" pitchFamily="18" charset="0"/>
              </a:rPr>
              <a:t> </a:t>
            </a:r>
            <a:r>
              <a:rPr lang="en-US" altLang="en-US" sz="1600" b="0" i="0" dirty="0">
                <a:solidFill>
                  <a:schemeClr val="tx1"/>
                </a:solidFill>
                <a:latin typeface="Times New Roman" panose="02020503050405090304" pitchFamily="18" charset="0"/>
                <a:cs typeface="Times New Roman" panose="02020503050405090304" pitchFamily="18" charset="0"/>
              </a:rPr>
              <a:t>(Author)</a:t>
            </a:r>
            <a:r>
              <a:rPr lang="" altLang="en-US" sz="1600" b="0" i="0" dirty="0">
                <a:solidFill>
                  <a:schemeClr val="tx1"/>
                </a:solidFill>
                <a:latin typeface="Times New Roman" panose="02020503050405090304" pitchFamily="18" charset="0"/>
                <a:cs typeface="Times New Roman" panose="02020503050405090304" pitchFamily="18" charset="0"/>
              </a:rPr>
              <a:t>  </a:t>
            </a:r>
            <a:r>
              <a:rPr lang="en-US" altLang="en-US" sz="1600" b="0" i="0" dirty="0">
                <a:solidFill>
                  <a:schemeClr val="tx1"/>
                </a:solidFill>
                <a:latin typeface="Times New Roman" panose="02020503050405090304" pitchFamily="18" charset="0"/>
                <a:cs typeface="Times New Roman" panose="02020503050405090304" pitchFamily="18" charset="0"/>
              </a:rPr>
              <a:t>Format</a:t>
            </a:r>
          </a:p>
          <a:p>
            <a:pPr marL="12700">
              <a:lnSpc>
                <a:spcPct val="150000"/>
              </a:lnSpc>
              <a:spcBef>
                <a:spcPts val="125"/>
              </a:spcBef>
            </a:pPr>
            <a:endParaRPr lang="en-US" altLang="en-US" sz="1600" b="0" i="0" dirty="0">
              <a:solidFill>
                <a:schemeClr val="tx1"/>
              </a:solidFill>
              <a:latin typeface="Times New Roman" panose="02020503050405090304" pitchFamily="18" charset="0"/>
              <a:cs typeface="Times New Roman" panose="02020503050405090304" pitchFamily="18" charset="0"/>
            </a:endParaRPr>
          </a:p>
          <a:p>
            <a:pPr marL="12700">
              <a:lnSpc>
                <a:spcPct val="150000"/>
              </a:lnSpc>
              <a:spcBef>
                <a:spcPts val="125"/>
              </a:spcBef>
            </a:pPr>
            <a:r>
              <a:rPr lang="en-US" altLang="en-US" sz="1600" i="0" dirty="0">
                <a:solidFill>
                  <a:schemeClr val="tx1"/>
                </a:solidFill>
                <a:latin typeface="Times New Roman Bold" panose="02020503050405090304" charset="0"/>
                <a:cs typeface="Times New Roman Bold" panose="02020503050405090304" charset="0"/>
              </a:rPr>
              <a:t>Tutorial Link:</a:t>
            </a:r>
            <a:endParaRPr lang="en-US" altLang="en-US" sz="1600" b="0" i="0" dirty="0">
              <a:solidFill>
                <a:schemeClr val="tx1"/>
              </a:solidFill>
              <a:latin typeface="Times New Roman" panose="02020503050405090304" pitchFamily="18" charset="0"/>
              <a:cs typeface="Times New Roman" panose="02020503050405090304" pitchFamily="18" charset="0"/>
            </a:endParaRPr>
          </a:p>
          <a:p>
            <a:pPr marL="12700">
              <a:lnSpc>
                <a:spcPct val="150000"/>
              </a:lnSpc>
              <a:spcBef>
                <a:spcPts val="125"/>
              </a:spcBef>
            </a:pPr>
            <a:r>
              <a:rPr lang="en-US" altLang="en-US" sz="1600" b="0" i="0" dirty="0">
                <a:solidFill>
                  <a:schemeClr val="tx1"/>
                </a:solidFill>
                <a:latin typeface="Times New Roman" panose="02020503050405090304" pitchFamily="18" charset="0"/>
                <a:cs typeface="Times New Roman" panose="02020503050405090304" pitchFamily="18" charset="0"/>
              </a:rPr>
              <a:t>https://www.geeksforgeeks.org/system-design/system-design-tutorial/ </a:t>
            </a:r>
          </a:p>
          <a:p>
            <a:pPr marL="12700">
              <a:lnSpc>
                <a:spcPct val="150000"/>
              </a:lnSpc>
              <a:spcBef>
                <a:spcPts val="125"/>
              </a:spcBef>
            </a:pPr>
            <a:endParaRPr lang="en-US" altLang="en-US" sz="1600" b="0" i="0" dirty="0">
              <a:solidFill>
                <a:schemeClr val="tx1"/>
              </a:solidFill>
              <a:latin typeface="Times New Roman" panose="02020503050405090304" pitchFamily="18" charset="0"/>
              <a:cs typeface="Times New Roman" panose="02020503050405090304" pitchFamily="18" charset="0"/>
            </a:endParaRPr>
          </a:p>
          <a:p>
            <a:pPr marL="12700">
              <a:lnSpc>
                <a:spcPct val="150000"/>
              </a:lnSpc>
              <a:spcBef>
                <a:spcPts val="125"/>
              </a:spcBef>
            </a:pPr>
            <a:r>
              <a:rPr lang="en-US" altLang="en-US" sz="1600" i="0" dirty="0">
                <a:solidFill>
                  <a:schemeClr val="tx1"/>
                </a:solidFill>
                <a:latin typeface="Times New Roman Bold" panose="02020503050405090304" charset="0"/>
                <a:cs typeface="Times New Roman Bold" panose="02020503050405090304" charset="0"/>
              </a:rPr>
              <a:t>Video Link:</a:t>
            </a:r>
            <a:endParaRPr lang="en-US" altLang="en-US" sz="1600" b="0" i="0" dirty="0">
              <a:solidFill>
                <a:schemeClr val="tx1"/>
              </a:solidFill>
              <a:latin typeface="Times New Roman" panose="02020503050405090304" pitchFamily="18" charset="0"/>
              <a:cs typeface="Times New Roman" panose="02020503050405090304" pitchFamily="18" charset="0"/>
            </a:endParaRPr>
          </a:p>
          <a:p>
            <a:pPr marL="12700">
              <a:lnSpc>
                <a:spcPct val="150000"/>
              </a:lnSpc>
              <a:spcBef>
                <a:spcPts val="125"/>
              </a:spcBef>
            </a:pPr>
            <a:r>
              <a:rPr lang="en-US" altLang="en-US" sz="1600" b="0" i="0" dirty="0">
                <a:solidFill>
                  <a:schemeClr val="tx1"/>
                </a:solidFill>
                <a:latin typeface="Times New Roman" panose="02020503050405090304" pitchFamily="18" charset="0"/>
                <a:cs typeface="Times New Roman" panose="02020503050405090304" pitchFamily="18" charset="0"/>
              </a:rPr>
              <a:t>https://www.youtube.com/results?search_query=Introduction+to+System+Design </a:t>
            </a:r>
          </a:p>
          <a:p>
            <a:pPr marL="12700">
              <a:lnSpc>
                <a:spcPct val="150000"/>
              </a:lnSpc>
              <a:spcBef>
                <a:spcPts val="125"/>
              </a:spcBef>
            </a:pPr>
            <a:r>
              <a:rPr lang="en-US" altLang="en-US" sz="1600" b="0" i="0" dirty="0">
                <a:solidFill>
                  <a:schemeClr val="tx1"/>
                </a:solidFill>
                <a:latin typeface="Times New Roman" panose="02020503050405090304" pitchFamily="18" charset="0"/>
                <a:cs typeface="Times New Roman" panose="02020503050405090304" pitchFamily="18" charset="0"/>
              </a:rPr>
              <a:t>https://x.com/ShradhaKhapra_</a:t>
            </a: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dirty="0">
                <a:latin typeface="Times New Roman" panose="02020503050405090304" pitchFamily="18" charset="0"/>
                <a:cs typeface="Times New Roman" panose="02020503050405090304" pitchFamily="18" charset="0"/>
                <a:sym typeface="+mn-ea"/>
              </a:rPr>
              <a:t>References/</a:t>
            </a:r>
            <a:r>
              <a:rPr sz="2400" spc="-90" dirty="0">
                <a:latin typeface="Times New Roman" panose="02020503050405090304" pitchFamily="18" charset="0"/>
                <a:cs typeface="Times New Roman" panose="02020503050405090304" pitchFamily="18" charset="0"/>
                <a:sym typeface="+mn-ea"/>
              </a:rPr>
              <a:t> </a:t>
            </a:r>
            <a:r>
              <a:rPr sz="2400" dirty="0">
                <a:latin typeface="Times New Roman" panose="02020503050405090304" pitchFamily="18" charset="0"/>
                <a:cs typeface="Times New Roman" panose="02020503050405090304" pitchFamily="18" charset="0"/>
                <a:sym typeface="+mn-ea"/>
              </a:rPr>
              <a:t>Articles/</a:t>
            </a:r>
            <a:r>
              <a:rPr sz="2400" spc="-85" dirty="0">
                <a:latin typeface="Times New Roman" panose="02020503050405090304" pitchFamily="18" charset="0"/>
                <a:cs typeface="Times New Roman" panose="02020503050405090304" pitchFamily="18" charset="0"/>
                <a:sym typeface="+mn-ea"/>
              </a:rPr>
              <a:t> </a:t>
            </a:r>
            <a:r>
              <a:rPr sz="2400" spc="-10" dirty="0">
                <a:latin typeface="Times New Roman" panose="02020503050405090304" pitchFamily="18" charset="0"/>
                <a:cs typeface="Times New Roman" panose="02020503050405090304" pitchFamily="18" charset="0"/>
                <a:sym typeface="+mn-ea"/>
              </a:rPr>
              <a:t>Videos</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spc="-10" dirty="0">
                <a:latin typeface="Times New Roman" panose="02020503050405090304" pitchFamily="18" charset="0"/>
                <a:cs typeface="Times New Roman" panose="02020503050405090304" pitchFamily="18" charset="0"/>
                <a:sym typeface="+mn-ea"/>
              </a:rPr>
              <a:t>Class-Wise Feedback</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
        <p:nvSpPr>
          <p:cNvPr id="15362" name="AutoShape 2" descr="Homogeneous Distributed Database (Self Creation) | Download Scientific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7" name="Picture 6" descr="qr-code-bee-is.png"/>
          <p:cNvPicPr>
            <a:picLocks noChangeAspect="1"/>
          </p:cNvPicPr>
          <p:nvPr/>
        </p:nvPicPr>
        <p:blipFill>
          <a:blip r:embed="rId2" cstate="print"/>
          <a:stretch>
            <a:fillRect/>
          </a:stretch>
        </p:blipFill>
        <p:spPr>
          <a:xfrm>
            <a:off x="2496457" y="986972"/>
            <a:ext cx="3979636" cy="312601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547306" rIns="0" bIns="0" rtlCol="0">
            <a:spAutoFit/>
          </a:bodyPr>
          <a:lstStyle/>
          <a:p>
            <a:pPr marL="1548765">
              <a:lnSpc>
                <a:spcPct val="100000"/>
              </a:lnSpc>
              <a:spcBef>
                <a:spcPts val="90"/>
              </a:spcBef>
            </a:pPr>
            <a:r>
              <a:rPr spc="-819" dirty="0"/>
              <a:t>Thank</a:t>
            </a:r>
            <a:r>
              <a:rPr spc="-30" dirty="0"/>
              <a:t> </a:t>
            </a:r>
            <a:r>
              <a:rPr spc="-580" dirty="0"/>
              <a:t>You</a:t>
            </a:r>
          </a:p>
        </p:txBody>
      </p:sp>
      <p:sp>
        <p:nvSpPr>
          <p:cNvPr id="3" name="object 3"/>
          <p:cNvSpPr txBox="1"/>
          <p:nvPr/>
        </p:nvSpPr>
        <p:spPr>
          <a:xfrm>
            <a:off x="1759585" y="4324350"/>
            <a:ext cx="5624830" cy="323850"/>
          </a:xfrm>
          <a:prstGeom prst="rect">
            <a:avLst/>
          </a:prstGeom>
        </p:spPr>
        <p:txBody>
          <a:bodyPr vert="horz" wrap="square" lIns="0" tIns="16510" rIns="0" bIns="0" rtlCol="0">
            <a:spAutoFit/>
          </a:bodyPr>
          <a:lstStyle/>
          <a:p>
            <a:pPr marL="12700">
              <a:lnSpc>
                <a:spcPct val="100000"/>
              </a:lnSpc>
              <a:spcBef>
                <a:spcPts val="130"/>
              </a:spcBef>
            </a:pPr>
            <a:r>
              <a:rPr sz="2000" dirty="0">
                <a:latin typeface="Times New Roman" pitchFamily="18" charset="0"/>
                <a:cs typeface="Times New Roman" pitchFamily="18" charset="0"/>
              </a:rPr>
              <a:t>For</a:t>
            </a:r>
            <a:r>
              <a:rPr sz="2000" spc="-10" dirty="0">
                <a:latin typeface="Times New Roman" pitchFamily="18" charset="0"/>
                <a:cs typeface="Times New Roman" pitchFamily="18" charset="0"/>
              </a:rPr>
              <a:t> queries</a:t>
            </a:r>
            <a:r>
              <a:rPr lang="en-US" altLang="" sz="2000" spc="-10" dirty="0">
                <a:latin typeface="Times New Roman" pitchFamily="18" charset="0"/>
                <a:cs typeface="Times New Roman" pitchFamily="18" charset="0"/>
              </a:rPr>
              <a:t> </a:t>
            </a:r>
            <a:r>
              <a:rPr sz="2000" dirty="0">
                <a:latin typeface="Times New Roman" pitchFamily="18" charset="0"/>
                <a:cs typeface="Times New Roman" pitchFamily="18" charset="0"/>
              </a:rPr>
              <a:t>Email:</a:t>
            </a:r>
            <a:r>
              <a:rPr lang="en-US" altLang="" sz="2000" dirty="0">
                <a:latin typeface="Times New Roman" pitchFamily="18" charset="0"/>
                <a:cs typeface="Times New Roman" pitchFamily="18" charset="0"/>
              </a:rPr>
              <a:t> </a:t>
            </a:r>
            <a:r>
              <a:rPr lang="en-US" sz="2000" spc="-10" dirty="0" smtClean="0">
                <a:latin typeface="Times New Roman" pitchFamily="18" charset="0"/>
                <a:cs typeface="Times New Roman" pitchFamily="18" charset="0"/>
                <a:hlinkClick r:id="rId2"/>
              </a:rPr>
              <a:t>kamaljee</a:t>
            </a:r>
            <a:r>
              <a:rPr lang="en-US" sz="2000" u="sng" spc="-10" dirty="0" smtClean="0">
                <a:solidFill>
                  <a:srgbClr val="1C3678"/>
                </a:solidFill>
                <a:uFill>
                  <a:solidFill>
                    <a:srgbClr val="1C3678"/>
                  </a:solidFill>
                </a:uFill>
                <a:latin typeface="Times New Roman" pitchFamily="18" charset="0"/>
                <a:cs typeface="Times New Roman" pitchFamily="18" charset="0"/>
                <a:hlinkClick r:id="rId3"/>
              </a:rPr>
              <a:t>t</a:t>
            </a:r>
            <a:r>
              <a:rPr sz="2000" spc="-10" dirty="0" smtClean="0">
                <a:latin typeface="Times New Roman" pitchFamily="18" charset="0"/>
                <a:cs typeface="Times New Roman" pitchFamily="18" charset="0"/>
                <a:hlinkClick r:id="rId2"/>
              </a:rPr>
              <a:t>.e1</a:t>
            </a:r>
            <a:r>
              <a:rPr lang="en-US" sz="2000" spc="-10" dirty="0" smtClean="0">
                <a:latin typeface="Times New Roman" pitchFamily="18" charset="0"/>
                <a:cs typeface="Times New Roman" pitchFamily="18" charset="0"/>
                <a:hlinkClick r:id="rId2"/>
              </a:rPr>
              <a:t>9147</a:t>
            </a:r>
            <a:r>
              <a:rPr sz="2000" spc="-10" dirty="0" smtClean="0">
                <a:latin typeface="Times New Roman" pitchFamily="18" charset="0"/>
                <a:cs typeface="Times New Roman" pitchFamily="18" charset="0"/>
                <a:hlinkClick r:id="rId2"/>
              </a:rPr>
              <a:t>@cumail.in</a:t>
            </a:r>
            <a:endParaRPr sz="20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729</TotalTime>
  <Words>1046</Words>
  <Application>Microsoft Office PowerPoint</Application>
  <PresentationFormat>On-screen Show (16:9)</PresentationFormat>
  <Paragraphs>112</Paragraphs>
  <Slides>20</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2" baseType="lpstr">
      <vt:lpstr>Office Theme</vt:lpstr>
      <vt:lpstr>CorelDRAW</vt:lpstr>
      <vt:lpstr>Slide 1</vt:lpstr>
      <vt:lpstr>Slide 2</vt:lpstr>
      <vt:lpstr>Course Outcomes</vt:lpstr>
      <vt:lpstr>Unit-1 Syllabus</vt:lpstr>
      <vt:lpstr>Slide 5</vt:lpstr>
      <vt:lpstr>Slide 6</vt:lpstr>
      <vt:lpstr>Slide 7</vt:lpstr>
      <vt:lpstr>Slide 8</vt:lpstr>
      <vt:lpstr>Slide 9</vt:lpstr>
      <vt:lpstr>Slide 10</vt:lpstr>
      <vt:lpstr>Slide 11</vt:lpstr>
      <vt:lpstr>Slide 12</vt:lpstr>
      <vt:lpstr>Slide 13</vt:lpstr>
      <vt:lpstr>Slide 14</vt:lpstr>
      <vt:lpstr>Summary of the Lecture</vt:lpstr>
      <vt:lpstr>Slide 16</vt:lpstr>
      <vt:lpstr>Slide 17</vt:lpstr>
      <vt:lpstr>Slide 18</vt:lpstr>
      <vt:lpstr>Slide 19</vt:lpstr>
      <vt:lpstr>Slide 20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APEX INSTITUTE OF TECHNOLOGY DEPARTMENT OF COMPUTER SCIENCE &amp; ENGINEERING</dc:title>
  <dc:creator>DELL-LATITUDE</dc:creator>
  <cp:lastModifiedBy>DELL-LATITUDE</cp:lastModifiedBy>
  <cp:revision>89</cp:revision>
  <dcterms:created xsi:type="dcterms:W3CDTF">2025-12-03T05:18:11Z</dcterms:created>
  <dcterms:modified xsi:type="dcterms:W3CDTF">2025-12-15T05:43:41Z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2025-11-29T05:30:00Z</vt:filetime>
  </property>
  <property fmtid="{D5CDD505-2E9C-101B-9397-08002B2CF9AE}" pid="3" name="LastSaved">
    <vt:filetime>2025-11-30T05:30:00Z</vt:filetime>
  </property>
  <property fmtid="{D5CDD505-2E9C-101B-9397-08002B2CF9AE}" pid="4" name="ICV">
    <vt:lpwstr>BE53AF1E6976AF6A8CBC2F69ADEE211E_42</vt:lpwstr>
  </property>
  <property fmtid="{D5CDD505-2E9C-101B-9397-08002B2CF9AE}" pid="5" name="KSOProductBuildVer">
    <vt:lpwstr>1033-12.1.23143.23143</vt:lpwstr>
  </property>
</Properties>
</file>