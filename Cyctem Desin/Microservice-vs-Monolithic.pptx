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Default Extension="bin" ContentType="application/vnd.openxmlformats-officedocument.oleObject"/>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95" r:id="rId2"/>
    <p:sldId id="257" r:id="rId3"/>
    <p:sldId id="297" r:id="rId4"/>
    <p:sldId id="298" r:id="rId5"/>
    <p:sldId id="312" r:id="rId6"/>
    <p:sldId id="300" r:id="rId7"/>
    <p:sldId id="301" r:id="rId8"/>
    <p:sldId id="302" r:id="rId9"/>
    <p:sldId id="303" r:id="rId10"/>
    <p:sldId id="304" r:id="rId11"/>
    <p:sldId id="305" r:id="rId12"/>
    <p:sldId id="306" r:id="rId13"/>
    <p:sldId id="307" r:id="rId14"/>
    <p:sldId id="308" r:id="rId15"/>
    <p:sldId id="310" r:id="rId16"/>
    <p:sldId id="285" r:id="rId17"/>
    <p:sldId id="286" r:id="rId18"/>
    <p:sldId id="287" r:id="rId19"/>
    <p:sldId id="311" r:id="rId20"/>
    <p:sldId id="288" r:id="rId21"/>
    <p:sldId id="289" r:id="rId22"/>
    <p:sldId id="290" r:id="rId23"/>
  </p:sldIdLst>
  <p:sldSz cx="9144000" cy="5143500" type="screen16x9"/>
  <p:notesSz cx="9144000" cy="5143500"/>
  <p:defaultTextStyle>
    <a:defPPr>
      <a:defRPr kern="0"/>
    </a:defPPr>
  </p:defaultTextStyle>
  <p:extLst>
    <p:ext uri="{EFAFB233-063F-42B5-8137-9DF3F51BA10A}">
      <p15:sldGuideLst xmlns="" xmlns:p15="http://schemas.microsoft.com/office/powerpoint/2012/main">
        <p15:guide id="1" orient="horz" pos="2862"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6" d="100"/>
          <a:sy n="86" d="100"/>
        </p:scale>
        <p:origin x="-822" y="-78"/>
      </p:cViewPr>
      <p:guideLst>
        <p:guide orient="horz" pos="2862"/>
        <p:guide pos="216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1080135"/>
          </a:xfrm>
          <a:prstGeom prst="rect">
            <a:avLst/>
          </a:prstGeom>
        </p:spPr>
        <p:txBody>
          <a:bodyPr wrap="square" lIns="0" tIns="0" rIns="0" bIns="0">
            <a:spAutoFit/>
          </a:bodyPr>
          <a:lstStyle>
            <a:lvl1pPr>
              <a:defRPr sz="3950" b="1" i="0">
                <a:solidFill>
                  <a:srgbClr val="1A1A1A"/>
                </a:solidFill>
                <a:latin typeface="Calibri"/>
                <a:cs typeface="Calibri"/>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sz="8050" b="1" i="1">
                <a:solidFill>
                  <a:srgbClr val="FF0000"/>
                </a:solidFill>
                <a:latin typeface="Times New Roman" panose="02020503050405090304"/>
                <a:cs typeface="Times New Roman" panose="020205030504050903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12/14/2025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rgbClr val="1A1A1A"/>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8050" b="1" i="1">
                <a:solidFill>
                  <a:srgbClr val="FF0000"/>
                </a:solidFill>
                <a:latin typeface="Times New Roman" panose="02020503050405090304"/>
                <a:cs typeface="Times New Roman" panose="020205030504050903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12/14/2025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rgbClr val="1A1A1A"/>
                </a:solidFill>
                <a:latin typeface="Calibri"/>
                <a:cs typeface="Calibri"/>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12/14/2025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rgbClr val="1A1A1A"/>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12/14/2025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12/14/2025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804386"/>
            <a:ext cx="2949178" cy="738664"/>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740570"/>
            <a:ext cx="4629150" cy="143116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1543050"/>
            <a:ext cx="2949178" cy="18466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a:xfrm>
            <a:off x="457200" y="4783455"/>
            <a:ext cx="2103120" cy="276999"/>
          </a:xfrm>
        </p:spPr>
        <p:txBody>
          <a:bodyPr/>
          <a:lstStyle>
            <a:lvl1pPr fontAlgn="base">
              <a:spcBef>
                <a:spcPct val="0"/>
              </a:spcBef>
              <a:spcAft>
                <a:spcPct val="0"/>
              </a:spcAft>
              <a:defRPr>
                <a:latin typeface="Arial" panose="020B0604020202090204" pitchFamily="34" charset="0"/>
              </a:defRPr>
            </a:lvl1pPr>
          </a:lstStyle>
          <a:p>
            <a:pPr>
              <a:defRPr/>
            </a:pPr>
            <a:endParaRPr lang="en-US"/>
          </a:p>
        </p:txBody>
      </p:sp>
      <p:sp>
        <p:nvSpPr>
          <p:cNvPr id="6" name="Footer Placeholder 5"/>
          <p:cNvSpPr>
            <a:spLocks noGrp="1"/>
          </p:cNvSpPr>
          <p:nvPr>
            <p:ph type="ftr" sz="quarter" idx="11"/>
          </p:nvPr>
        </p:nvSpPr>
        <p:spPr>
          <a:xfrm>
            <a:off x="3108960" y="4783455"/>
            <a:ext cx="2926080" cy="276999"/>
          </a:xfrm>
        </p:spPr>
        <p:txBody>
          <a:bodyPr/>
          <a:lstStyle>
            <a:lvl1pPr fontAlgn="base">
              <a:spcBef>
                <a:spcPct val="0"/>
              </a:spcBef>
              <a:spcAft>
                <a:spcPct val="0"/>
              </a:spcAft>
              <a:defRPr>
                <a:latin typeface="Arial" panose="020B0604020202090204" pitchFamily="34" charset="0"/>
              </a:defRPr>
            </a:lvl1pPr>
          </a:lstStyle>
          <a:p>
            <a:pPr>
              <a:defRPr/>
            </a:pPr>
            <a:endParaRPr lang="en-US"/>
          </a:p>
        </p:txBody>
      </p:sp>
      <p:sp>
        <p:nvSpPr>
          <p:cNvPr id="7" name="Slide Number Placeholder 6"/>
          <p:cNvSpPr>
            <a:spLocks noGrp="1"/>
          </p:cNvSpPr>
          <p:nvPr>
            <p:ph type="sldNum" sz="quarter" idx="12"/>
          </p:nvPr>
        </p:nvSpPr>
        <p:spPr>
          <a:xfrm>
            <a:off x="6583680" y="4783455"/>
            <a:ext cx="2103120" cy="276999"/>
          </a:xfrm>
        </p:spPr>
        <p:txBody>
          <a:bodyPr/>
          <a:lstStyle>
            <a:lvl1pPr fontAlgn="base">
              <a:spcBef>
                <a:spcPct val="0"/>
              </a:spcBef>
              <a:spcAft>
                <a:spcPct val="0"/>
              </a:spcAft>
              <a:defRPr>
                <a:latin typeface="Arial" panose="020B0604020202090204" pitchFamily="34" charset="0"/>
              </a:defRPr>
            </a:lvl1pPr>
          </a:lstStyle>
          <a:p>
            <a:pPr>
              <a:defRPr/>
            </a:pPr>
            <a:fld id="{9D9B6AFD-A192-4C37-8069-CDFD0FFEA4A5}"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8" cstate="print"/>
          <a:stretch>
            <a:fillRect/>
          </a:stretch>
        </p:blipFill>
        <p:spPr>
          <a:xfrm>
            <a:off x="28575" y="19050"/>
            <a:ext cx="657225" cy="1047750"/>
          </a:xfrm>
          <a:prstGeom prst="rect">
            <a:avLst/>
          </a:prstGeom>
        </p:spPr>
      </p:pic>
      <p:sp>
        <p:nvSpPr>
          <p:cNvPr id="2" name="Holder 2"/>
          <p:cNvSpPr>
            <a:spLocks noGrp="1"/>
          </p:cNvSpPr>
          <p:nvPr>
            <p:ph type="title"/>
          </p:nvPr>
        </p:nvSpPr>
        <p:spPr>
          <a:xfrm>
            <a:off x="454977" y="89852"/>
            <a:ext cx="8234044" cy="874966"/>
          </a:xfrm>
          <a:prstGeom prst="rect">
            <a:avLst/>
          </a:prstGeom>
        </p:spPr>
        <p:txBody>
          <a:bodyPr wrap="square" lIns="0" tIns="0" rIns="0" bIns="0">
            <a:spAutoFit/>
          </a:bodyPr>
          <a:lstStyle>
            <a:lvl1pPr>
              <a:defRPr sz="3950" b="1" i="0">
                <a:solidFill>
                  <a:srgbClr val="1A1A1A"/>
                </a:solidFill>
                <a:latin typeface="Calibri"/>
                <a:cs typeface="Calibri"/>
              </a:defRPr>
            </a:lvl1pPr>
          </a:lstStyle>
          <a:p>
            <a:endParaRPr/>
          </a:p>
        </p:txBody>
      </p:sp>
      <p:sp>
        <p:nvSpPr>
          <p:cNvPr id="3" name="Holder 3"/>
          <p:cNvSpPr>
            <a:spLocks noGrp="1"/>
          </p:cNvSpPr>
          <p:nvPr>
            <p:ph type="body" idx="1"/>
          </p:nvPr>
        </p:nvSpPr>
        <p:spPr>
          <a:xfrm>
            <a:off x="1056322" y="1461452"/>
            <a:ext cx="6900545" cy="2380615"/>
          </a:xfrm>
          <a:prstGeom prst="rect">
            <a:avLst/>
          </a:prstGeom>
        </p:spPr>
        <p:txBody>
          <a:bodyPr wrap="square" lIns="0" tIns="0" rIns="0" bIns="0">
            <a:spAutoFit/>
          </a:bodyPr>
          <a:lstStyle>
            <a:lvl1pPr>
              <a:defRPr sz="8050" b="1" i="1">
                <a:solidFill>
                  <a:srgbClr val="FF0000"/>
                </a:solidFill>
                <a:latin typeface="Times New Roman" panose="02020503050405090304"/>
                <a:cs typeface="Times New Roman" panose="02020503050405090304"/>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12/14/2025</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forms.gle/KF57CKfJj9WmhsEr5" TargetMode="External"/><Relationship Id="rId2" Type="http://schemas.openxmlformats.org/officeDocument/2006/relationships/hyperlink" Target="mailto:kamaljee.e18488@cumail.in"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1588" y="3657600"/>
            <a:ext cx="9144001" cy="85367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solidFill>
                <a:prstClr val="white"/>
              </a:solidFill>
            </a:endParaRPr>
          </a:p>
        </p:txBody>
      </p:sp>
      <p:sp>
        <p:nvSpPr>
          <p:cNvPr id="32" name="Rectangle 31"/>
          <p:cNvSpPr/>
          <p:nvPr/>
        </p:nvSpPr>
        <p:spPr>
          <a:xfrm>
            <a:off x="228600" y="3962400"/>
            <a:ext cx="33338" cy="3452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solidFill>
                <a:prstClr val="white"/>
              </a:solidFill>
            </a:endParaRPr>
          </a:p>
        </p:txBody>
      </p:sp>
      <p:sp>
        <p:nvSpPr>
          <p:cNvPr id="44" name="Slide Number Placeholder 2"/>
          <p:cNvSpPr txBox="1"/>
          <p:nvPr/>
        </p:nvSpPr>
        <p:spPr>
          <a:xfrm>
            <a:off x="6572251" y="4302919"/>
            <a:ext cx="2055813" cy="205979"/>
          </a:xfrm>
          <a:prstGeom prst="rect">
            <a:avLst/>
          </a:prstGeom>
        </p:spPr>
        <p:txBody>
          <a:bodyPr lIns="68556" tIns="34279" rIns="68556" bIns="34279"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spcBef>
                <a:spcPts val="0"/>
              </a:spcBef>
              <a:spcAft>
                <a:spcPts val="0"/>
              </a:spcAft>
              <a:defRPr/>
            </a:pPr>
            <a:endParaRPr lang="en-US" sz="900" dirty="0">
              <a:solidFill>
                <a:prstClr val="black">
                  <a:tint val="75000"/>
                </a:prstClr>
              </a:solidFill>
            </a:endParaRPr>
          </a:p>
        </p:txBody>
      </p:sp>
      <p:sp>
        <p:nvSpPr>
          <p:cNvPr id="46" name="Right Triangle 45"/>
          <p:cNvSpPr/>
          <p:nvPr/>
        </p:nvSpPr>
        <p:spPr>
          <a:xfrm flipV="1">
            <a:off x="7129464" y="3983832"/>
            <a:ext cx="968375" cy="651272"/>
          </a:xfrm>
          <a:prstGeom prst="rtTriangle">
            <a:avLst/>
          </a:prstGeom>
          <a:solidFill>
            <a:srgbClr val="FFFFFF">
              <a:lumMod val="95000"/>
              <a:alpha val="17000"/>
            </a:srgb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en-ID" sz="1350" kern="0">
              <a:solidFill>
                <a:srgbClr val="FFFFFF"/>
              </a:solidFill>
              <a:latin typeface="Calibri"/>
            </a:endParaRPr>
          </a:p>
        </p:txBody>
      </p:sp>
      <p:graphicFrame>
        <p:nvGraphicFramePr>
          <p:cNvPr id="19462" name="Object 47"/>
          <p:cNvGraphicFramePr>
            <a:graphicFrameLocks noChangeAspect="1"/>
          </p:cNvGraphicFramePr>
          <p:nvPr/>
        </p:nvGraphicFramePr>
        <p:xfrm>
          <a:off x="58738" y="2399110"/>
          <a:ext cx="2476500" cy="1770459"/>
        </p:xfrm>
        <a:graphic>
          <a:graphicData uri="http://schemas.openxmlformats.org/presentationml/2006/ole">
            <p:oleObj spid="_x0000_s1025" name="CorelDRAW" r:id="rId3" imgW="2169000" imgH="2169360" progId="">
              <p:embed/>
            </p:oleObj>
          </a:graphicData>
        </a:graphic>
      </p:graphicFrame>
      <p:sp>
        <p:nvSpPr>
          <p:cNvPr id="37" name="Right Triangle 36"/>
          <p:cNvSpPr/>
          <p:nvPr/>
        </p:nvSpPr>
        <p:spPr>
          <a:xfrm flipH="1">
            <a:off x="5283201" y="628650"/>
            <a:ext cx="3859213" cy="3290888"/>
          </a:xfrm>
          <a:prstGeom prst="rtTriangle">
            <a:avLst/>
          </a:prstGeom>
          <a:solidFill>
            <a:srgbClr val="FFFFFF">
              <a:lumMod val="95000"/>
              <a:alpha val="17000"/>
            </a:srgb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en-ID" sz="1350" kern="0">
              <a:solidFill>
                <a:srgbClr val="FFFFFF"/>
              </a:solidFill>
              <a:latin typeface="Calibri"/>
            </a:endParaRPr>
          </a:p>
        </p:txBody>
      </p:sp>
      <p:sp>
        <p:nvSpPr>
          <p:cNvPr id="45" name="Rectangle 44"/>
          <p:cNvSpPr/>
          <p:nvPr/>
        </p:nvSpPr>
        <p:spPr>
          <a:xfrm>
            <a:off x="1594093" y="1782572"/>
            <a:ext cx="5120286" cy="888823"/>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solidFill>
                <a:prstClr val="white"/>
              </a:solidFill>
            </a:endParaRPr>
          </a:p>
        </p:txBody>
      </p:sp>
      <p:pic>
        <p:nvPicPr>
          <p:cNvPr id="19467" name="Picture 29"/>
          <p:cNvPicPr>
            <a:picLocks noChangeAspect="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1219200" y="514350"/>
            <a:ext cx="6629400" cy="13385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43" name="Right Triangle 42"/>
          <p:cNvSpPr/>
          <p:nvPr/>
        </p:nvSpPr>
        <p:spPr>
          <a:xfrm rot="10800000" flipV="1">
            <a:off x="7370764" y="3643313"/>
            <a:ext cx="1774825" cy="898922"/>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solidFill>
                <a:prstClr val="white"/>
              </a:solidFill>
            </a:endParaRPr>
          </a:p>
        </p:txBody>
      </p:sp>
      <p:sp>
        <p:nvSpPr>
          <p:cNvPr id="36" name="TextBox 35"/>
          <p:cNvSpPr txBox="1">
            <a:spLocks noChangeArrowheads="1"/>
          </p:cNvSpPr>
          <p:nvPr/>
        </p:nvSpPr>
        <p:spPr bwMode="auto">
          <a:xfrm>
            <a:off x="5160963" y="3984070"/>
            <a:ext cx="3695700" cy="32194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eaLnBrk="1" fontAlgn="auto" hangingPunct="1">
              <a:spcBef>
                <a:spcPts val="0"/>
              </a:spcBef>
              <a:spcAft>
                <a:spcPts val="0"/>
              </a:spcAft>
              <a:defRPr/>
            </a:pPr>
            <a:r>
              <a:rPr lang="en-US" sz="1500" b="1" dirty="0">
                <a:solidFill>
                  <a:prstClr val="black">
                    <a:lumMod val="65000"/>
                    <a:lumOff val="35000"/>
                  </a:prstClr>
                </a:solidFill>
                <a:latin typeface="Times New Roman" panose="02020503050405090304" pitchFamily="18" charset="0"/>
                <a:ea typeface="Karla" pitchFamily="2" charset="0"/>
                <a:cs typeface="Times New Roman" panose="02020503050405090304" pitchFamily="18" charset="0"/>
              </a:rPr>
              <a:t>DISCOVER . </a:t>
            </a:r>
            <a:r>
              <a:rPr lang="en-US" sz="1500" b="1" dirty="0">
                <a:solidFill>
                  <a:srgbClr val="C00000"/>
                </a:solidFill>
                <a:latin typeface="Times New Roman" panose="02020503050405090304" pitchFamily="18" charset="0"/>
                <a:ea typeface="Karla" pitchFamily="2" charset="0"/>
                <a:cs typeface="Times New Roman" panose="02020503050405090304" pitchFamily="18" charset="0"/>
              </a:rPr>
              <a:t>LEARN</a:t>
            </a:r>
            <a:r>
              <a:rPr lang="en-US" sz="1500" b="1" dirty="0">
                <a:solidFill>
                  <a:prstClr val="black">
                    <a:lumMod val="65000"/>
                    <a:lumOff val="35000"/>
                  </a:prstClr>
                </a:solidFill>
                <a:latin typeface="Times New Roman" panose="02020503050405090304" pitchFamily="18" charset="0"/>
                <a:ea typeface="Karla" pitchFamily="2" charset="0"/>
                <a:cs typeface="Times New Roman" panose="02020503050405090304" pitchFamily="18" charset="0"/>
              </a:rPr>
              <a:t> . EMPOWER</a:t>
            </a:r>
            <a:endParaRPr lang="en-US" sz="1200" b="1" dirty="0">
              <a:solidFill>
                <a:prstClr val="black"/>
              </a:solidFill>
              <a:latin typeface="Casper" panose="02000506000000020004" pitchFamily="2" charset="0"/>
            </a:endParaRPr>
          </a:p>
        </p:txBody>
      </p:sp>
      <p:sp>
        <p:nvSpPr>
          <p:cNvPr id="52" name="Rectangle 51"/>
          <p:cNvSpPr/>
          <p:nvPr/>
        </p:nvSpPr>
        <p:spPr>
          <a:xfrm>
            <a:off x="5164139" y="4042172"/>
            <a:ext cx="34925" cy="20835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sz="1350">
              <a:solidFill>
                <a:prstClr val="white"/>
              </a:solidFill>
            </a:endParaRPr>
          </a:p>
        </p:txBody>
      </p:sp>
      <p:sp>
        <p:nvSpPr>
          <p:cNvPr id="53" name="TextBox 52"/>
          <p:cNvSpPr txBox="1">
            <a:spLocks noChangeArrowheads="1"/>
          </p:cNvSpPr>
          <p:nvPr/>
        </p:nvSpPr>
        <p:spPr bwMode="auto">
          <a:xfrm>
            <a:off x="261939" y="4353323"/>
            <a:ext cx="4822825" cy="6959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defTabSz="466725" eaLnBrk="1" fontAlgn="auto" hangingPunct="1">
              <a:lnSpc>
                <a:spcPct val="90000"/>
              </a:lnSpc>
              <a:spcAft>
                <a:spcPct val="35000"/>
              </a:spcAft>
              <a:defRPr/>
            </a:pPr>
            <a:r>
              <a:rPr lang="en-IN" sz="1800" b="1" dirty="0" smtClean="0">
                <a:solidFill>
                  <a:prstClr val="black">
                    <a:lumMod val="85000"/>
                    <a:lumOff val="15000"/>
                  </a:prstClr>
                </a:solidFill>
                <a:latin typeface="Times New Roman" panose="02020503050405090304" pitchFamily="18" charset="0"/>
                <a:cs typeface="Times New Roman" panose="02020503050405090304" pitchFamily="18" charset="0"/>
              </a:rPr>
              <a:t>Lecture</a:t>
            </a:r>
            <a:endParaRPr lang="en-US" sz="1800" b="1" dirty="0">
              <a:solidFill>
                <a:prstClr val="black">
                  <a:lumMod val="85000"/>
                  <a:lumOff val="15000"/>
                </a:prstClr>
              </a:solidFill>
              <a:latin typeface="Times New Roman" panose="02020503050405090304" pitchFamily="18" charset="0"/>
              <a:cs typeface="Times New Roman" panose="02020503050405090304" pitchFamily="18" charset="0"/>
            </a:endParaRPr>
          </a:p>
          <a:p>
            <a:pPr algn="ctr" defTabSz="466725" eaLnBrk="1" fontAlgn="auto" hangingPunct="1">
              <a:lnSpc>
                <a:spcPct val="90000"/>
              </a:lnSpc>
              <a:spcAft>
                <a:spcPct val="35000"/>
              </a:spcAft>
              <a:defRPr/>
            </a:pPr>
            <a:r>
              <a:rPr lang="en-US" kern="1200" dirty="0" smtClean="0">
                <a:latin typeface="Times New Roman" panose="02020503050405090304" pitchFamily="18" charset="0"/>
                <a:ea typeface="+mn-ea"/>
                <a:cs typeface="Times New Roman" panose="02020503050405090304" pitchFamily="18" charset="0"/>
                <a:sym typeface="+mn-ea"/>
              </a:rPr>
              <a:t>Introduction to System Design</a:t>
            </a:r>
            <a:endParaRPr lang="en-US" sz="1600" dirty="0">
              <a:solidFill>
                <a:prstClr val="black"/>
              </a:solidFill>
              <a:latin typeface="Times New Roman" panose="02020503050405090304" pitchFamily="18" charset="0"/>
              <a:cs typeface="Times New Roman" panose="02020503050405090304" pitchFamily="18" charset="0"/>
            </a:endParaRPr>
          </a:p>
        </p:txBody>
      </p:sp>
      <p:sp>
        <p:nvSpPr>
          <p:cNvPr id="26" name="TextBox 25"/>
          <p:cNvSpPr txBox="1">
            <a:spLocks noChangeArrowheads="1"/>
          </p:cNvSpPr>
          <p:nvPr/>
        </p:nvSpPr>
        <p:spPr bwMode="auto">
          <a:xfrm>
            <a:off x="408305" y="1833880"/>
            <a:ext cx="8324850" cy="22136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o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algn="ctr" eaLnBrk="1" hangingPunct="1"/>
            <a:r>
              <a:rPr lang="en-IN" altLang="en-US" sz="3500" b="1" dirty="0">
                <a:solidFill>
                  <a:srgbClr val="000000"/>
                </a:solidFill>
                <a:latin typeface="Times New Roman" panose="02020503050405090304" pitchFamily="18" charset="0"/>
                <a:cs typeface="Times New Roman" panose="02020503050405090304" pitchFamily="18" charset="0"/>
              </a:rPr>
              <a:t>A</a:t>
            </a:r>
            <a:r>
              <a:rPr lang="en-US" altLang="en-IN" sz="3500" b="1" dirty="0">
                <a:solidFill>
                  <a:srgbClr val="000000"/>
                </a:solidFill>
                <a:latin typeface="Times New Roman" panose="02020503050405090304" pitchFamily="18" charset="0"/>
                <a:cs typeface="Times New Roman" panose="02020503050405090304" pitchFamily="18" charset="0"/>
              </a:rPr>
              <a:t>pex</a:t>
            </a:r>
            <a:r>
              <a:rPr lang="en-IN" altLang="en-US" sz="3500" b="1" dirty="0">
                <a:solidFill>
                  <a:srgbClr val="000000"/>
                </a:solidFill>
                <a:latin typeface="Times New Roman" panose="02020503050405090304" pitchFamily="18" charset="0"/>
                <a:cs typeface="Times New Roman" panose="02020503050405090304" pitchFamily="18" charset="0"/>
              </a:rPr>
              <a:t> I</a:t>
            </a:r>
            <a:r>
              <a:rPr lang="en-US" altLang="en-IN" sz="3500" b="1" dirty="0">
                <a:solidFill>
                  <a:srgbClr val="000000"/>
                </a:solidFill>
                <a:latin typeface="Times New Roman" panose="02020503050405090304" pitchFamily="18" charset="0"/>
                <a:cs typeface="Times New Roman" panose="02020503050405090304" pitchFamily="18" charset="0"/>
              </a:rPr>
              <a:t>nstitute</a:t>
            </a:r>
            <a:r>
              <a:rPr lang="en-IN" altLang="en-US" sz="3500" b="1" dirty="0">
                <a:solidFill>
                  <a:srgbClr val="000000"/>
                </a:solidFill>
                <a:latin typeface="Times New Roman" panose="02020503050405090304" pitchFamily="18" charset="0"/>
                <a:cs typeface="Times New Roman" panose="02020503050405090304" pitchFamily="18" charset="0"/>
              </a:rPr>
              <a:t> </a:t>
            </a:r>
            <a:r>
              <a:rPr lang="en-US" altLang="en-IN" sz="3500" b="1" dirty="0">
                <a:solidFill>
                  <a:srgbClr val="000000"/>
                </a:solidFill>
                <a:latin typeface="Times New Roman" panose="02020503050405090304" pitchFamily="18" charset="0"/>
                <a:cs typeface="Times New Roman" panose="02020503050405090304" pitchFamily="18" charset="0"/>
              </a:rPr>
              <a:t>of</a:t>
            </a:r>
            <a:r>
              <a:rPr lang="en-IN" altLang="en-US" sz="3500" b="1" dirty="0">
                <a:solidFill>
                  <a:srgbClr val="000000"/>
                </a:solidFill>
                <a:latin typeface="Times New Roman" panose="02020503050405090304" pitchFamily="18" charset="0"/>
                <a:cs typeface="Times New Roman" panose="02020503050405090304" pitchFamily="18" charset="0"/>
              </a:rPr>
              <a:t> T</a:t>
            </a:r>
            <a:r>
              <a:rPr lang="en-US" altLang="en-IN" sz="3500" b="1" dirty="0">
                <a:solidFill>
                  <a:srgbClr val="000000"/>
                </a:solidFill>
                <a:latin typeface="Times New Roman" panose="02020503050405090304" pitchFamily="18" charset="0"/>
                <a:cs typeface="Times New Roman" panose="02020503050405090304" pitchFamily="18" charset="0"/>
              </a:rPr>
              <a:t>echnology</a:t>
            </a:r>
            <a:endParaRPr lang="en-US" altLang="en-US" sz="3500" dirty="0">
              <a:solidFill>
                <a:srgbClr val="000000"/>
              </a:solidFill>
              <a:latin typeface="Times New Roman" panose="02020503050405090304" pitchFamily="18" charset="0"/>
              <a:cs typeface="Times New Roman" panose="02020503050405090304" pitchFamily="18" charset="0"/>
            </a:endParaRPr>
          </a:p>
          <a:p>
            <a:pPr algn="ctr" eaLnBrk="1" hangingPunct="1"/>
            <a:r>
              <a:rPr lang="en-US" altLang="en-IN" sz="2100" b="1" dirty="0">
                <a:solidFill>
                  <a:srgbClr val="000000"/>
                </a:solidFill>
                <a:latin typeface="Times New Roman" panose="02020503050405090304" pitchFamily="18" charset="0"/>
                <a:cs typeface="Times New Roman" panose="02020503050405090304" pitchFamily="18" charset="0"/>
              </a:rPr>
              <a:t>Department of</a:t>
            </a:r>
            <a:r>
              <a:rPr lang="en-IN" altLang="en-US" sz="2100" b="1" dirty="0">
                <a:solidFill>
                  <a:srgbClr val="000000"/>
                </a:solidFill>
                <a:latin typeface="Times New Roman" panose="02020503050405090304" pitchFamily="18" charset="0"/>
                <a:cs typeface="Times New Roman" panose="02020503050405090304" pitchFamily="18" charset="0"/>
              </a:rPr>
              <a:t> </a:t>
            </a:r>
            <a:r>
              <a:rPr lang="en-US" altLang="en-IN" sz="2100" b="1" dirty="0">
                <a:solidFill>
                  <a:srgbClr val="000000"/>
                </a:solidFill>
                <a:latin typeface="Times New Roman" panose="02020503050405090304" pitchFamily="18" charset="0"/>
                <a:cs typeface="Times New Roman" panose="02020503050405090304" pitchFamily="18" charset="0"/>
              </a:rPr>
              <a:t>Artificial Intelligence and Machine Learning</a:t>
            </a:r>
            <a:endParaRPr lang="en-US" altLang="en-US" sz="2100" b="1" dirty="0">
              <a:solidFill>
                <a:srgbClr val="000000"/>
              </a:solidFill>
              <a:latin typeface="Times New Roman" panose="02020503050405090304" pitchFamily="18" charset="0"/>
              <a:cs typeface="Times New Roman" panose="02020503050405090304" pitchFamily="18" charset="0"/>
            </a:endParaRPr>
          </a:p>
          <a:p>
            <a:pPr algn="ctr" eaLnBrk="1" hangingPunct="1">
              <a:lnSpc>
                <a:spcPct val="90000"/>
              </a:lnSpc>
              <a:spcAft>
                <a:spcPct val="35000"/>
              </a:spcAft>
            </a:pPr>
            <a:endParaRPr lang="en-US" altLang="en-US" sz="2300" b="1" dirty="0">
              <a:solidFill>
                <a:srgbClr val="000000"/>
              </a:solidFill>
              <a:latin typeface="Times New Roman" panose="02020503050405090304" pitchFamily="18" charset="0"/>
              <a:ea typeface="Calibri" panose="020F0502020204030204" pitchFamily="34" charset="0"/>
              <a:cs typeface="Times New Roman" panose="02020503050405090304" pitchFamily="18" charset="0"/>
            </a:endParaRPr>
          </a:p>
          <a:p>
            <a:pPr algn="ctr" eaLnBrk="1" hangingPunct="1">
              <a:lnSpc>
                <a:spcPct val="90000"/>
              </a:lnSpc>
              <a:spcAft>
                <a:spcPct val="35000"/>
              </a:spcAft>
            </a:pPr>
            <a:r>
              <a:rPr lang="en-US" sz="2400" dirty="0" smtClean="0">
                <a:latin typeface="Times New Roman" panose="02020503050405090304" pitchFamily="18" charset="0"/>
                <a:cs typeface="Times New Roman" panose="02020503050405090304" pitchFamily="18" charset="0"/>
              </a:rPr>
              <a:t>System Design </a:t>
            </a:r>
            <a:r>
              <a:rPr lang="en-US" altLang="en-US" sz="2400" dirty="0" smtClean="0">
                <a:solidFill>
                  <a:srgbClr val="262626"/>
                </a:solidFill>
                <a:latin typeface="Times New Roman" panose="02020503050405090304" pitchFamily="18" charset="0"/>
                <a:ea typeface="Cambria" panose="02040503050406030204" pitchFamily="18" charset="0"/>
                <a:cs typeface="Times New Roman" panose="02020503050405090304" pitchFamily="18" charset="0"/>
              </a:rPr>
              <a:t>(</a:t>
            </a:r>
            <a:r>
              <a:rPr lang="en-US" sz="2400" dirty="0" smtClean="0">
                <a:latin typeface="Times New Roman" panose="02020503050405090304" pitchFamily="18" charset="0"/>
                <a:cs typeface="Times New Roman" panose="02020503050405090304" pitchFamily="18" charset="0"/>
              </a:rPr>
              <a:t>23CST-390</a:t>
            </a:r>
            <a:r>
              <a:rPr lang="en-US" altLang="en-US" sz="2400" dirty="0" smtClean="0">
                <a:solidFill>
                  <a:srgbClr val="262626"/>
                </a:solidFill>
                <a:latin typeface="Times New Roman" panose="02020503050405090304" pitchFamily="18" charset="0"/>
                <a:ea typeface="Cambria" panose="02040503050406030204" pitchFamily="18" charset="0"/>
                <a:cs typeface="Times New Roman" panose="02020503050405090304" pitchFamily="18" charset="0"/>
              </a:rPr>
              <a:t>)</a:t>
            </a:r>
            <a:endParaRPr lang="en-US" altLang="en-US" sz="2400" dirty="0">
              <a:solidFill>
                <a:srgbClr val="262626"/>
              </a:solidFill>
              <a:latin typeface="Times New Roman" panose="02020503050405090304" pitchFamily="18" charset="0"/>
              <a:ea typeface="Cambria" panose="02040503050406030204" pitchFamily="18" charset="0"/>
              <a:cs typeface="Times New Roman" panose="02020503050405090304" pitchFamily="18" charset="0"/>
            </a:endParaRPr>
          </a:p>
          <a:p>
            <a:pPr algn="ctr" eaLnBrk="1" hangingPunct="1">
              <a:lnSpc>
                <a:spcPct val="90000"/>
              </a:lnSpc>
              <a:spcAft>
                <a:spcPct val="35000"/>
              </a:spcAft>
            </a:pPr>
            <a:r>
              <a:rPr lang="en-US" altLang="en-US" sz="2300" b="1" dirty="0">
                <a:solidFill>
                  <a:srgbClr val="262626"/>
                </a:solidFill>
                <a:latin typeface="Times New Roman" panose="02020503050405090304" pitchFamily="18" charset="0"/>
                <a:cs typeface="Times New Roman" panose="02020503050405090304" pitchFamily="18" charset="0"/>
              </a:rPr>
              <a:t>Faculty:</a:t>
            </a:r>
            <a:r>
              <a:rPr lang="en-US" altLang="en-US" sz="2300" dirty="0">
                <a:solidFill>
                  <a:srgbClr val="262626"/>
                </a:solidFill>
                <a:latin typeface="Times New Roman" panose="02020503050405090304" pitchFamily="18" charset="0"/>
                <a:cs typeface="Times New Roman" panose="02020503050405090304" pitchFamily="18" charset="0"/>
              </a:rPr>
              <a:t> </a:t>
            </a:r>
            <a:r>
              <a:rPr lang="en-US" altLang="en-US" sz="2300" dirty="0" smtClean="0">
                <a:solidFill>
                  <a:srgbClr val="262626"/>
                </a:solidFill>
                <a:latin typeface="Times New Roman" panose="02020503050405090304" pitchFamily="18" charset="0"/>
                <a:cs typeface="Times New Roman" panose="02020503050405090304" pitchFamily="18" charset="0"/>
              </a:rPr>
              <a:t>(</a:t>
            </a:r>
            <a:r>
              <a:rPr lang="en-US" altLang="en-US" sz="2300" dirty="0" err="1" smtClean="0">
                <a:solidFill>
                  <a:srgbClr val="262626"/>
                </a:solidFill>
                <a:latin typeface="Times New Roman" panose="02020503050405090304" pitchFamily="18" charset="0"/>
                <a:cs typeface="Times New Roman" panose="02020503050405090304" pitchFamily="18" charset="0"/>
              </a:rPr>
              <a:t>Er</a:t>
            </a:r>
            <a:r>
              <a:rPr lang="en-US" altLang="en-US" sz="2300" dirty="0">
                <a:solidFill>
                  <a:srgbClr val="262626"/>
                </a:solidFill>
                <a:latin typeface="Times New Roman" panose="02020503050405090304" pitchFamily="18" charset="0"/>
                <a:cs typeface="Times New Roman" panose="02020503050405090304" pitchFamily="18" charset="0"/>
              </a:rPr>
              <a:t>.) </a:t>
            </a:r>
            <a:r>
              <a:rPr lang="en-US" altLang="en-US" sz="2300" dirty="0" err="1" smtClean="0">
                <a:solidFill>
                  <a:srgbClr val="262626"/>
                </a:solidFill>
                <a:latin typeface="Times New Roman" panose="02020503050405090304" pitchFamily="18" charset="0"/>
                <a:cs typeface="Times New Roman" panose="02020503050405090304" pitchFamily="18" charset="0"/>
              </a:rPr>
              <a:t>Kamaljee</a:t>
            </a:r>
            <a:r>
              <a:rPr lang="en-IN" sz="2400" dirty="0" smtClean="0">
                <a:solidFill>
                  <a:prstClr val="black"/>
                </a:solidFill>
                <a:latin typeface="Times New Roman" panose="02020503050405090304" pitchFamily="18" charset="0"/>
                <a:ea typeface="Times New Roman" panose="02020503050405090304" pitchFamily="18" charset="0"/>
                <a:cs typeface="Times New Roman" panose="02020503050405090304" pitchFamily="18" charset="0"/>
              </a:rPr>
              <a:t>t</a:t>
            </a:r>
            <a:r>
              <a:rPr lang="en-US" altLang="en-US" sz="2300" dirty="0" smtClean="0">
                <a:solidFill>
                  <a:srgbClr val="262626"/>
                </a:solidFill>
                <a:latin typeface="Times New Roman" panose="02020503050405090304" pitchFamily="18" charset="0"/>
                <a:cs typeface="Times New Roman" panose="02020503050405090304" pitchFamily="18" charset="0"/>
              </a:rPr>
              <a:t> </a:t>
            </a:r>
            <a:r>
              <a:rPr lang="en-US" altLang="en-US" sz="2300" dirty="0" err="1" smtClean="0">
                <a:solidFill>
                  <a:srgbClr val="262626"/>
                </a:solidFill>
                <a:latin typeface="Times New Roman" panose="02020503050405090304" pitchFamily="18" charset="0"/>
                <a:cs typeface="Times New Roman" panose="02020503050405090304" pitchFamily="18" charset="0"/>
              </a:rPr>
              <a:t>Kaur </a:t>
            </a:r>
            <a:r>
              <a:rPr lang="en-US" altLang="en-US" sz="2300" dirty="0" smtClean="0">
                <a:solidFill>
                  <a:srgbClr val="262626"/>
                </a:solidFill>
                <a:latin typeface="Times New Roman" panose="02020503050405090304" pitchFamily="18" charset="0"/>
                <a:cs typeface="Times New Roman" panose="02020503050405090304" pitchFamily="18" charset="0"/>
              </a:rPr>
              <a:t>(E19147)</a:t>
            </a:r>
            <a:endParaRPr lang="en-US" altLang="en-US" sz="2300" dirty="0">
              <a:solidFill>
                <a:srgbClr val="262626"/>
              </a:solidFill>
              <a:latin typeface="Times New Roman" panose="02020503050405090304" pitchFamily="18" charset="0"/>
              <a:cs typeface="Times New Roman" panose="02020503050405090304" pitchFamily="18" charset="0"/>
            </a:endParaRPr>
          </a:p>
          <a:p>
            <a:pPr algn="ctr" eaLnBrk="1" hangingPunct="1">
              <a:lnSpc>
                <a:spcPct val="90000"/>
              </a:lnSpc>
              <a:spcAft>
                <a:spcPct val="35000"/>
              </a:spcAft>
            </a:pPr>
            <a:endParaRPr lang="en-US" altLang="en-US" sz="1100" dirty="0">
              <a:solidFill>
                <a:srgbClr val="000000"/>
              </a:solidFill>
              <a:latin typeface="Times New Roman" panose="02020503050405090304" pitchFamily="18" charset="0"/>
              <a:cs typeface="Times New Roman" panose="02020503050405090304" pitchFamily="18" charset="0"/>
            </a:endParaRPr>
          </a:p>
        </p:txBody>
      </p:sp>
      <p:sp>
        <p:nvSpPr>
          <p:cNvPr id="16" name="object 9"/>
          <p:cNvSpPr txBox="1"/>
          <p:nvPr/>
        </p:nvSpPr>
        <p:spPr>
          <a:xfrm>
            <a:off x="6327775" y="22860"/>
            <a:ext cx="2750185" cy="472440"/>
          </a:xfrm>
          <a:prstGeom prst="rect">
            <a:avLst/>
          </a:prstGeom>
        </p:spPr>
        <p:txBody>
          <a:bodyPr vert="horz" wrap="square" lIns="0" tIns="16510" rIns="0" bIns="0" rtlCol="0">
            <a:spAutoFit/>
          </a:bodyPr>
          <a:lstStyle/>
          <a:p>
            <a:pPr marL="12700" algn="r">
              <a:lnSpc>
                <a:spcPct val="100000"/>
              </a:lnSpc>
              <a:spcBef>
                <a:spcPts val="130"/>
              </a:spcBef>
            </a:pPr>
            <a:r>
              <a:rPr sz="1550" b="0" dirty="0">
                <a:solidFill>
                  <a:schemeClr val="tx1"/>
                </a:solidFill>
                <a:latin typeface="Times New Roman Regular" panose="02020503050405090304" charset="0"/>
                <a:cs typeface="Times New Roman Regular" panose="02020503050405090304" charset="0"/>
              </a:rPr>
              <a:t>Academic</a:t>
            </a:r>
            <a:r>
              <a:rPr sz="1550" b="0" spc="229" dirty="0">
                <a:solidFill>
                  <a:schemeClr val="tx1"/>
                </a:solidFill>
                <a:latin typeface="Times New Roman Regular" panose="02020503050405090304" charset="0"/>
                <a:cs typeface="Times New Roman Regular" panose="02020503050405090304" charset="0"/>
              </a:rPr>
              <a:t> </a:t>
            </a:r>
            <a:r>
              <a:rPr sz="1550" b="0" dirty="0">
                <a:solidFill>
                  <a:schemeClr val="tx1"/>
                </a:solidFill>
                <a:latin typeface="Times New Roman Regular" panose="02020503050405090304" charset="0"/>
                <a:cs typeface="Times New Roman Regular" panose="02020503050405090304" charset="0"/>
              </a:rPr>
              <a:t>Session</a:t>
            </a:r>
            <a:r>
              <a:rPr sz="1550" b="0" spc="180" dirty="0">
                <a:solidFill>
                  <a:schemeClr val="tx1"/>
                </a:solidFill>
                <a:latin typeface="Times New Roman Regular" panose="02020503050405090304" charset="0"/>
                <a:cs typeface="Times New Roman Regular" panose="02020503050405090304" charset="0"/>
              </a:rPr>
              <a:t> </a:t>
            </a:r>
            <a:r>
              <a:rPr sz="1550" b="0" dirty="0">
                <a:solidFill>
                  <a:schemeClr val="tx1"/>
                </a:solidFill>
                <a:latin typeface="Times New Roman Regular" panose="02020503050405090304" charset="0"/>
                <a:cs typeface="Times New Roman Regular" panose="02020503050405090304" charset="0"/>
              </a:rPr>
              <a:t>202</a:t>
            </a:r>
            <a:r>
              <a:rPr lang="en-US" altLang="" sz="1550" b="0" dirty="0">
                <a:solidFill>
                  <a:schemeClr val="tx1"/>
                </a:solidFill>
                <a:latin typeface="Times New Roman Regular" panose="02020503050405090304" charset="0"/>
                <a:cs typeface="Times New Roman Regular" panose="02020503050405090304" charset="0"/>
              </a:rPr>
              <a:t>5</a:t>
            </a:r>
            <a:r>
              <a:rPr sz="1550" b="0" dirty="0">
                <a:solidFill>
                  <a:schemeClr val="tx1"/>
                </a:solidFill>
                <a:latin typeface="Times New Roman Regular" panose="02020503050405090304" charset="0"/>
                <a:cs typeface="Times New Roman Regular" panose="02020503050405090304" charset="0"/>
              </a:rPr>
              <a:t>-</a:t>
            </a:r>
            <a:r>
              <a:rPr sz="1550" b="0" spc="-25" dirty="0">
                <a:solidFill>
                  <a:schemeClr val="tx1"/>
                </a:solidFill>
                <a:latin typeface="Times New Roman Regular" panose="02020503050405090304" charset="0"/>
                <a:cs typeface="Times New Roman Regular" panose="02020503050405090304" charset="0"/>
              </a:rPr>
              <a:t>2</a:t>
            </a:r>
            <a:r>
              <a:rPr lang="en-US" altLang="" sz="1550" b="0" spc="-25" dirty="0">
                <a:solidFill>
                  <a:schemeClr val="tx1"/>
                </a:solidFill>
                <a:latin typeface="Times New Roman Regular" panose="02020503050405090304" charset="0"/>
                <a:cs typeface="Times New Roman Regular" panose="02020503050405090304" charset="0"/>
              </a:rPr>
              <a:t>6</a:t>
            </a:r>
            <a:endParaRPr sz="1550" b="0" dirty="0">
              <a:solidFill>
                <a:schemeClr val="tx1"/>
              </a:solidFill>
              <a:latin typeface="Times New Roman Regular" panose="02020503050405090304" charset="0"/>
              <a:cs typeface="Times New Roman Regular" panose="02020503050405090304" charset="0"/>
            </a:endParaRPr>
          </a:p>
          <a:p>
            <a:pPr marL="120650" algn="r">
              <a:lnSpc>
                <a:spcPct val="100000"/>
              </a:lnSpc>
              <a:spcBef>
                <a:spcPts val="20"/>
              </a:spcBef>
            </a:pPr>
            <a:r>
              <a:rPr sz="1400" b="0" dirty="0">
                <a:solidFill>
                  <a:schemeClr val="tx1"/>
                </a:solidFill>
                <a:latin typeface="Times New Roman Regular" panose="02020503050405090304" charset="0"/>
                <a:cs typeface="Times New Roman Regular" panose="02020503050405090304" charset="0"/>
              </a:rPr>
              <a:t>E</a:t>
            </a:r>
            <a:r>
              <a:rPr lang="en-US" altLang="" sz="1400" b="0" dirty="0">
                <a:solidFill>
                  <a:schemeClr val="tx1"/>
                </a:solidFill>
                <a:latin typeface="Times New Roman Regular" panose="02020503050405090304" charset="0"/>
                <a:cs typeface="Times New Roman Regular" panose="02020503050405090304" charset="0"/>
              </a:rPr>
              <a:t>ven</a:t>
            </a:r>
            <a:r>
              <a:rPr sz="1400" b="0" spc="-5" dirty="0">
                <a:solidFill>
                  <a:schemeClr val="tx1"/>
                </a:solidFill>
                <a:latin typeface="Times New Roman Regular" panose="02020503050405090304" charset="0"/>
                <a:cs typeface="Times New Roman Regular" panose="02020503050405090304" charset="0"/>
              </a:rPr>
              <a:t> </a:t>
            </a:r>
            <a:r>
              <a:rPr sz="1400" b="0" dirty="0">
                <a:solidFill>
                  <a:schemeClr val="tx1"/>
                </a:solidFill>
                <a:latin typeface="Times New Roman Regular" panose="02020503050405090304" charset="0"/>
                <a:cs typeface="Times New Roman Regular" panose="02020503050405090304" charset="0"/>
              </a:rPr>
              <a:t>Semester</a:t>
            </a:r>
            <a:r>
              <a:rPr sz="1400" b="0" spc="-25" dirty="0">
                <a:solidFill>
                  <a:schemeClr val="tx1"/>
                </a:solidFill>
                <a:latin typeface="Times New Roman Regular" panose="02020503050405090304" charset="0"/>
                <a:cs typeface="Times New Roman Regular" panose="02020503050405090304" charset="0"/>
              </a:rPr>
              <a:t> </a:t>
            </a:r>
            <a:r>
              <a:rPr sz="1400" b="0" spc="-10" dirty="0">
                <a:solidFill>
                  <a:schemeClr val="tx1"/>
                </a:solidFill>
                <a:latin typeface="Times New Roman Regular" panose="02020503050405090304" charset="0"/>
                <a:cs typeface="Times New Roman Regular" panose="02020503050405090304" charset="0"/>
              </a:rPr>
              <a:t>Jan-</a:t>
            </a:r>
            <a:r>
              <a:rPr sz="1400" b="0" dirty="0">
                <a:solidFill>
                  <a:schemeClr val="tx1"/>
                </a:solidFill>
                <a:latin typeface="Times New Roman Regular" panose="02020503050405090304" charset="0"/>
                <a:cs typeface="Times New Roman Regular" panose="02020503050405090304" charset="0"/>
              </a:rPr>
              <a:t>Jun</a:t>
            </a:r>
            <a:r>
              <a:rPr lang="en-US" altLang="" sz="1400" b="0" spc="-45" dirty="0">
                <a:solidFill>
                  <a:schemeClr val="tx1"/>
                </a:solidFill>
                <a:latin typeface="Times New Roman Regular" panose="02020503050405090304" charset="0"/>
                <a:cs typeface="Times New Roman Regular" panose="02020503050405090304" charset="0"/>
              </a:rPr>
              <a:t>’</a:t>
            </a:r>
            <a:r>
              <a:rPr sz="1400" b="0" spc="-20" dirty="0">
                <a:solidFill>
                  <a:schemeClr val="tx1"/>
                </a:solidFill>
                <a:latin typeface="Times New Roman Regular" panose="02020503050405090304" charset="0"/>
                <a:cs typeface="Times New Roman Regular" panose="02020503050405090304" charset="0"/>
              </a:rPr>
              <a:t>26</a:t>
            </a:r>
          </a:p>
        </p:txBody>
      </p:sp>
    </p:spTree>
  </p:cSld>
  <p:clrMapOvr>
    <a:masterClrMapping/>
  </p:clrMapOvr>
  <p:transition spd="slow"/>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61365" y="1152525"/>
            <a:ext cx="7927340" cy="2270760"/>
          </a:xfrm>
          <a:prstGeom prst="rect">
            <a:avLst/>
          </a:prstGeom>
        </p:spPr>
        <p:txBody>
          <a:bodyPr vert="horz" wrap="square" lIns="0" tIns="15875" rIns="0" bIns="0" rtlCol="0">
            <a:noAutofit/>
          </a:bodyPr>
          <a:lstStyle/>
          <a:p>
            <a:pPr algn="just">
              <a:lnSpc>
                <a:spcPct val="150000"/>
              </a:lnSpc>
              <a:buFont typeface="Arial" panose="020B0604020202090204" pitchFamily="34" charset="0"/>
              <a:buChar char="•"/>
            </a:pPr>
            <a:r>
              <a:rPr lang="en-US" sz="1600" dirty="0" smtClean="0">
                <a:latin typeface="Times New Roman" panose="02020503050405090304" pitchFamily="18" charset="0"/>
                <a:cs typeface="Times New Roman" panose="02020503050405090304" pitchFamily="18" charset="0"/>
              </a:rPr>
              <a:t>  Understand the fundamental concepts of system design and its importance in building   </a:t>
            </a:r>
          </a:p>
          <a:p>
            <a:pPr indent="0" algn="just">
              <a:lnSpc>
                <a:spcPct val="150000"/>
              </a:lnSpc>
              <a:buFont typeface="Arial" panose="020B0604020202090204" pitchFamily="34" charset="0"/>
              <a:buNone/>
            </a:pPr>
            <a:r>
              <a:rPr lang="en-US" sz="1600" dirty="0" smtClean="0">
                <a:latin typeface="Times New Roman" panose="02020503050405090304" pitchFamily="18" charset="0"/>
                <a:cs typeface="Times New Roman" panose="02020503050405090304" pitchFamily="18" charset="0"/>
              </a:rPr>
              <a:t>   scalable applications.</a:t>
            </a:r>
          </a:p>
          <a:p>
            <a:pPr algn="just">
              <a:lnSpc>
                <a:spcPct val="150000"/>
              </a:lnSpc>
              <a:buFont typeface="Arial" panose="020B0604020202090204" pitchFamily="34" charset="0"/>
              <a:buChar char="•"/>
            </a:pPr>
            <a:r>
              <a:rPr lang="en-US" sz="1600" dirty="0" smtClean="0">
                <a:latin typeface="Times New Roman" panose="02020503050405090304" pitchFamily="18" charset="0"/>
                <a:cs typeface="Times New Roman" panose="02020503050405090304" pitchFamily="18" charset="0"/>
              </a:rPr>
              <a:t>  Learn the principles of scalability, availability, and reliability in large systems.</a:t>
            </a:r>
          </a:p>
          <a:p>
            <a:pPr algn="just">
              <a:lnSpc>
                <a:spcPct val="150000"/>
              </a:lnSpc>
              <a:buFont typeface="Arial" panose="020B0604020202090204" pitchFamily="34" charset="0"/>
              <a:buChar char="•"/>
            </a:pPr>
            <a:r>
              <a:rPr lang="en-US" sz="1600" dirty="0" smtClean="0">
                <a:latin typeface="Times New Roman" panose="02020503050405090304" pitchFamily="18" charset="0"/>
                <a:cs typeface="Times New Roman" panose="02020503050405090304" pitchFamily="18" charset="0"/>
              </a:rPr>
              <a:t>  Differentiate between Monolithic and </a:t>
            </a:r>
            <a:r>
              <a:rPr lang="en-US" sz="1600" dirty="0" err="1" smtClean="0">
                <a:latin typeface="Times New Roman" panose="02020503050405090304" pitchFamily="18" charset="0"/>
                <a:cs typeface="Times New Roman" panose="02020503050405090304" pitchFamily="18" charset="0"/>
              </a:rPr>
              <a:t>Microservices</a:t>
            </a:r>
            <a:r>
              <a:rPr lang="en-US" sz="1600" dirty="0" smtClean="0">
                <a:latin typeface="Times New Roman" panose="02020503050405090304" pitchFamily="18" charset="0"/>
                <a:cs typeface="Times New Roman" panose="02020503050405090304" pitchFamily="18" charset="0"/>
              </a:rPr>
              <a:t> architectures.</a:t>
            </a:r>
          </a:p>
          <a:p>
            <a:pPr algn="just">
              <a:lnSpc>
                <a:spcPct val="150000"/>
              </a:lnSpc>
              <a:buFont typeface="Arial" panose="020B0604020202090204" pitchFamily="34" charset="0"/>
              <a:buChar char="•"/>
            </a:pPr>
            <a:r>
              <a:rPr lang="en-US" sz="1600" dirty="0" smtClean="0">
                <a:latin typeface="Times New Roman" panose="02020503050405090304" pitchFamily="18" charset="0"/>
                <a:cs typeface="Times New Roman" panose="02020503050405090304" pitchFamily="18" charset="0"/>
              </a:rPr>
              <a:t>  Explain key performance metrics such as latency and throughput.</a:t>
            </a:r>
          </a:p>
          <a:p>
            <a:pPr algn="just">
              <a:lnSpc>
                <a:spcPct val="150000"/>
              </a:lnSpc>
              <a:buFont typeface="Arial" panose="020B0604020202090204" pitchFamily="34" charset="0"/>
              <a:buChar char="•"/>
            </a:pPr>
            <a:r>
              <a:rPr lang="en-US" sz="1600" dirty="0" smtClean="0">
                <a:latin typeface="Times New Roman" panose="02020503050405090304" pitchFamily="18" charset="0"/>
                <a:cs typeface="Times New Roman" panose="02020503050405090304" pitchFamily="18" charset="0"/>
              </a:rPr>
              <a:t>  Understand how caching improves system speed and reduces load on backend services.</a:t>
            </a:r>
            <a:endParaRPr lang="en-US" sz="1600" dirty="0">
              <a:latin typeface="Times New Roman" panose="02020503050405090304" pitchFamily="18" charset="0"/>
              <a:cs typeface="Times New Roman" panose="02020503050405090304" pitchFamily="18" charset="0"/>
            </a:endParaRPr>
          </a:p>
        </p:txBody>
      </p:sp>
      <p:sp>
        <p:nvSpPr>
          <p:cNvPr id="8" name="Title 7"/>
          <p:cNvSpPr txBox="1">
            <a:spLocks noGrp="1" noChangeArrowheads="1"/>
          </p:cNvSpPr>
          <p:nvPr/>
        </p:nvSpPr>
        <p:spPr>
          <a:xfrm>
            <a:off x="761683" y="378381"/>
            <a:ext cx="4267200" cy="276860"/>
          </a:xfrm>
          <a:prstGeom prst="rect">
            <a:avLst/>
          </a:prstGeom>
        </p:spPr>
        <p:txBody>
          <a:bodyPr wrap="square" lIns="0" tIns="0" rIns="0" bIns="0" rtlCol="0" anchor="b">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fontAlgn="auto">
              <a:spcAft>
                <a:spcPts val="0"/>
              </a:spcAft>
              <a:defRPr/>
            </a:pPr>
            <a:r>
              <a:rPr lang="en-US" sz="1800" b="1" dirty="0">
                <a:latin typeface="Times New Roman" panose="02020503050405090304" pitchFamily="18" charset="0"/>
                <a:cs typeface="Times New Roman" panose="02020503050405090304" pitchFamily="18" charset="0"/>
                <a:sym typeface="+mn-ea"/>
              </a:rPr>
              <a:t>Learning Objectives</a:t>
            </a:r>
            <a:endParaRPr lang="en-US" b="1"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txBox="1">
            <a:spLocks noGrp="1" noChangeArrowheads="1"/>
          </p:cNvSpPr>
          <p:nvPr>
            <p:ph type="title"/>
          </p:nvPr>
        </p:nvSpPr>
        <p:spPr>
          <a:xfrm>
            <a:off x="761683" y="286306"/>
            <a:ext cx="4267200" cy="368935"/>
          </a:xfrm>
        </p:spPr>
        <p:txBody>
          <a:bodyPr rtlCol="0">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fontAlgn="auto">
              <a:spcAft>
                <a:spcPts val="0"/>
              </a:spcAft>
              <a:defRPr/>
            </a:pPr>
            <a:r>
              <a:rPr lang="en-US" b="1" dirty="0" smtClean="0">
                <a:latin typeface="Times New Roman" panose="02020503050405090304" pitchFamily="18" charset="0"/>
                <a:cs typeface="Times New Roman" panose="02020503050405090304" pitchFamily="18" charset="0"/>
              </a:rPr>
              <a:t>Course </a:t>
            </a:r>
            <a:r>
              <a:rPr lang="en-US" b="1" dirty="0">
                <a:latin typeface="Times New Roman" panose="02020503050405090304" pitchFamily="18" charset="0"/>
                <a:cs typeface="Times New Roman" panose="02020503050405090304" pitchFamily="18" charset="0"/>
              </a:rPr>
              <a:t>Outcomes</a:t>
            </a:r>
          </a:p>
        </p:txBody>
      </p:sp>
      <p:sp>
        <p:nvSpPr>
          <p:cNvPr id="21508" name="Rectangle 3"/>
          <p:cNvSpPr>
            <a:spLocks noChangeArrowheads="1"/>
          </p:cNvSpPr>
          <p:nvPr/>
        </p:nvSpPr>
        <p:spPr bwMode="auto">
          <a:xfrm>
            <a:off x="741998" y="971471"/>
            <a:ext cx="5072222" cy="3385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90204" pitchFamily="34" charset="0"/>
              </a:defRPr>
            </a:lvl1pPr>
            <a:lvl2pPr marL="742950" indent="-285750">
              <a:defRPr>
                <a:solidFill>
                  <a:schemeClr val="tx1"/>
                </a:solidFill>
                <a:latin typeface="Arial" panose="020B0604020202090204" pitchFamily="34" charset="0"/>
              </a:defRPr>
            </a:lvl2pPr>
            <a:lvl3pPr marL="1143000" indent="-228600">
              <a:defRPr>
                <a:solidFill>
                  <a:schemeClr val="tx1"/>
                </a:solidFill>
                <a:latin typeface="Arial" panose="020B0604020202090204" pitchFamily="34" charset="0"/>
              </a:defRPr>
            </a:lvl3pPr>
            <a:lvl4pPr marL="1600200" indent="-228600">
              <a:defRPr>
                <a:solidFill>
                  <a:schemeClr val="tx1"/>
                </a:solidFill>
                <a:latin typeface="Arial" panose="020B0604020202090204" pitchFamily="34" charset="0"/>
              </a:defRPr>
            </a:lvl4pPr>
            <a:lvl5pPr marL="2057400" indent="-228600">
              <a:defRPr>
                <a:solidFill>
                  <a:schemeClr val="tx1"/>
                </a:solidFill>
                <a:latin typeface="Arial" panose="020B0604020202090204" pitchFamily="34" charset="0"/>
              </a:defRPr>
            </a:lvl5pPr>
            <a:lvl6pPr marL="2514600" indent="-228600" eaLnBrk="0" fontAlgn="base" hangingPunct="0">
              <a:spcBef>
                <a:spcPct val="0"/>
              </a:spcBef>
              <a:spcAft>
                <a:spcPct val="0"/>
              </a:spcAft>
              <a:defRPr>
                <a:solidFill>
                  <a:schemeClr val="tx1"/>
                </a:solidFill>
                <a:latin typeface="Arial" panose="020B0604020202090204" pitchFamily="34" charset="0"/>
              </a:defRPr>
            </a:lvl6pPr>
            <a:lvl7pPr marL="2971800" indent="-228600" eaLnBrk="0" fontAlgn="base" hangingPunct="0">
              <a:spcBef>
                <a:spcPct val="0"/>
              </a:spcBef>
              <a:spcAft>
                <a:spcPct val="0"/>
              </a:spcAft>
              <a:defRPr>
                <a:solidFill>
                  <a:schemeClr val="tx1"/>
                </a:solidFill>
                <a:latin typeface="Arial" panose="020B0604020202090204" pitchFamily="34" charset="0"/>
              </a:defRPr>
            </a:lvl7pPr>
            <a:lvl8pPr marL="3429000" indent="-228600" eaLnBrk="0" fontAlgn="base" hangingPunct="0">
              <a:spcBef>
                <a:spcPct val="0"/>
              </a:spcBef>
              <a:spcAft>
                <a:spcPct val="0"/>
              </a:spcAft>
              <a:defRPr>
                <a:solidFill>
                  <a:schemeClr val="tx1"/>
                </a:solidFill>
                <a:latin typeface="Arial" panose="020B0604020202090204" pitchFamily="34" charset="0"/>
              </a:defRPr>
            </a:lvl8pPr>
            <a:lvl9pPr marL="3886200" indent="-228600" eaLnBrk="0" fontAlgn="base" hangingPunct="0">
              <a:spcBef>
                <a:spcPct val="0"/>
              </a:spcBef>
              <a:spcAft>
                <a:spcPct val="0"/>
              </a:spcAft>
              <a:defRPr>
                <a:solidFill>
                  <a:schemeClr val="tx1"/>
                </a:solidFill>
                <a:latin typeface="Arial" panose="020B0604020202090204" pitchFamily="34" charset="0"/>
              </a:defRPr>
            </a:lvl9pPr>
          </a:lstStyle>
          <a:p>
            <a:pPr eaLnBrk="1" hangingPunct="1"/>
            <a:r>
              <a:rPr lang="en-IN" altLang="en-US" sz="1600" dirty="0">
                <a:solidFill>
                  <a:srgbClr val="000000"/>
                </a:solidFill>
                <a:latin typeface="Times New Roman" panose="02020503050405090304" pitchFamily="18" charset="0"/>
                <a:cs typeface="Times New Roman" panose="02020503050405090304" pitchFamily="18" charset="0"/>
              </a:rPr>
              <a:t>On completion of this course, the students shall be able to:-</a:t>
            </a:r>
            <a:endParaRPr lang="en-US" altLang="en-US" sz="1600" dirty="0">
              <a:solidFill>
                <a:srgbClr val="000000"/>
              </a:solidFill>
              <a:latin typeface="Times New Roman" panose="02020503050405090304" pitchFamily="18" charset="0"/>
              <a:cs typeface="Times New Roman" panose="02020503050405090304" pitchFamily="18" charset="0"/>
            </a:endParaRPr>
          </a:p>
        </p:txBody>
      </p:sp>
      <p:graphicFrame>
        <p:nvGraphicFramePr>
          <p:cNvPr id="3" name="Table 2"/>
          <p:cNvGraphicFramePr>
            <a:graphicFrameLocks noGrp="1"/>
          </p:cNvGraphicFramePr>
          <p:nvPr/>
        </p:nvGraphicFramePr>
        <p:xfrm>
          <a:off x="741998" y="1351360"/>
          <a:ext cx="7772881" cy="3168460"/>
        </p:xfrm>
        <a:graphic>
          <a:graphicData uri="http://schemas.openxmlformats.org/drawingml/2006/table">
            <a:tbl>
              <a:tblPr bandRow="1">
                <a:tableStyleId>{5C22544A-7EE6-4342-B048-85BDC9FD1C3A}</a:tableStyleId>
              </a:tblPr>
              <a:tblGrid>
                <a:gridCol w="494030"/>
                <a:gridCol w="7278851"/>
              </a:tblGrid>
              <a:tr h="641386">
                <a:tc>
                  <a:txBody>
                    <a:bodyPr/>
                    <a:lstStyle/>
                    <a:p>
                      <a:pPr>
                        <a:lnSpc>
                          <a:spcPct val="107000"/>
                        </a:lnSpc>
                        <a:spcAft>
                          <a:spcPts val="0"/>
                        </a:spcAft>
                      </a:pPr>
                      <a:r>
                        <a:rPr lang="en-US" sz="1200" kern="0" dirty="0" smtClean="0">
                          <a:effectLst/>
                          <a:latin typeface="Times New Roman" panose="02020503050405090304" pitchFamily="18" charset="0"/>
                          <a:cs typeface="Times New Roman" panose="02020503050405090304" pitchFamily="18" charset="0"/>
                        </a:rPr>
                        <a:t>CO1</a:t>
                      </a:r>
                      <a:endParaRPr lang="en-US" sz="1200" kern="100" dirty="0">
                        <a:effectLst/>
                        <a:latin typeface="Times New Roman" panose="02020503050405090304" pitchFamily="18" charset="0"/>
                        <a:ea typeface="Calibri" panose="020F0502020204030204" pitchFamily="34" charset="0"/>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200" kern="1200" dirty="0" smtClean="0">
                          <a:solidFill>
                            <a:schemeClr val="dk1"/>
                          </a:solidFill>
                          <a:latin typeface="Times New Roman" panose="02020503050405090304" pitchFamily="18" charset="0"/>
                          <a:ea typeface="+mn-ea"/>
                          <a:cs typeface="Times New Roman" panose="02020503050405090304" pitchFamily="18" charset="0"/>
                        </a:rPr>
                        <a:t>Understand the </a:t>
                      </a:r>
                      <a:r>
                        <a:rPr lang="en-US" sz="1200" kern="1200" dirty="0" smtClean="0">
                          <a:solidFill>
                            <a:schemeClr val="dk1"/>
                          </a:solidFill>
                          <a:latin typeface="Times New Roman" panose="02020503050405090304" pitchFamily="18" charset="0"/>
                          <a:ea typeface="+mn-ea"/>
                          <a:cs typeface="Times New Roman" panose="02020503050405090304" pitchFamily="18" charset="0"/>
                        </a:rPr>
                        <a:t>fundamental system design principles, including scalability, high availability, and fault tolerance, while analyzing how these core principles influence architectural decisions in real-world distributed environments.</a:t>
                      </a:r>
                      <a:endParaRPr lang="en-US" sz="1200" kern="1200" dirty="0">
                        <a:solidFill>
                          <a:schemeClr val="dk1"/>
                        </a:solidFill>
                        <a:latin typeface="Times New Roman" panose="02020503050405090304" pitchFamily="18" charset="0"/>
                        <a:ea typeface="+mn-ea"/>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41386">
                <a:tc>
                  <a:txBody>
                    <a:bodyPr/>
                    <a:lstStyle/>
                    <a:p>
                      <a:pPr>
                        <a:lnSpc>
                          <a:spcPct val="107000"/>
                        </a:lnSpc>
                        <a:spcAft>
                          <a:spcPts val="0"/>
                        </a:spcAft>
                      </a:pPr>
                      <a:r>
                        <a:rPr lang="en-US" sz="1200" kern="0" smtClean="0">
                          <a:effectLst/>
                          <a:latin typeface="Times New Roman" panose="02020503050405090304" pitchFamily="18" charset="0"/>
                          <a:cs typeface="Times New Roman" panose="02020503050405090304" pitchFamily="18" charset="0"/>
                        </a:rPr>
                        <a:t>CO2</a:t>
                      </a:r>
                      <a:endParaRPr lang="en-US" sz="1200" kern="100">
                        <a:effectLst/>
                        <a:latin typeface="Times New Roman" panose="02020503050405090304" pitchFamily="18" charset="0"/>
                        <a:ea typeface="Calibri" panose="020F0502020204030204" pitchFamily="34" charset="0"/>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r>
                        <a:rPr lang="en-US" sz="1200" kern="1200" dirty="0" smtClean="0">
                          <a:solidFill>
                            <a:schemeClr val="dk1"/>
                          </a:solidFill>
                          <a:latin typeface="Times New Roman" panose="02020503050405090304" pitchFamily="18" charset="0"/>
                          <a:ea typeface="+mn-ea"/>
                          <a:cs typeface="Times New Roman" panose="02020503050405090304" pitchFamily="18" charset="0"/>
                        </a:rPr>
                        <a:t>Apply </a:t>
                      </a:r>
                      <a:r>
                        <a:rPr lang="en-US" sz="1200" kern="1200" dirty="0" smtClean="0">
                          <a:solidFill>
                            <a:schemeClr val="dk1"/>
                          </a:solidFill>
                          <a:latin typeface="Times New Roman" panose="02020503050405090304" pitchFamily="18" charset="0"/>
                          <a:ea typeface="+mn-ea"/>
                          <a:cs typeface="Times New Roman" panose="02020503050405090304" pitchFamily="18" charset="0"/>
                        </a:rPr>
                        <a:t>various distributed architectural patterns, key database models (SQL and </a:t>
                      </a:r>
                      <a:r>
                        <a:rPr lang="en-US" sz="1200" kern="1200" dirty="0" err="1" smtClean="0">
                          <a:solidFill>
                            <a:schemeClr val="dk1"/>
                          </a:solidFill>
                          <a:latin typeface="Times New Roman" panose="02020503050405090304" pitchFamily="18" charset="0"/>
                          <a:ea typeface="+mn-ea"/>
                          <a:cs typeface="Times New Roman" panose="02020503050405090304" pitchFamily="18" charset="0"/>
                        </a:rPr>
                        <a:t>NoSQL</a:t>
                      </a:r>
                      <a:r>
                        <a:rPr lang="en-US" sz="1200" kern="1200" dirty="0" smtClean="0">
                          <a:solidFill>
                            <a:schemeClr val="dk1"/>
                          </a:solidFill>
                          <a:latin typeface="Times New Roman" panose="02020503050405090304" pitchFamily="18" charset="0"/>
                          <a:ea typeface="+mn-ea"/>
                          <a:cs typeface="Times New Roman" panose="02020503050405090304" pitchFamily="18" charset="0"/>
                        </a:rPr>
                        <a:t>), and critical communication protocols to evaluate their specific applications and trade-offs in modern system designs.</a:t>
                      </a:r>
                      <a:endParaRPr lang="en-US" sz="1200" kern="1200" dirty="0">
                        <a:solidFill>
                          <a:schemeClr val="dk1"/>
                        </a:solidFill>
                        <a:latin typeface="Times New Roman" panose="02020503050405090304" pitchFamily="18" charset="0"/>
                        <a:ea typeface="+mn-ea"/>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41386">
                <a:tc>
                  <a:txBody>
                    <a:bodyPr/>
                    <a:lstStyle/>
                    <a:p>
                      <a:pPr>
                        <a:lnSpc>
                          <a:spcPct val="107000"/>
                        </a:lnSpc>
                        <a:spcAft>
                          <a:spcPts val="0"/>
                        </a:spcAft>
                      </a:pPr>
                      <a:r>
                        <a:rPr lang="en-US" sz="1200" kern="0" dirty="0" smtClean="0">
                          <a:effectLst/>
                          <a:latin typeface="Times New Roman" panose="02020503050405090304" pitchFamily="18" charset="0"/>
                          <a:cs typeface="Times New Roman" panose="02020503050405090304" pitchFamily="18" charset="0"/>
                        </a:rPr>
                        <a:t>CO3</a:t>
                      </a:r>
                      <a:endParaRPr lang="en-US" sz="1200" kern="100" dirty="0">
                        <a:effectLst/>
                        <a:latin typeface="Times New Roman" panose="02020503050405090304" pitchFamily="18" charset="0"/>
                        <a:ea typeface="Calibri" panose="020F0502020204030204" pitchFamily="34" charset="0"/>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kern="1200" dirty="0" smtClean="0">
                          <a:solidFill>
                            <a:schemeClr val="dk1"/>
                          </a:solidFill>
                          <a:latin typeface="Times New Roman" panose="02020503050405090304" pitchFamily="18" charset="0"/>
                          <a:ea typeface="+mn-ea"/>
                          <a:cs typeface="Times New Roman" panose="02020503050405090304" pitchFamily="18" charset="0"/>
                        </a:rPr>
                        <a:t>Apply advanced scaling techniques, such as caching, load balancing, database </a:t>
                      </a:r>
                      <a:r>
                        <a:rPr lang="en-US" sz="1200" kern="1200" dirty="0" err="1" smtClean="0">
                          <a:solidFill>
                            <a:schemeClr val="dk1"/>
                          </a:solidFill>
                          <a:latin typeface="Times New Roman" panose="02020503050405090304" pitchFamily="18" charset="0"/>
                          <a:ea typeface="+mn-ea"/>
                          <a:cs typeface="Times New Roman" panose="02020503050405090304" pitchFamily="18" charset="0"/>
                        </a:rPr>
                        <a:t>sharding</a:t>
                      </a:r>
                      <a:r>
                        <a:rPr lang="en-US" sz="1200" kern="1200" dirty="0" smtClean="0">
                          <a:solidFill>
                            <a:schemeClr val="dk1"/>
                          </a:solidFill>
                          <a:latin typeface="Times New Roman" panose="02020503050405090304" pitchFamily="18" charset="0"/>
                          <a:ea typeface="+mn-ea"/>
                          <a:cs typeface="Times New Roman" panose="02020503050405090304" pitchFamily="18" charset="0"/>
                        </a:rPr>
                        <a:t>, and replication, to design system components that effectively handle massive user traffic and data volumes.</a:t>
                      </a:r>
                      <a:endParaRPr lang="en-US" sz="1200" kern="1200" dirty="0">
                        <a:solidFill>
                          <a:schemeClr val="dk1"/>
                        </a:solidFill>
                        <a:latin typeface="Times New Roman" panose="02020503050405090304" pitchFamily="18" charset="0"/>
                        <a:ea typeface="+mn-ea"/>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02934">
                <a:tc>
                  <a:txBody>
                    <a:bodyPr/>
                    <a:lstStyle/>
                    <a:p>
                      <a:pPr>
                        <a:lnSpc>
                          <a:spcPct val="107000"/>
                        </a:lnSpc>
                        <a:spcAft>
                          <a:spcPts val="0"/>
                        </a:spcAft>
                      </a:pPr>
                      <a:r>
                        <a:rPr lang="en-US" sz="1200" kern="0" smtClean="0">
                          <a:effectLst/>
                          <a:latin typeface="Times New Roman" panose="02020503050405090304" pitchFamily="18" charset="0"/>
                          <a:cs typeface="Times New Roman" panose="02020503050405090304" pitchFamily="18" charset="0"/>
                        </a:rPr>
                        <a:t>CO4</a:t>
                      </a:r>
                      <a:endParaRPr lang="en-US" sz="1200" kern="100">
                        <a:effectLst/>
                        <a:latin typeface="Times New Roman" panose="02020503050405090304" pitchFamily="18" charset="0"/>
                        <a:ea typeface="Calibri" panose="020F0502020204030204" pitchFamily="34" charset="0"/>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200" kern="1200" dirty="0" smtClean="0">
                          <a:solidFill>
                            <a:schemeClr val="dk1"/>
                          </a:solidFill>
                          <a:latin typeface="Times New Roman" panose="02020503050405090304" pitchFamily="18" charset="0"/>
                          <a:ea typeface="+mn-ea"/>
                          <a:cs typeface="Times New Roman" panose="02020503050405090304" pitchFamily="18" charset="0"/>
                        </a:rPr>
                        <a:t>Analyze the trade-offs between different system architectures, data storage solutions, and consistency models (like the CAP theorem) to select and justify optimized configurations for performance, cost, and reliability goals.</a:t>
                      </a:r>
                      <a:endParaRPr lang="en-US" sz="1200" kern="1200" dirty="0">
                        <a:solidFill>
                          <a:schemeClr val="dk1"/>
                        </a:solidFill>
                        <a:latin typeface="Times New Roman" panose="02020503050405090304" pitchFamily="18" charset="0"/>
                        <a:ea typeface="+mn-ea"/>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641368">
                <a:tc>
                  <a:txBody>
                    <a:bodyPr/>
                    <a:lstStyle/>
                    <a:p>
                      <a:pPr>
                        <a:lnSpc>
                          <a:spcPct val="107000"/>
                        </a:lnSpc>
                        <a:spcAft>
                          <a:spcPts val="0"/>
                        </a:spcAft>
                      </a:pPr>
                      <a:r>
                        <a:rPr lang="en-US" sz="1200" kern="0" smtClean="0">
                          <a:effectLst/>
                          <a:latin typeface="Times New Roman" panose="02020503050405090304" pitchFamily="18" charset="0"/>
                          <a:cs typeface="Times New Roman" panose="02020503050405090304" pitchFamily="18" charset="0"/>
                        </a:rPr>
                        <a:t>CO5</a:t>
                      </a:r>
                      <a:endParaRPr lang="en-US" sz="1200" kern="100">
                        <a:effectLst/>
                        <a:latin typeface="Times New Roman" panose="02020503050405090304" pitchFamily="18" charset="0"/>
                        <a:ea typeface="Calibri" panose="020F0502020204030204" pitchFamily="34" charset="0"/>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nSpc>
                          <a:spcPct val="107000"/>
                        </a:lnSpc>
                        <a:spcAft>
                          <a:spcPts val="800"/>
                        </a:spcAft>
                      </a:pPr>
                      <a:r>
                        <a:rPr lang="en-US" sz="1200" kern="1200" dirty="0" smtClean="0">
                          <a:solidFill>
                            <a:schemeClr val="dk1"/>
                          </a:solidFill>
                          <a:latin typeface="Times New Roman" panose="02020503050405090304" pitchFamily="18" charset="0"/>
                          <a:ea typeface="+mn-ea"/>
                          <a:cs typeface="Times New Roman" panose="02020503050405090304" pitchFamily="18" charset="0"/>
                        </a:rPr>
                        <a:t>Create and document comprehensive, end-to-end system designs that are inherently scalable, distributed, and fault-tolerant, leveraging modern paradigms such as cloud computing and </a:t>
                      </a:r>
                      <a:r>
                        <a:rPr lang="en-US" sz="1200" kern="1200" dirty="0" err="1" smtClean="0">
                          <a:solidFill>
                            <a:schemeClr val="dk1"/>
                          </a:solidFill>
                          <a:latin typeface="Times New Roman" panose="02020503050405090304" pitchFamily="18" charset="0"/>
                          <a:ea typeface="+mn-ea"/>
                          <a:cs typeface="Times New Roman" panose="02020503050405090304" pitchFamily="18" charset="0"/>
                        </a:rPr>
                        <a:t>microservices</a:t>
                      </a:r>
                      <a:r>
                        <a:rPr lang="en-US" sz="1200" kern="1200" dirty="0" smtClean="0">
                          <a:solidFill>
                            <a:schemeClr val="dk1"/>
                          </a:solidFill>
                          <a:latin typeface="Times New Roman" panose="02020503050405090304" pitchFamily="18" charset="0"/>
                          <a:ea typeface="+mn-ea"/>
                          <a:cs typeface="Times New Roman" panose="02020503050405090304" pitchFamily="18" charset="0"/>
                        </a:rPr>
                        <a:t> architecture.</a:t>
                      </a:r>
                      <a:endParaRPr lang="en-US" sz="1200" kern="100" dirty="0">
                        <a:effectLst/>
                        <a:latin typeface="Times New Roman" panose="02020503050405090304" pitchFamily="18" charset="0"/>
                        <a:ea typeface="Calibri" panose="020F0502020204030204" pitchFamily="34" charset="0"/>
                        <a:cs typeface="Times New Roman" panose="02020503050405090304" pitchFamily="18" charset="0"/>
                      </a:endParaRPr>
                    </a:p>
                  </a:txBody>
                  <a:tcPr marL="36197" marR="36197" marT="27147" marB="2714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transition spd="slow"/>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1" y="285671"/>
            <a:ext cx="7883525" cy="483394"/>
          </a:xfrm>
        </p:spPr>
        <p:txBody>
          <a:bodyPr rtlCol="0">
            <a:normAutofit/>
          </a:bodyPr>
          <a:lstStyle/>
          <a:p>
            <a:pPr algn="l" fontAlgn="auto">
              <a:spcAft>
                <a:spcPts val="0"/>
              </a:spcAft>
              <a:defRPr/>
            </a:pPr>
            <a:r>
              <a:rPr lang="en-IN" sz="2400" b="1" dirty="0">
                <a:latin typeface="Times New Roman" panose="02020503050405090304" pitchFamily="18" charset="0"/>
                <a:cs typeface="Times New Roman" panose="02020503050405090304" pitchFamily="18" charset="0"/>
              </a:rPr>
              <a:t>Unit-1 Syllabus</a:t>
            </a:r>
          </a:p>
        </p:txBody>
      </p:sp>
      <p:graphicFrame>
        <p:nvGraphicFramePr>
          <p:cNvPr id="7" name="Table 6"/>
          <p:cNvGraphicFramePr>
            <a:graphicFrameLocks noGrp="1"/>
          </p:cNvGraphicFramePr>
          <p:nvPr/>
        </p:nvGraphicFramePr>
        <p:xfrm>
          <a:off x="723900" y="1273969"/>
          <a:ext cx="7923530" cy="2432733"/>
        </p:xfrm>
        <a:graphic>
          <a:graphicData uri="http://schemas.openxmlformats.org/drawingml/2006/table">
            <a:tbl>
              <a:tblPr/>
              <a:tblGrid>
                <a:gridCol w="1850390"/>
                <a:gridCol w="6073140"/>
              </a:tblGrid>
              <a:tr h="297656">
                <a:tc>
                  <a:txBody>
                    <a:bodyPr/>
                    <a:lstStyle>
                      <a:lvl1pPr defTabSz="685800">
                        <a:lnSpc>
                          <a:spcPct val="90000"/>
                        </a:lnSpc>
                        <a:spcBef>
                          <a:spcPts val="750"/>
                        </a:spcBef>
                        <a:buFont typeface="Arial" panose="020B0604020202090204" pitchFamily="34" charset="0"/>
                        <a:defRPr sz="1900">
                          <a:solidFill>
                            <a:schemeClr val="tx1"/>
                          </a:solidFill>
                          <a:latin typeface="Calibri" panose="020F0502020204030204" pitchFamily="34" charset="0"/>
                        </a:defRPr>
                      </a:lvl1pPr>
                      <a:lvl2pPr marL="742950" indent="-285750" defTabSz="685800">
                        <a:lnSpc>
                          <a:spcPct val="90000"/>
                        </a:lnSpc>
                        <a:spcBef>
                          <a:spcPts val="375"/>
                        </a:spcBef>
                        <a:buFont typeface="Arial" panose="020B0604020202090204" pitchFamily="34" charset="0"/>
                        <a:defRPr sz="1600">
                          <a:solidFill>
                            <a:schemeClr val="tx1"/>
                          </a:solidFill>
                          <a:latin typeface="Calibri" panose="020F0502020204030204" pitchFamily="34" charset="0"/>
                        </a:defRPr>
                      </a:lvl2pPr>
                      <a:lvl3pPr marL="1143000" indent="-228600" defTabSz="685800">
                        <a:lnSpc>
                          <a:spcPct val="90000"/>
                        </a:lnSpc>
                        <a:spcBef>
                          <a:spcPts val="375"/>
                        </a:spcBef>
                        <a:buFont typeface="Arial" panose="020B0604020202090204" pitchFamily="34" charset="0"/>
                        <a:defRPr sz="1300">
                          <a:solidFill>
                            <a:schemeClr val="tx1"/>
                          </a:solidFill>
                          <a:latin typeface="Calibri" panose="020F0502020204030204" pitchFamily="34" charset="0"/>
                        </a:defRPr>
                      </a:lvl3pPr>
                      <a:lvl4pPr marL="16002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4pPr>
                      <a:lvl5pPr marL="20574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5pPr>
                      <a:lvl6pPr marL="25146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6pPr>
                      <a:lvl7pPr marL="29718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7pPr>
                      <a:lvl8pPr marL="34290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8pPr>
                      <a:lvl9pPr marL="38862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9pPr>
                    </a:lstStyle>
                    <a:p>
                      <a:pPr marL="0" marR="0" lvl="0" indent="0" algn="just" defTabSz="685800" rtl="0" eaLnBrk="1" fontAlgn="base" latinLnBrk="0" hangingPunct="1">
                        <a:lnSpc>
                          <a:spcPct val="100000"/>
                        </a:lnSpc>
                        <a:spcBef>
                          <a:spcPct val="0"/>
                        </a:spcBef>
                        <a:spcAft>
                          <a:spcPct val="0"/>
                        </a:spcAft>
                        <a:buClrTx/>
                        <a:buSzTx/>
                        <a:buFontTx/>
                        <a:buNone/>
                      </a:pPr>
                      <a:r>
                        <a:rPr kumimoji="0" lang="en-IN" altLang="en-US" sz="1600" b="1" i="0" u="none" strike="noStrike" cap="none" normalizeH="0" baseline="0" dirty="0" smtClean="0">
                          <a:ln>
                            <a:noFill/>
                          </a:ln>
                          <a:solidFill>
                            <a:schemeClr val="tx1"/>
                          </a:solidFill>
                          <a:effectLst/>
                          <a:latin typeface="Times New Roman" panose="02020503050405090304" pitchFamily="18" charset="0"/>
                          <a:cs typeface="Times New Roman" panose="02020503050405090304" pitchFamily="18" charset="0"/>
                        </a:rPr>
                        <a:t>Unit-1</a:t>
                      </a:r>
                      <a:endParaRPr kumimoji="0" lang="en-US" altLang="en-US" sz="1600" b="0" i="0" u="none" strike="noStrike" cap="none" normalizeH="0" baseline="0" dirty="0" smtClean="0">
                        <a:ln>
                          <a:noFill/>
                        </a:ln>
                        <a:solidFill>
                          <a:schemeClr val="tx1"/>
                        </a:solidFill>
                        <a:effectLst/>
                        <a:latin typeface="Times New Roman" panose="02020503050405090304" pitchFamily="18" charset="0"/>
                        <a:ea typeface="Calibri" panose="020F0502020204030204" pitchFamily="34" charset="0"/>
                        <a:cs typeface="Times New Roman" panose="02020503050405090304" pitchFamily="18" charset="0"/>
                      </a:endParaRPr>
                    </a:p>
                  </a:txBody>
                  <a:tcPr marL="27146" marR="27146" marT="20360" marB="203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defTabSz="685800">
                        <a:lnSpc>
                          <a:spcPct val="90000"/>
                        </a:lnSpc>
                        <a:spcBef>
                          <a:spcPts val="750"/>
                        </a:spcBef>
                        <a:buFont typeface="Arial" panose="020B0604020202090204" pitchFamily="34" charset="0"/>
                        <a:defRPr sz="1900">
                          <a:solidFill>
                            <a:schemeClr val="tx1"/>
                          </a:solidFill>
                          <a:latin typeface="Calibri" panose="020F0502020204030204" pitchFamily="34" charset="0"/>
                        </a:defRPr>
                      </a:lvl1pPr>
                      <a:lvl2pPr marL="742950" indent="-285750" defTabSz="685800">
                        <a:lnSpc>
                          <a:spcPct val="90000"/>
                        </a:lnSpc>
                        <a:spcBef>
                          <a:spcPts val="375"/>
                        </a:spcBef>
                        <a:buFont typeface="Arial" panose="020B0604020202090204" pitchFamily="34" charset="0"/>
                        <a:defRPr sz="1600">
                          <a:solidFill>
                            <a:schemeClr val="tx1"/>
                          </a:solidFill>
                          <a:latin typeface="Calibri" panose="020F0502020204030204" pitchFamily="34" charset="0"/>
                        </a:defRPr>
                      </a:lvl2pPr>
                      <a:lvl3pPr marL="1143000" indent="-228600" defTabSz="685800">
                        <a:lnSpc>
                          <a:spcPct val="90000"/>
                        </a:lnSpc>
                        <a:spcBef>
                          <a:spcPts val="375"/>
                        </a:spcBef>
                        <a:buFont typeface="Arial" panose="020B0604020202090204" pitchFamily="34" charset="0"/>
                        <a:defRPr sz="1300">
                          <a:solidFill>
                            <a:schemeClr val="tx1"/>
                          </a:solidFill>
                          <a:latin typeface="Calibri" panose="020F0502020204030204" pitchFamily="34" charset="0"/>
                        </a:defRPr>
                      </a:lvl3pPr>
                      <a:lvl4pPr marL="16002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4pPr>
                      <a:lvl5pPr marL="20574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5pPr>
                      <a:lvl6pPr marL="25146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6pPr>
                      <a:lvl7pPr marL="29718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7pPr>
                      <a:lvl8pPr marL="34290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8pPr>
                      <a:lvl9pPr marL="38862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9pPr>
                    </a:lstStyle>
                    <a:p>
                      <a:pPr marL="0" marR="0" lvl="0" indent="0" algn="just" defTabSz="685800" rtl="0" eaLnBrk="1" fontAlgn="base" latinLnBrk="0" hangingPunct="1">
                        <a:lnSpc>
                          <a:spcPct val="100000"/>
                        </a:lnSpc>
                        <a:spcBef>
                          <a:spcPct val="0"/>
                        </a:spcBef>
                        <a:spcAft>
                          <a:spcPct val="0"/>
                        </a:spcAft>
                        <a:buClrTx/>
                        <a:buSzTx/>
                        <a:buFontTx/>
                        <a:buNone/>
                      </a:pPr>
                      <a:r>
                        <a:rPr lang="en-US" sz="1600" kern="1200" dirty="0" smtClean="0">
                          <a:solidFill>
                            <a:schemeClr val="tx1"/>
                          </a:solidFill>
                          <a:latin typeface="Times New Roman" panose="02020503050405090304" pitchFamily="18" charset="0"/>
                          <a:ea typeface="+mn-ea"/>
                          <a:cs typeface="Times New Roman" panose="02020503050405090304" pitchFamily="18" charset="0"/>
                        </a:rPr>
                        <a:t>System Design </a:t>
                      </a:r>
                      <a:endParaRPr kumimoji="0" lang="en-US" altLang="en-US" sz="1600" b="0" i="0" u="none" strike="noStrike" cap="none" normalizeH="0" baseline="0" dirty="0" smtClean="0">
                        <a:ln>
                          <a:noFill/>
                        </a:ln>
                        <a:solidFill>
                          <a:schemeClr val="tx1"/>
                        </a:solidFill>
                        <a:effectLst/>
                        <a:latin typeface="Times New Roman" panose="02020503050405090304" pitchFamily="18" charset="0"/>
                        <a:ea typeface="Calibri" panose="020F0502020204030204" pitchFamily="34" charset="0"/>
                        <a:cs typeface="Times New Roman" panose="02020503050405090304" pitchFamily="18" charset="0"/>
                      </a:endParaRPr>
                    </a:p>
                  </a:txBody>
                  <a:tcPr marL="27146" marR="27146" marT="20360" marB="2036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r>
              <a:tr h="829056">
                <a:tc>
                  <a:txBody>
                    <a:bodyPr/>
                    <a:lstStyle>
                      <a:lvl1pPr defTabSz="685800">
                        <a:lnSpc>
                          <a:spcPct val="90000"/>
                        </a:lnSpc>
                        <a:spcBef>
                          <a:spcPts val="750"/>
                        </a:spcBef>
                        <a:buFont typeface="Arial" panose="020B0604020202090204" pitchFamily="34" charset="0"/>
                        <a:defRPr sz="1900">
                          <a:solidFill>
                            <a:schemeClr val="tx1"/>
                          </a:solidFill>
                          <a:latin typeface="Calibri" panose="020F0502020204030204" pitchFamily="34" charset="0"/>
                        </a:defRPr>
                      </a:lvl1pPr>
                      <a:lvl2pPr marL="742950" indent="-285750" defTabSz="685800">
                        <a:lnSpc>
                          <a:spcPct val="90000"/>
                        </a:lnSpc>
                        <a:spcBef>
                          <a:spcPts val="375"/>
                        </a:spcBef>
                        <a:buFont typeface="Arial" panose="020B0604020202090204" pitchFamily="34" charset="0"/>
                        <a:defRPr sz="1600">
                          <a:solidFill>
                            <a:schemeClr val="tx1"/>
                          </a:solidFill>
                          <a:latin typeface="Calibri" panose="020F0502020204030204" pitchFamily="34" charset="0"/>
                        </a:defRPr>
                      </a:lvl2pPr>
                      <a:lvl3pPr marL="1143000" indent="-228600" defTabSz="685800">
                        <a:lnSpc>
                          <a:spcPct val="90000"/>
                        </a:lnSpc>
                        <a:spcBef>
                          <a:spcPts val="375"/>
                        </a:spcBef>
                        <a:buFont typeface="Arial" panose="020B0604020202090204" pitchFamily="34" charset="0"/>
                        <a:defRPr sz="1300">
                          <a:solidFill>
                            <a:schemeClr val="tx1"/>
                          </a:solidFill>
                          <a:latin typeface="Calibri" panose="020F0502020204030204" pitchFamily="34" charset="0"/>
                        </a:defRPr>
                      </a:lvl3pPr>
                      <a:lvl4pPr marL="16002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4pPr>
                      <a:lvl5pPr marL="20574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5pPr>
                      <a:lvl6pPr marL="25146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6pPr>
                      <a:lvl7pPr marL="29718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7pPr>
                      <a:lvl8pPr marL="34290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8pPr>
                      <a:lvl9pPr marL="38862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9pPr>
                    </a:lstStyle>
                    <a:p>
                      <a:pPr marL="0" marR="0" lvl="0" indent="0" algn="l" defTabSz="685800" rtl="0" eaLnBrk="1" fontAlgn="base" latinLnBrk="0" hangingPunct="1">
                        <a:lnSpc>
                          <a:spcPct val="107000"/>
                        </a:lnSpc>
                        <a:spcBef>
                          <a:spcPct val="0"/>
                        </a:spcBef>
                        <a:spcAft>
                          <a:spcPts val="75"/>
                        </a:spcAft>
                        <a:buClrTx/>
                        <a:buSzTx/>
                        <a:buFontTx/>
                        <a:buNone/>
                      </a:pPr>
                      <a:r>
                        <a:rPr lang="en-US" sz="1600" kern="1200" dirty="0" smtClean="0">
                          <a:solidFill>
                            <a:schemeClr val="tx1"/>
                          </a:solidFill>
                          <a:latin typeface="Times New Roman" panose="02020503050405090304" pitchFamily="18" charset="0"/>
                          <a:ea typeface="+mn-ea"/>
                          <a:cs typeface="Times New Roman" panose="02020503050405090304" pitchFamily="18" charset="0"/>
                        </a:rPr>
                        <a:t>Introduction to System Design </a:t>
                      </a:r>
                      <a:endParaRPr kumimoji="0" lang="en-US" altLang="en-US" sz="1600" b="0" i="0" u="none" strike="noStrike" cap="none" normalizeH="0" baseline="0" dirty="0" smtClean="0">
                        <a:ln>
                          <a:noFill/>
                        </a:ln>
                        <a:solidFill>
                          <a:schemeClr val="tx1"/>
                        </a:solidFill>
                        <a:effectLst/>
                        <a:latin typeface="Times New Roman" panose="02020503050405090304" pitchFamily="18" charset="0"/>
                        <a:ea typeface="Calibri" panose="020F0502020204030204" pitchFamily="34" charset="0"/>
                        <a:cs typeface="Times New Roman" panose="02020503050405090304" pitchFamily="18" charset="0"/>
                      </a:endParaRPr>
                    </a:p>
                  </a:txBody>
                  <a:tcPr marL="73025" marR="73025" marT="47625" marB="476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90204" pitchFamily="34" charset="0"/>
                        <a:defRPr sz="1900">
                          <a:solidFill>
                            <a:schemeClr val="tx1"/>
                          </a:solidFill>
                          <a:latin typeface="Calibri" panose="020F0502020204030204" pitchFamily="34" charset="0"/>
                        </a:defRPr>
                      </a:lvl1pPr>
                      <a:lvl2pPr marL="742950" indent="-285750" defTabSz="685800">
                        <a:lnSpc>
                          <a:spcPct val="90000"/>
                        </a:lnSpc>
                        <a:spcBef>
                          <a:spcPts val="375"/>
                        </a:spcBef>
                        <a:buFont typeface="Arial" panose="020B0604020202090204" pitchFamily="34" charset="0"/>
                        <a:defRPr sz="1600">
                          <a:solidFill>
                            <a:schemeClr val="tx1"/>
                          </a:solidFill>
                          <a:latin typeface="Calibri" panose="020F0502020204030204" pitchFamily="34" charset="0"/>
                        </a:defRPr>
                      </a:lvl2pPr>
                      <a:lvl3pPr marL="1143000" indent="-228600" defTabSz="685800">
                        <a:lnSpc>
                          <a:spcPct val="90000"/>
                        </a:lnSpc>
                        <a:spcBef>
                          <a:spcPts val="375"/>
                        </a:spcBef>
                        <a:buFont typeface="Arial" panose="020B0604020202090204" pitchFamily="34" charset="0"/>
                        <a:defRPr sz="1300">
                          <a:solidFill>
                            <a:schemeClr val="tx1"/>
                          </a:solidFill>
                          <a:latin typeface="Calibri" panose="020F0502020204030204" pitchFamily="34" charset="0"/>
                        </a:defRPr>
                      </a:lvl3pPr>
                      <a:lvl4pPr marL="16002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4pPr>
                      <a:lvl5pPr marL="20574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5pPr>
                      <a:lvl6pPr marL="25146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6pPr>
                      <a:lvl7pPr marL="29718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7pPr>
                      <a:lvl8pPr marL="34290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8pPr>
                      <a:lvl9pPr marL="38862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9pPr>
                    </a:lstStyle>
                    <a:p>
                      <a:pPr marR="0" lvl="0" indent="0" algn="l" defTabSz="685800" rtl="0" eaLnBrk="1" fontAlgn="base" latinLnBrk="0" hangingPunct="1">
                        <a:lnSpc>
                          <a:spcPct val="107000"/>
                        </a:lnSpc>
                        <a:spcBef>
                          <a:spcPct val="0"/>
                        </a:spcBef>
                        <a:spcAft>
                          <a:spcPts val="0"/>
                        </a:spcAft>
                        <a:buClrTx/>
                        <a:buSzTx/>
                        <a:buFontTx/>
                        <a:buNone/>
                      </a:pPr>
                      <a:r>
                        <a:rPr lang="en-US" sz="1600" b="0" kern="1200" dirty="0" smtClean="0">
                          <a:solidFill>
                            <a:schemeClr val="tx1"/>
                          </a:solidFill>
                          <a:latin typeface="Times New Roman" panose="02020503050405090304" pitchFamily="18" charset="0"/>
                          <a:ea typeface="+mn-ea"/>
                          <a:cs typeface="Times New Roman" panose="02020503050405090304" pitchFamily="18" charset="0"/>
                        </a:rPr>
                        <a:t>Introduction to System Design</a:t>
                      </a:r>
                      <a:r>
                        <a:rPr lang="en-US" sz="1600" kern="1200" dirty="0" smtClean="0">
                          <a:solidFill>
                            <a:schemeClr val="tx1"/>
                          </a:solidFill>
                          <a:latin typeface="Times New Roman" panose="02020503050405090304" pitchFamily="18" charset="0"/>
                          <a:ea typeface="+mn-ea"/>
                          <a:cs typeface="Times New Roman" panose="02020503050405090304" pitchFamily="18" charset="0"/>
                        </a:rPr>
                        <a:t>, Functional &amp; Non-Functional Requirements, Scaling Challenges, Load Balancing, Caching Strategies, Replication, </a:t>
                      </a:r>
                      <a:r>
                        <a:rPr lang="en-US" sz="1600" kern="1200" dirty="0" err="1" smtClean="0">
                          <a:solidFill>
                            <a:schemeClr val="tx1"/>
                          </a:solidFill>
                          <a:latin typeface="Times New Roman" panose="02020503050405090304" pitchFamily="18" charset="0"/>
                          <a:ea typeface="+mn-ea"/>
                          <a:cs typeface="Times New Roman" panose="02020503050405090304" pitchFamily="18" charset="0"/>
                        </a:rPr>
                        <a:t>Sharding.</a:t>
                      </a:r>
                      <a:endParaRPr kumimoji="0" lang="en-US" altLang="en-US" sz="1600" b="0" i="0" u="none" strike="noStrike" cap="none" normalizeH="0" baseline="0" dirty="0" smtClean="0">
                        <a:ln>
                          <a:noFill/>
                        </a:ln>
                        <a:solidFill>
                          <a:schemeClr val="tx1"/>
                        </a:solidFill>
                        <a:effectLst/>
                        <a:latin typeface="Times New Roman" panose="02020503050405090304" pitchFamily="18" charset="0"/>
                        <a:ea typeface="Calibri" panose="020F0502020204030204" pitchFamily="34" charset="0"/>
                        <a:cs typeface="Times New Roman" panose="02020503050405090304" pitchFamily="18" charset="0"/>
                      </a:endParaRPr>
                    </a:p>
                  </a:txBody>
                  <a:tcPr marL="73025" marR="73025" marT="47625" marB="476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257062">
                <a:tc>
                  <a:txBody>
                    <a:bodyPr/>
                    <a:lstStyle>
                      <a:lvl1pPr defTabSz="685800">
                        <a:lnSpc>
                          <a:spcPct val="90000"/>
                        </a:lnSpc>
                        <a:spcBef>
                          <a:spcPts val="750"/>
                        </a:spcBef>
                        <a:buFont typeface="Arial" panose="020B0604020202090204" pitchFamily="34" charset="0"/>
                        <a:defRPr sz="1900">
                          <a:solidFill>
                            <a:schemeClr val="tx1"/>
                          </a:solidFill>
                          <a:latin typeface="Calibri" panose="020F0502020204030204" pitchFamily="34" charset="0"/>
                        </a:defRPr>
                      </a:lvl1pPr>
                      <a:lvl2pPr marL="742950" indent="-285750" defTabSz="685800">
                        <a:lnSpc>
                          <a:spcPct val="90000"/>
                        </a:lnSpc>
                        <a:spcBef>
                          <a:spcPts val="375"/>
                        </a:spcBef>
                        <a:buFont typeface="Arial" panose="020B0604020202090204" pitchFamily="34" charset="0"/>
                        <a:defRPr sz="1600">
                          <a:solidFill>
                            <a:schemeClr val="tx1"/>
                          </a:solidFill>
                          <a:latin typeface="Calibri" panose="020F0502020204030204" pitchFamily="34" charset="0"/>
                        </a:defRPr>
                      </a:lvl2pPr>
                      <a:lvl3pPr marL="1143000" indent="-228600" defTabSz="685800">
                        <a:lnSpc>
                          <a:spcPct val="90000"/>
                        </a:lnSpc>
                        <a:spcBef>
                          <a:spcPts val="375"/>
                        </a:spcBef>
                        <a:buFont typeface="Arial" panose="020B0604020202090204" pitchFamily="34" charset="0"/>
                        <a:defRPr sz="1300">
                          <a:solidFill>
                            <a:schemeClr val="tx1"/>
                          </a:solidFill>
                          <a:latin typeface="Calibri" panose="020F0502020204030204" pitchFamily="34" charset="0"/>
                        </a:defRPr>
                      </a:lvl3pPr>
                      <a:lvl4pPr marL="16002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4pPr>
                      <a:lvl5pPr marL="20574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5pPr>
                      <a:lvl6pPr marL="25146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6pPr>
                      <a:lvl7pPr marL="29718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7pPr>
                      <a:lvl8pPr marL="34290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8pPr>
                      <a:lvl9pPr marL="38862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9pPr>
                    </a:lstStyle>
                    <a:p>
                      <a:pPr marL="0" marR="0" lvl="0" indent="0" algn="l" defTabSz="685800" rtl="0" eaLnBrk="1" fontAlgn="base" latinLnBrk="0" hangingPunct="1">
                        <a:lnSpc>
                          <a:spcPct val="107000"/>
                        </a:lnSpc>
                        <a:spcBef>
                          <a:spcPct val="0"/>
                        </a:spcBef>
                        <a:spcAft>
                          <a:spcPts val="75"/>
                        </a:spcAft>
                        <a:buClrTx/>
                        <a:buSzTx/>
                        <a:buFontTx/>
                        <a:buNone/>
                      </a:pPr>
                      <a:r>
                        <a:rPr lang="en-US" sz="1600" kern="1200" dirty="0" smtClean="0">
                          <a:solidFill>
                            <a:schemeClr val="tx1"/>
                          </a:solidFill>
                          <a:latin typeface="Times New Roman" panose="02020503050405090304" pitchFamily="18" charset="0"/>
                          <a:ea typeface="+mn-ea"/>
                          <a:cs typeface="Times New Roman" panose="02020503050405090304" pitchFamily="18" charset="0"/>
                        </a:rPr>
                        <a:t>Databases in System Design </a:t>
                      </a:r>
                      <a:endParaRPr kumimoji="0" lang="en-US" altLang="en-US" sz="1600" b="0" i="0" u="none" strike="noStrike" cap="none" normalizeH="0" baseline="0" dirty="0" smtClean="0">
                        <a:ln>
                          <a:noFill/>
                        </a:ln>
                        <a:solidFill>
                          <a:schemeClr val="tx1"/>
                        </a:solidFill>
                        <a:effectLst/>
                        <a:latin typeface="Times New Roman" panose="02020503050405090304" pitchFamily="18" charset="0"/>
                        <a:ea typeface="Calibri" panose="020F0502020204030204" pitchFamily="34" charset="0"/>
                        <a:cs typeface="Times New Roman" panose="02020503050405090304" pitchFamily="18" charset="0"/>
                      </a:endParaRPr>
                    </a:p>
                  </a:txBody>
                  <a:tcPr marL="73025" marR="73025" marT="47625" marB="476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685800">
                        <a:lnSpc>
                          <a:spcPct val="90000"/>
                        </a:lnSpc>
                        <a:spcBef>
                          <a:spcPts val="750"/>
                        </a:spcBef>
                        <a:buFont typeface="Arial" panose="020B0604020202090204" pitchFamily="34" charset="0"/>
                        <a:defRPr sz="1900">
                          <a:solidFill>
                            <a:schemeClr val="tx1"/>
                          </a:solidFill>
                          <a:latin typeface="Calibri" panose="020F0502020204030204" pitchFamily="34" charset="0"/>
                        </a:defRPr>
                      </a:lvl1pPr>
                      <a:lvl2pPr marL="742950" indent="-285750" defTabSz="685800">
                        <a:lnSpc>
                          <a:spcPct val="90000"/>
                        </a:lnSpc>
                        <a:spcBef>
                          <a:spcPts val="375"/>
                        </a:spcBef>
                        <a:buFont typeface="Arial" panose="020B0604020202090204" pitchFamily="34" charset="0"/>
                        <a:defRPr sz="1600">
                          <a:solidFill>
                            <a:schemeClr val="tx1"/>
                          </a:solidFill>
                          <a:latin typeface="Calibri" panose="020F0502020204030204" pitchFamily="34" charset="0"/>
                        </a:defRPr>
                      </a:lvl2pPr>
                      <a:lvl3pPr marL="1143000" indent="-228600" defTabSz="685800">
                        <a:lnSpc>
                          <a:spcPct val="90000"/>
                        </a:lnSpc>
                        <a:spcBef>
                          <a:spcPts val="375"/>
                        </a:spcBef>
                        <a:buFont typeface="Arial" panose="020B0604020202090204" pitchFamily="34" charset="0"/>
                        <a:defRPr sz="1300">
                          <a:solidFill>
                            <a:schemeClr val="tx1"/>
                          </a:solidFill>
                          <a:latin typeface="Calibri" panose="020F0502020204030204" pitchFamily="34" charset="0"/>
                        </a:defRPr>
                      </a:lvl3pPr>
                      <a:lvl4pPr marL="16002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4pPr>
                      <a:lvl5pPr marL="2057400" indent="-228600" defTabSz="685800">
                        <a:lnSpc>
                          <a:spcPct val="90000"/>
                        </a:lnSpc>
                        <a:spcBef>
                          <a:spcPts val="375"/>
                        </a:spcBef>
                        <a:buFont typeface="Arial" panose="020B0604020202090204" pitchFamily="34" charset="0"/>
                        <a:defRPr sz="1100">
                          <a:solidFill>
                            <a:schemeClr val="tx1"/>
                          </a:solidFill>
                          <a:latin typeface="Calibri" panose="020F0502020204030204" pitchFamily="34" charset="0"/>
                        </a:defRPr>
                      </a:lvl5pPr>
                      <a:lvl6pPr marL="25146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6pPr>
                      <a:lvl7pPr marL="29718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7pPr>
                      <a:lvl8pPr marL="34290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8pPr>
                      <a:lvl9pPr marL="3886200" indent="-228600" defTabSz="685800" fontAlgn="base">
                        <a:lnSpc>
                          <a:spcPct val="90000"/>
                        </a:lnSpc>
                        <a:spcBef>
                          <a:spcPts val="375"/>
                        </a:spcBef>
                        <a:spcAft>
                          <a:spcPct val="0"/>
                        </a:spcAft>
                        <a:buFont typeface="Arial" panose="020B0604020202090204" pitchFamily="34" charset="0"/>
                        <a:defRPr sz="1100">
                          <a:solidFill>
                            <a:schemeClr val="tx1"/>
                          </a:solidFill>
                          <a:latin typeface="Calibri" panose="020F0502020204030204" pitchFamily="34" charset="0"/>
                        </a:defRPr>
                      </a:lvl9pPr>
                    </a:lstStyle>
                    <a:p>
                      <a:pPr marL="0" marR="0" lvl="0" indent="0" algn="l" defTabSz="685800" rtl="0" eaLnBrk="1" fontAlgn="base" latinLnBrk="0" hangingPunct="1">
                        <a:lnSpc>
                          <a:spcPct val="107000"/>
                        </a:lnSpc>
                        <a:spcBef>
                          <a:spcPct val="0"/>
                        </a:spcBef>
                        <a:spcAft>
                          <a:spcPct val="0"/>
                        </a:spcAft>
                        <a:buClrTx/>
                        <a:buSzTx/>
                        <a:buFontTx/>
                        <a:buNone/>
                      </a:pPr>
                      <a:r>
                        <a:rPr lang="en-US" sz="1600" kern="1200" dirty="0" smtClean="0">
                          <a:solidFill>
                            <a:schemeClr val="tx1"/>
                          </a:solidFill>
                          <a:latin typeface="Times New Roman" panose="02020503050405090304" pitchFamily="18" charset="0"/>
                          <a:ea typeface="+mn-ea"/>
                          <a:cs typeface="Times New Roman" panose="02020503050405090304" pitchFamily="18" charset="0"/>
                        </a:rPr>
                        <a:t>Databases in System Design – SQL </a:t>
                      </a:r>
                      <a:r>
                        <a:rPr lang="en-US" sz="1600" kern="1200" dirty="0" err="1" smtClean="0">
                          <a:solidFill>
                            <a:schemeClr val="tx1"/>
                          </a:solidFill>
                          <a:latin typeface="Times New Roman" panose="02020503050405090304" pitchFamily="18" charset="0"/>
                          <a:ea typeface="+mn-ea"/>
                          <a:cs typeface="Times New Roman" panose="02020503050405090304" pitchFamily="18" charset="0"/>
                        </a:rPr>
                        <a:t>vs</a:t>
                      </a:r>
                      <a:r>
                        <a:rPr lang="en-US" sz="1600" kern="1200" dirty="0" smtClean="0">
                          <a:solidFill>
                            <a:schemeClr val="tx1"/>
                          </a:solidFill>
                          <a:latin typeface="Times New Roman" panose="02020503050405090304" pitchFamily="18" charset="0"/>
                          <a:ea typeface="+mn-ea"/>
                          <a:cs typeface="Times New Roman" panose="02020503050405090304" pitchFamily="18" charset="0"/>
                        </a:rPr>
                        <a:t> </a:t>
                      </a:r>
                      <a:r>
                        <a:rPr lang="en-US" sz="1600" kern="1200" dirty="0" err="1" smtClean="0">
                          <a:solidFill>
                            <a:schemeClr val="tx1"/>
                          </a:solidFill>
                          <a:latin typeface="Times New Roman" panose="02020503050405090304" pitchFamily="18" charset="0"/>
                          <a:ea typeface="+mn-ea"/>
                          <a:cs typeface="Times New Roman" panose="02020503050405090304" pitchFamily="18" charset="0"/>
                        </a:rPr>
                        <a:t>NoSQL</a:t>
                      </a:r>
                      <a:r>
                        <a:rPr lang="en-US" sz="1600" kern="1200" dirty="0" smtClean="0">
                          <a:solidFill>
                            <a:schemeClr val="tx1"/>
                          </a:solidFill>
                          <a:latin typeface="Times New Roman" panose="02020503050405090304" pitchFamily="18" charset="0"/>
                          <a:ea typeface="+mn-ea"/>
                          <a:cs typeface="Times New Roman" panose="02020503050405090304" pitchFamily="18" charset="0"/>
                        </a:rPr>
                        <a:t>, CAP Theorem, </a:t>
                      </a:r>
                      <a:r>
                        <a:rPr lang="en-US" sz="1600" b="0" kern="1200" dirty="0" smtClean="0">
                          <a:solidFill>
                            <a:schemeClr val="tx1"/>
                          </a:solidFill>
                          <a:latin typeface="Times New Roman" panose="02020503050405090304" pitchFamily="18" charset="0"/>
                          <a:ea typeface="+mn-ea"/>
                          <a:cs typeface="Times New Roman" panose="02020503050405090304" pitchFamily="18" charset="0"/>
                        </a:rPr>
                        <a:t>Distributed Databases</a:t>
                      </a:r>
                      <a:r>
                        <a:rPr lang="en-US" sz="1600" kern="1200" dirty="0" smtClean="0">
                          <a:solidFill>
                            <a:schemeClr val="tx1"/>
                          </a:solidFill>
                          <a:latin typeface="Times New Roman" panose="02020503050405090304" pitchFamily="18" charset="0"/>
                          <a:ea typeface="+mn-ea"/>
                          <a:cs typeface="Times New Roman" panose="02020503050405090304" pitchFamily="18" charset="0"/>
                        </a:rPr>
                        <a:t>, Consistency Models, Eventual Consistency, Distributed Caching (</a:t>
                      </a:r>
                      <a:r>
                        <a:rPr lang="en-US" sz="1600" kern="1200" dirty="0" err="1" smtClean="0">
                          <a:solidFill>
                            <a:schemeClr val="tx1"/>
                          </a:solidFill>
                          <a:latin typeface="Times New Roman" panose="02020503050405090304" pitchFamily="18" charset="0"/>
                          <a:ea typeface="+mn-ea"/>
                          <a:cs typeface="Times New Roman" panose="02020503050405090304" pitchFamily="18" charset="0"/>
                        </a:rPr>
                        <a:t>Redis</a:t>
                      </a:r>
                      <a:r>
                        <a:rPr lang="en-US" sz="1600" kern="1200" dirty="0" smtClean="0">
                          <a:solidFill>
                            <a:schemeClr val="tx1"/>
                          </a:solidFill>
                          <a:latin typeface="Times New Roman" panose="02020503050405090304" pitchFamily="18" charset="0"/>
                          <a:ea typeface="+mn-ea"/>
                          <a:cs typeface="Times New Roman" panose="02020503050405090304" pitchFamily="18" charset="0"/>
                        </a:rPr>
                        <a:t>, </a:t>
                      </a:r>
                      <a:r>
                        <a:rPr lang="en-US" sz="1600" kern="1200" dirty="0" err="1" smtClean="0">
                          <a:solidFill>
                            <a:schemeClr val="tx1"/>
                          </a:solidFill>
                          <a:latin typeface="Times New Roman" panose="02020503050405090304" pitchFamily="18" charset="0"/>
                          <a:ea typeface="+mn-ea"/>
                          <a:cs typeface="Times New Roman" panose="02020503050405090304" pitchFamily="18" charset="0"/>
                        </a:rPr>
                        <a:t>Memcached</a:t>
                      </a:r>
                      <a:r>
                        <a:rPr lang="en-US" sz="1600" kern="1200" dirty="0" smtClean="0">
                          <a:solidFill>
                            <a:schemeClr val="tx1"/>
                          </a:solidFill>
                          <a:latin typeface="Times New Roman" panose="02020503050405090304" pitchFamily="18" charset="0"/>
                          <a:ea typeface="+mn-ea"/>
                          <a:cs typeface="Times New Roman" panose="02020503050405090304" pitchFamily="18" charset="0"/>
                        </a:rPr>
                        <a:t>), High Availability, Fault Tolerance, </a:t>
                      </a:r>
                      <a:r>
                        <a:rPr lang="en-US" sz="1600" b="1" kern="1200" dirty="0" err="1" smtClean="0">
                          <a:solidFill>
                            <a:srgbClr val="FF0000"/>
                          </a:solidFill>
                          <a:latin typeface="Times New Roman" panose="02020503050405090304" pitchFamily="18" charset="0"/>
                          <a:ea typeface="+mn-ea"/>
                          <a:cs typeface="Times New Roman" panose="02020503050405090304" pitchFamily="18" charset="0"/>
                        </a:rPr>
                        <a:t>Microservices</a:t>
                      </a:r>
                      <a:r>
                        <a:rPr lang="en-US" sz="1600" b="1" kern="1200" dirty="0" smtClean="0">
                          <a:solidFill>
                            <a:srgbClr val="FF0000"/>
                          </a:solidFill>
                          <a:latin typeface="Times New Roman" panose="02020503050405090304" pitchFamily="18" charset="0"/>
                          <a:ea typeface="+mn-ea"/>
                          <a:cs typeface="Times New Roman" panose="02020503050405090304" pitchFamily="18" charset="0"/>
                        </a:rPr>
                        <a:t> </a:t>
                      </a:r>
                      <a:r>
                        <a:rPr lang="en-US" sz="1600" b="1" kern="1200" dirty="0" err="1" smtClean="0">
                          <a:solidFill>
                            <a:srgbClr val="FF0000"/>
                          </a:solidFill>
                          <a:latin typeface="Times New Roman" panose="02020503050405090304" pitchFamily="18" charset="0"/>
                          <a:ea typeface="+mn-ea"/>
                          <a:cs typeface="Times New Roman" panose="02020503050405090304" pitchFamily="18" charset="0"/>
                        </a:rPr>
                        <a:t>vs</a:t>
                      </a:r>
                      <a:r>
                        <a:rPr lang="en-US" sz="1600" b="1" kern="1200" dirty="0" smtClean="0">
                          <a:solidFill>
                            <a:srgbClr val="FF0000"/>
                          </a:solidFill>
                          <a:latin typeface="Times New Roman" panose="02020503050405090304" pitchFamily="18" charset="0"/>
                          <a:ea typeface="+mn-ea"/>
                          <a:cs typeface="Times New Roman" panose="02020503050405090304" pitchFamily="18" charset="0"/>
                        </a:rPr>
                        <a:t> Monolithic Architecture.</a:t>
                      </a:r>
                      <a:endParaRPr kumimoji="0" lang="en-US" altLang="en-US" sz="1600" b="1" i="0" u="none" strike="noStrike" cap="none" normalizeH="0" baseline="0" dirty="0" smtClean="0">
                        <a:ln>
                          <a:noFill/>
                        </a:ln>
                        <a:solidFill>
                          <a:srgbClr val="FF0000"/>
                        </a:solidFill>
                        <a:effectLst/>
                        <a:latin typeface="Times New Roman" panose="02020503050405090304" pitchFamily="18" charset="0"/>
                        <a:cs typeface="Times New Roman" panose="02020503050405090304" pitchFamily="18" charset="0"/>
                      </a:endParaRPr>
                    </a:p>
                  </a:txBody>
                  <a:tcPr marL="73025" marR="73025" marT="47625" marB="4762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spd="slow"/>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838517" y="1200146"/>
            <a:ext cx="5187950" cy="3095078"/>
          </a:xfrm>
          <a:prstGeom prst="rect">
            <a:avLst/>
          </a:prstGeom>
        </p:spPr>
        <p:txBody>
          <a:bodyPr vert="horz" wrap="square" lIns="0" tIns="139065" rIns="0" bIns="0" rtlCol="0">
            <a:spAutoFit/>
          </a:bodyPr>
          <a:lstStyle/>
          <a:p>
            <a:pPr lvl="3" algn="just">
              <a:lnSpc>
                <a:spcPct val="150000"/>
              </a:lnSpc>
              <a:buFont typeface="Arial" pitchFamily="34" charset="0"/>
              <a:buChar char="•"/>
            </a:pPr>
            <a:r>
              <a:rPr lang="en-US" sz="1600" dirty="0">
                <a:solidFill>
                  <a:schemeClr val="tx1"/>
                </a:solidFill>
                <a:latin typeface="Times New Roman" panose="02020503050405090304" pitchFamily="18" charset="0"/>
                <a:cs typeface="Times New Roman" panose="02020503050405090304" pitchFamily="18" charset="0"/>
              </a:rPr>
              <a:t> </a:t>
            </a:r>
            <a:r>
              <a:rPr lang="en-IN" sz="1600" dirty="0" err="1" smtClean="0">
                <a:latin typeface="Times New Roman" pitchFamily="18" charset="0"/>
                <a:cs typeface="Times New Roman" pitchFamily="18" charset="0"/>
              </a:rPr>
              <a:t>Microservices</a:t>
            </a:r>
            <a:r>
              <a:rPr lang="en-IN" sz="1600" dirty="0" smtClean="0">
                <a:latin typeface="Times New Roman" pitchFamily="18" charset="0"/>
                <a:cs typeface="Times New Roman" pitchFamily="18" charset="0"/>
              </a:rPr>
              <a:t> Architectures</a:t>
            </a:r>
          </a:p>
          <a:p>
            <a:pPr lvl="3" algn="just">
              <a:lnSpc>
                <a:spcPct val="150000"/>
              </a:lnSpc>
              <a:buFont typeface="Arial" pitchFamily="34" charset="0"/>
              <a:buChar char="•"/>
            </a:pPr>
            <a:r>
              <a:rPr lang="en-IN" sz="1600" dirty="0" smtClean="0">
                <a:latin typeface="Times New Roman" pitchFamily="18" charset="0"/>
                <a:cs typeface="Times New Roman" pitchFamily="18" charset="0"/>
              </a:rPr>
              <a:t> Key Benefits of a </a:t>
            </a:r>
            <a:r>
              <a:rPr lang="en-IN" sz="1600" dirty="0" err="1" smtClean="0">
                <a:latin typeface="Times New Roman" pitchFamily="18" charset="0"/>
                <a:cs typeface="Times New Roman" pitchFamily="18" charset="0"/>
              </a:rPr>
              <a:t>Microservices</a:t>
            </a:r>
            <a:r>
              <a:rPr lang="en-IN" sz="1600" dirty="0" smtClean="0">
                <a:latin typeface="Times New Roman" pitchFamily="18" charset="0"/>
                <a:cs typeface="Times New Roman" pitchFamily="18" charset="0"/>
              </a:rPr>
              <a:t> Architecture</a:t>
            </a:r>
          </a:p>
          <a:p>
            <a:pPr lvl="3" algn="just">
              <a:lnSpc>
                <a:spcPct val="150000"/>
              </a:lnSpc>
              <a:buFont typeface="Arial" pitchFamily="34" charset="0"/>
              <a:buChar char="•"/>
            </a:pPr>
            <a:r>
              <a:rPr lang="en-IN" sz="1600" dirty="0" smtClean="0">
                <a:latin typeface="Times New Roman" pitchFamily="18" charset="0"/>
                <a:cs typeface="Times New Roman" pitchFamily="18" charset="0"/>
              </a:rPr>
              <a:t> How Do I Get Started with a </a:t>
            </a:r>
            <a:r>
              <a:rPr lang="en-IN" sz="1600" dirty="0" err="1" smtClean="0">
                <a:latin typeface="Times New Roman" pitchFamily="18" charset="0"/>
                <a:cs typeface="Times New Roman" pitchFamily="18" charset="0"/>
              </a:rPr>
              <a:t>Microservices</a:t>
            </a:r>
            <a:r>
              <a:rPr lang="en-IN" sz="1600" dirty="0" smtClean="0">
                <a:latin typeface="Times New Roman" pitchFamily="18" charset="0"/>
                <a:cs typeface="Times New Roman" pitchFamily="18" charset="0"/>
              </a:rPr>
              <a:t> Architecture?</a:t>
            </a:r>
          </a:p>
          <a:p>
            <a:pPr lvl="3" algn="just">
              <a:lnSpc>
                <a:spcPct val="150000"/>
              </a:lnSpc>
              <a:buFont typeface="Arial" pitchFamily="34" charset="0"/>
              <a:buChar char="•"/>
            </a:pPr>
            <a:r>
              <a:rPr lang="en-IN" sz="1600" dirty="0" smtClean="0">
                <a:latin typeface="Times New Roman" pitchFamily="18" charset="0"/>
                <a:cs typeface="Times New Roman" pitchFamily="18" charset="0"/>
              </a:rPr>
              <a:t> How to Decompose</a:t>
            </a:r>
          </a:p>
          <a:p>
            <a:pPr lvl="3" algn="just">
              <a:lnSpc>
                <a:spcPct val="150000"/>
              </a:lnSpc>
              <a:buFont typeface="Arial" pitchFamily="34" charset="0"/>
              <a:buChar char="•"/>
            </a:pPr>
            <a:r>
              <a:rPr lang="en-IN" sz="1600" dirty="0" smtClean="0">
                <a:latin typeface="Times New Roman" pitchFamily="18" charset="0"/>
                <a:cs typeface="Times New Roman" pitchFamily="18" charset="0"/>
              </a:rPr>
              <a:t> Design the Individual Services Carefully</a:t>
            </a:r>
          </a:p>
          <a:p>
            <a:pPr lvl="3" algn="just">
              <a:lnSpc>
                <a:spcPct val="150000"/>
              </a:lnSpc>
              <a:buFont typeface="Arial" pitchFamily="34" charset="0"/>
              <a:buChar char="•"/>
            </a:pPr>
            <a:r>
              <a:rPr lang="en-IN" sz="1600" dirty="0" smtClean="0">
                <a:latin typeface="Times New Roman" pitchFamily="18" charset="0"/>
                <a:cs typeface="Times New Roman" pitchFamily="18" charset="0"/>
              </a:rPr>
              <a:t> Importance of Monolithic Systems</a:t>
            </a:r>
          </a:p>
          <a:p>
            <a:pPr lvl="3" algn="just">
              <a:lnSpc>
                <a:spcPct val="150000"/>
              </a:lnSpc>
              <a:buFont typeface="Arial" pitchFamily="34" charset="0"/>
              <a:buChar char="•"/>
            </a:pPr>
            <a:r>
              <a:rPr lang="en-IN" sz="1600" dirty="0" smtClean="0">
                <a:latin typeface="Times New Roman" pitchFamily="18" charset="0"/>
                <a:cs typeface="Times New Roman" pitchFamily="18" charset="0"/>
              </a:rPr>
              <a:t> Characteristics of Monolithic Architecture</a:t>
            </a:r>
          </a:p>
          <a:p>
            <a:pPr lvl="3" algn="just">
              <a:lnSpc>
                <a:spcPct val="150000"/>
              </a:lnSpc>
              <a:buFont typeface="Arial" pitchFamily="34" charset="0"/>
              <a:buChar char="•"/>
            </a:pPr>
            <a:r>
              <a:rPr lang="en-IN" sz="1600" dirty="0" smtClean="0">
                <a:latin typeface="Times New Roman" pitchFamily="18" charset="0"/>
                <a:cs typeface="Times New Roman" pitchFamily="18" charset="0"/>
              </a:rPr>
              <a:t> Challenges in deploying Monolithic Architecture</a:t>
            </a:r>
            <a:endParaRPr lang="en-IN" sz="1600" dirty="0" smtClean="0">
              <a:solidFill>
                <a:schemeClr val="tx1"/>
              </a:solidFill>
              <a:latin typeface="Times New Roman" pitchFamily="18" charset="0"/>
              <a:cs typeface="Times New Roman" pitchFamily="18" charset="0"/>
            </a:endParaRPr>
          </a:p>
        </p:txBody>
      </p:sp>
      <p:sp>
        <p:nvSpPr>
          <p:cNvPr id="5"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fontAlgn="auto">
              <a:spcAft>
                <a:spcPts val="0"/>
              </a:spcAft>
              <a:defRPr/>
            </a:pPr>
            <a:r>
              <a:rPr sz="2400" dirty="0">
                <a:latin typeface="Times New Roman" panose="02020503050405090304" pitchFamily="18" charset="0"/>
                <a:cs typeface="Times New Roman" panose="02020503050405090304" pitchFamily="18" charset="0"/>
                <a:sym typeface="+mn-ea"/>
              </a:rPr>
              <a:t>Topic to</a:t>
            </a:r>
            <a:r>
              <a:rPr sz="2400" spc="-60" dirty="0">
                <a:latin typeface="Times New Roman" panose="02020503050405090304" pitchFamily="18" charset="0"/>
                <a:cs typeface="Times New Roman" panose="02020503050405090304" pitchFamily="18" charset="0"/>
                <a:sym typeface="+mn-ea"/>
              </a:rPr>
              <a:t> </a:t>
            </a:r>
            <a:r>
              <a:rPr sz="2400" dirty="0">
                <a:latin typeface="Times New Roman" panose="02020503050405090304" pitchFamily="18" charset="0"/>
                <a:cs typeface="Times New Roman" panose="02020503050405090304" pitchFamily="18" charset="0"/>
                <a:sym typeface="+mn-ea"/>
              </a:rPr>
              <a:t>be</a:t>
            </a:r>
            <a:r>
              <a:rPr sz="2400" spc="25" dirty="0">
                <a:latin typeface="Times New Roman" panose="02020503050405090304" pitchFamily="18" charset="0"/>
                <a:cs typeface="Times New Roman" panose="02020503050405090304" pitchFamily="18" charset="0"/>
                <a:sym typeface="+mn-ea"/>
              </a:rPr>
              <a:t> </a:t>
            </a:r>
            <a:r>
              <a:rPr sz="2400" spc="-10" dirty="0">
                <a:latin typeface="Times New Roman" panose="02020503050405090304" pitchFamily="18" charset="0"/>
                <a:cs typeface="Times New Roman" panose="02020503050405090304" pitchFamily="18" charset="0"/>
                <a:sym typeface="+mn-ea"/>
              </a:rPr>
              <a:t>Covered</a:t>
            </a:r>
            <a:endParaRPr lang="en-US" altLang="en-IN" sz="2400" b="1" dirty="0">
              <a:latin typeface="Times New Roman" panose="02020503050405090304" pitchFamily="18" charset="0"/>
              <a:cs typeface="Times New Roman" panose="0202050305040509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3950"/>
            <a:ext cx="7883525" cy="3048000"/>
          </a:xfrm>
          <a:prstGeom prst="rect">
            <a:avLst/>
          </a:prstGeom>
        </p:spPr>
        <p:txBody>
          <a:bodyPr vert="horz" wrap="square" lIns="0" tIns="9525" rIns="0" bIns="0" rtlCol="0">
            <a:noAutofit/>
          </a:bodyPr>
          <a:lstStyle/>
          <a:p>
            <a:pPr algn="just"/>
            <a:r>
              <a:rPr lang="en-IN" sz="1600" dirty="0">
                <a:latin typeface="Times New Roman" pitchFamily="18" charset="0"/>
                <a:cs typeface="Times New Roman" pitchFamily="18" charset="0"/>
              </a:rPr>
              <a:t>A </a:t>
            </a:r>
            <a:r>
              <a:rPr lang="en-IN" sz="1600" dirty="0" err="1">
                <a:latin typeface="Times New Roman" pitchFamily="18" charset="0"/>
                <a:cs typeface="Times New Roman" pitchFamily="18" charset="0"/>
              </a:rPr>
              <a:t>microservices</a:t>
            </a:r>
            <a:r>
              <a:rPr lang="en-IN" sz="1600" dirty="0">
                <a:latin typeface="Times New Roman" pitchFamily="18" charset="0"/>
                <a:cs typeface="Times New Roman" pitchFamily="18" charset="0"/>
              </a:rPr>
              <a:t> architecture takes this same approach and extends it to the loosely coupled services which can be developed, deployed, and maintained independently. Each of these services is responsible for discrete task and can communicate with other services through simple APIs to solve a larger complex business problem.</a:t>
            </a:r>
            <a:endParaRPr lang="en-US" sz="1600" dirty="0">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fontAlgn="auto">
              <a:spcAft>
                <a:spcPts val="0"/>
              </a:spcAft>
              <a:defRPr/>
            </a:pPr>
            <a:r>
              <a:rPr lang="en-IN" sz="2400" dirty="0" err="1" smtClean="0">
                <a:latin typeface="Times New Roman" pitchFamily="18" charset="0"/>
                <a:cs typeface="Times New Roman" pitchFamily="18" charset="0"/>
              </a:rPr>
              <a:t>Microservices</a:t>
            </a:r>
            <a:r>
              <a:rPr lang="en-IN" sz="2400" dirty="0" smtClean="0">
                <a:latin typeface="Times New Roman" pitchFamily="18" charset="0"/>
                <a:cs typeface="Times New Roman" pitchFamily="18" charset="0"/>
              </a:rPr>
              <a:t> Architectures</a:t>
            </a:r>
            <a:endParaRPr lang="en-US" sz="2400" b="1" spc="-10" dirty="0">
              <a:latin typeface="Times New Roman" pitchFamily="18" charset="0"/>
              <a:cs typeface="Times New Roman" pitchFamily="18" charset="0"/>
              <a:sym typeface="+mn-ea"/>
            </a:endParaRPr>
          </a:p>
        </p:txBody>
      </p:sp>
      <p:sp>
        <p:nvSpPr>
          <p:cNvPr id="3277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4" name="AutoShape 6"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6" name="AutoShape 8"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8" name="AutoShape 10"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80" name="AutoShape 1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3950"/>
            <a:ext cx="7883525" cy="2057400"/>
          </a:xfrm>
          <a:prstGeom prst="rect">
            <a:avLst/>
          </a:prstGeom>
        </p:spPr>
        <p:txBody>
          <a:bodyPr vert="horz" wrap="square" lIns="0" tIns="9525" rIns="0" bIns="0" rtlCol="0">
            <a:noAutofit/>
          </a:bodyPr>
          <a:lstStyle/>
          <a:p>
            <a:pPr algn="just">
              <a:buFont typeface="Arial" pitchFamily="34" charset="0"/>
              <a:buChar char="•"/>
            </a:pPr>
            <a:r>
              <a:rPr lang="en-IN" sz="1600" dirty="0" smtClean="0">
                <a:latin typeface="Times New Roman" pitchFamily="18" charset="0"/>
                <a:cs typeface="Times New Roman" pitchFamily="18" charset="0"/>
              </a:rPr>
              <a:t> As </a:t>
            </a:r>
            <a:r>
              <a:rPr lang="en-IN" sz="1600" dirty="0">
                <a:latin typeface="Times New Roman" pitchFamily="18" charset="0"/>
                <a:cs typeface="Times New Roman" pitchFamily="18" charset="0"/>
              </a:rPr>
              <a:t>the constituent services are small, they can be built by one or more small teams from the beginning separated by service boundaries which make it easier to scale up the development effort if need be</a:t>
            </a:r>
            <a:r>
              <a:rPr lang="en-IN" sz="1600" dirty="0" smtClean="0">
                <a:latin typeface="Times New Roman" pitchFamily="18" charset="0"/>
                <a:cs typeface="Times New Roman" pitchFamily="18" charset="0"/>
              </a:rPr>
              <a:t>.</a:t>
            </a:r>
          </a:p>
          <a:p>
            <a:pPr algn="just">
              <a:buFont typeface="Arial" pitchFamily="34" charset="0"/>
              <a:buChar char="•"/>
            </a:pPr>
            <a:endParaRPr lang="en-US" sz="1600" dirty="0">
              <a:latin typeface="Times New Roman" pitchFamily="18" charset="0"/>
              <a:cs typeface="Times New Roman" pitchFamily="18" charset="0"/>
            </a:endParaRPr>
          </a:p>
          <a:p>
            <a:pPr algn="just">
              <a:buFont typeface="Arial" pitchFamily="34" charset="0"/>
              <a:buChar char="•"/>
            </a:pPr>
            <a:r>
              <a:rPr lang="en-IN" sz="1600" dirty="0" smtClean="0">
                <a:latin typeface="Times New Roman" pitchFamily="18" charset="0"/>
                <a:cs typeface="Times New Roman" pitchFamily="18" charset="0"/>
              </a:rPr>
              <a:t> Once </a:t>
            </a:r>
            <a:r>
              <a:rPr lang="en-IN" sz="1600" dirty="0">
                <a:latin typeface="Times New Roman" pitchFamily="18" charset="0"/>
                <a:cs typeface="Times New Roman" pitchFamily="18" charset="0"/>
              </a:rPr>
              <a:t>developed, these services can also be deployed independently of each other and hence its easy to identify hot services and scale them independent of whole application. </a:t>
            </a:r>
            <a:r>
              <a:rPr lang="en-IN" sz="1600" dirty="0" err="1">
                <a:latin typeface="Times New Roman" pitchFamily="18" charset="0"/>
                <a:cs typeface="Times New Roman" pitchFamily="18" charset="0"/>
              </a:rPr>
              <a:t>Microservices</a:t>
            </a:r>
            <a:r>
              <a:rPr lang="en-IN" sz="1600" dirty="0">
                <a:latin typeface="Times New Roman" pitchFamily="18" charset="0"/>
                <a:cs typeface="Times New Roman" pitchFamily="18" charset="0"/>
              </a:rPr>
              <a:t> also offer improved fault isolation whereby in the case of an error in one service the whole application doesn’t necessarily stop functioning. When the error is fixed, it can be deployed only for the respective service instead of redeploying an entire application.</a:t>
            </a:r>
            <a:endParaRPr lang="en-US" sz="1600" dirty="0">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r>
              <a:rPr lang="en-IN" sz="2400" dirty="0" smtClean="0">
                <a:latin typeface="Times New Roman" pitchFamily="18" charset="0"/>
                <a:cs typeface="Times New Roman" pitchFamily="18" charset="0"/>
              </a:rPr>
              <a:t>Key Benefits of a </a:t>
            </a:r>
            <a:r>
              <a:rPr lang="en-IN" sz="2400" dirty="0" err="1" smtClean="0">
                <a:latin typeface="Times New Roman" pitchFamily="18" charset="0"/>
                <a:cs typeface="Times New Roman" pitchFamily="18" charset="0"/>
              </a:rPr>
              <a:t>Microservices</a:t>
            </a:r>
            <a:r>
              <a:rPr lang="en-IN" sz="2400" dirty="0" smtClean="0">
                <a:latin typeface="Times New Roman" pitchFamily="18" charset="0"/>
                <a:cs typeface="Times New Roman" pitchFamily="18" charset="0"/>
              </a:rPr>
              <a:t> Architecture</a:t>
            </a:r>
            <a:endParaRPr lang="en-US" sz="2400" dirty="0">
              <a:latin typeface="Times New Roman" pitchFamily="18" charset="0"/>
              <a:cs typeface="Times New Roman" pitchFamily="18" charset="0"/>
            </a:endParaRPr>
          </a:p>
        </p:txBody>
      </p:sp>
      <p:sp>
        <p:nvSpPr>
          <p:cNvPr id="3277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4" name="AutoShape 6"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6" name="AutoShape 8"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8" name="AutoShape 10"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80" name="AutoShape 1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3950"/>
            <a:ext cx="7883525" cy="3505200"/>
          </a:xfrm>
          <a:prstGeom prst="rect">
            <a:avLst/>
          </a:prstGeom>
        </p:spPr>
        <p:txBody>
          <a:bodyPr vert="horz" wrap="square" lIns="0" tIns="9525" rIns="0" bIns="0" rtlCol="0">
            <a:noAutofit/>
          </a:bodyPr>
          <a:lstStyle/>
          <a:p>
            <a:pPr algn="just">
              <a:buFont typeface="Arial" pitchFamily="34" charset="0"/>
              <a:buChar char="•"/>
            </a:pPr>
            <a:r>
              <a:rPr lang="en-IN" sz="1600" dirty="0" smtClean="0">
                <a:latin typeface="Times New Roman" pitchFamily="18" charset="0"/>
                <a:cs typeface="Times New Roman" pitchFamily="18" charset="0"/>
              </a:rPr>
              <a:t> Hopefully</a:t>
            </a:r>
            <a:r>
              <a:rPr lang="en-IN" sz="1600" dirty="0">
                <a:latin typeface="Times New Roman" pitchFamily="18" charset="0"/>
                <a:cs typeface="Times New Roman" pitchFamily="18" charset="0"/>
              </a:rPr>
              <a:t>, you’re now convinced that a </a:t>
            </a:r>
            <a:r>
              <a:rPr lang="en-IN" sz="1600" dirty="0" err="1">
                <a:latin typeface="Times New Roman" pitchFamily="18" charset="0"/>
                <a:cs typeface="Times New Roman" pitchFamily="18" charset="0"/>
              </a:rPr>
              <a:t>microservices</a:t>
            </a:r>
            <a:r>
              <a:rPr lang="en-IN" sz="1600" dirty="0">
                <a:latin typeface="Times New Roman" pitchFamily="18" charset="0"/>
                <a:cs typeface="Times New Roman" pitchFamily="18" charset="0"/>
              </a:rPr>
              <a:t> architecture can offer some unique advantages over traditional architectures and you’ve started thinking about this type of approach for your next project</a:t>
            </a:r>
            <a:r>
              <a:rPr lang="en-IN" sz="1600" dirty="0" smtClean="0">
                <a:latin typeface="Times New Roman" pitchFamily="18" charset="0"/>
                <a:cs typeface="Times New Roman" pitchFamily="18" charset="0"/>
              </a:rPr>
              <a:t>.</a:t>
            </a:r>
          </a:p>
          <a:p>
            <a:pPr algn="just">
              <a:buFont typeface="Arial" pitchFamily="34" charset="0"/>
              <a:buChar char="•"/>
            </a:pPr>
            <a:endParaRPr lang="en-US" sz="1600" dirty="0">
              <a:latin typeface="Times New Roman" pitchFamily="18" charset="0"/>
              <a:cs typeface="Times New Roman" pitchFamily="18" charset="0"/>
            </a:endParaRPr>
          </a:p>
          <a:p>
            <a:pPr algn="just">
              <a:buFont typeface="Arial" pitchFamily="34" charset="0"/>
              <a:buChar char="•"/>
            </a:pPr>
            <a:r>
              <a:rPr lang="en-IN" sz="1600" dirty="0" smtClean="0">
                <a:latin typeface="Times New Roman" pitchFamily="18" charset="0"/>
                <a:cs typeface="Times New Roman" pitchFamily="18" charset="0"/>
              </a:rPr>
              <a:t> The </a:t>
            </a:r>
            <a:r>
              <a:rPr lang="en-IN" sz="1600" dirty="0">
                <a:latin typeface="Times New Roman" pitchFamily="18" charset="0"/>
                <a:cs typeface="Times New Roman" pitchFamily="18" charset="0"/>
              </a:rPr>
              <a:t>very next question that comes to mind is “How do I start?” — and — “Is there a standard set of principles which I can follow to help me build a </a:t>
            </a:r>
            <a:r>
              <a:rPr lang="en-IN" sz="1600" dirty="0" err="1">
                <a:latin typeface="Times New Roman" pitchFamily="18" charset="0"/>
                <a:cs typeface="Times New Roman" pitchFamily="18" charset="0"/>
              </a:rPr>
              <a:t>microservices</a:t>
            </a:r>
            <a:r>
              <a:rPr lang="en-IN" sz="1600" dirty="0">
                <a:latin typeface="Times New Roman" pitchFamily="18" charset="0"/>
                <a:cs typeface="Times New Roman" pitchFamily="18" charset="0"/>
              </a:rPr>
              <a:t> architecture in a better way?”</a:t>
            </a:r>
            <a:endParaRPr lang="en-US" sz="1600" dirty="0">
              <a:latin typeface="Times New Roman" pitchFamily="18" charset="0"/>
              <a:cs typeface="Times New Roman" pitchFamily="18" charset="0"/>
            </a:endParaRPr>
          </a:p>
          <a:p>
            <a:pPr algn="just">
              <a:buFont typeface="Arial" pitchFamily="34" charset="0"/>
              <a:buChar char="•"/>
            </a:pPr>
            <a:r>
              <a:rPr lang="en-IN" sz="1600" dirty="0" smtClean="0">
                <a:latin typeface="Times New Roman" pitchFamily="18" charset="0"/>
                <a:cs typeface="Times New Roman" pitchFamily="18" charset="0"/>
              </a:rPr>
              <a:t> Well</a:t>
            </a:r>
            <a:r>
              <a:rPr lang="en-IN" sz="1600" dirty="0">
                <a:latin typeface="Times New Roman" pitchFamily="18" charset="0"/>
                <a:cs typeface="Times New Roman" pitchFamily="18" charset="0"/>
              </a:rPr>
              <a:t>, I’m afraid the answer is “No</a:t>
            </a:r>
            <a:r>
              <a:rPr lang="en-IN" sz="1600" dirty="0" smtClean="0">
                <a:latin typeface="Times New Roman" pitchFamily="18" charset="0"/>
                <a:cs typeface="Times New Roman" pitchFamily="18" charset="0"/>
              </a:rPr>
              <a:t>”.</a:t>
            </a:r>
          </a:p>
          <a:p>
            <a:pPr algn="just">
              <a:buFont typeface="Arial" pitchFamily="34" charset="0"/>
              <a:buChar char="•"/>
            </a:pPr>
            <a:endParaRPr lang="en-US" sz="1600" dirty="0">
              <a:latin typeface="Times New Roman" pitchFamily="18" charset="0"/>
              <a:cs typeface="Times New Roman" pitchFamily="18" charset="0"/>
            </a:endParaRPr>
          </a:p>
          <a:p>
            <a:pPr algn="just">
              <a:buFont typeface="Arial" pitchFamily="34" charset="0"/>
              <a:buChar char="•"/>
            </a:pPr>
            <a:r>
              <a:rPr lang="en-IN" sz="1600" dirty="0" smtClean="0">
                <a:latin typeface="Times New Roman" pitchFamily="18" charset="0"/>
                <a:cs typeface="Times New Roman" pitchFamily="18" charset="0"/>
              </a:rPr>
              <a:t> While </a:t>
            </a:r>
            <a:r>
              <a:rPr lang="en-IN" sz="1600" dirty="0">
                <a:latin typeface="Times New Roman" pitchFamily="18" charset="0"/>
                <a:cs typeface="Times New Roman" pitchFamily="18" charset="0"/>
              </a:rPr>
              <a:t>that might not sound that promising, there are, however, some common themes which many organizations that have adopted </a:t>
            </a:r>
            <a:r>
              <a:rPr lang="en-IN" sz="1600" dirty="0" err="1">
                <a:latin typeface="Times New Roman" pitchFamily="18" charset="0"/>
                <a:cs typeface="Times New Roman" pitchFamily="18" charset="0"/>
              </a:rPr>
              <a:t>microservices</a:t>
            </a:r>
            <a:r>
              <a:rPr lang="en-IN" sz="1600" dirty="0">
                <a:latin typeface="Times New Roman" pitchFamily="18" charset="0"/>
                <a:cs typeface="Times New Roman" pitchFamily="18" charset="0"/>
              </a:rPr>
              <a:t> architectures have followed and with which they have ultimately found success. I’ll discuss some of those common themes below.</a:t>
            </a:r>
            <a:endParaRPr lang="en-US" sz="1600" dirty="0">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r>
              <a:rPr lang="en-IN" sz="2400" dirty="0" smtClean="0">
                <a:latin typeface="Times New Roman" pitchFamily="18" charset="0"/>
                <a:cs typeface="Times New Roman" pitchFamily="18" charset="0"/>
              </a:rPr>
              <a:t>How Do I Get Started with a </a:t>
            </a:r>
            <a:r>
              <a:rPr lang="en-IN" sz="2400" dirty="0" err="1" smtClean="0">
                <a:latin typeface="Times New Roman" pitchFamily="18" charset="0"/>
                <a:cs typeface="Times New Roman" pitchFamily="18" charset="0"/>
              </a:rPr>
              <a:t>Microservices</a:t>
            </a:r>
            <a:r>
              <a:rPr lang="en-IN" sz="2400" dirty="0" smtClean="0">
                <a:latin typeface="Times New Roman" pitchFamily="18" charset="0"/>
                <a:cs typeface="Times New Roman" pitchFamily="18" charset="0"/>
              </a:rPr>
              <a:t> Architecture?</a:t>
            </a:r>
            <a:endParaRPr lang="en-US" sz="2400" dirty="0">
              <a:latin typeface="Times New Roman" pitchFamily="18" charset="0"/>
              <a:cs typeface="Times New Roman" pitchFamily="18" charset="0"/>
            </a:endParaRPr>
          </a:p>
        </p:txBody>
      </p:sp>
      <p:sp>
        <p:nvSpPr>
          <p:cNvPr id="3277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4" name="AutoShape 6"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6" name="AutoShape 8"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8" name="AutoShape 10"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80" name="AutoShape 1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3950"/>
            <a:ext cx="7315199" cy="3733800"/>
          </a:xfrm>
          <a:prstGeom prst="rect">
            <a:avLst/>
          </a:prstGeom>
        </p:spPr>
        <p:txBody>
          <a:bodyPr vert="horz" wrap="square" lIns="0" tIns="9525" rIns="0" bIns="0" rtlCol="0">
            <a:noAutofit/>
          </a:bodyPr>
          <a:lstStyle/>
          <a:p>
            <a:pPr algn="just"/>
            <a:r>
              <a:rPr lang="en-IN" sz="1600" dirty="0">
                <a:latin typeface="Times New Roman" pitchFamily="18" charset="0"/>
                <a:cs typeface="Times New Roman" pitchFamily="18" charset="0"/>
              </a:rPr>
              <a:t>Identifying business capabilities and corresponding services requires a high level understanding of the business. For example, the business capabilities for an online shopping application might include the following</a:t>
            </a:r>
            <a:r>
              <a:rPr lang="en-IN" sz="1600" dirty="0" smtClean="0">
                <a:latin typeface="Times New Roman" pitchFamily="18" charset="0"/>
                <a:cs typeface="Times New Roman" pitchFamily="18" charset="0"/>
              </a:rPr>
              <a:t>..</a:t>
            </a:r>
          </a:p>
          <a:p>
            <a:endParaRPr lang="en-US" sz="1600" dirty="0">
              <a:latin typeface="Times New Roman" pitchFamily="18" charset="0"/>
              <a:cs typeface="Times New Roman" pitchFamily="18" charset="0"/>
            </a:endParaRPr>
          </a:p>
          <a:p>
            <a:r>
              <a:rPr lang="en-IN" sz="1600" dirty="0">
                <a:latin typeface="Times New Roman" pitchFamily="18" charset="0"/>
                <a:cs typeface="Times New Roman" pitchFamily="18" charset="0"/>
              </a:rPr>
              <a:t>● Product </a:t>
            </a:r>
            <a:r>
              <a:rPr lang="en-IN" sz="1600" dirty="0" err="1">
                <a:latin typeface="Times New Roman" pitchFamily="18" charset="0"/>
                <a:cs typeface="Times New Roman" pitchFamily="18" charset="0"/>
              </a:rPr>
              <a:t>Catalog</a:t>
            </a:r>
            <a:r>
              <a:rPr lang="en-IN" sz="1600" dirty="0">
                <a:latin typeface="Times New Roman" pitchFamily="18" charset="0"/>
                <a:cs typeface="Times New Roman" pitchFamily="18" charset="0"/>
              </a:rPr>
              <a:t> Management</a:t>
            </a:r>
            <a:endParaRPr lang="en-US" sz="1600" dirty="0">
              <a:latin typeface="Times New Roman" pitchFamily="18" charset="0"/>
              <a:cs typeface="Times New Roman" pitchFamily="18" charset="0"/>
            </a:endParaRPr>
          </a:p>
          <a:p>
            <a:r>
              <a:rPr lang="en-IN" sz="1600" dirty="0">
                <a:latin typeface="Times New Roman" pitchFamily="18" charset="0"/>
                <a:cs typeface="Times New Roman" pitchFamily="18" charset="0"/>
              </a:rPr>
              <a:t>● Inventory Management</a:t>
            </a:r>
            <a:endParaRPr lang="en-US" sz="1600" dirty="0">
              <a:latin typeface="Times New Roman" pitchFamily="18" charset="0"/>
              <a:cs typeface="Times New Roman" pitchFamily="18" charset="0"/>
            </a:endParaRPr>
          </a:p>
          <a:p>
            <a:r>
              <a:rPr lang="en-IN" sz="1600" dirty="0">
                <a:latin typeface="Times New Roman" pitchFamily="18" charset="0"/>
                <a:cs typeface="Times New Roman" pitchFamily="18" charset="0"/>
              </a:rPr>
              <a:t>● Order Management</a:t>
            </a:r>
            <a:endParaRPr lang="en-US" sz="1600" dirty="0">
              <a:latin typeface="Times New Roman" pitchFamily="18" charset="0"/>
              <a:cs typeface="Times New Roman" pitchFamily="18" charset="0"/>
            </a:endParaRPr>
          </a:p>
          <a:p>
            <a:r>
              <a:rPr lang="en-IN" sz="1600" dirty="0">
                <a:latin typeface="Times New Roman" pitchFamily="18" charset="0"/>
                <a:cs typeface="Times New Roman" pitchFamily="18" charset="0"/>
              </a:rPr>
              <a:t>● Delivery Management</a:t>
            </a:r>
            <a:endParaRPr lang="en-US" sz="1600" dirty="0">
              <a:latin typeface="Times New Roman" pitchFamily="18" charset="0"/>
              <a:cs typeface="Times New Roman" pitchFamily="18" charset="0"/>
            </a:endParaRPr>
          </a:p>
          <a:p>
            <a:r>
              <a:rPr lang="en-IN" sz="1600" dirty="0">
                <a:latin typeface="Times New Roman" pitchFamily="18" charset="0"/>
                <a:cs typeface="Times New Roman" pitchFamily="18" charset="0"/>
              </a:rPr>
              <a:t>● User Management</a:t>
            </a:r>
            <a:endParaRPr lang="en-US" sz="1600" dirty="0">
              <a:latin typeface="Times New Roman" pitchFamily="18" charset="0"/>
              <a:cs typeface="Times New Roman" pitchFamily="18" charset="0"/>
            </a:endParaRPr>
          </a:p>
          <a:p>
            <a:r>
              <a:rPr lang="en-IN" sz="1600" dirty="0">
                <a:latin typeface="Times New Roman" pitchFamily="18" charset="0"/>
                <a:cs typeface="Times New Roman" pitchFamily="18" charset="0"/>
              </a:rPr>
              <a:t>● Product Recommendations</a:t>
            </a:r>
            <a:endParaRPr lang="en-US" sz="1600" dirty="0">
              <a:latin typeface="Times New Roman" pitchFamily="18" charset="0"/>
              <a:cs typeface="Times New Roman" pitchFamily="18" charset="0"/>
            </a:endParaRPr>
          </a:p>
          <a:p>
            <a:r>
              <a:rPr lang="en-IN" sz="1600" dirty="0">
                <a:latin typeface="Times New Roman" pitchFamily="18" charset="0"/>
                <a:cs typeface="Times New Roman" pitchFamily="18" charset="0"/>
              </a:rPr>
              <a:t>● Product Reviews Management</a:t>
            </a:r>
            <a:endParaRPr lang="en-US" sz="1600" dirty="0">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a:defRPr/>
            </a:pPr>
            <a:r>
              <a:rPr lang="en-IN" sz="2400" dirty="0" smtClean="0">
                <a:latin typeface="Times New Roman" pitchFamily="18" charset="0"/>
                <a:cs typeface="Times New Roman" pitchFamily="18" charset="0"/>
              </a:rPr>
              <a:t>How to Decompose</a:t>
            </a:r>
            <a:endParaRPr lang="en-US" sz="2400" b="1" spc="-10" dirty="0">
              <a:latin typeface="Times New Roman" pitchFamily="18" charset="0"/>
              <a:cs typeface="Times New Roman" pitchFamily="18" charset="0"/>
              <a:sym typeface="+mn-ea"/>
            </a:endParaRPr>
          </a:p>
        </p:txBody>
      </p:sp>
      <p:sp>
        <p:nvSpPr>
          <p:cNvPr id="3277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4" name="AutoShape 6"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6" name="AutoShape 8"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8" name="AutoShape 10"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80" name="AutoShape 1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5846" name="AutoShape 6" descr="blob:https://web.whatsapp.com/474a50cf-e89e-46fb-9210-021b243cb38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1506" name="AutoShape 2" descr="Homogeneous Distributed Database (Self Creation) | Download Scientific ..."/>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3950"/>
            <a:ext cx="8077199" cy="1752600"/>
          </a:xfrm>
          <a:prstGeom prst="rect">
            <a:avLst/>
          </a:prstGeom>
        </p:spPr>
        <p:txBody>
          <a:bodyPr vert="horz" wrap="square" lIns="0" tIns="9525" rIns="0" bIns="0" rtlCol="0">
            <a:noAutofit/>
          </a:bodyPr>
          <a:lstStyle/>
          <a:p>
            <a:pPr algn="just">
              <a:buFont typeface="Arial" pitchFamily="34" charset="0"/>
              <a:buChar char="•"/>
            </a:pPr>
            <a:r>
              <a:rPr lang="en-IN" sz="1600" dirty="0" smtClean="0">
                <a:latin typeface="Times New Roman" pitchFamily="18" charset="0"/>
                <a:cs typeface="Times New Roman" pitchFamily="18" charset="0"/>
              </a:rPr>
              <a:t> When </a:t>
            </a:r>
            <a:r>
              <a:rPr lang="en-IN" sz="1600" dirty="0">
                <a:latin typeface="Times New Roman" pitchFamily="18" charset="0"/>
                <a:cs typeface="Times New Roman" pitchFamily="18" charset="0"/>
              </a:rPr>
              <a:t>designing the services, carefully define them and think about what will be exposed, what protocols will be used to interact with the service, etc.</a:t>
            </a:r>
            <a:endParaRPr lang="en-US" sz="1600" dirty="0">
              <a:latin typeface="Times New Roman" pitchFamily="18" charset="0"/>
              <a:cs typeface="Times New Roman" pitchFamily="18" charset="0"/>
            </a:endParaRPr>
          </a:p>
          <a:p>
            <a:pPr algn="just">
              <a:buFont typeface="Arial" pitchFamily="34" charset="0"/>
              <a:buChar char="•"/>
            </a:pPr>
            <a:r>
              <a:rPr lang="en-IN" sz="1600" dirty="0" smtClean="0">
                <a:latin typeface="Times New Roman" pitchFamily="18" charset="0"/>
                <a:cs typeface="Times New Roman" pitchFamily="18" charset="0"/>
              </a:rPr>
              <a:t> It </a:t>
            </a:r>
            <a:r>
              <a:rPr lang="en-IN" sz="1600" dirty="0">
                <a:latin typeface="Times New Roman" pitchFamily="18" charset="0"/>
                <a:cs typeface="Times New Roman" pitchFamily="18" charset="0"/>
              </a:rPr>
              <a:t>is very important to hide any complexity and implementation details of the service and only expose what is needed by the service’s clients. If unnecessary details are exposed, it becomes very difficult to change the service later as there will be </a:t>
            </a:r>
            <a:r>
              <a:rPr lang="en-IN" sz="1600" dirty="0" err="1">
                <a:latin typeface="Times New Roman" pitchFamily="18" charset="0"/>
                <a:cs typeface="Times New Roman" pitchFamily="18" charset="0"/>
              </a:rPr>
              <a:t>alot</a:t>
            </a:r>
            <a:r>
              <a:rPr lang="en-IN" sz="1600" dirty="0">
                <a:latin typeface="Times New Roman" pitchFamily="18" charset="0"/>
                <a:cs typeface="Times New Roman" pitchFamily="18" charset="0"/>
              </a:rPr>
              <a:t> of painstaking work to determine who is relying on the various parts of the service. Additionally, a great deal of flexibility is lost in being able to deploying the service independently.</a:t>
            </a:r>
            <a:endParaRPr lang="en-US" sz="1600" dirty="0">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r>
              <a:rPr lang="en-IN" sz="2400" dirty="0" smtClean="0">
                <a:latin typeface="Times New Roman" pitchFamily="18" charset="0"/>
                <a:cs typeface="Times New Roman" pitchFamily="18" charset="0"/>
              </a:rPr>
              <a:t>Design the Individual Services Carefully</a:t>
            </a:r>
            <a:endParaRPr lang="en-US" sz="2400" dirty="0">
              <a:latin typeface="Times New Roman" pitchFamily="18" charset="0"/>
              <a:cs typeface="Times New Roman" pitchFamily="18" charset="0"/>
            </a:endParaRPr>
          </a:p>
        </p:txBody>
      </p:sp>
      <p:sp>
        <p:nvSpPr>
          <p:cNvPr id="3277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4" name="AutoShape 6"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6" name="AutoShape 8"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8" name="AutoShape 10"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80" name="AutoShape 1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5846" name="AutoShape 6" descr="blob:https://web.whatsapp.com/474a50cf-e89e-46fb-9210-021b243cb38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1" name="Picture 10"/>
          <p:cNvPicPr/>
          <p:nvPr/>
        </p:nvPicPr>
        <p:blipFill>
          <a:blip r:embed="rId2" cstate="print">
            <a:extLst>
              <a:ext uri="{28A0092B-C50C-407E-A947-70E740481C1C}">
                <a14:useLocalDpi xmlns:lc="http://schemas.openxmlformats.org/drawingml/2006/lockedCanvas" xmlns:pic="http://schemas.openxmlformats.org/drawingml/2006/picture" xmlns=""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mc="http://schemas.openxmlformats.org/markup-compatibility/2006" xmlns:aink="http://schemas.microsoft.com/office/drawing/2016/ink" xmlns:am3d="http://schemas.microsoft.com/office/drawing/2017/model3d" xmlns:o="urn:schemas-microsoft-com:office:office" xmlns:oel="http://schemas.microsoft.com/office/2019/extlst" xmlns:v="urn:schemas-microsoft-com:vml" xmlns:wp14="http://schemas.microsoft.com/office/word/2010/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du="http://schemas.microsoft.com/office/word/2023/wordml/word16du" xmlns:w16sdtdh="http://schemas.microsoft.com/office/word/2020/wordml/sdtdatahash" xmlns:w16sdtfl="http://schemas.microsoft.com/office/word/2024/wordml/sdtformatlock" xmlns:w16se="http://schemas.microsoft.com/office/word/2015/wordml/symex" xmlns:wpg="http://schemas.microsoft.com/office/word/2010/wordprocessingGroup" xmlns:wpi="http://schemas.microsoft.com/office/word/2010/wordprocessingInk" xmlns:wps="http://schemas.microsoft.com/office/word/2010/wordprocessingShape" xmlns:a14="http://schemas.microsoft.com/office/drawing/2010/main" xmlns:wne="http://schemas.microsoft.com/office/word/2006/wordml" xmlns:wp="http://schemas.openxmlformats.org/drawingml/2006/wordprocessingDrawing" xmlns:m="http://schemas.openxmlformats.org/officeDocument/2006/math" xmlns:ve="http://schemas.openxmlformats.org/markup-compatibility/2006" val="0"/>
              </a:ext>
            </a:extLst>
          </a:blip>
          <a:srcRect/>
          <a:stretch>
            <a:fillRect/>
          </a:stretch>
        </p:blipFill>
        <p:spPr bwMode="auto">
          <a:xfrm>
            <a:off x="1905000" y="3028950"/>
            <a:ext cx="5791200" cy="18859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3950"/>
            <a:ext cx="7696199" cy="3276600"/>
          </a:xfrm>
          <a:prstGeom prst="rect">
            <a:avLst/>
          </a:prstGeom>
        </p:spPr>
        <p:txBody>
          <a:bodyPr vert="horz" wrap="square" lIns="0" tIns="9525" rIns="0" bIns="0" rtlCol="0">
            <a:noAutofit/>
          </a:bodyPr>
          <a:lstStyle/>
          <a:p>
            <a:pPr algn="just">
              <a:buFont typeface="Arial" pitchFamily="34" charset="0"/>
              <a:buChar char="•"/>
            </a:pPr>
            <a:r>
              <a:rPr lang="en-IN" sz="1600" dirty="0" smtClean="0">
                <a:latin typeface="Times New Roman" pitchFamily="18" charset="0"/>
                <a:cs typeface="Times New Roman" pitchFamily="18" charset="0"/>
              </a:rPr>
              <a:t> There </a:t>
            </a:r>
            <a:r>
              <a:rPr lang="en-IN" sz="1600" dirty="0">
                <a:latin typeface="Times New Roman" pitchFamily="18" charset="0"/>
                <a:cs typeface="Times New Roman" pitchFamily="18" charset="0"/>
              </a:rPr>
              <a:t>are organizations who have found success with </a:t>
            </a:r>
            <a:r>
              <a:rPr lang="en-IN" sz="1600" dirty="0" err="1">
                <a:latin typeface="Times New Roman" pitchFamily="18" charset="0"/>
                <a:cs typeface="Times New Roman" pitchFamily="18" charset="0"/>
              </a:rPr>
              <a:t>microservices</a:t>
            </a:r>
            <a:r>
              <a:rPr lang="en-IN" sz="1600" dirty="0">
                <a:latin typeface="Times New Roman" pitchFamily="18" charset="0"/>
                <a:cs typeface="Times New Roman" pitchFamily="18" charset="0"/>
              </a:rPr>
              <a:t> and have followed a model where the teams who build the services take care of everything related to that service. They are the ones who develop, deploy, maintain and support it. There are no separate support or maintenance teams</a:t>
            </a:r>
            <a:r>
              <a:rPr lang="en-IN" sz="1600" dirty="0" smtClean="0">
                <a:latin typeface="Times New Roman" pitchFamily="18" charset="0"/>
                <a:cs typeface="Times New Roman" pitchFamily="18" charset="0"/>
              </a:rPr>
              <a:t>.</a:t>
            </a:r>
          </a:p>
          <a:p>
            <a:pPr algn="just">
              <a:buFont typeface="Arial" pitchFamily="34" charset="0"/>
              <a:buChar char="•"/>
            </a:pPr>
            <a:endParaRPr lang="en-US" sz="1600" dirty="0">
              <a:latin typeface="Times New Roman" pitchFamily="18" charset="0"/>
              <a:cs typeface="Times New Roman" pitchFamily="18" charset="0"/>
            </a:endParaRPr>
          </a:p>
          <a:p>
            <a:pPr algn="just">
              <a:buFont typeface="Arial" pitchFamily="34" charset="0"/>
              <a:buChar char="•"/>
            </a:pPr>
            <a:r>
              <a:rPr lang="en-IN" sz="1600" dirty="0" smtClean="0">
                <a:latin typeface="Times New Roman" pitchFamily="18" charset="0"/>
                <a:cs typeface="Times New Roman" pitchFamily="18" charset="0"/>
              </a:rPr>
              <a:t> Another </a:t>
            </a:r>
            <a:r>
              <a:rPr lang="en-IN" sz="1600" dirty="0">
                <a:latin typeface="Times New Roman" pitchFamily="18" charset="0"/>
                <a:cs typeface="Times New Roman" pitchFamily="18" charset="0"/>
              </a:rPr>
              <a:t>way to achieve the same is to have an internal open source model. By taking this approach, the developer who needs changes in a service can check out the code, work on a feature, and submit a PR himself instead of waiting for the service owner to pickup and work on needed changes.</a:t>
            </a:r>
            <a:endParaRPr lang="en-US" sz="1600" dirty="0">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a:defRPr/>
            </a:pPr>
            <a:r>
              <a:rPr lang="en-IN" sz="2400" dirty="0" smtClean="0">
                <a:latin typeface="Times New Roman" pitchFamily="18" charset="0"/>
                <a:cs typeface="Times New Roman" pitchFamily="18" charset="0"/>
              </a:rPr>
              <a:t>Decentralize Things</a:t>
            </a:r>
            <a:endParaRPr lang="en-US" sz="2400" b="1" spc="-10" dirty="0">
              <a:latin typeface="Times New Roman" pitchFamily="18" charset="0"/>
              <a:cs typeface="Times New Roman" pitchFamily="18" charset="0"/>
              <a:sym typeface="+mn-ea"/>
            </a:endParaRPr>
          </a:p>
        </p:txBody>
      </p:sp>
      <p:sp>
        <p:nvSpPr>
          <p:cNvPr id="3277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4" name="AutoShape 6"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6" name="AutoShape 8"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8" name="AutoShape 10"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80" name="AutoShape 1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5846" name="AutoShape 6" descr="blob:https://web.whatsapp.com/474a50cf-e89e-46fb-9210-021b243cb38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3950"/>
            <a:ext cx="7772400" cy="3276600"/>
          </a:xfrm>
          <a:prstGeom prst="rect">
            <a:avLst/>
          </a:prstGeom>
        </p:spPr>
        <p:txBody>
          <a:bodyPr vert="horz" wrap="square" lIns="0" tIns="9525" rIns="0" bIns="0" rtlCol="0">
            <a:noAutofit/>
          </a:bodyPr>
          <a:lstStyle/>
          <a:p>
            <a:pPr lvl="0">
              <a:buFont typeface="Arial" pitchFamily="34" charset="0"/>
              <a:buChar char="•"/>
            </a:pPr>
            <a:r>
              <a:rPr lang="en-IN" sz="1600" dirty="0">
                <a:solidFill>
                  <a:schemeClr val="tx1"/>
                </a:solidFill>
                <a:latin typeface="Times New Roman" pitchFamily="18" charset="0"/>
                <a:cs typeface="Times New Roman" pitchFamily="18" charset="0"/>
              </a:rPr>
              <a:t>A traditional approach in </a:t>
            </a:r>
            <a:r>
              <a:rPr lang="en-IN" sz="1600" dirty="0" smtClean="0">
                <a:solidFill>
                  <a:schemeClr val="tx1"/>
                </a:solidFill>
                <a:latin typeface="Times New Roman" pitchFamily="18" charset="0"/>
                <a:cs typeface="Times New Roman" pitchFamily="18" charset="0"/>
              </a:rPr>
              <a:t>System Design , </a:t>
            </a:r>
            <a:r>
              <a:rPr lang="en-IN" sz="1600" dirty="0">
                <a:solidFill>
                  <a:schemeClr val="tx1"/>
                </a:solidFill>
                <a:latin typeface="Times New Roman" pitchFamily="18" charset="0"/>
                <a:cs typeface="Times New Roman" pitchFamily="18" charset="0"/>
              </a:rPr>
              <a:t>which contains all application components into a single codebase</a:t>
            </a:r>
            <a:r>
              <a:rPr lang="en-IN" sz="1600" dirty="0" smtClean="0">
                <a:solidFill>
                  <a:schemeClr val="tx1"/>
                </a:solidFill>
                <a:latin typeface="Times New Roman" pitchFamily="18" charset="0"/>
                <a:cs typeface="Times New Roman" pitchFamily="18" charset="0"/>
              </a:rPr>
              <a:t>.</a:t>
            </a:r>
          </a:p>
          <a:p>
            <a:pPr lvl="0">
              <a:buFont typeface="Arial" pitchFamily="34" charset="0"/>
              <a:buChar char="•"/>
            </a:pPr>
            <a:endParaRPr lang="en-US" sz="1600" dirty="0">
              <a:solidFill>
                <a:schemeClr val="tx1"/>
              </a:solidFill>
              <a:latin typeface="Times New Roman" pitchFamily="18" charset="0"/>
              <a:cs typeface="Times New Roman" pitchFamily="18" charset="0"/>
            </a:endParaRPr>
          </a:p>
          <a:p>
            <a:pPr lvl="0">
              <a:buFont typeface="Arial" pitchFamily="34" charset="0"/>
              <a:buChar char="•"/>
            </a:pPr>
            <a:r>
              <a:rPr lang="en-IN" sz="1600" dirty="0">
                <a:solidFill>
                  <a:schemeClr val="tx1"/>
                </a:solidFill>
                <a:latin typeface="Times New Roman" pitchFamily="18" charset="0"/>
                <a:cs typeface="Times New Roman" pitchFamily="18" charset="0"/>
              </a:rPr>
              <a:t>It was preferred for its simplicity and ease of initial setup</a:t>
            </a:r>
            <a:r>
              <a:rPr lang="en-IN" sz="1600" dirty="0" smtClean="0">
                <a:solidFill>
                  <a:schemeClr val="tx1"/>
                </a:solidFill>
                <a:latin typeface="Times New Roman" pitchFamily="18" charset="0"/>
                <a:cs typeface="Times New Roman" pitchFamily="18" charset="0"/>
              </a:rPr>
              <a:t>.</a:t>
            </a:r>
          </a:p>
          <a:p>
            <a:pPr lvl="0">
              <a:buFont typeface="Arial" pitchFamily="34" charset="0"/>
              <a:buChar char="•"/>
            </a:pPr>
            <a:endParaRPr lang="en-US" sz="1600" dirty="0">
              <a:solidFill>
                <a:schemeClr val="tx1"/>
              </a:solidFill>
              <a:latin typeface="Times New Roman" pitchFamily="18" charset="0"/>
              <a:cs typeface="Times New Roman" pitchFamily="18" charset="0"/>
            </a:endParaRPr>
          </a:p>
          <a:p>
            <a:pPr lvl="0">
              <a:buFont typeface="Arial" pitchFamily="34" charset="0"/>
              <a:buChar char="•"/>
            </a:pPr>
            <a:r>
              <a:rPr lang="en-IN" sz="1600" dirty="0">
                <a:solidFill>
                  <a:schemeClr val="tx1"/>
                </a:solidFill>
                <a:latin typeface="Times New Roman" pitchFamily="18" charset="0"/>
                <a:cs typeface="Times New Roman" pitchFamily="18" charset="0"/>
              </a:rPr>
              <a:t>In contrast, alternative architectural approaches, like </a:t>
            </a:r>
            <a:r>
              <a:rPr lang="en-IN" sz="1600" dirty="0" err="1">
                <a:solidFill>
                  <a:schemeClr val="tx1"/>
                </a:solidFill>
                <a:latin typeface="Times New Roman" pitchFamily="18" charset="0"/>
                <a:cs typeface="Times New Roman" pitchFamily="18" charset="0"/>
              </a:rPr>
              <a:t>microservices</a:t>
            </a:r>
            <a:r>
              <a:rPr lang="en-IN" sz="1600" dirty="0">
                <a:solidFill>
                  <a:schemeClr val="tx1"/>
                </a:solidFill>
                <a:latin typeface="Times New Roman" pitchFamily="18" charset="0"/>
                <a:cs typeface="Times New Roman" pitchFamily="18" charset="0"/>
              </a:rPr>
              <a:t>, divide the application into smaller, separately deployable services</a:t>
            </a:r>
            <a:r>
              <a:rPr lang="en-IN" sz="1600" dirty="0" smtClean="0">
                <a:solidFill>
                  <a:schemeClr val="tx1"/>
                </a:solidFill>
                <a:latin typeface="Times New Roman" pitchFamily="18" charset="0"/>
                <a:cs typeface="Times New Roman" pitchFamily="18" charset="0"/>
              </a:rPr>
              <a:t>.</a:t>
            </a:r>
          </a:p>
          <a:p>
            <a:pPr lvl="0">
              <a:buFont typeface="Arial" pitchFamily="34" charset="0"/>
              <a:buChar char="•"/>
            </a:pPr>
            <a:endParaRPr lang="en-US" sz="1600" dirty="0">
              <a:solidFill>
                <a:schemeClr val="tx1"/>
              </a:solidFill>
              <a:latin typeface="Times New Roman" pitchFamily="18" charset="0"/>
              <a:cs typeface="Times New Roman" pitchFamily="18" charset="0"/>
            </a:endParaRPr>
          </a:p>
          <a:p>
            <a:pPr lvl="0">
              <a:buFont typeface="Arial" pitchFamily="34" charset="0"/>
              <a:buChar char="•"/>
            </a:pPr>
            <a:r>
              <a:rPr lang="en-IN" sz="1600" dirty="0">
                <a:solidFill>
                  <a:schemeClr val="tx1"/>
                </a:solidFill>
                <a:latin typeface="Times New Roman" pitchFamily="18" charset="0"/>
                <a:cs typeface="Times New Roman" pitchFamily="18" charset="0"/>
              </a:rPr>
              <a:t>Because of its rigidity, it is difficult to scale and maintain, which makes it difficult to adjust to changing needs.</a:t>
            </a:r>
            <a:endParaRPr lang="en-US" sz="1600" dirty="0">
              <a:solidFill>
                <a:schemeClr val="tx1"/>
              </a:solidFill>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r>
              <a:rPr lang="en-US" sz="2400" dirty="0" smtClean="0">
                <a:latin typeface="Times New Roman" pitchFamily="18" charset="0"/>
                <a:cs typeface="Times New Roman" pitchFamily="18" charset="0"/>
              </a:rPr>
              <a:t>Monolithic Architecture</a:t>
            </a:r>
            <a:endParaRPr lang="en-US" sz="2400" dirty="0">
              <a:latin typeface="Times New Roman" pitchFamily="18" charset="0"/>
              <a:cs typeface="Times New Roman" pitchFamily="18" charset="0"/>
            </a:endParaRPr>
          </a:p>
        </p:txBody>
      </p:sp>
      <p:sp>
        <p:nvSpPr>
          <p:cNvPr id="3277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4" name="AutoShape 6"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6" name="AutoShape 8"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8" name="AutoShape 10"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80" name="AutoShape 1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5846" name="AutoShape 6" descr="blob:https://web.whatsapp.com/474a50cf-e89e-46fb-9210-021b243cb38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3950"/>
            <a:ext cx="7848599" cy="3810000"/>
          </a:xfrm>
          <a:prstGeom prst="rect">
            <a:avLst/>
          </a:prstGeom>
        </p:spPr>
        <p:txBody>
          <a:bodyPr vert="horz" wrap="square" lIns="0" tIns="9525" rIns="0" bIns="0" rtlCol="0">
            <a:noAutofit/>
          </a:bodyPr>
          <a:lstStyle/>
          <a:p>
            <a:pPr lvl="0" algn="just">
              <a:buFont typeface="Arial" pitchFamily="34" charset="0"/>
              <a:buChar char="•"/>
            </a:pPr>
            <a:r>
              <a:rPr lang="en-IN" sz="1600" b="1" dirty="0" smtClean="0">
                <a:latin typeface="Times New Roman" pitchFamily="18" charset="0"/>
                <a:cs typeface="Times New Roman" pitchFamily="18" charset="0"/>
              </a:rPr>
              <a:t> Simplicity</a:t>
            </a:r>
            <a:r>
              <a:rPr lang="en-IN" sz="1600" b="1" dirty="0">
                <a:latin typeface="Times New Roman" pitchFamily="18" charset="0"/>
                <a:cs typeface="Times New Roman" pitchFamily="18" charset="0"/>
              </a:rPr>
              <a:t>:</a:t>
            </a:r>
            <a:r>
              <a:rPr lang="en-IN" sz="1600" dirty="0">
                <a:latin typeface="Times New Roman" pitchFamily="18" charset="0"/>
                <a:cs typeface="Times New Roman" pitchFamily="18" charset="0"/>
              </a:rPr>
              <a:t> Monolithic architectures offer straightforward development and deployment processes. It is frequently simpler for developers to understand the system as a whole and make modifications when all the components are packed together.</a:t>
            </a:r>
            <a:endParaRPr lang="en-US" sz="1600" dirty="0">
              <a:latin typeface="Times New Roman" pitchFamily="18" charset="0"/>
              <a:cs typeface="Times New Roman" pitchFamily="18" charset="0"/>
            </a:endParaRPr>
          </a:p>
          <a:p>
            <a:pPr lvl="0" algn="just">
              <a:buFont typeface="Arial" pitchFamily="34" charset="0"/>
              <a:buChar char="•"/>
            </a:pPr>
            <a:r>
              <a:rPr lang="en-IN" sz="1600" b="1" dirty="0" smtClean="0">
                <a:latin typeface="Times New Roman" pitchFamily="18" charset="0"/>
                <a:cs typeface="Times New Roman" pitchFamily="18" charset="0"/>
              </a:rPr>
              <a:t> Cost-Effectiveness</a:t>
            </a:r>
            <a:r>
              <a:rPr lang="en-IN" sz="1600" b="1" dirty="0">
                <a:latin typeface="Times New Roman" pitchFamily="18" charset="0"/>
                <a:cs typeface="Times New Roman" pitchFamily="18" charset="0"/>
              </a:rPr>
              <a:t>:</a:t>
            </a:r>
            <a:r>
              <a:rPr lang="en-IN" sz="1600" dirty="0">
                <a:latin typeface="Times New Roman" pitchFamily="18" charset="0"/>
                <a:cs typeface="Times New Roman" pitchFamily="18" charset="0"/>
              </a:rPr>
              <a:t> Monolithic architectures can be more economical for </a:t>
            </a:r>
            <a:r>
              <a:rPr lang="en-IN" sz="1600" dirty="0" err="1">
                <a:latin typeface="Times New Roman" pitchFamily="18" charset="0"/>
                <a:cs typeface="Times New Roman" pitchFamily="18" charset="0"/>
              </a:rPr>
              <a:t>startups</a:t>
            </a:r>
            <a:r>
              <a:rPr lang="en-IN" sz="1600" dirty="0">
                <a:latin typeface="Times New Roman" pitchFamily="18" charset="0"/>
                <a:cs typeface="Times New Roman" pitchFamily="18" charset="0"/>
              </a:rPr>
              <a:t> or small to medium-sized projects. Compared to distributed systems, they require simpler deployment settings and less infrastructure overhead.</a:t>
            </a:r>
            <a:endParaRPr lang="en-US" sz="1600" dirty="0">
              <a:latin typeface="Times New Roman" pitchFamily="18" charset="0"/>
              <a:cs typeface="Times New Roman" pitchFamily="18" charset="0"/>
            </a:endParaRPr>
          </a:p>
          <a:p>
            <a:pPr lvl="0" algn="just">
              <a:buFont typeface="Arial" pitchFamily="34" charset="0"/>
              <a:buChar char="•"/>
            </a:pPr>
            <a:r>
              <a:rPr lang="en-IN" sz="1600" b="1" dirty="0" smtClean="0">
                <a:latin typeface="Times New Roman" pitchFamily="18" charset="0"/>
                <a:cs typeface="Times New Roman" pitchFamily="18" charset="0"/>
              </a:rPr>
              <a:t> Performance</a:t>
            </a:r>
            <a:r>
              <a:rPr lang="en-IN" sz="1600" b="1" dirty="0">
                <a:latin typeface="Times New Roman" pitchFamily="18" charset="0"/>
                <a:cs typeface="Times New Roman" pitchFamily="18" charset="0"/>
              </a:rPr>
              <a:t>:</a:t>
            </a:r>
            <a:r>
              <a:rPr lang="en-IN" sz="1600" dirty="0">
                <a:latin typeface="Times New Roman" pitchFamily="18" charset="0"/>
                <a:cs typeface="Times New Roman" pitchFamily="18" charset="0"/>
              </a:rPr>
              <a:t> Because everything is operating within the same process, monolithic systems can occasionally offer higher performance because there is less communication overhead between components.</a:t>
            </a:r>
            <a:endParaRPr lang="en-US" sz="1600" dirty="0">
              <a:latin typeface="Times New Roman" pitchFamily="18" charset="0"/>
              <a:cs typeface="Times New Roman" pitchFamily="18" charset="0"/>
            </a:endParaRPr>
          </a:p>
          <a:p>
            <a:pPr lvl="0" algn="just">
              <a:buFont typeface="Arial" pitchFamily="34" charset="0"/>
              <a:buChar char="•"/>
            </a:pPr>
            <a:r>
              <a:rPr lang="en-IN" sz="1600" b="1" dirty="0" smtClean="0">
                <a:latin typeface="Times New Roman" pitchFamily="18" charset="0"/>
                <a:cs typeface="Times New Roman" pitchFamily="18" charset="0"/>
              </a:rPr>
              <a:t> Security</a:t>
            </a:r>
            <a:r>
              <a:rPr lang="en-IN" sz="1600" b="1" dirty="0">
                <a:latin typeface="Times New Roman" pitchFamily="18" charset="0"/>
                <a:cs typeface="Times New Roman" pitchFamily="18" charset="0"/>
              </a:rPr>
              <a:t>:</a:t>
            </a:r>
            <a:r>
              <a:rPr lang="en-IN" sz="1600" dirty="0">
                <a:latin typeface="Times New Roman" pitchFamily="18" charset="0"/>
                <a:cs typeface="Times New Roman" pitchFamily="18" charset="0"/>
              </a:rPr>
              <a:t> With fewer inter-service communication points, monolithic systems may have a reduced attack surface, making them potentially more secure, especially if proper security measures are implemented.</a:t>
            </a:r>
            <a:endParaRPr lang="en-US" sz="1600" dirty="0">
              <a:latin typeface="Times New Roman" pitchFamily="18" charset="0"/>
              <a:cs typeface="Times New Roman" pitchFamily="18" charset="0"/>
            </a:endParaRPr>
          </a:p>
          <a:p>
            <a:pPr lvl="0" algn="just">
              <a:buFont typeface="Arial" pitchFamily="34" charset="0"/>
              <a:buChar char="•"/>
            </a:pPr>
            <a:r>
              <a:rPr lang="en-IN" sz="1600" b="1" dirty="0" smtClean="0">
                <a:latin typeface="Times New Roman" pitchFamily="18" charset="0"/>
                <a:cs typeface="Times New Roman" pitchFamily="18" charset="0"/>
              </a:rPr>
              <a:t> Legacy </a:t>
            </a:r>
            <a:r>
              <a:rPr lang="en-IN" sz="1600" b="1" dirty="0">
                <a:latin typeface="Times New Roman" pitchFamily="18" charset="0"/>
                <a:cs typeface="Times New Roman" pitchFamily="18" charset="0"/>
              </a:rPr>
              <a:t>Support: </a:t>
            </a:r>
            <a:r>
              <a:rPr lang="en-IN" sz="1600" dirty="0">
                <a:latin typeface="Times New Roman" pitchFamily="18" charset="0"/>
                <a:cs typeface="Times New Roman" pitchFamily="18" charset="0"/>
              </a:rPr>
              <a:t>Many existing systems still rely on monolithic architectures. Maintaining and evolving these systems requires expertise, and understanding monolithic architectures is crucial for their continued operation.</a:t>
            </a:r>
            <a:endParaRPr lang="en-US" sz="1600" dirty="0">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r>
              <a:rPr lang="en-IN" sz="2400" dirty="0" smtClean="0">
                <a:latin typeface="Times New Roman" pitchFamily="18" charset="0"/>
                <a:cs typeface="Times New Roman" pitchFamily="18" charset="0"/>
              </a:rPr>
              <a:t>Importance of Monolithic Systems</a:t>
            </a:r>
            <a:endParaRPr lang="en-US" sz="2400" dirty="0">
              <a:latin typeface="Times New Roman" pitchFamily="18" charset="0"/>
              <a:cs typeface="Times New Roman" pitchFamily="18" charset="0"/>
            </a:endParaRPr>
          </a:p>
        </p:txBody>
      </p:sp>
      <p:sp>
        <p:nvSpPr>
          <p:cNvPr id="3277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4" name="AutoShape 6"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6" name="AutoShape 8"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8" name="AutoShape 10"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80" name="AutoShape 1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5846" name="AutoShape 6" descr="blob:https://web.whatsapp.com/474a50cf-e89e-46fb-9210-021b243cb38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3950"/>
            <a:ext cx="7391400" cy="3276600"/>
          </a:xfrm>
          <a:prstGeom prst="rect">
            <a:avLst/>
          </a:prstGeom>
        </p:spPr>
        <p:txBody>
          <a:bodyPr vert="horz" wrap="square" lIns="0" tIns="9525" rIns="0" bIns="0" rtlCol="0">
            <a:noAutofit/>
          </a:bodyPr>
          <a:lstStyle/>
          <a:p>
            <a:pPr lvl="0" algn="just">
              <a:buFont typeface="Arial" pitchFamily="34" charset="0"/>
              <a:buChar char="•"/>
            </a:pPr>
            <a:r>
              <a:rPr lang="en-IN" sz="1600" b="1" dirty="0" smtClean="0">
                <a:latin typeface="Times New Roman" pitchFamily="18" charset="0"/>
                <a:cs typeface="Times New Roman" pitchFamily="18" charset="0"/>
              </a:rPr>
              <a:t> Single </a:t>
            </a:r>
            <a:r>
              <a:rPr lang="en-IN" sz="1600" b="1" dirty="0">
                <a:latin typeface="Times New Roman" pitchFamily="18" charset="0"/>
                <a:cs typeface="Times New Roman" pitchFamily="18" charset="0"/>
              </a:rPr>
              <a:t>Codebase: </a:t>
            </a:r>
            <a:r>
              <a:rPr lang="en-IN" sz="1600" dirty="0">
                <a:latin typeface="Times New Roman" pitchFamily="18" charset="0"/>
                <a:cs typeface="Times New Roman" pitchFamily="18" charset="0"/>
              </a:rPr>
              <a:t>The program is simpler to manage and implement since all of its components are created and maintained in a single codebase.</a:t>
            </a:r>
            <a:endParaRPr lang="en-US" sz="1600" dirty="0">
              <a:latin typeface="Times New Roman" pitchFamily="18" charset="0"/>
              <a:cs typeface="Times New Roman" pitchFamily="18" charset="0"/>
            </a:endParaRPr>
          </a:p>
          <a:p>
            <a:pPr lvl="0" algn="just">
              <a:buFont typeface="Arial" pitchFamily="34" charset="0"/>
              <a:buChar char="•"/>
            </a:pPr>
            <a:r>
              <a:rPr lang="en-IN" sz="1600" b="1" dirty="0" smtClean="0">
                <a:latin typeface="Times New Roman" pitchFamily="18" charset="0"/>
                <a:cs typeface="Times New Roman" pitchFamily="18" charset="0"/>
              </a:rPr>
              <a:t> Tight </a:t>
            </a:r>
            <a:r>
              <a:rPr lang="en-IN" sz="1600" b="1" dirty="0">
                <a:latin typeface="Times New Roman" pitchFamily="18" charset="0"/>
                <a:cs typeface="Times New Roman" pitchFamily="18" charset="0"/>
              </a:rPr>
              <a:t>Coupling:</a:t>
            </a:r>
            <a:r>
              <a:rPr lang="en-IN" sz="1600" dirty="0">
                <a:latin typeface="Times New Roman" pitchFamily="18" charset="0"/>
                <a:cs typeface="Times New Roman" pitchFamily="18" charset="0"/>
              </a:rPr>
              <a:t> The architecture's components are closely linked, rely on one another, and frequently exchange resources and data directly.</a:t>
            </a:r>
            <a:endParaRPr lang="en-US" sz="1600" dirty="0">
              <a:latin typeface="Times New Roman" pitchFamily="18" charset="0"/>
              <a:cs typeface="Times New Roman" pitchFamily="18" charset="0"/>
            </a:endParaRPr>
          </a:p>
          <a:p>
            <a:pPr lvl="0" algn="just">
              <a:buFont typeface="Arial" pitchFamily="34" charset="0"/>
              <a:buChar char="•"/>
            </a:pPr>
            <a:r>
              <a:rPr lang="en-IN" sz="1600" b="1" dirty="0" smtClean="0">
                <a:latin typeface="Times New Roman" pitchFamily="18" charset="0"/>
                <a:cs typeface="Times New Roman" pitchFamily="18" charset="0"/>
              </a:rPr>
              <a:t> Shared </a:t>
            </a:r>
            <a:r>
              <a:rPr lang="en-IN" sz="1600" b="1" dirty="0">
                <a:latin typeface="Times New Roman" pitchFamily="18" charset="0"/>
                <a:cs typeface="Times New Roman" pitchFamily="18" charset="0"/>
              </a:rPr>
              <a:t>Memory: </a:t>
            </a:r>
            <a:r>
              <a:rPr lang="en-IN" sz="1600" dirty="0">
                <a:latin typeface="Times New Roman" pitchFamily="18" charset="0"/>
                <a:cs typeface="Times New Roman" pitchFamily="18" charset="0"/>
              </a:rPr>
              <a:t>Monolithic applications typically share the same memory space, allowing components to communicate efficiently without the need for network overhead.</a:t>
            </a:r>
            <a:endParaRPr lang="en-US" sz="1600" dirty="0">
              <a:latin typeface="Times New Roman" pitchFamily="18" charset="0"/>
              <a:cs typeface="Times New Roman" pitchFamily="18" charset="0"/>
            </a:endParaRPr>
          </a:p>
          <a:p>
            <a:pPr lvl="0" algn="just">
              <a:buFont typeface="Arial" pitchFamily="34" charset="0"/>
              <a:buChar char="•"/>
            </a:pPr>
            <a:r>
              <a:rPr lang="en-IN" sz="1600" b="1" dirty="0" smtClean="0">
                <a:latin typeface="Times New Roman" pitchFamily="18" charset="0"/>
                <a:cs typeface="Times New Roman" pitchFamily="18" charset="0"/>
              </a:rPr>
              <a:t> Centralized </a:t>
            </a:r>
            <a:r>
              <a:rPr lang="en-IN" sz="1600" b="1" dirty="0">
                <a:latin typeface="Times New Roman" pitchFamily="18" charset="0"/>
                <a:cs typeface="Times New Roman" pitchFamily="18" charset="0"/>
              </a:rPr>
              <a:t>Database: </a:t>
            </a:r>
            <a:r>
              <a:rPr lang="en-IN" sz="1600" dirty="0">
                <a:latin typeface="Times New Roman" pitchFamily="18" charset="0"/>
                <a:cs typeface="Times New Roman" pitchFamily="18" charset="0"/>
              </a:rPr>
              <a:t>Data storage is centralized within the application, typically using a single database instance for all data storage needs.</a:t>
            </a:r>
            <a:endParaRPr lang="en-US" sz="1600" dirty="0">
              <a:latin typeface="Times New Roman" pitchFamily="18" charset="0"/>
              <a:cs typeface="Times New Roman" pitchFamily="18" charset="0"/>
            </a:endParaRPr>
          </a:p>
          <a:p>
            <a:pPr lvl="0" algn="just">
              <a:buFont typeface="Arial" pitchFamily="34" charset="0"/>
              <a:buChar char="•"/>
            </a:pPr>
            <a:r>
              <a:rPr lang="en-IN" sz="1600" b="1" dirty="0" smtClean="0">
                <a:latin typeface="Times New Roman" pitchFamily="18" charset="0"/>
                <a:cs typeface="Times New Roman" pitchFamily="18" charset="0"/>
              </a:rPr>
              <a:t> Layered </a:t>
            </a:r>
            <a:r>
              <a:rPr lang="en-IN" sz="1600" b="1" dirty="0">
                <a:latin typeface="Times New Roman" pitchFamily="18" charset="0"/>
                <a:cs typeface="Times New Roman" pitchFamily="18" charset="0"/>
              </a:rPr>
              <a:t>Structure: </a:t>
            </a:r>
            <a:r>
              <a:rPr lang="en-IN" sz="1600" dirty="0">
                <a:latin typeface="Times New Roman" pitchFamily="18" charset="0"/>
                <a:cs typeface="Times New Roman" pitchFamily="18" charset="0"/>
              </a:rPr>
              <a:t>The structure of monolithic systems is frequently layered, with separate layers for data access, business logic, and presentation. This might result in dependencies across layers even while it separates issues.</a:t>
            </a:r>
            <a:endParaRPr lang="en-US" sz="1600" dirty="0">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r>
              <a:rPr lang="en-IN" sz="2400" dirty="0" smtClean="0">
                <a:latin typeface="Times New Roman" pitchFamily="18" charset="0"/>
                <a:cs typeface="Times New Roman" pitchFamily="18" charset="0"/>
              </a:rPr>
              <a:t>Characteristics of Monolithic Architecture</a:t>
            </a:r>
            <a:endParaRPr lang="en-US" sz="2400" dirty="0">
              <a:latin typeface="Times New Roman" pitchFamily="18" charset="0"/>
              <a:cs typeface="Times New Roman" pitchFamily="18" charset="0"/>
            </a:endParaRPr>
          </a:p>
        </p:txBody>
      </p:sp>
      <p:sp>
        <p:nvSpPr>
          <p:cNvPr id="3277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4" name="AutoShape 6"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6" name="AutoShape 8"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8" name="AutoShape 10"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80" name="AutoShape 1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5846" name="AutoShape 6" descr="blob:https://web.whatsapp.com/474a50cf-e89e-46fb-9210-021b243cb38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3950"/>
            <a:ext cx="7391400" cy="3276600"/>
          </a:xfrm>
          <a:prstGeom prst="rect">
            <a:avLst/>
          </a:prstGeom>
        </p:spPr>
        <p:txBody>
          <a:bodyPr vert="horz" wrap="square" lIns="0" tIns="9525" rIns="0" bIns="0" rtlCol="0">
            <a:noAutofit/>
          </a:bodyPr>
          <a:lstStyle/>
          <a:p>
            <a:pPr lvl="0" algn="just">
              <a:buFont typeface="Wingdings" pitchFamily="2" charset="2"/>
              <a:buChar char="Ø"/>
            </a:pPr>
            <a:r>
              <a:rPr lang="en-IN" b="1" dirty="0" smtClean="0">
                <a:latin typeface="Times New Roman" pitchFamily="18" charset="0"/>
                <a:cs typeface="Times New Roman" pitchFamily="18" charset="0"/>
              </a:rPr>
              <a:t> Long </a:t>
            </a:r>
            <a:r>
              <a:rPr lang="en-IN" b="1" dirty="0">
                <a:latin typeface="Times New Roman" pitchFamily="18" charset="0"/>
                <a:cs typeface="Times New Roman" pitchFamily="18" charset="0"/>
              </a:rPr>
              <a:t>Deployment Cycles:</a:t>
            </a:r>
            <a:endParaRPr lang="en-US" dirty="0">
              <a:latin typeface="Times New Roman" pitchFamily="18" charset="0"/>
              <a:cs typeface="Times New Roman" pitchFamily="18" charset="0"/>
            </a:endParaRPr>
          </a:p>
          <a:p>
            <a:pPr lvl="1" algn="just">
              <a:buFont typeface="Arial" pitchFamily="34" charset="0"/>
              <a:buChar char="•"/>
            </a:pPr>
            <a:r>
              <a:rPr lang="en-IN" dirty="0" smtClean="0">
                <a:latin typeface="Times New Roman" pitchFamily="18" charset="0"/>
                <a:cs typeface="Times New Roman" pitchFamily="18" charset="0"/>
              </a:rPr>
              <a:t> When </a:t>
            </a:r>
            <a:r>
              <a:rPr lang="en-IN" dirty="0">
                <a:latin typeface="Times New Roman" pitchFamily="18" charset="0"/>
                <a:cs typeface="Times New Roman" pitchFamily="18" charset="0"/>
              </a:rPr>
              <a:t>a monolithic application is deployed, the complete codebase is usually deployed as a single unit.</a:t>
            </a:r>
            <a:endParaRPr lang="en-US" dirty="0">
              <a:latin typeface="Times New Roman" pitchFamily="18" charset="0"/>
              <a:cs typeface="Times New Roman" pitchFamily="18" charset="0"/>
            </a:endParaRPr>
          </a:p>
          <a:p>
            <a:pPr lvl="1" algn="just">
              <a:buFont typeface="Arial" pitchFamily="34" charset="0"/>
              <a:buChar char="•"/>
            </a:pPr>
            <a:r>
              <a:rPr lang="en-IN" dirty="0" smtClean="0">
                <a:latin typeface="Times New Roman" pitchFamily="18" charset="0"/>
                <a:cs typeface="Times New Roman" pitchFamily="18" charset="0"/>
              </a:rPr>
              <a:t> Because </a:t>
            </a:r>
            <a:r>
              <a:rPr lang="en-IN" dirty="0">
                <a:latin typeface="Times New Roman" pitchFamily="18" charset="0"/>
                <a:cs typeface="Times New Roman" pitchFamily="18" charset="0"/>
              </a:rPr>
              <a:t>every component of the program must be packaged, tested, and deployed simultaneously, this may lead to longer deployment times</a:t>
            </a:r>
            <a:r>
              <a:rPr lang="en-IN" dirty="0" smtClean="0">
                <a:latin typeface="Times New Roman" pitchFamily="18" charset="0"/>
                <a:cs typeface="Times New Roman" pitchFamily="18" charset="0"/>
              </a:rPr>
              <a:t>.</a:t>
            </a:r>
          </a:p>
          <a:p>
            <a:pPr lvl="1" algn="just">
              <a:buFont typeface="Arial" pitchFamily="34" charset="0"/>
              <a:buChar char="•"/>
            </a:pPr>
            <a:endParaRPr lang="en-US" dirty="0">
              <a:latin typeface="Times New Roman" pitchFamily="18" charset="0"/>
              <a:cs typeface="Times New Roman" pitchFamily="18" charset="0"/>
            </a:endParaRPr>
          </a:p>
          <a:p>
            <a:pPr lvl="0" algn="just">
              <a:buFont typeface="Wingdings" pitchFamily="2" charset="2"/>
              <a:buChar char="Ø"/>
            </a:pPr>
            <a:r>
              <a:rPr lang="en-IN" b="1" dirty="0" smtClean="0">
                <a:latin typeface="Times New Roman" pitchFamily="18" charset="0"/>
                <a:cs typeface="Times New Roman" pitchFamily="18" charset="0"/>
              </a:rPr>
              <a:t> Risk </a:t>
            </a:r>
            <a:r>
              <a:rPr lang="en-IN" b="1" dirty="0">
                <a:latin typeface="Times New Roman" pitchFamily="18" charset="0"/>
                <a:cs typeface="Times New Roman" pitchFamily="18" charset="0"/>
              </a:rPr>
              <a:t>of Downtime:</a:t>
            </a:r>
            <a:endParaRPr lang="en-US" dirty="0">
              <a:latin typeface="Times New Roman" pitchFamily="18" charset="0"/>
              <a:cs typeface="Times New Roman" pitchFamily="18" charset="0"/>
            </a:endParaRPr>
          </a:p>
          <a:p>
            <a:pPr lvl="1" algn="just">
              <a:buFont typeface="Arial" pitchFamily="34" charset="0"/>
              <a:buChar char="•"/>
            </a:pPr>
            <a:r>
              <a:rPr lang="en-IN" dirty="0" smtClean="0">
                <a:latin typeface="Times New Roman" pitchFamily="18" charset="0"/>
                <a:cs typeface="Times New Roman" pitchFamily="18" charset="0"/>
              </a:rPr>
              <a:t> Deploying </a:t>
            </a:r>
            <a:r>
              <a:rPr lang="en-IN" dirty="0">
                <a:latin typeface="Times New Roman" pitchFamily="18" charset="0"/>
                <a:cs typeface="Times New Roman" pitchFamily="18" charset="0"/>
              </a:rPr>
              <a:t>a monolithic application may require taking the entire system offline temporarily, especially if the deployment involves making significant changes or updates.</a:t>
            </a:r>
            <a:endParaRPr lang="en-US" dirty="0">
              <a:latin typeface="Times New Roman" pitchFamily="18" charset="0"/>
              <a:cs typeface="Times New Roman" pitchFamily="18" charset="0"/>
            </a:endParaRPr>
          </a:p>
          <a:p>
            <a:pPr lvl="1" algn="just">
              <a:buFont typeface="Arial" pitchFamily="34" charset="0"/>
              <a:buChar char="•"/>
            </a:pPr>
            <a:r>
              <a:rPr lang="en-IN" dirty="0" smtClean="0">
                <a:latin typeface="Times New Roman" pitchFamily="18" charset="0"/>
                <a:cs typeface="Times New Roman" pitchFamily="18" charset="0"/>
              </a:rPr>
              <a:t> This </a:t>
            </a:r>
            <a:r>
              <a:rPr lang="en-IN" dirty="0">
                <a:latin typeface="Times New Roman" pitchFamily="18" charset="0"/>
                <a:cs typeface="Times New Roman" pitchFamily="18" charset="0"/>
              </a:rPr>
              <a:t>downtime can impact user experience and business operations.</a:t>
            </a:r>
            <a:endParaRPr lang="en-US" dirty="0">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r>
              <a:rPr lang="en-IN" sz="2400" dirty="0" smtClean="0">
                <a:latin typeface="Times New Roman" pitchFamily="18" charset="0"/>
                <a:cs typeface="Times New Roman" pitchFamily="18" charset="0"/>
              </a:rPr>
              <a:t>Challenges in deploying Monolithic Architecture</a:t>
            </a:r>
            <a:endParaRPr lang="en-US" sz="2400" dirty="0">
              <a:latin typeface="Times New Roman" pitchFamily="18" charset="0"/>
              <a:cs typeface="Times New Roman" pitchFamily="18" charset="0"/>
            </a:endParaRPr>
          </a:p>
        </p:txBody>
      </p:sp>
      <p:sp>
        <p:nvSpPr>
          <p:cNvPr id="32772" name="AutoShape 4"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4" name="AutoShape 6"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6" name="AutoShape 8"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78" name="AutoShape 10"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2780" name="AutoShape 12" descr="Lightbox"/>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35846" name="AutoShape 6" descr="blob:https://web.whatsapp.com/474a50cf-e89e-46fb-9210-021b243cb386"/>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61999" y="285686"/>
            <a:ext cx="3616961" cy="382156"/>
          </a:xfrm>
          <a:prstGeom prst="rect">
            <a:avLst/>
          </a:prstGeom>
        </p:spPr>
        <p:txBody>
          <a:bodyPr vert="horz" wrap="square" lIns="0" tIns="12700" rIns="0" bIns="0" rtlCol="0">
            <a:spAutoFit/>
          </a:bodyPr>
          <a:lstStyle/>
          <a:p>
            <a:pPr marL="12700">
              <a:lnSpc>
                <a:spcPct val="100000"/>
              </a:lnSpc>
              <a:spcBef>
                <a:spcPts val="100"/>
              </a:spcBef>
            </a:pPr>
            <a:r>
              <a:rPr sz="2400" dirty="0">
                <a:latin typeface="Times New Roman" panose="02020503050405090304" pitchFamily="18" charset="0"/>
                <a:cs typeface="Times New Roman" panose="02020503050405090304" pitchFamily="18" charset="0"/>
              </a:rPr>
              <a:t>Summary</a:t>
            </a:r>
            <a:r>
              <a:rPr sz="2400" spc="-25" dirty="0">
                <a:latin typeface="Times New Roman" panose="02020503050405090304" pitchFamily="18" charset="0"/>
                <a:cs typeface="Times New Roman" panose="02020503050405090304" pitchFamily="18" charset="0"/>
              </a:rPr>
              <a:t> </a:t>
            </a:r>
            <a:r>
              <a:rPr sz="2400" dirty="0">
                <a:latin typeface="Times New Roman" panose="02020503050405090304" pitchFamily="18" charset="0"/>
                <a:cs typeface="Times New Roman" panose="02020503050405090304" pitchFamily="18" charset="0"/>
              </a:rPr>
              <a:t>of</a:t>
            </a:r>
            <a:r>
              <a:rPr sz="2400" spc="-15" dirty="0">
                <a:latin typeface="Times New Roman" panose="02020503050405090304" pitchFamily="18" charset="0"/>
                <a:cs typeface="Times New Roman" panose="02020503050405090304" pitchFamily="18" charset="0"/>
              </a:rPr>
              <a:t> </a:t>
            </a:r>
            <a:r>
              <a:rPr sz="2400" dirty="0">
                <a:latin typeface="Times New Roman" panose="02020503050405090304" pitchFamily="18" charset="0"/>
                <a:cs typeface="Times New Roman" panose="02020503050405090304" pitchFamily="18" charset="0"/>
              </a:rPr>
              <a:t>the</a:t>
            </a:r>
            <a:r>
              <a:rPr sz="2400" spc="-15" dirty="0">
                <a:latin typeface="Times New Roman" panose="02020503050405090304" pitchFamily="18" charset="0"/>
                <a:cs typeface="Times New Roman" panose="02020503050405090304" pitchFamily="18" charset="0"/>
              </a:rPr>
              <a:t> </a:t>
            </a:r>
            <a:r>
              <a:rPr sz="2400" spc="-10" dirty="0">
                <a:latin typeface="Times New Roman" panose="02020503050405090304" pitchFamily="18" charset="0"/>
                <a:cs typeface="Times New Roman" panose="02020503050405090304" pitchFamily="18" charset="0"/>
              </a:rPr>
              <a:t>Lecture</a:t>
            </a:r>
            <a:endParaRPr sz="2400" dirty="0">
              <a:latin typeface="Times New Roman" panose="02020503050405090304" pitchFamily="18" charset="0"/>
              <a:cs typeface="Times New Roman" panose="02020503050405090304" pitchFamily="18" charset="0"/>
            </a:endParaRPr>
          </a:p>
        </p:txBody>
      </p:sp>
      <p:sp>
        <p:nvSpPr>
          <p:cNvPr id="4" name="object 4"/>
          <p:cNvSpPr txBox="1"/>
          <p:nvPr/>
        </p:nvSpPr>
        <p:spPr>
          <a:xfrm>
            <a:off x="762000" y="906780"/>
            <a:ext cx="7790180" cy="4027170"/>
          </a:xfrm>
          <a:prstGeom prst="rect">
            <a:avLst/>
          </a:prstGeom>
        </p:spPr>
        <p:txBody>
          <a:bodyPr vert="horz" wrap="square" lIns="0" tIns="15875" rIns="0" bIns="0" rtlCol="0">
            <a:noAutofit/>
          </a:bodyPr>
          <a:lstStyle/>
          <a:p>
            <a:pPr algn="just">
              <a:buFont typeface="Arial" pitchFamily="34" charset="0"/>
              <a:buChar char="•"/>
            </a:pPr>
            <a:r>
              <a:rPr lang="en-US" sz="1600" b="1" dirty="0" smtClean="0">
                <a:latin typeface="Times New Roman" pitchFamily="18" charset="0"/>
                <a:cs typeface="Times New Roman" pitchFamily="18" charset="0"/>
              </a:rPr>
              <a:t> Monolithic Architecture</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In a monolithic architecture, the entire application is built as a </a:t>
            </a:r>
            <a:r>
              <a:rPr lang="en-US" sz="1600" b="1" dirty="0" smtClean="0">
                <a:latin typeface="Times New Roman" pitchFamily="18" charset="0"/>
                <a:cs typeface="Times New Roman" pitchFamily="18" charset="0"/>
              </a:rPr>
              <a:t>single, tightly coupled unit</a:t>
            </a:r>
            <a:r>
              <a:rPr lang="en-US" sz="1600" dirty="0" smtClean="0">
                <a:latin typeface="Times New Roman" pitchFamily="18" charset="0"/>
                <a:cs typeface="Times New Roman" pitchFamily="18" charset="0"/>
              </a:rPr>
              <a:t>. All components—UI, business logic, and data access—are deployed together. This approach is simple to design, develop, test, and deploy, making it suitable for small applications and early-stage projects.</a:t>
            </a:r>
          </a:p>
          <a:p>
            <a:pPr algn="just">
              <a:buFont typeface="Arial" pitchFamily="34" charset="0"/>
              <a:buChar char="•"/>
            </a:pPr>
            <a:endParaRPr lang="en-US" sz="1600" dirty="0" smtClean="0">
              <a:latin typeface="Times New Roman" pitchFamily="18" charset="0"/>
              <a:cs typeface="Times New Roman" pitchFamily="18" charset="0"/>
            </a:endParaRPr>
          </a:p>
          <a:p>
            <a:pPr algn="just">
              <a:buFont typeface="Arial" pitchFamily="34" charset="0"/>
              <a:buChar char="•"/>
            </a:pPr>
            <a:r>
              <a:rPr lang="en-US" sz="1600" b="1" dirty="0" smtClean="0">
                <a:latin typeface="Times New Roman" pitchFamily="18" charset="0"/>
                <a:cs typeface="Times New Roman" pitchFamily="18" charset="0"/>
              </a:rPr>
              <a:t> </a:t>
            </a:r>
            <a:r>
              <a:rPr lang="en-US" sz="1600" b="1" dirty="0" err="1" smtClean="0">
                <a:latin typeface="Times New Roman" pitchFamily="18" charset="0"/>
                <a:cs typeface="Times New Roman" pitchFamily="18" charset="0"/>
              </a:rPr>
              <a:t>Microservices</a:t>
            </a:r>
            <a:r>
              <a:rPr lang="en-US" sz="1600" b="1" dirty="0" smtClean="0">
                <a:latin typeface="Times New Roman" pitchFamily="18" charset="0"/>
                <a:cs typeface="Times New Roman" pitchFamily="18" charset="0"/>
              </a:rPr>
              <a:t> Architecture</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err="1" smtClean="0">
                <a:latin typeface="Times New Roman" pitchFamily="18" charset="0"/>
                <a:cs typeface="Times New Roman" pitchFamily="18" charset="0"/>
              </a:rPr>
              <a:t>Microservices</a:t>
            </a:r>
            <a:r>
              <a:rPr lang="en-US" sz="1600" dirty="0" smtClean="0">
                <a:latin typeface="Times New Roman" pitchFamily="18" charset="0"/>
                <a:cs typeface="Times New Roman" pitchFamily="18" charset="0"/>
              </a:rPr>
              <a:t> architecture structures an application as a collection of </a:t>
            </a:r>
            <a:r>
              <a:rPr lang="en-US" sz="1600" b="1" dirty="0" smtClean="0">
                <a:latin typeface="Times New Roman" pitchFamily="18" charset="0"/>
                <a:cs typeface="Times New Roman" pitchFamily="18" charset="0"/>
              </a:rPr>
              <a:t>small, independent services</a:t>
            </a:r>
            <a:r>
              <a:rPr lang="en-US" sz="1600" dirty="0" smtClean="0">
                <a:latin typeface="Times New Roman" pitchFamily="18" charset="0"/>
                <a:cs typeface="Times New Roman" pitchFamily="18" charset="0"/>
              </a:rPr>
              <a:t>, each responsible for a specific business function. These services communicate through lightweight protocols such as REST or messaging and can be developed, deployed, and scaled independently.</a:t>
            </a:r>
          </a:p>
          <a:p>
            <a:pPr algn="just">
              <a:buFont typeface="Arial" pitchFamily="34" charset="0"/>
              <a:buChar char="•"/>
            </a:pPr>
            <a:endParaRPr lang="en-US" sz="1600" dirty="0" smtClean="0">
              <a:latin typeface="Times New Roman" pitchFamily="18" charset="0"/>
              <a:cs typeface="Times New Roman" pitchFamily="18" charset="0"/>
            </a:endParaRPr>
          </a:p>
          <a:p>
            <a:pPr algn="just">
              <a:buFont typeface="Arial" pitchFamily="34" charset="0"/>
              <a:buChar char="•"/>
            </a:pPr>
            <a:r>
              <a:rPr lang="en-US" sz="1600" b="1" dirty="0" smtClean="0">
                <a:latin typeface="Times New Roman" pitchFamily="18" charset="0"/>
                <a:cs typeface="Times New Roman" pitchFamily="18" charset="0"/>
              </a:rPr>
              <a:t> Key Differences</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Monolithic systems are easier to manage initially but become hard to scale and maintain as the application grows. </a:t>
            </a:r>
            <a:r>
              <a:rPr lang="en-US" sz="1600" dirty="0" err="1" smtClean="0">
                <a:latin typeface="Times New Roman" pitchFamily="18" charset="0"/>
                <a:cs typeface="Times New Roman" pitchFamily="18" charset="0"/>
              </a:rPr>
              <a:t>Microservices</a:t>
            </a:r>
            <a:r>
              <a:rPr lang="en-US" sz="1600" dirty="0" smtClean="0">
                <a:latin typeface="Times New Roman" pitchFamily="18" charset="0"/>
                <a:cs typeface="Times New Roman" pitchFamily="18" charset="0"/>
              </a:rPr>
              <a:t> offer better scalability, flexibility, and fault isolation but introduce complexity in communication, deployment, and monitoring.</a:t>
            </a:r>
            <a:endParaRPr lang="en-US" sz="1600" dirty="0">
              <a:latin typeface="Times New Roman" pitchFamily="18" charset="0"/>
              <a:cs typeface="Times New Roman"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762000" y="1276350"/>
            <a:ext cx="7630160" cy="2821940"/>
          </a:xfrm>
          <a:prstGeom prst="rect">
            <a:avLst/>
          </a:prstGeom>
        </p:spPr>
        <p:txBody>
          <a:bodyPr vert="horz" wrap="square" lIns="0" tIns="16510" rIns="0" bIns="0" rtlCol="0">
            <a:noAutofit/>
          </a:bodyPr>
          <a:lstStyle/>
          <a:p>
            <a:pPr marL="355600" indent="-342900">
              <a:lnSpc>
                <a:spcPts val="2290"/>
              </a:lnSpc>
              <a:spcBef>
                <a:spcPts val="130"/>
              </a:spcBef>
              <a:buClr>
                <a:srgbClr val="000000"/>
              </a:buClr>
              <a:buFont typeface="Arial" pitchFamily="34" charset="0"/>
              <a:buChar char="•"/>
              <a:tabLst>
                <a:tab pos="355600" algn="l"/>
              </a:tabLst>
            </a:pPr>
            <a:r>
              <a:rPr lang="en-US" sz="1600" dirty="0" smtClean="0">
                <a:solidFill>
                  <a:schemeClr val="tx1"/>
                </a:solidFill>
                <a:latin typeface="Times New Roman" panose="02020503050405090304" pitchFamily="18" charset="0"/>
                <a:cs typeface="Times New Roman" panose="02020503050405090304" pitchFamily="18" charset="0"/>
              </a:rPr>
              <a:t>Unit 1 Review</a:t>
            </a:r>
          </a:p>
          <a:p>
            <a:pPr marL="355600" indent="-342900">
              <a:lnSpc>
                <a:spcPts val="2290"/>
              </a:lnSpc>
              <a:spcBef>
                <a:spcPts val="130"/>
              </a:spcBef>
              <a:buClr>
                <a:srgbClr val="000000"/>
              </a:buClr>
              <a:buFont typeface="Arial" pitchFamily="34" charset="0"/>
              <a:buChar char="•"/>
              <a:tabLst>
                <a:tab pos="355600" algn="l"/>
              </a:tabLst>
            </a:pPr>
            <a:r>
              <a:rPr lang="en-US" sz="1600" dirty="0" smtClean="0">
                <a:solidFill>
                  <a:schemeClr val="tx1"/>
                </a:solidFill>
                <a:latin typeface="Times New Roman" panose="02020503050405090304" pitchFamily="18" charset="0"/>
                <a:cs typeface="Times New Roman" panose="02020503050405090304" pitchFamily="18" charset="0"/>
              </a:rPr>
              <a:t>Architecture Synthesis Practice</a:t>
            </a: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fontAlgn="auto">
              <a:spcAft>
                <a:spcPts val="0"/>
              </a:spcAft>
              <a:defRPr/>
            </a:pPr>
            <a:r>
              <a:rPr sz="2400" dirty="0">
                <a:latin typeface="Times New Roman" panose="02020503050405090304" pitchFamily="18" charset="0"/>
                <a:cs typeface="Times New Roman" panose="02020503050405090304" pitchFamily="18" charset="0"/>
                <a:sym typeface="+mn-ea"/>
              </a:rPr>
              <a:t>Next</a:t>
            </a:r>
            <a:r>
              <a:rPr sz="2400" spc="-65" dirty="0">
                <a:latin typeface="Times New Roman" panose="02020503050405090304" pitchFamily="18" charset="0"/>
                <a:cs typeface="Times New Roman" panose="02020503050405090304" pitchFamily="18" charset="0"/>
                <a:sym typeface="+mn-ea"/>
              </a:rPr>
              <a:t> </a:t>
            </a:r>
            <a:r>
              <a:rPr sz="2400" spc="-10" dirty="0">
                <a:latin typeface="Times New Roman" panose="02020503050405090304" pitchFamily="18" charset="0"/>
                <a:cs typeface="Times New Roman" panose="02020503050405090304" pitchFamily="18" charset="0"/>
                <a:sym typeface="+mn-ea"/>
              </a:rPr>
              <a:t>Lecture</a:t>
            </a:r>
            <a:endParaRPr sz="2400" dirty="0">
              <a:latin typeface="Times New Roman" panose="02020503050405090304" pitchFamily="18" charset="0"/>
              <a:cs typeface="Times New Roman" panose="02020503050405090304" pitchFamily="18" charset="0"/>
            </a:endParaRPr>
          </a:p>
          <a:p>
            <a:pPr algn="l" fontAlgn="auto">
              <a:spcAft>
                <a:spcPts val="0"/>
              </a:spcAft>
              <a:defRPr/>
            </a:pPr>
            <a:endParaRPr lang="en-US" sz="2400" b="1" spc="-10" dirty="0">
              <a:latin typeface="Times New Roman" panose="02020503050405090304" pitchFamily="18" charset="0"/>
              <a:cs typeface="Times New Roman" panose="02020503050405090304" pitchFamily="18" charset="0"/>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4585"/>
            <a:ext cx="7696200" cy="3799205"/>
          </a:xfrm>
          <a:prstGeom prst="rect">
            <a:avLst/>
          </a:prstGeom>
        </p:spPr>
        <p:txBody>
          <a:bodyPr vert="horz" wrap="square" lIns="0" tIns="12700" rIns="0" bIns="0" rtlCol="0">
            <a:noAutofit/>
          </a:bodyPr>
          <a:lstStyle/>
          <a:p>
            <a:pPr marL="228600" indent="-228600">
              <a:buFont typeface="+mj-lt"/>
              <a:buAutoNum type="arabicPeriod"/>
            </a:pPr>
            <a:r>
              <a:rPr lang="en-US" sz="1600" b="1" dirty="0" smtClean="0">
                <a:latin typeface="Times New Roman" pitchFamily="18" charset="0"/>
                <a:cs typeface="Times New Roman" pitchFamily="18" charset="0"/>
              </a:rPr>
              <a:t>What is a monolithic architecture?</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a) Application built as independent services</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b) Application built as a single, tightly coupled unit</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c) Application using only cloud services</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d) Application without a database</a:t>
            </a:r>
          </a:p>
          <a:p>
            <a:pPr marL="228600" indent="-228600">
              <a:buFont typeface="+mj-lt"/>
              <a:buAutoNum type="arabicPeriod"/>
            </a:pPr>
            <a:r>
              <a:rPr lang="en-US" sz="1600" b="1" dirty="0" smtClean="0">
                <a:latin typeface="Times New Roman" pitchFamily="18" charset="0"/>
                <a:cs typeface="Times New Roman" pitchFamily="18" charset="0"/>
              </a:rPr>
              <a:t>Which architecture allows independent deployment of components?</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a) Monolithic</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b) Layered</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c) </a:t>
            </a:r>
            <a:r>
              <a:rPr lang="en-US" sz="1600" dirty="0" err="1" smtClean="0">
                <a:latin typeface="Times New Roman" pitchFamily="18" charset="0"/>
                <a:cs typeface="Times New Roman" pitchFamily="18" charset="0"/>
              </a:rPr>
              <a:t>Microservices</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d) Client-server</a:t>
            </a:r>
          </a:p>
          <a:p>
            <a:pPr marL="228600" indent="-228600">
              <a:buFont typeface="+mj-lt"/>
              <a:buAutoNum type="arabicPeriod"/>
            </a:pPr>
            <a:r>
              <a:rPr lang="en-US" sz="1600" b="1" dirty="0" smtClean="0">
                <a:latin typeface="Times New Roman" pitchFamily="18" charset="0"/>
                <a:cs typeface="Times New Roman" pitchFamily="18" charset="0"/>
              </a:rPr>
              <a:t>How do monolithic applications usually scale?</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a) Horizontal scaling</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b) Independent service scaling</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c) Vertical scaling</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d) Auto scaling only</a:t>
            </a:r>
            <a:endParaRPr lang="en-US" sz="1600" dirty="0">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fontAlgn="auto">
              <a:spcAft>
                <a:spcPts val="0"/>
              </a:spcAft>
              <a:defRPr/>
            </a:pPr>
            <a:r>
              <a:rPr sz="2400" spc="-10" dirty="0" smtClean="0">
                <a:latin typeface="Times New Roman" panose="02020503050405090304" pitchFamily="18" charset="0"/>
                <a:cs typeface="Times New Roman" panose="02020503050405090304" pitchFamily="18" charset="0"/>
                <a:sym typeface="+mn-ea"/>
              </a:rPr>
              <a:t>Quiz</a:t>
            </a:r>
            <a:endParaRPr lang="en-US" sz="2400" b="1" spc="-10" dirty="0">
              <a:latin typeface="Times New Roman" panose="02020503050405090304" pitchFamily="18" charset="0"/>
              <a:cs typeface="Times New Roman" panose="02020503050405090304" pitchFamily="18" charset="0"/>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p:nvPr/>
        </p:nvSpPr>
        <p:spPr>
          <a:xfrm>
            <a:off x="762000" y="1124585"/>
            <a:ext cx="7924800" cy="3885565"/>
          </a:xfrm>
          <a:prstGeom prst="rect">
            <a:avLst/>
          </a:prstGeom>
        </p:spPr>
        <p:txBody>
          <a:bodyPr vert="horz" wrap="square" lIns="0" tIns="12700" rIns="0" bIns="0" rtlCol="0">
            <a:noAutofit/>
          </a:bodyPr>
          <a:lstStyle/>
          <a:p>
            <a:pPr marL="342900" indent="-342900">
              <a:buFont typeface="+mj-lt"/>
              <a:buAutoNum type="arabicPeriod"/>
            </a:pPr>
            <a:r>
              <a:rPr lang="en-US" sz="1600" b="1" dirty="0" smtClean="0">
                <a:latin typeface="Times New Roman" pitchFamily="18" charset="0"/>
                <a:cs typeface="Times New Roman" pitchFamily="18" charset="0"/>
              </a:rPr>
              <a:t>What is the main difference between monolithic and </a:t>
            </a:r>
            <a:r>
              <a:rPr lang="en-US" sz="1600" b="1" dirty="0" err="1" smtClean="0">
                <a:latin typeface="Times New Roman" pitchFamily="18" charset="0"/>
                <a:cs typeface="Times New Roman" pitchFamily="18" charset="0"/>
              </a:rPr>
              <a:t>microservices</a:t>
            </a:r>
            <a:r>
              <a:rPr lang="en-US" sz="1600" b="1" dirty="0" smtClean="0">
                <a:latin typeface="Times New Roman" pitchFamily="18" charset="0"/>
                <a:cs typeface="Times New Roman" pitchFamily="18" charset="0"/>
              </a:rPr>
              <a:t> architecture?</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Monolithic architecture is a single unified application, while </a:t>
            </a:r>
            <a:r>
              <a:rPr lang="en-US" sz="1600" dirty="0" err="1" smtClean="0">
                <a:latin typeface="Times New Roman" pitchFamily="18" charset="0"/>
                <a:cs typeface="Times New Roman" pitchFamily="18" charset="0"/>
              </a:rPr>
              <a:t>microservices</a:t>
            </a:r>
            <a:r>
              <a:rPr lang="en-US" sz="1600" dirty="0" smtClean="0">
                <a:latin typeface="Times New Roman" pitchFamily="18" charset="0"/>
                <a:cs typeface="Times New Roman" pitchFamily="18" charset="0"/>
              </a:rPr>
              <a:t> split the application into independent services.</a:t>
            </a:r>
          </a:p>
          <a:p>
            <a:pPr marL="342900" indent="-342900">
              <a:buFont typeface="+mj-lt"/>
              <a:buAutoNum type="arabicPeriod"/>
            </a:pPr>
            <a:endParaRPr lang="en-US" sz="1600" dirty="0" smtClean="0">
              <a:latin typeface="Times New Roman" pitchFamily="18" charset="0"/>
              <a:cs typeface="Times New Roman" pitchFamily="18" charset="0"/>
            </a:endParaRPr>
          </a:p>
          <a:p>
            <a:pPr marL="342900" indent="-342900">
              <a:buFont typeface="+mj-lt"/>
              <a:buAutoNum type="arabicPeriod"/>
            </a:pPr>
            <a:r>
              <a:rPr lang="en-US" sz="1600" b="1" dirty="0" smtClean="0">
                <a:latin typeface="Times New Roman" pitchFamily="18" charset="0"/>
                <a:cs typeface="Times New Roman" pitchFamily="18" charset="0"/>
              </a:rPr>
              <a:t>When should monolithic architecture be used?</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It is suitable for small applications, startups, or projects with simple requirements.</a:t>
            </a:r>
          </a:p>
          <a:p>
            <a:pPr marL="342900" indent="-342900">
              <a:buFont typeface="+mj-lt"/>
              <a:buAutoNum type="arabicPeriod"/>
            </a:pPr>
            <a:endParaRPr lang="en-US" sz="1600" dirty="0" smtClean="0">
              <a:latin typeface="Times New Roman" pitchFamily="18" charset="0"/>
              <a:cs typeface="Times New Roman" pitchFamily="18" charset="0"/>
            </a:endParaRPr>
          </a:p>
          <a:p>
            <a:pPr marL="342900" indent="-342900">
              <a:buFont typeface="+mj-lt"/>
              <a:buAutoNum type="arabicPeriod"/>
            </a:pPr>
            <a:r>
              <a:rPr lang="en-US" sz="1600" b="1" dirty="0" smtClean="0">
                <a:latin typeface="Times New Roman" pitchFamily="18" charset="0"/>
                <a:cs typeface="Times New Roman" pitchFamily="18" charset="0"/>
              </a:rPr>
              <a:t>Why are </a:t>
            </a:r>
            <a:r>
              <a:rPr lang="en-US" sz="1600" b="1" dirty="0" err="1" smtClean="0">
                <a:latin typeface="Times New Roman" pitchFamily="18" charset="0"/>
                <a:cs typeface="Times New Roman" pitchFamily="18" charset="0"/>
              </a:rPr>
              <a:t>microservices</a:t>
            </a:r>
            <a:r>
              <a:rPr lang="en-US" sz="1600" b="1" dirty="0" smtClean="0">
                <a:latin typeface="Times New Roman" pitchFamily="18" charset="0"/>
                <a:cs typeface="Times New Roman" pitchFamily="18" charset="0"/>
              </a:rPr>
              <a:t> popular in modern systems?</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They enable scalability, independent deployment, and faster development cycles.</a:t>
            </a:r>
          </a:p>
          <a:p>
            <a:pPr marL="342900" indent="-342900">
              <a:buFont typeface="+mj-lt"/>
              <a:buAutoNum type="arabicPeriod"/>
            </a:pPr>
            <a:endParaRPr lang="en-US" sz="1600" dirty="0" smtClean="0">
              <a:latin typeface="Times New Roman" pitchFamily="18" charset="0"/>
              <a:cs typeface="Times New Roman" pitchFamily="18" charset="0"/>
            </a:endParaRPr>
          </a:p>
          <a:p>
            <a:pPr marL="342900" indent="-342900">
              <a:buFont typeface="+mj-lt"/>
              <a:buAutoNum type="arabicPeriod"/>
            </a:pPr>
            <a:r>
              <a:rPr lang="en-US" sz="1600" b="1" dirty="0" smtClean="0">
                <a:latin typeface="Times New Roman" pitchFamily="18" charset="0"/>
                <a:cs typeface="Times New Roman" pitchFamily="18" charset="0"/>
              </a:rPr>
              <a:t>What are the challenges of </a:t>
            </a:r>
            <a:r>
              <a:rPr lang="en-US" sz="1600" b="1" dirty="0" err="1" smtClean="0">
                <a:latin typeface="Times New Roman" pitchFamily="18" charset="0"/>
                <a:cs typeface="Times New Roman" pitchFamily="18" charset="0"/>
              </a:rPr>
              <a:t>microservices</a:t>
            </a:r>
            <a:r>
              <a:rPr lang="en-US" sz="1600" b="1" dirty="0" smtClean="0">
                <a:latin typeface="Times New Roman" pitchFamily="18" charset="0"/>
                <a:cs typeface="Times New Roman" pitchFamily="18" charset="0"/>
              </a:rPr>
              <a:t>?</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Increased complexity in service communication, deployment, monitoring, and debugging.</a:t>
            </a:r>
          </a:p>
          <a:p>
            <a:pPr marL="342900" indent="-342900">
              <a:buFont typeface="+mj-lt"/>
              <a:buAutoNum type="arabicPeriod"/>
            </a:pPr>
            <a:endParaRPr lang="en-US" sz="1600" dirty="0" smtClean="0">
              <a:latin typeface="Times New Roman" pitchFamily="18" charset="0"/>
              <a:cs typeface="Times New Roman" pitchFamily="18" charset="0"/>
            </a:endParaRPr>
          </a:p>
          <a:p>
            <a:pPr marL="342900" indent="-342900">
              <a:buFont typeface="+mj-lt"/>
              <a:buAutoNum type="arabicPeriod"/>
            </a:pPr>
            <a:r>
              <a:rPr lang="en-US" sz="1600" b="1" dirty="0" smtClean="0">
                <a:latin typeface="Times New Roman" pitchFamily="18" charset="0"/>
                <a:cs typeface="Times New Roman" pitchFamily="18" charset="0"/>
              </a:rPr>
              <a:t>Can an application move from monolithic to </a:t>
            </a:r>
            <a:r>
              <a:rPr lang="en-US" sz="1600" b="1" dirty="0" err="1" smtClean="0">
                <a:latin typeface="Times New Roman" pitchFamily="18" charset="0"/>
                <a:cs typeface="Times New Roman" pitchFamily="18" charset="0"/>
              </a:rPr>
              <a:t>microservices</a:t>
            </a:r>
            <a:r>
              <a:rPr lang="en-US" sz="1600" b="1" dirty="0" smtClean="0">
                <a:latin typeface="Times New Roman" pitchFamily="18" charset="0"/>
                <a:cs typeface="Times New Roman" pitchFamily="18" charset="0"/>
              </a:rPr>
              <a:t>?</a:t>
            </a:r>
            <a:r>
              <a:rPr lang="en-US" sz="1600" dirty="0" smtClean="0">
                <a:latin typeface="Times New Roman" pitchFamily="18" charset="0"/>
                <a:cs typeface="Times New Roman" pitchFamily="18" charset="0"/>
              </a:rPr>
              <a:t/>
            </a:r>
            <a:br>
              <a:rPr lang="en-US" sz="1600" dirty="0" smtClean="0">
                <a:latin typeface="Times New Roman" pitchFamily="18" charset="0"/>
                <a:cs typeface="Times New Roman" pitchFamily="18" charset="0"/>
              </a:rPr>
            </a:br>
            <a:r>
              <a:rPr lang="en-US" sz="1600" dirty="0" smtClean="0">
                <a:latin typeface="Times New Roman" pitchFamily="18" charset="0"/>
                <a:cs typeface="Times New Roman" pitchFamily="18" charset="0"/>
              </a:rPr>
              <a:t>Yes, many applications start as monoliths and gradually migrate to </a:t>
            </a:r>
            <a:r>
              <a:rPr lang="en-US" sz="1600" dirty="0" err="1" smtClean="0">
                <a:latin typeface="Times New Roman" pitchFamily="18" charset="0"/>
                <a:cs typeface="Times New Roman" pitchFamily="18" charset="0"/>
              </a:rPr>
              <a:t>microservices</a:t>
            </a:r>
            <a:r>
              <a:rPr lang="en-US" sz="1600" dirty="0" smtClean="0">
                <a:latin typeface="Times New Roman" pitchFamily="18" charset="0"/>
                <a:cs typeface="Times New Roman" pitchFamily="18" charset="0"/>
              </a:rPr>
              <a:t> as they grow.</a:t>
            </a:r>
            <a:endParaRPr lang="en-US" sz="1600" dirty="0">
              <a:latin typeface="Times New Roman" pitchFamily="18" charset="0"/>
              <a:cs typeface="Times New Roman"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fontAlgn="auto">
              <a:spcAft>
                <a:spcPts val="0"/>
              </a:spcAft>
              <a:defRPr/>
            </a:pPr>
            <a:r>
              <a:rPr sz="2400" spc="-10" dirty="0" smtClean="0">
                <a:latin typeface="Times New Roman" panose="02020503050405090304" pitchFamily="18" charset="0"/>
                <a:cs typeface="Times New Roman" panose="02020503050405090304" pitchFamily="18" charset="0"/>
                <a:sym typeface="+mn-ea"/>
              </a:rPr>
              <a:t>FAQ’s</a:t>
            </a:r>
            <a:endParaRPr sz="2400" dirty="0">
              <a:latin typeface="Times New Roman" panose="02020503050405090304" pitchFamily="18" charset="0"/>
              <a:cs typeface="Times New Roman" panose="02020503050405090304" pitchFamily="18" charset="0"/>
            </a:endParaRPr>
          </a:p>
          <a:p>
            <a:pPr algn="l" fontAlgn="auto">
              <a:spcAft>
                <a:spcPts val="0"/>
              </a:spcAft>
              <a:defRPr/>
            </a:pPr>
            <a:endParaRPr lang="en-US" sz="2400" b="1" spc="-10" dirty="0">
              <a:latin typeface="Times New Roman" panose="02020503050405090304" pitchFamily="18" charset="0"/>
              <a:cs typeface="Times New Roman" panose="02020503050405090304" pitchFamily="18" charset="0"/>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body" idx="1"/>
          </p:nvPr>
        </p:nvSpPr>
        <p:spPr>
          <a:xfrm>
            <a:off x="762000" y="1123950"/>
            <a:ext cx="7982585" cy="3582035"/>
          </a:xfrm>
          <a:prstGeom prst="rect">
            <a:avLst/>
          </a:prstGeom>
        </p:spPr>
        <p:txBody>
          <a:bodyPr vert="horz" wrap="square" lIns="0" tIns="15875" rIns="0" bIns="0" rtlCol="0">
            <a:noAutofit/>
          </a:bodyPr>
          <a:lstStyle/>
          <a:p>
            <a:pPr marL="12700">
              <a:lnSpc>
                <a:spcPct val="150000"/>
              </a:lnSpc>
              <a:spcBef>
                <a:spcPts val="125"/>
              </a:spcBef>
            </a:pPr>
            <a:r>
              <a:rPr lang="en-US" altLang="en-US" sz="1600" i="0" dirty="0">
                <a:solidFill>
                  <a:schemeClr val="tx1"/>
                </a:solidFill>
                <a:latin typeface="Times New Roman Bold" panose="02020503050405090304" charset="0"/>
                <a:cs typeface="Times New Roman Bold" panose="02020503050405090304" charset="0"/>
              </a:rPr>
              <a:t>Book Reference:</a:t>
            </a:r>
            <a:endParaRPr lang="en-US" altLang="en-US" sz="1600" b="0" i="0" dirty="0">
              <a:solidFill>
                <a:schemeClr val="tx1"/>
              </a:solidFill>
              <a:latin typeface="Times New Roman" panose="02020503050405090304" pitchFamily="18" charset="0"/>
              <a:cs typeface="Times New Roman" panose="02020503050405090304" pitchFamily="18" charset="0"/>
            </a:endParaRPr>
          </a:p>
          <a:p>
            <a:pPr marL="12700">
              <a:lnSpc>
                <a:spcPct val="150000"/>
              </a:lnSpc>
              <a:spcBef>
                <a:spcPts val="125"/>
              </a:spcBef>
              <a:buFont typeface="Arial" pitchFamily="34" charset="0"/>
              <a:buChar char="•"/>
            </a:pPr>
            <a:r>
              <a:rPr lang="en-US" sz="1600" i="0" dirty="0" smtClean="0">
                <a:solidFill>
                  <a:schemeClr val="tx1"/>
                </a:solidFill>
              </a:rPr>
              <a:t> Newman, Sam</a:t>
            </a:r>
            <a:br>
              <a:rPr lang="en-US" sz="1600" i="0" dirty="0" smtClean="0">
                <a:solidFill>
                  <a:schemeClr val="tx1"/>
                </a:solidFill>
              </a:rPr>
            </a:br>
            <a:r>
              <a:rPr lang="en-US" sz="1600" i="0" dirty="0" smtClean="0">
                <a:solidFill>
                  <a:schemeClr val="tx1"/>
                </a:solidFill>
              </a:rPr>
              <a:t>Building </a:t>
            </a:r>
            <a:r>
              <a:rPr lang="en-US" sz="1600" i="0" dirty="0" err="1" smtClean="0">
                <a:solidFill>
                  <a:schemeClr val="tx1"/>
                </a:solidFill>
              </a:rPr>
              <a:t>Microservices</a:t>
            </a:r>
            <a:r>
              <a:rPr lang="en-US" sz="1600" i="0" dirty="0" smtClean="0">
                <a:solidFill>
                  <a:schemeClr val="tx1"/>
                </a:solidFill>
              </a:rPr>
              <a:t>: Designing Fine-Grained Systems, 2nd Edition, O’Reilly Media.   </a:t>
            </a:r>
          </a:p>
          <a:p>
            <a:pPr marL="12700">
              <a:lnSpc>
                <a:spcPct val="150000"/>
              </a:lnSpc>
              <a:spcBef>
                <a:spcPts val="125"/>
              </a:spcBef>
              <a:buFont typeface="Arial" pitchFamily="34" charset="0"/>
              <a:buChar char="•"/>
            </a:pPr>
            <a:r>
              <a:rPr lang="en-US" sz="1600" i="0" dirty="0" smtClean="0">
                <a:solidFill>
                  <a:schemeClr val="tx1"/>
                </a:solidFill>
              </a:rPr>
              <a:t> Fowler, Martin Patterns of Enterprise Application Architecture, Addison-Wesley.</a:t>
            </a:r>
            <a:endParaRPr lang="en-US" altLang="en-US" sz="1600" b="0" i="0" dirty="0">
              <a:solidFill>
                <a:schemeClr val="tx1"/>
              </a:solidFill>
              <a:latin typeface="Times New Roman" panose="02020503050405090304" pitchFamily="18" charset="0"/>
              <a:cs typeface="Times New Roman" panose="02020503050405090304" pitchFamily="18" charset="0"/>
            </a:endParaRPr>
          </a:p>
          <a:p>
            <a:pPr marL="12700">
              <a:lnSpc>
                <a:spcPct val="150000"/>
              </a:lnSpc>
              <a:spcBef>
                <a:spcPts val="125"/>
              </a:spcBef>
            </a:pPr>
            <a:endParaRPr lang="en-US" altLang="en-US" sz="1600" b="0" i="0" dirty="0">
              <a:solidFill>
                <a:schemeClr val="tx1"/>
              </a:solidFill>
              <a:latin typeface="Times New Roman" panose="02020503050405090304" pitchFamily="18" charset="0"/>
              <a:cs typeface="Times New Roman" panose="02020503050405090304" pitchFamily="18" charset="0"/>
            </a:endParaRPr>
          </a:p>
          <a:p>
            <a:pPr marL="12700">
              <a:lnSpc>
                <a:spcPct val="150000"/>
              </a:lnSpc>
              <a:spcBef>
                <a:spcPts val="125"/>
              </a:spcBef>
            </a:pPr>
            <a:r>
              <a:rPr lang="en-US" altLang="en-US" sz="1600" i="0" dirty="0">
                <a:solidFill>
                  <a:schemeClr val="tx1"/>
                </a:solidFill>
                <a:latin typeface="Times New Roman Bold" panose="02020503050405090304" charset="0"/>
                <a:cs typeface="Times New Roman Bold" panose="02020503050405090304" charset="0"/>
              </a:rPr>
              <a:t>Tutorial Link:</a:t>
            </a:r>
            <a:endParaRPr lang="en-US" altLang="en-US" sz="1600" b="0" i="0" dirty="0">
              <a:solidFill>
                <a:schemeClr val="tx1"/>
              </a:solidFill>
              <a:latin typeface="Times New Roman" panose="02020503050405090304" pitchFamily="18" charset="0"/>
              <a:cs typeface="Times New Roman" panose="02020503050405090304" pitchFamily="18" charset="0"/>
            </a:endParaRPr>
          </a:p>
          <a:p>
            <a:pPr marL="12700">
              <a:lnSpc>
                <a:spcPct val="150000"/>
              </a:lnSpc>
              <a:spcBef>
                <a:spcPts val="125"/>
              </a:spcBef>
            </a:pPr>
            <a:r>
              <a:rPr lang="en-US" altLang="en-US" sz="1600" b="0" i="0" dirty="0" smtClean="0">
                <a:solidFill>
                  <a:schemeClr val="tx1"/>
                </a:solidFill>
                <a:latin typeface="Times New Roman" panose="02020503050405090304" pitchFamily="18" charset="0"/>
                <a:cs typeface="Times New Roman" panose="02020503050405090304" pitchFamily="18" charset="0"/>
              </a:rPr>
              <a:t>https://www.youtube.com/watch?v=NdeTGlZ__Do</a:t>
            </a:r>
            <a:endParaRPr lang="en-US" altLang="en-US" sz="1600" b="0" i="0" dirty="0">
              <a:solidFill>
                <a:schemeClr val="tx1"/>
              </a:solidFill>
              <a:latin typeface="Times New Roman" panose="02020503050405090304" pitchFamily="18" charset="0"/>
              <a:cs typeface="Times New Roman" panose="02020503050405090304" pitchFamily="18" charset="0"/>
            </a:endParaRPr>
          </a:p>
          <a:p>
            <a:pPr marL="12700">
              <a:lnSpc>
                <a:spcPct val="150000"/>
              </a:lnSpc>
              <a:spcBef>
                <a:spcPts val="125"/>
              </a:spcBef>
            </a:pPr>
            <a:r>
              <a:rPr lang="en-US" altLang="en-US" sz="1600" i="0" dirty="0">
                <a:solidFill>
                  <a:schemeClr val="tx1"/>
                </a:solidFill>
                <a:latin typeface="Times New Roman Bold" panose="02020503050405090304" charset="0"/>
                <a:cs typeface="Times New Roman Bold" panose="02020503050405090304" charset="0"/>
              </a:rPr>
              <a:t>Video Link:</a:t>
            </a:r>
            <a:endParaRPr lang="en-US" altLang="en-US" sz="1600" b="0" i="0" dirty="0">
              <a:solidFill>
                <a:schemeClr val="tx1"/>
              </a:solidFill>
              <a:latin typeface="Times New Roman" panose="02020503050405090304" pitchFamily="18" charset="0"/>
              <a:cs typeface="Times New Roman" panose="02020503050405090304" pitchFamily="18" charset="0"/>
            </a:endParaRPr>
          </a:p>
          <a:p>
            <a:pPr marL="12700">
              <a:lnSpc>
                <a:spcPct val="150000"/>
              </a:lnSpc>
              <a:spcBef>
                <a:spcPts val="125"/>
              </a:spcBef>
            </a:pPr>
            <a:r>
              <a:rPr lang="en-US" altLang="en-US" sz="1600" b="0" i="0" dirty="0" smtClean="0">
                <a:solidFill>
                  <a:schemeClr val="tx1"/>
                </a:solidFill>
                <a:latin typeface="Times New Roman" panose="02020503050405090304" pitchFamily="18" charset="0"/>
                <a:cs typeface="Times New Roman" panose="02020503050405090304" pitchFamily="18" charset="0"/>
              </a:rPr>
              <a:t>https://www.youtube.com/watch?v=6-Wu178sOEE</a:t>
            </a:r>
            <a:endParaRPr lang="en-US" altLang="en-US" sz="1600" b="0" i="0" dirty="0">
              <a:solidFill>
                <a:schemeClr val="tx1"/>
              </a:solidFill>
              <a:latin typeface="Times New Roman" panose="02020503050405090304" pitchFamily="18" charset="0"/>
              <a:cs typeface="Times New Roman" panose="02020503050405090304" pitchFamily="18" charset="0"/>
            </a:endParaRPr>
          </a:p>
        </p:txBody>
      </p:sp>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fontAlgn="auto">
              <a:spcAft>
                <a:spcPts val="0"/>
              </a:spcAft>
              <a:defRPr/>
            </a:pPr>
            <a:r>
              <a:rPr sz="2400" dirty="0">
                <a:latin typeface="Times New Roman" panose="02020503050405090304" pitchFamily="18" charset="0"/>
                <a:cs typeface="Times New Roman" panose="02020503050405090304" pitchFamily="18" charset="0"/>
                <a:sym typeface="+mn-ea"/>
              </a:rPr>
              <a:t>References/</a:t>
            </a:r>
            <a:r>
              <a:rPr sz="2400" spc="-90" dirty="0">
                <a:latin typeface="Times New Roman" panose="02020503050405090304" pitchFamily="18" charset="0"/>
                <a:cs typeface="Times New Roman" panose="02020503050405090304" pitchFamily="18" charset="0"/>
                <a:sym typeface="+mn-ea"/>
              </a:rPr>
              <a:t> </a:t>
            </a:r>
            <a:r>
              <a:rPr sz="2400" dirty="0">
                <a:latin typeface="Times New Roman" panose="02020503050405090304" pitchFamily="18" charset="0"/>
                <a:cs typeface="Times New Roman" panose="02020503050405090304" pitchFamily="18" charset="0"/>
                <a:sym typeface="+mn-ea"/>
              </a:rPr>
              <a:t>Articles/</a:t>
            </a:r>
            <a:r>
              <a:rPr sz="2400" spc="-85" dirty="0">
                <a:latin typeface="Times New Roman" panose="02020503050405090304" pitchFamily="18" charset="0"/>
                <a:cs typeface="Times New Roman" panose="02020503050405090304" pitchFamily="18" charset="0"/>
                <a:sym typeface="+mn-ea"/>
              </a:rPr>
              <a:t> </a:t>
            </a:r>
            <a:r>
              <a:rPr sz="2400" spc="-10" dirty="0">
                <a:latin typeface="Times New Roman" panose="02020503050405090304" pitchFamily="18" charset="0"/>
                <a:cs typeface="Times New Roman" panose="02020503050405090304" pitchFamily="18" charset="0"/>
                <a:sym typeface="+mn-ea"/>
              </a:rPr>
              <a:t>Videos</a:t>
            </a:r>
            <a:endParaRPr sz="2400" dirty="0">
              <a:latin typeface="Times New Roman" panose="02020503050405090304" pitchFamily="18" charset="0"/>
              <a:cs typeface="Times New Roman" panose="02020503050405090304" pitchFamily="18" charset="0"/>
            </a:endParaRPr>
          </a:p>
          <a:p>
            <a:pPr algn="l" fontAlgn="auto">
              <a:spcAft>
                <a:spcPts val="0"/>
              </a:spcAft>
              <a:defRPr/>
            </a:pPr>
            <a:endParaRPr lang="en-US" sz="2400" b="1" spc="-10" dirty="0">
              <a:latin typeface="Times New Roman" panose="02020503050405090304" pitchFamily="18" charset="0"/>
              <a:cs typeface="Times New Roman" panose="02020503050405090304" pitchFamily="18" charset="0"/>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nvSpPr>
        <p:spPr>
          <a:xfrm>
            <a:off x="762001" y="285671"/>
            <a:ext cx="7883525" cy="483394"/>
          </a:xfrm>
          <a:prstGeom prst="rect">
            <a:avLst/>
          </a:prstGeom>
        </p:spPr>
        <p:txBody>
          <a:bodyPr wrap="square" lIns="0" tIns="0" rIns="0" bIns="0" rtlCol="0">
            <a:normAutofit/>
          </a:bodyPr>
          <a:lstStyle>
            <a:lvl1pPr>
              <a:defRPr sz="3950" b="1" i="0">
                <a:solidFill>
                  <a:srgbClr val="1A1A1A"/>
                </a:solidFill>
                <a:latin typeface="Calibri"/>
                <a:ea typeface="+mj-ea"/>
                <a:cs typeface="Calibri"/>
              </a:defRPr>
            </a:lvl1pPr>
          </a:lstStyle>
          <a:p>
            <a:pPr algn="l" fontAlgn="auto">
              <a:spcAft>
                <a:spcPts val="0"/>
              </a:spcAft>
              <a:defRPr/>
            </a:pPr>
            <a:r>
              <a:rPr sz="2400" spc="-10" dirty="0">
                <a:latin typeface="Times New Roman" panose="02020503050405090304" pitchFamily="18" charset="0"/>
                <a:cs typeface="Times New Roman" panose="02020503050405090304" pitchFamily="18" charset="0"/>
                <a:sym typeface="+mn-ea"/>
              </a:rPr>
              <a:t>Class-Wise Feedback</a:t>
            </a:r>
            <a:endParaRPr sz="2400" dirty="0">
              <a:latin typeface="Times New Roman" panose="02020503050405090304" pitchFamily="18" charset="0"/>
              <a:cs typeface="Times New Roman" panose="02020503050405090304" pitchFamily="18" charset="0"/>
            </a:endParaRPr>
          </a:p>
          <a:p>
            <a:pPr algn="l" fontAlgn="auto">
              <a:spcAft>
                <a:spcPts val="0"/>
              </a:spcAft>
              <a:defRPr/>
            </a:pPr>
            <a:endParaRPr lang="en-US" sz="2400" b="1" spc="-10" dirty="0">
              <a:latin typeface="Times New Roman" panose="02020503050405090304" pitchFamily="18" charset="0"/>
              <a:cs typeface="Times New Roman" panose="02020503050405090304" pitchFamily="18" charset="0"/>
              <a:sym typeface="+mn-ea"/>
            </a:endParaRPr>
          </a:p>
        </p:txBody>
      </p:sp>
      <p:sp>
        <p:nvSpPr>
          <p:cNvPr id="15362" name="AutoShape 2" descr="Homogeneous Distributed Database (Self Creation) | Download Scientific ..."/>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7" name="Picture 6" descr="qr-code-bee-is.png"/>
          <p:cNvPicPr>
            <a:picLocks noChangeAspect="1"/>
          </p:cNvPicPr>
          <p:nvPr/>
        </p:nvPicPr>
        <p:blipFill>
          <a:blip r:embed="rId2" cstate="print"/>
          <a:stretch>
            <a:fillRect/>
          </a:stretch>
        </p:blipFill>
        <p:spPr>
          <a:xfrm>
            <a:off x="2496457" y="986972"/>
            <a:ext cx="3979636" cy="312601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body" idx="1"/>
          </p:nvPr>
        </p:nvSpPr>
        <p:spPr>
          <a:prstGeom prst="rect">
            <a:avLst/>
          </a:prstGeom>
        </p:spPr>
        <p:txBody>
          <a:bodyPr vert="horz" wrap="square" lIns="0" tIns="547306" rIns="0" bIns="0" rtlCol="0">
            <a:spAutoFit/>
          </a:bodyPr>
          <a:lstStyle/>
          <a:p>
            <a:pPr marL="1548765">
              <a:lnSpc>
                <a:spcPct val="100000"/>
              </a:lnSpc>
              <a:spcBef>
                <a:spcPts val="90"/>
              </a:spcBef>
            </a:pPr>
            <a:r>
              <a:rPr spc="-819" dirty="0"/>
              <a:t>Thank</a:t>
            </a:r>
            <a:r>
              <a:rPr spc="-30" dirty="0"/>
              <a:t> </a:t>
            </a:r>
            <a:r>
              <a:rPr spc="-580" dirty="0"/>
              <a:t>You</a:t>
            </a:r>
          </a:p>
        </p:txBody>
      </p:sp>
      <p:sp>
        <p:nvSpPr>
          <p:cNvPr id="3" name="object 3"/>
          <p:cNvSpPr txBox="1"/>
          <p:nvPr/>
        </p:nvSpPr>
        <p:spPr>
          <a:xfrm>
            <a:off x="1759585" y="4324350"/>
            <a:ext cx="5624830" cy="323850"/>
          </a:xfrm>
          <a:prstGeom prst="rect">
            <a:avLst/>
          </a:prstGeom>
        </p:spPr>
        <p:txBody>
          <a:bodyPr vert="horz" wrap="square" lIns="0" tIns="16510" rIns="0" bIns="0" rtlCol="0">
            <a:spAutoFit/>
          </a:bodyPr>
          <a:lstStyle/>
          <a:p>
            <a:pPr marL="12700">
              <a:lnSpc>
                <a:spcPct val="100000"/>
              </a:lnSpc>
              <a:spcBef>
                <a:spcPts val="130"/>
              </a:spcBef>
            </a:pPr>
            <a:r>
              <a:rPr sz="2000" dirty="0">
                <a:latin typeface="Times New Roman" pitchFamily="18" charset="0"/>
                <a:cs typeface="Times New Roman" pitchFamily="18" charset="0"/>
              </a:rPr>
              <a:t>For</a:t>
            </a:r>
            <a:r>
              <a:rPr sz="2000" spc="-10" dirty="0">
                <a:latin typeface="Times New Roman" pitchFamily="18" charset="0"/>
                <a:cs typeface="Times New Roman" pitchFamily="18" charset="0"/>
              </a:rPr>
              <a:t> queries</a:t>
            </a:r>
            <a:r>
              <a:rPr lang="en-US" altLang="" sz="2000" spc="-10" dirty="0">
                <a:latin typeface="Times New Roman" pitchFamily="18" charset="0"/>
                <a:cs typeface="Times New Roman" pitchFamily="18" charset="0"/>
              </a:rPr>
              <a:t> </a:t>
            </a:r>
            <a:r>
              <a:rPr sz="2000" dirty="0">
                <a:latin typeface="Times New Roman" pitchFamily="18" charset="0"/>
                <a:cs typeface="Times New Roman" pitchFamily="18" charset="0"/>
              </a:rPr>
              <a:t>Email:</a:t>
            </a:r>
            <a:r>
              <a:rPr lang="en-US" altLang="" sz="2000" dirty="0">
                <a:latin typeface="Times New Roman" pitchFamily="18" charset="0"/>
                <a:cs typeface="Times New Roman" pitchFamily="18" charset="0"/>
              </a:rPr>
              <a:t> </a:t>
            </a:r>
            <a:r>
              <a:rPr lang="en-US" sz="2000" spc="-10" dirty="0" smtClean="0">
                <a:latin typeface="Times New Roman" pitchFamily="18" charset="0"/>
                <a:cs typeface="Times New Roman" pitchFamily="18" charset="0"/>
                <a:hlinkClick r:id="rId2"/>
              </a:rPr>
              <a:t>kamaljee</a:t>
            </a:r>
            <a:r>
              <a:rPr lang="en-US" sz="2000" u="sng" spc="-10" dirty="0" smtClean="0">
                <a:solidFill>
                  <a:srgbClr val="1C3678"/>
                </a:solidFill>
                <a:uFill>
                  <a:solidFill>
                    <a:srgbClr val="1C3678"/>
                  </a:solidFill>
                </a:uFill>
                <a:latin typeface="Times New Roman" pitchFamily="18" charset="0"/>
                <a:cs typeface="Times New Roman" pitchFamily="18" charset="0"/>
                <a:hlinkClick r:id="rId3"/>
              </a:rPr>
              <a:t>t</a:t>
            </a:r>
            <a:r>
              <a:rPr sz="2000" spc="-10" dirty="0" smtClean="0">
                <a:latin typeface="Times New Roman" pitchFamily="18" charset="0"/>
                <a:cs typeface="Times New Roman" pitchFamily="18" charset="0"/>
                <a:hlinkClick r:id="rId2"/>
              </a:rPr>
              <a:t>.e1</a:t>
            </a:r>
            <a:r>
              <a:rPr lang="en-US" sz="2000" spc="-10" dirty="0" smtClean="0">
                <a:latin typeface="Times New Roman" pitchFamily="18" charset="0"/>
                <a:cs typeface="Times New Roman" pitchFamily="18" charset="0"/>
                <a:hlinkClick r:id="rId2"/>
              </a:rPr>
              <a:t>9147</a:t>
            </a:r>
            <a:r>
              <a:rPr sz="2000" spc="-10" dirty="0" smtClean="0">
                <a:latin typeface="Times New Roman" pitchFamily="18" charset="0"/>
                <a:cs typeface="Times New Roman" pitchFamily="18" charset="0"/>
                <a:hlinkClick r:id="rId2"/>
              </a:rPr>
              <a:t>@cumail.in</a:t>
            </a:r>
            <a:endParaRPr sz="2000"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867</TotalTime>
  <Words>1192</Words>
  <Application>Microsoft Office PowerPoint</Application>
  <PresentationFormat>On-screen Show (16:9)</PresentationFormat>
  <Paragraphs>138</Paragraphs>
  <Slides>22</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22</vt:i4>
      </vt:variant>
    </vt:vector>
  </HeadingPairs>
  <TitlesOfParts>
    <vt:vector size="24" baseType="lpstr">
      <vt:lpstr>Office Theme</vt:lpstr>
      <vt:lpstr>CorelDRAW</vt:lpstr>
      <vt:lpstr>Slide 1</vt:lpstr>
      <vt:lpstr>Slide 2</vt:lpstr>
      <vt:lpstr>Course Outcomes</vt:lpstr>
      <vt:lpstr>Unit-1 Syllabus</vt:lpstr>
      <vt:lpstr>Slide 5</vt:lpstr>
      <vt:lpstr>Slide 6</vt:lpstr>
      <vt:lpstr>Slide 7</vt:lpstr>
      <vt:lpstr>Slide 8</vt:lpstr>
      <vt:lpstr>Slide 9</vt:lpstr>
      <vt:lpstr>Slide 10</vt:lpstr>
      <vt:lpstr>Slide 11</vt:lpstr>
      <vt:lpstr>Slide 12</vt:lpstr>
      <vt:lpstr>Slide 13</vt:lpstr>
      <vt:lpstr>Slide 14</vt:lpstr>
      <vt:lpstr>Slide 15</vt:lpstr>
      <vt:lpstr>Summary of the Lecture</vt:lpstr>
      <vt:lpstr>Slide 17</vt:lpstr>
      <vt:lpstr>Slide 18</vt:lpstr>
      <vt:lpstr>Slide 19</vt:lpstr>
      <vt:lpstr>Slide 20</vt:lpstr>
      <vt:lpstr>Slide 21</vt:lpstr>
      <vt:lpstr>Slide 22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APEX INSTITUTE OF TECHNOLOGY DEPARTMENT OF COMPUTER SCIENCE &amp; ENGINEERING</dc:title>
  <dc:creator>DELL-LATITUDE</dc:creator>
  <cp:lastModifiedBy>DELL-LATITUDE</cp:lastModifiedBy>
  <cp:revision>104</cp:revision>
  <dcterms:created xsi:type="dcterms:W3CDTF">2025-12-03T05:18:11Z</dcterms:created>
  <dcterms:modified xsi:type="dcterms:W3CDTF">2025-12-15T05:41:47Z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2025-11-29T05:30:00Z</vt:filetime>
  </property>
  <property fmtid="{D5CDD505-2E9C-101B-9397-08002B2CF9AE}" pid="3" name="LastSaved">
    <vt:filetime>2025-11-30T05:30:00Z</vt:filetime>
  </property>
  <property fmtid="{D5CDD505-2E9C-101B-9397-08002B2CF9AE}" pid="4" name="ICV">
    <vt:lpwstr>BE53AF1E6976AF6A8CBC2F69ADEE211E_42</vt:lpwstr>
  </property>
  <property fmtid="{D5CDD505-2E9C-101B-9397-08002B2CF9AE}" pid="5" name="KSOProductBuildVer">
    <vt:lpwstr>1033-12.1.23143.23143</vt:lpwstr>
  </property>
</Properties>
</file>