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Default Extension="bin" ContentType="application/vnd.openxmlformats-officedocument.oleObject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docProps/custom.xml" ContentType="application/vnd.openxmlformats-officedocument.custom-properties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95" r:id="rId2"/>
    <p:sldId id="257" r:id="rId3"/>
    <p:sldId id="297" r:id="rId4"/>
    <p:sldId id="298" r:id="rId5"/>
    <p:sldId id="310" r:id="rId6"/>
    <p:sldId id="311" r:id="rId7"/>
    <p:sldId id="300" r:id="rId8"/>
    <p:sldId id="301" r:id="rId9"/>
    <p:sldId id="302" r:id="rId10"/>
    <p:sldId id="303" r:id="rId11"/>
    <p:sldId id="304" r:id="rId12"/>
    <p:sldId id="314" r:id="rId13"/>
    <p:sldId id="285" r:id="rId14"/>
    <p:sldId id="286" r:id="rId15"/>
    <p:sldId id="287" r:id="rId16"/>
    <p:sldId id="313" r:id="rId17"/>
    <p:sldId id="288" r:id="rId18"/>
    <p:sldId id="289" r:id="rId19"/>
    <p:sldId id="290" r:id="rId20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 xmlns="">
        <p15:guide id="1" orient="horz" pos="2862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6" d="100"/>
          <a:sy n="86" d="100"/>
        </p:scale>
        <p:origin x="-822" y="-78"/>
      </p:cViewPr>
      <p:guideLst>
        <p:guide orient="horz" pos="2862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1" i="0">
                <a:solidFill>
                  <a:srgbClr val="1A1A1A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50" b="1" i="1">
                <a:solidFill>
                  <a:srgbClr val="FF0000"/>
                </a:solidFill>
                <a:latin typeface="Times New Roman" panose="02020503050405090304"/>
                <a:cs typeface="Times New Roman" panose="0202050305040509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12/15/2025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rgbClr val="1A1A1A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8050" b="1" i="1">
                <a:solidFill>
                  <a:srgbClr val="FF0000"/>
                </a:solidFill>
                <a:latin typeface="Times New Roman" panose="02020503050405090304"/>
                <a:cs typeface="Times New Roman" panose="0202050305040509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12/15/2025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rgbClr val="1A1A1A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12/15/2025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rgbClr val="1A1A1A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12/15/2025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12/15/2025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804386"/>
            <a:ext cx="2949178" cy="738664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70"/>
            <a:ext cx="4629150" cy="143116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18466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83455"/>
            <a:ext cx="2103120" cy="276999"/>
          </a:xfrm>
        </p:spPr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9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08960" y="4783455"/>
            <a:ext cx="2926080" cy="276999"/>
          </a:xfrm>
        </p:spPr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9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83680" y="4783455"/>
            <a:ext cx="2103120" cy="276999"/>
          </a:xfrm>
        </p:spPr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90204" pitchFamily="34" charset="0"/>
              </a:defRPr>
            </a:lvl1pPr>
          </a:lstStyle>
          <a:p>
            <a:pPr>
              <a:defRPr/>
            </a:pPr>
            <a:fld id="{9D9B6AFD-A192-4C37-8069-CDFD0FFEA4A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8575" y="19050"/>
            <a:ext cx="657225" cy="104775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54977" y="89852"/>
            <a:ext cx="8234044" cy="8749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1" i="0">
                <a:solidFill>
                  <a:srgbClr val="1A1A1A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56322" y="1461452"/>
            <a:ext cx="6900545" cy="23806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50" b="1" i="1">
                <a:solidFill>
                  <a:srgbClr val="FF0000"/>
                </a:solidFill>
                <a:latin typeface="Times New Roman" panose="02020503050405090304"/>
                <a:cs typeface="Times New Roman" panose="0202050305040509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12/15/2025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forms.gle/KF57CKfJj9WmhsEr5" TargetMode="External"/><Relationship Id="rId2" Type="http://schemas.openxmlformats.org/officeDocument/2006/relationships/hyperlink" Target="mailto:kamaljee.e18488@cumail.in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-1588" y="3657600"/>
            <a:ext cx="9144001" cy="8536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228600" y="3962400"/>
            <a:ext cx="33338" cy="34528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44" name="Slide Number Placeholder 2"/>
          <p:cNvSpPr txBox="1"/>
          <p:nvPr/>
        </p:nvSpPr>
        <p:spPr>
          <a:xfrm>
            <a:off x="6572251" y="4302919"/>
            <a:ext cx="2055813" cy="205979"/>
          </a:xfrm>
          <a:prstGeom prst="rect">
            <a:avLst/>
          </a:prstGeom>
        </p:spPr>
        <p:txBody>
          <a:bodyPr lIns="68556" tIns="34279" rIns="68556" bIns="34279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6" name="Right Triangle 45"/>
          <p:cNvSpPr/>
          <p:nvPr/>
        </p:nvSpPr>
        <p:spPr>
          <a:xfrm flipV="1">
            <a:off x="7129464" y="3983832"/>
            <a:ext cx="968375" cy="651272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D" sz="1350" kern="0">
              <a:solidFill>
                <a:srgbClr val="FFFFFF"/>
              </a:solidFill>
              <a:latin typeface="Calibri"/>
            </a:endParaRPr>
          </a:p>
        </p:txBody>
      </p:sp>
      <p:graphicFrame>
        <p:nvGraphicFramePr>
          <p:cNvPr id="19462" name="Object 47"/>
          <p:cNvGraphicFramePr>
            <a:graphicFrameLocks noChangeAspect="1"/>
          </p:cNvGraphicFramePr>
          <p:nvPr/>
        </p:nvGraphicFramePr>
        <p:xfrm>
          <a:off x="58738" y="2399110"/>
          <a:ext cx="2476500" cy="1770459"/>
        </p:xfrm>
        <a:graphic>
          <a:graphicData uri="http://schemas.openxmlformats.org/presentationml/2006/ole">
            <p:oleObj spid="_x0000_s1025" name="CorelDRAW" r:id="rId3" imgW="2169000" imgH="2169360" progId="">
              <p:embed/>
            </p:oleObj>
          </a:graphicData>
        </a:graphic>
      </p:graphicFrame>
      <p:sp>
        <p:nvSpPr>
          <p:cNvPr id="37" name="Right Triangle 36"/>
          <p:cNvSpPr/>
          <p:nvPr/>
        </p:nvSpPr>
        <p:spPr>
          <a:xfrm flipH="1">
            <a:off x="5283201" y="628650"/>
            <a:ext cx="3859213" cy="3290888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D" sz="1350" kern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1594093" y="1782572"/>
            <a:ext cx="5120286" cy="888823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prstClr val="white"/>
              </a:solidFill>
            </a:endParaRPr>
          </a:p>
        </p:txBody>
      </p:sp>
      <p:pic>
        <p:nvPicPr>
          <p:cNvPr id="19467" name="Picture 2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219200" y="514350"/>
            <a:ext cx="6629400" cy="13385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" name="Right Triangle 42"/>
          <p:cNvSpPr/>
          <p:nvPr/>
        </p:nvSpPr>
        <p:spPr>
          <a:xfrm rot="10800000" flipV="1">
            <a:off x="7370764" y="3643313"/>
            <a:ext cx="1774825" cy="898922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5160963" y="3984070"/>
            <a:ext cx="3695700" cy="321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500" b="1" dirty="0">
                <a:solidFill>
                  <a:prstClr val="black">
                    <a:lumMod val="65000"/>
                    <a:lumOff val="35000"/>
                  </a:prstClr>
                </a:solidFill>
                <a:latin typeface="Times New Roman" panose="02020503050405090304" pitchFamily="18" charset="0"/>
                <a:ea typeface="Karla" pitchFamily="2" charset="0"/>
                <a:cs typeface="Times New Roman" panose="02020503050405090304" pitchFamily="18" charset="0"/>
              </a:rPr>
              <a:t>DISCOVER . </a:t>
            </a:r>
            <a:r>
              <a:rPr lang="en-US" sz="1500" b="1" dirty="0">
                <a:solidFill>
                  <a:srgbClr val="C00000"/>
                </a:solidFill>
                <a:latin typeface="Times New Roman" panose="02020503050405090304" pitchFamily="18" charset="0"/>
                <a:ea typeface="Karla" pitchFamily="2" charset="0"/>
                <a:cs typeface="Times New Roman" panose="02020503050405090304" pitchFamily="18" charset="0"/>
              </a:rPr>
              <a:t>LEARN</a:t>
            </a:r>
            <a:r>
              <a:rPr lang="en-US" sz="1500" b="1" dirty="0">
                <a:solidFill>
                  <a:prstClr val="black">
                    <a:lumMod val="65000"/>
                    <a:lumOff val="35000"/>
                  </a:prstClr>
                </a:solidFill>
                <a:latin typeface="Times New Roman" panose="02020503050405090304" pitchFamily="18" charset="0"/>
                <a:ea typeface="Karla" pitchFamily="2" charset="0"/>
                <a:cs typeface="Times New Roman" panose="02020503050405090304" pitchFamily="18" charset="0"/>
              </a:rPr>
              <a:t> . EMPOWER</a:t>
            </a:r>
            <a:endParaRPr lang="en-US" sz="1200" b="1" dirty="0">
              <a:solidFill>
                <a:prstClr val="black"/>
              </a:solidFill>
              <a:latin typeface="Casper" panose="02000506000000020004" pitchFamily="2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5164139" y="4042172"/>
            <a:ext cx="34925" cy="20835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53" name="TextBox 52"/>
          <p:cNvSpPr txBox="1">
            <a:spLocks noChangeArrowheads="1"/>
          </p:cNvSpPr>
          <p:nvPr/>
        </p:nvSpPr>
        <p:spPr bwMode="auto">
          <a:xfrm>
            <a:off x="261939" y="4353323"/>
            <a:ext cx="4822825" cy="695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 defTabSz="466725" eaLnBrk="1" fontAlgn="auto" hangingPunct="1">
              <a:lnSpc>
                <a:spcPct val="90000"/>
              </a:lnSpc>
              <a:spcAft>
                <a:spcPct val="35000"/>
              </a:spcAft>
              <a:defRPr/>
            </a:pPr>
            <a:r>
              <a:rPr lang="en-IN" sz="1800" b="1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Lecture</a:t>
            </a:r>
            <a:endParaRPr lang="en-US" sz="18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ctr" defTabSz="466725" eaLnBrk="1" fontAlgn="auto" hangingPunct="1">
              <a:lnSpc>
                <a:spcPct val="90000"/>
              </a:lnSpc>
              <a:spcAft>
                <a:spcPct val="35000"/>
              </a:spcAft>
              <a:defRPr/>
            </a:pPr>
            <a:r>
              <a:rPr lang="en-US" kern="1200" dirty="0" smtClean="0"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  <a:sym typeface="+mn-ea"/>
              </a:rPr>
              <a:t>Introduction to System Design</a:t>
            </a:r>
            <a:endParaRPr lang="en-US" sz="1600" dirty="0">
              <a:solidFill>
                <a:prstClr val="black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408305" y="1833880"/>
            <a:ext cx="8324850" cy="2213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 eaLnBrk="1" hangingPunct="1"/>
            <a:r>
              <a:rPr lang="en-IN" altLang="en-US" sz="35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</a:t>
            </a:r>
            <a:r>
              <a:rPr lang="en-US" altLang="en-IN" sz="35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pex</a:t>
            </a:r>
            <a:r>
              <a:rPr lang="en-IN" altLang="en-US" sz="35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I</a:t>
            </a:r>
            <a:r>
              <a:rPr lang="en-US" altLang="en-IN" sz="35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nstitute</a:t>
            </a:r>
            <a:r>
              <a:rPr lang="en-IN" altLang="en-US" sz="35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en-IN" sz="35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of</a:t>
            </a:r>
            <a:r>
              <a:rPr lang="en-IN" altLang="en-US" sz="35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T</a:t>
            </a:r>
            <a:r>
              <a:rPr lang="en-US" altLang="en-IN" sz="35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echnology</a:t>
            </a:r>
            <a:endParaRPr lang="en-US" altLang="en-US" sz="3500" dirty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ctr" eaLnBrk="1" hangingPunct="1"/>
            <a:r>
              <a:rPr lang="en-US" altLang="en-IN" sz="21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Department of</a:t>
            </a:r>
            <a:r>
              <a:rPr lang="en-IN" altLang="en-US" sz="21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en-IN" sz="21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Artificial Intelligence and Machine Learning</a:t>
            </a:r>
            <a:endParaRPr lang="en-US" altLang="en-US" sz="2100" b="1" dirty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ctr" eaLnBrk="1" hangingPunct="1">
              <a:lnSpc>
                <a:spcPct val="90000"/>
              </a:lnSpc>
              <a:spcAft>
                <a:spcPct val="35000"/>
              </a:spcAft>
            </a:pPr>
            <a:endParaRPr lang="en-US" altLang="en-US" sz="2300" b="1" dirty="0">
              <a:solidFill>
                <a:srgbClr val="000000"/>
              </a:solidFill>
              <a:latin typeface="Times New Roman" panose="02020503050405090304" pitchFamily="18" charset="0"/>
              <a:ea typeface="Calibri" panose="020F0502020204030204" pitchFamily="34" charset="0"/>
              <a:cs typeface="Times New Roman" panose="02020503050405090304" pitchFamily="18" charset="0"/>
            </a:endParaRPr>
          </a:p>
          <a:p>
            <a:pPr algn="ctr" eaLnBrk="1" hangingPunct="1">
              <a:lnSpc>
                <a:spcPct val="90000"/>
              </a:lnSpc>
              <a:spcAft>
                <a:spcPct val="35000"/>
              </a:spcAft>
            </a:pPr>
            <a:r>
              <a:rPr lang="en-US" sz="24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System Design </a:t>
            </a:r>
            <a:r>
              <a:rPr lang="en-US" altLang="en-US" sz="2400" dirty="0" smtClean="0">
                <a:solidFill>
                  <a:srgbClr val="262626"/>
                </a:solidFill>
                <a:latin typeface="Times New Roman" panose="02020503050405090304" pitchFamily="18" charset="0"/>
                <a:ea typeface="Cambria" panose="02040503050406030204" pitchFamily="18" charset="0"/>
                <a:cs typeface="Times New Roman" panose="02020503050405090304" pitchFamily="18" charset="0"/>
              </a:rPr>
              <a:t>(</a:t>
            </a:r>
            <a:r>
              <a:rPr lang="en-US" sz="24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23CST-390</a:t>
            </a:r>
            <a:r>
              <a:rPr lang="en-US" altLang="en-US" sz="2400" dirty="0" smtClean="0">
                <a:solidFill>
                  <a:srgbClr val="262626"/>
                </a:solidFill>
                <a:latin typeface="Times New Roman" panose="02020503050405090304" pitchFamily="18" charset="0"/>
                <a:ea typeface="Cambria" panose="02040503050406030204" pitchFamily="18" charset="0"/>
                <a:cs typeface="Times New Roman" panose="02020503050405090304" pitchFamily="18" charset="0"/>
              </a:rPr>
              <a:t>)</a:t>
            </a:r>
            <a:endParaRPr lang="en-US" altLang="en-US" sz="2400" dirty="0">
              <a:solidFill>
                <a:srgbClr val="262626"/>
              </a:solidFill>
              <a:latin typeface="Times New Roman" panose="02020503050405090304" pitchFamily="18" charset="0"/>
              <a:ea typeface="Cambria" panose="02040503050406030204" pitchFamily="18" charset="0"/>
              <a:cs typeface="Times New Roman" panose="02020503050405090304" pitchFamily="18" charset="0"/>
            </a:endParaRPr>
          </a:p>
          <a:p>
            <a:pPr algn="ctr" eaLnBrk="1" hangingPunct="1">
              <a:lnSpc>
                <a:spcPct val="90000"/>
              </a:lnSpc>
              <a:spcAft>
                <a:spcPct val="35000"/>
              </a:spcAft>
            </a:pPr>
            <a:r>
              <a:rPr lang="en-US" altLang="en-US" sz="2300" b="1" dirty="0">
                <a:solidFill>
                  <a:srgbClr val="262626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Faculty:</a:t>
            </a:r>
            <a:r>
              <a:rPr lang="en-US" altLang="en-US" sz="2300" dirty="0">
                <a:solidFill>
                  <a:srgbClr val="262626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en-US" sz="2300" dirty="0" smtClean="0">
                <a:solidFill>
                  <a:srgbClr val="262626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en-US" altLang="en-US" sz="2300" dirty="0" err="1" smtClean="0">
                <a:solidFill>
                  <a:srgbClr val="262626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Er</a:t>
            </a:r>
            <a:r>
              <a:rPr lang="en-US" altLang="en-US" sz="2300" dirty="0">
                <a:solidFill>
                  <a:srgbClr val="262626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.) </a:t>
            </a:r>
            <a:r>
              <a:rPr lang="en-US" altLang="en-US" sz="2300" dirty="0" err="1" smtClean="0">
                <a:solidFill>
                  <a:srgbClr val="262626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Kamaljee</a:t>
            </a:r>
            <a:r>
              <a:rPr lang="en-IN" sz="2400" dirty="0" smtClean="0">
                <a:solidFill>
                  <a:prstClr val="black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rPr>
              <a:t>t</a:t>
            </a:r>
            <a:r>
              <a:rPr lang="en-US" altLang="en-US" sz="2300" dirty="0" smtClean="0">
                <a:solidFill>
                  <a:srgbClr val="262626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en-US" sz="2300" dirty="0" err="1" smtClean="0">
                <a:solidFill>
                  <a:srgbClr val="262626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Kaur </a:t>
            </a:r>
            <a:r>
              <a:rPr lang="en-US" altLang="en-US" sz="2300" dirty="0" smtClean="0">
                <a:solidFill>
                  <a:srgbClr val="262626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(E19147)</a:t>
            </a:r>
            <a:endParaRPr lang="en-US" altLang="en-US" sz="2300" dirty="0">
              <a:solidFill>
                <a:srgbClr val="262626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ctr" eaLnBrk="1" hangingPunct="1">
              <a:lnSpc>
                <a:spcPct val="90000"/>
              </a:lnSpc>
              <a:spcAft>
                <a:spcPct val="35000"/>
              </a:spcAft>
            </a:pPr>
            <a:endParaRPr lang="en-US" altLang="en-US" sz="1100" dirty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6" name="object 9"/>
          <p:cNvSpPr txBox="1"/>
          <p:nvPr/>
        </p:nvSpPr>
        <p:spPr>
          <a:xfrm>
            <a:off x="6327775" y="22860"/>
            <a:ext cx="2750185" cy="4724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algn="r">
              <a:lnSpc>
                <a:spcPct val="100000"/>
              </a:lnSpc>
              <a:spcBef>
                <a:spcPts val="130"/>
              </a:spcBef>
            </a:pPr>
            <a:r>
              <a:rPr sz="1550" b="0" dirty="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Academic</a:t>
            </a:r>
            <a:r>
              <a:rPr sz="1550" b="0" spc="229" dirty="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 </a:t>
            </a:r>
            <a:r>
              <a:rPr sz="1550" b="0" dirty="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Session</a:t>
            </a:r>
            <a:r>
              <a:rPr sz="1550" b="0" spc="180" dirty="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 </a:t>
            </a:r>
            <a:r>
              <a:rPr sz="1550" b="0" dirty="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202</a:t>
            </a:r>
            <a:r>
              <a:rPr lang="en-US" altLang="" sz="1550" b="0" dirty="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5</a:t>
            </a:r>
            <a:r>
              <a:rPr sz="1550" b="0" dirty="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-</a:t>
            </a:r>
            <a:r>
              <a:rPr sz="1550" b="0" spc="-25" dirty="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2</a:t>
            </a:r>
            <a:r>
              <a:rPr lang="en-US" altLang="" sz="1550" b="0" spc="-25" dirty="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6</a:t>
            </a:r>
            <a:endParaRPr sz="1550" b="0" dirty="0">
              <a:solidFill>
                <a:schemeClr val="tx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120650" algn="r">
              <a:lnSpc>
                <a:spcPct val="100000"/>
              </a:lnSpc>
              <a:spcBef>
                <a:spcPts val="20"/>
              </a:spcBef>
            </a:pPr>
            <a:r>
              <a:rPr sz="1400" b="0" dirty="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E</a:t>
            </a:r>
            <a:r>
              <a:rPr lang="en-US" altLang="" sz="1400" b="0" dirty="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ven</a:t>
            </a:r>
            <a:r>
              <a:rPr sz="1400" b="0" spc="-5" dirty="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 </a:t>
            </a:r>
            <a:r>
              <a:rPr sz="1400" b="0" dirty="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Semester</a:t>
            </a:r>
            <a:r>
              <a:rPr sz="1400" b="0" spc="-25" dirty="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 </a:t>
            </a:r>
            <a:r>
              <a:rPr sz="1400" b="0" spc="-10" dirty="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Jan-</a:t>
            </a:r>
            <a:r>
              <a:rPr sz="1400" b="0" dirty="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Jun</a:t>
            </a:r>
            <a:r>
              <a:rPr lang="en-US" altLang="" sz="1400" b="0" spc="-45" dirty="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’</a:t>
            </a:r>
            <a:r>
              <a:rPr sz="1400" b="0" spc="-20" dirty="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26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761365" y="1152525"/>
            <a:ext cx="7927340" cy="2270760"/>
          </a:xfrm>
          <a:prstGeom prst="rect">
            <a:avLst/>
          </a:prstGeom>
        </p:spPr>
        <p:txBody>
          <a:bodyPr vert="horz" wrap="square" lIns="0" tIns="15875" rIns="0" bIns="0" rtlCol="0">
            <a:noAutofit/>
          </a:bodyPr>
          <a:lstStyle/>
          <a:p>
            <a:pPr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sz="16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  Understand the fundamental concepts of system design and its importance in building   </a:t>
            </a:r>
          </a:p>
          <a:p>
            <a:pPr indent="0" algn="just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en-US" sz="16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   scalable applications.</a:t>
            </a:r>
          </a:p>
          <a:p>
            <a:pPr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sz="16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  Learn the principles of scalability, availability, and reliability in large systems.</a:t>
            </a:r>
          </a:p>
          <a:p>
            <a:pPr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sz="16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  Differentiate between Monolithic and </a:t>
            </a:r>
            <a:r>
              <a:rPr lang="en-US" sz="1600" dirty="0" err="1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Microservices</a:t>
            </a:r>
            <a:r>
              <a:rPr lang="en-US" sz="16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 architectures.</a:t>
            </a:r>
          </a:p>
          <a:p>
            <a:pPr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sz="16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  Explain key performance metrics such as latency and throughput.</a:t>
            </a:r>
          </a:p>
          <a:p>
            <a:pPr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sz="16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  Understand how caching improves system speed and reduces load on backend services.</a:t>
            </a:r>
            <a:endParaRPr lang="en-US" sz="16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8" name="Title 7"/>
          <p:cNvSpPr txBox="1">
            <a:spLocks noGrp="1" noChangeArrowheads="1"/>
          </p:cNvSpPr>
          <p:nvPr/>
        </p:nvSpPr>
        <p:spPr>
          <a:xfrm>
            <a:off x="761683" y="378381"/>
            <a:ext cx="4267200" cy="276860"/>
          </a:xfrm>
          <a:prstGeom prst="rect">
            <a:avLst/>
          </a:prstGeom>
        </p:spPr>
        <p:txBody>
          <a:bodyPr wrap="square" lIns="0" tIns="0" rIns="0" bIns="0" rtlCol="0" anchor="b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fontAlgn="auto">
              <a:spcAft>
                <a:spcPts val="0"/>
              </a:spcAft>
              <a:defRPr/>
            </a:pPr>
            <a:r>
              <a:rPr lang="en-US" sz="18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Learning Objectives</a:t>
            </a:r>
            <a:endParaRPr lang="en-US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>
          <a:xfrm>
            <a:off x="761683" y="286306"/>
            <a:ext cx="4267200" cy="368935"/>
          </a:xfrm>
        </p:spPr>
        <p:txBody>
          <a:bodyPr rtlCol="0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fontAlgn="auto">
              <a:spcAft>
                <a:spcPts val="0"/>
              </a:spcAft>
              <a:defRPr/>
            </a:pPr>
            <a:r>
              <a:rPr lang="en-US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Course </a:t>
            </a:r>
            <a:r>
              <a:rPr lang="en-US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Outcomes</a:t>
            </a:r>
          </a:p>
        </p:txBody>
      </p:sp>
      <p:sp>
        <p:nvSpPr>
          <p:cNvPr id="21508" name="Rectangle 3"/>
          <p:cNvSpPr>
            <a:spLocks noChangeArrowheads="1"/>
          </p:cNvSpPr>
          <p:nvPr/>
        </p:nvSpPr>
        <p:spPr bwMode="auto">
          <a:xfrm>
            <a:off x="741998" y="971471"/>
            <a:ext cx="507222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eaLnBrk="1" hangingPunct="1"/>
            <a:r>
              <a:rPr lang="en-IN" altLang="en-US" sz="1600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On completion of this course, the students shall be able to:-</a:t>
            </a:r>
            <a:endParaRPr lang="en-US" altLang="en-US" sz="1600" dirty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41998" y="1351360"/>
          <a:ext cx="7772881" cy="31684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94030"/>
                <a:gridCol w="7278851"/>
              </a:tblGrid>
              <a:tr h="64138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0" dirty="0" smtClean="0">
                          <a:effectLst/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CO1</a:t>
                      </a:r>
                      <a:endParaRPr lang="en-US" sz="1200" kern="100" dirty="0">
                        <a:effectLst/>
                        <a:latin typeface="Times New Roman" panose="02020503050405090304" pitchFamily="18" charset="0"/>
                        <a:ea typeface="Calibri" panose="020F0502020204030204" pitchFamily="34" charset="0"/>
                        <a:cs typeface="Times New Roman" panose="02020503050405090304" pitchFamily="18" charset="0"/>
                      </a:endParaRPr>
                    </a:p>
                  </a:txBody>
                  <a:tcPr marL="36197" marR="36197" marT="27147" marB="271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Understand the fundamental system design principles, including scalability, high availability, and fault tolerance, while analyzing how these core principles influence architectural decisions in real-world distributed environments.</a:t>
                      </a:r>
                      <a:endParaRPr lang="en-US" sz="1200" kern="1200" dirty="0">
                        <a:solidFill>
                          <a:schemeClr val="dk1"/>
                        </a:solidFill>
                        <a:latin typeface="Times New Roman" panose="02020503050405090304" pitchFamily="18" charset="0"/>
                        <a:ea typeface="+mn-ea"/>
                        <a:cs typeface="Times New Roman" panose="02020503050405090304" pitchFamily="18" charset="0"/>
                      </a:endParaRPr>
                    </a:p>
                  </a:txBody>
                  <a:tcPr marL="36197" marR="36197" marT="27147" marB="271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4138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0" smtClean="0">
                          <a:effectLst/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CO2</a:t>
                      </a:r>
                      <a:endParaRPr lang="en-US" sz="1200" kern="100">
                        <a:effectLst/>
                        <a:latin typeface="Times New Roman" panose="02020503050405090304" pitchFamily="18" charset="0"/>
                        <a:ea typeface="Calibri" panose="020F0502020204030204" pitchFamily="34" charset="0"/>
                        <a:cs typeface="Times New Roman" panose="02020503050405090304" pitchFamily="18" charset="0"/>
                      </a:endParaRPr>
                    </a:p>
                  </a:txBody>
                  <a:tcPr marL="36197" marR="36197" marT="27147" marB="271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Apply various distributed architectural patterns, key database models (SQL and </a:t>
                      </a:r>
                      <a:r>
                        <a:rPr lang="en-US" sz="1200" kern="1200" dirty="0" err="1" smtClean="0">
                          <a:solidFill>
                            <a:schemeClr val="dk1"/>
                          </a:solidFill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NoSQL</a:t>
                      </a:r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), and critical communication protocols to evaluate their specific applications and trade-offs in modern system designs.</a:t>
                      </a:r>
                      <a:endParaRPr lang="en-US" sz="1200" kern="1200" dirty="0">
                        <a:solidFill>
                          <a:schemeClr val="dk1"/>
                        </a:solidFill>
                        <a:latin typeface="Times New Roman" panose="02020503050405090304" pitchFamily="18" charset="0"/>
                        <a:ea typeface="+mn-ea"/>
                        <a:cs typeface="Times New Roman" panose="02020503050405090304" pitchFamily="18" charset="0"/>
                      </a:endParaRPr>
                    </a:p>
                  </a:txBody>
                  <a:tcPr marL="36197" marR="36197" marT="27147" marB="271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4138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0" dirty="0" smtClean="0">
                          <a:effectLst/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CO3</a:t>
                      </a:r>
                      <a:endParaRPr lang="en-US" sz="1200" kern="100" dirty="0">
                        <a:effectLst/>
                        <a:latin typeface="Times New Roman" panose="02020503050405090304" pitchFamily="18" charset="0"/>
                        <a:ea typeface="Calibri" panose="020F0502020204030204" pitchFamily="34" charset="0"/>
                        <a:cs typeface="Times New Roman" panose="02020503050405090304" pitchFamily="18" charset="0"/>
                      </a:endParaRPr>
                    </a:p>
                  </a:txBody>
                  <a:tcPr marL="36197" marR="36197" marT="27147" marB="271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Apply advanced scaling techniques, such as caching, load balancing, database </a:t>
                      </a:r>
                      <a:r>
                        <a:rPr lang="en-US" sz="1200" kern="1200" dirty="0" err="1" smtClean="0">
                          <a:solidFill>
                            <a:schemeClr val="dk1"/>
                          </a:solidFill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sharding</a:t>
                      </a:r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, and replication, to design system components that effectively handle massive user traffic and data volumes.</a:t>
                      </a:r>
                      <a:endParaRPr lang="en-US" sz="1200" kern="1200" dirty="0">
                        <a:solidFill>
                          <a:schemeClr val="dk1"/>
                        </a:solidFill>
                        <a:latin typeface="Times New Roman" panose="02020503050405090304" pitchFamily="18" charset="0"/>
                        <a:ea typeface="+mn-ea"/>
                        <a:cs typeface="Times New Roman" panose="02020503050405090304" pitchFamily="18" charset="0"/>
                      </a:endParaRPr>
                    </a:p>
                  </a:txBody>
                  <a:tcPr marL="36197" marR="36197" marT="27147" marB="271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0293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0" smtClean="0">
                          <a:effectLst/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CO4</a:t>
                      </a:r>
                      <a:endParaRPr lang="en-US" sz="1200" kern="100">
                        <a:effectLst/>
                        <a:latin typeface="Times New Roman" panose="02020503050405090304" pitchFamily="18" charset="0"/>
                        <a:ea typeface="Calibri" panose="020F0502020204030204" pitchFamily="34" charset="0"/>
                        <a:cs typeface="Times New Roman" panose="02020503050405090304" pitchFamily="18" charset="0"/>
                      </a:endParaRPr>
                    </a:p>
                  </a:txBody>
                  <a:tcPr marL="36197" marR="36197" marT="27147" marB="271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Analyze the trade-offs between different system architectures, data storage solutions, and consistency models (like the CAP theorem) to select and justify optimized configurations for performance, cost, and reliability goals.</a:t>
                      </a:r>
                      <a:endParaRPr lang="en-US" sz="1200" kern="1200" dirty="0">
                        <a:solidFill>
                          <a:schemeClr val="dk1"/>
                        </a:solidFill>
                        <a:latin typeface="Times New Roman" panose="02020503050405090304" pitchFamily="18" charset="0"/>
                        <a:ea typeface="+mn-ea"/>
                        <a:cs typeface="Times New Roman" panose="02020503050405090304" pitchFamily="18" charset="0"/>
                      </a:endParaRPr>
                    </a:p>
                  </a:txBody>
                  <a:tcPr marL="36197" marR="36197" marT="27147" marB="271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4136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0" smtClean="0">
                          <a:effectLst/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CO5</a:t>
                      </a:r>
                      <a:endParaRPr lang="en-US" sz="1200" kern="100">
                        <a:effectLst/>
                        <a:latin typeface="Times New Roman" panose="02020503050405090304" pitchFamily="18" charset="0"/>
                        <a:ea typeface="Calibri" panose="020F0502020204030204" pitchFamily="34" charset="0"/>
                        <a:cs typeface="Times New Roman" panose="02020503050405090304" pitchFamily="18" charset="0"/>
                      </a:endParaRPr>
                    </a:p>
                  </a:txBody>
                  <a:tcPr marL="36197" marR="36197" marT="27147" marB="271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Create and document comprehensive, end-to-end system designs that are inherently scalable, distributed, and fault-tolerant, leveraging modern paradigms such as cloud computing and </a:t>
                      </a:r>
                      <a:r>
                        <a:rPr lang="en-US" sz="1200" kern="1200" dirty="0" err="1" smtClean="0">
                          <a:solidFill>
                            <a:schemeClr val="dk1"/>
                          </a:solidFill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microservices</a:t>
                      </a:r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 architecture.</a:t>
                      </a:r>
                      <a:endParaRPr lang="en-US" sz="1200" kern="100" dirty="0">
                        <a:effectLst/>
                        <a:latin typeface="Times New Roman" panose="02020503050405090304" pitchFamily="18" charset="0"/>
                        <a:ea typeface="Calibri" panose="020F0502020204030204" pitchFamily="34" charset="0"/>
                        <a:cs typeface="Times New Roman" panose="02020503050405090304" pitchFamily="18" charset="0"/>
                      </a:endParaRPr>
                    </a:p>
                  </a:txBody>
                  <a:tcPr marL="36197" marR="36197" marT="27147" marB="271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1" y="285671"/>
            <a:ext cx="7883525" cy="483394"/>
          </a:xfrm>
        </p:spPr>
        <p:txBody>
          <a:bodyPr rtlCol="0">
            <a:normAutofit/>
          </a:bodyPr>
          <a:lstStyle/>
          <a:p>
            <a:pPr algn="l" fontAlgn="auto">
              <a:spcAft>
                <a:spcPts val="0"/>
              </a:spcAft>
              <a:defRPr/>
            </a:pPr>
            <a:r>
              <a:rPr lang="en-IN" sz="24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Unit-1 Syllabus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23900" y="1273969"/>
          <a:ext cx="7923530" cy="2432733"/>
        </p:xfrm>
        <a:graphic>
          <a:graphicData uri="http://schemas.openxmlformats.org/drawingml/2006/table">
            <a:tbl>
              <a:tblPr/>
              <a:tblGrid>
                <a:gridCol w="1850390"/>
                <a:gridCol w="6073140"/>
              </a:tblGrid>
              <a:tr h="297656">
                <a:tc>
                  <a:txBody>
                    <a:bodyPr/>
                    <a:lstStyle>
                      <a:lvl1pPr defTabSz="685800"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9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9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9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9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9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defTabSz="685800" fontAlgn="base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defTabSz="685800" fontAlgn="base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defTabSz="685800" fontAlgn="base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defTabSz="685800" fontAlgn="base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just" defTabSz="6858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IN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Unit-1</a:t>
                      </a:r>
                      <a:endParaRPr kumimoji="0" lang="en-US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Calibri" panose="020F0502020204030204" pitchFamily="34" charset="0"/>
                        <a:cs typeface="Times New Roman" panose="02020503050405090304" pitchFamily="18" charset="0"/>
                      </a:endParaRPr>
                    </a:p>
                  </a:txBody>
                  <a:tcPr marL="27146" marR="27146" marT="20360" marB="2036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defTabSz="685800"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9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9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9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9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9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defTabSz="685800" fontAlgn="base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defTabSz="685800" fontAlgn="base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defTabSz="685800" fontAlgn="base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defTabSz="685800" fontAlgn="base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just" defTabSz="6858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System Design </a:t>
                      </a:r>
                      <a:endParaRPr kumimoji="0" lang="en-US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Calibri" panose="020F0502020204030204" pitchFamily="34" charset="0"/>
                        <a:cs typeface="Times New Roman" panose="02020503050405090304" pitchFamily="18" charset="0"/>
                      </a:endParaRPr>
                    </a:p>
                  </a:txBody>
                  <a:tcPr marL="27146" marR="27146" marT="20360" marB="2036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</a:tr>
              <a:tr h="829056">
                <a:tc>
                  <a:txBody>
                    <a:bodyPr/>
                    <a:lstStyle>
                      <a:lvl1pPr defTabSz="685800"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9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9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9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9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9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defTabSz="685800" fontAlgn="base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defTabSz="685800" fontAlgn="base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defTabSz="685800" fontAlgn="base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defTabSz="685800" fontAlgn="base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6858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75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Introduction to System Design </a:t>
                      </a:r>
                      <a:endParaRPr kumimoji="0" lang="en-US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Calibri" panose="020F0502020204030204" pitchFamily="34" charset="0"/>
                        <a:cs typeface="Times New Roman" panose="02020503050405090304" pitchFamily="18" charset="0"/>
                      </a:endParaRPr>
                    </a:p>
                  </a:txBody>
                  <a:tcPr marL="73025" marR="73025" marT="47625" marB="476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685800"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9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9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9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9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9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defTabSz="685800" fontAlgn="base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defTabSz="685800" fontAlgn="base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defTabSz="685800" fontAlgn="base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defTabSz="685800" fontAlgn="base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R="0" lvl="0" indent="0" algn="l" defTabSz="6858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600" b="0" kern="1200" dirty="0" smtClean="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Introduction to System Design</a:t>
                      </a:r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, Functional &amp; Non-Functional Requirements, Scaling Challenges, </a:t>
                      </a:r>
                      <a:r>
                        <a:rPr lang="en-US" sz="1600" b="0" kern="1200" dirty="0" smtClean="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Load Balancing</a:t>
                      </a:r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, Caching Strategies, Replication, </a:t>
                      </a:r>
                      <a:r>
                        <a:rPr lang="en-US" sz="1600" kern="1200" dirty="0" err="1" smtClean="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Sharding.</a:t>
                      </a:r>
                      <a:endParaRPr kumimoji="0" lang="en-US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Calibri" panose="020F0502020204030204" pitchFamily="34" charset="0"/>
                        <a:cs typeface="Times New Roman" panose="02020503050405090304" pitchFamily="18" charset="0"/>
                      </a:endParaRPr>
                    </a:p>
                  </a:txBody>
                  <a:tcPr marL="73025" marR="73025" marT="47625" marB="476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257062">
                <a:tc>
                  <a:txBody>
                    <a:bodyPr/>
                    <a:lstStyle>
                      <a:lvl1pPr defTabSz="685800"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9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9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9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9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9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defTabSz="685800" fontAlgn="base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defTabSz="685800" fontAlgn="base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defTabSz="685800" fontAlgn="base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defTabSz="685800" fontAlgn="base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6858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75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Databases in System Design </a:t>
                      </a:r>
                      <a:endParaRPr kumimoji="0" lang="en-US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Calibri" panose="020F0502020204030204" pitchFamily="34" charset="0"/>
                        <a:cs typeface="Times New Roman" panose="02020503050405090304" pitchFamily="18" charset="0"/>
                      </a:endParaRPr>
                    </a:p>
                  </a:txBody>
                  <a:tcPr marL="73025" marR="73025" marT="47625" marB="476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685800"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9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9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9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9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9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defTabSz="685800" fontAlgn="base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defTabSz="685800" fontAlgn="base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defTabSz="685800" fontAlgn="base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defTabSz="685800" fontAlgn="base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6858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600" b="0" kern="1200" dirty="0" smtClean="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Databases in System Design – SQL </a:t>
                      </a:r>
                      <a:r>
                        <a:rPr lang="en-US" sz="1600" b="0" kern="1200" dirty="0" err="1" smtClean="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vs</a:t>
                      </a:r>
                      <a:r>
                        <a:rPr lang="en-US" sz="1600" b="0" kern="1200" dirty="0" smtClean="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 </a:t>
                      </a:r>
                      <a:r>
                        <a:rPr lang="en-US" sz="1600" b="0" kern="1200" dirty="0" err="1" smtClean="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NoSQL</a:t>
                      </a:r>
                      <a:r>
                        <a:rPr lang="en-US" sz="1600" b="0" kern="1200" dirty="0" smtClean="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, CAP Theorem, Distributed Databases</a:t>
                      </a:r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, Consistency Models, </a:t>
                      </a:r>
                      <a:r>
                        <a:rPr lang="en-US" sz="1600" b="1" kern="1200" dirty="0" smtClean="0">
                          <a:solidFill>
                            <a:srgbClr val="FF0000"/>
                          </a:solidFill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Eventual Consistency</a:t>
                      </a:r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, Distributed Caching (</a:t>
                      </a:r>
                      <a:r>
                        <a:rPr lang="en-US" sz="1600" kern="1200" dirty="0" err="1" smtClean="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Redis</a:t>
                      </a:r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, </a:t>
                      </a:r>
                      <a:r>
                        <a:rPr lang="en-US" sz="1600" kern="1200" dirty="0" err="1" smtClean="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Memcached</a:t>
                      </a:r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), High Availability, Fault Tolerance, </a:t>
                      </a:r>
                      <a:r>
                        <a:rPr lang="en-US" sz="1600" kern="1200" dirty="0" err="1" smtClean="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Microservices</a:t>
                      </a:r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 </a:t>
                      </a:r>
                      <a:r>
                        <a:rPr lang="en-US" sz="1600" kern="1200" dirty="0" err="1" smtClean="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vs</a:t>
                      </a:r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 Monolithic Architecture.</a:t>
                      </a:r>
                      <a:endParaRPr kumimoji="0" lang="en-US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marL="73025" marR="73025" marT="47625" marB="476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838517" y="1200146"/>
            <a:ext cx="5187950" cy="2467983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lvl="3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Eventual Consistency</a:t>
            </a:r>
            <a:endParaRPr lang="en-IN" sz="1600" dirty="0" smtClean="0">
              <a:latin typeface="Times New Roman" pitchFamily="18" charset="0"/>
              <a:cs typeface="Times New Roman" pitchFamily="18" charset="0"/>
            </a:endParaRPr>
          </a:p>
          <a:p>
            <a:pPr algn="l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6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How Eventual Consistency Works</a:t>
            </a:r>
            <a:endParaRPr lang="en-US" sz="1600" b="1" spc="-10" dirty="0" smtClean="0">
              <a:latin typeface="Times New Roman" pitchFamily="18" charset="0"/>
              <a:cs typeface="Times New Roman" pitchFamily="18" charset="0"/>
              <a:sym typeface="+mn-ea"/>
            </a:endParaRPr>
          </a:p>
          <a:p>
            <a:pPr algn="l">
              <a:buFont typeface="Arial" pitchFamily="34" charset="0"/>
              <a:buChar char="•"/>
              <a:defRPr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Strong Consistency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vs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Eventual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Consistency</a:t>
            </a:r>
          </a:p>
          <a:p>
            <a:pPr algn="l">
              <a:buFont typeface="Arial" pitchFamily="34" charset="0"/>
              <a:buChar char="•"/>
              <a:defRPr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How Eventual Consistency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Works</a:t>
            </a:r>
          </a:p>
          <a:p>
            <a:pPr algn="l">
              <a:buFont typeface="Arial" pitchFamily="34" charset="0"/>
              <a:buChar char="•"/>
              <a:defRPr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Advantages of Eventual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Consistency</a:t>
            </a:r>
          </a:p>
          <a:p>
            <a:pPr algn="l">
              <a:buFont typeface="Arial" pitchFamily="34" charset="0"/>
              <a:buChar char="•"/>
              <a:defRPr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Challenges in Eventual Consistency</a:t>
            </a:r>
            <a:endParaRPr lang="en-US" sz="1600" b="1" spc="-10" dirty="0">
              <a:latin typeface="Times New Roman" pitchFamily="18" charset="0"/>
              <a:cs typeface="Times New Roman" pitchFamily="18" charset="0"/>
              <a:sym typeface="+mn-ea"/>
            </a:endParaRPr>
          </a:p>
          <a:p>
            <a:pPr algn="l">
              <a:buFont typeface="Arial" pitchFamily="34" charset="0"/>
              <a:buChar char="•"/>
              <a:defRPr/>
            </a:pPr>
            <a:endParaRPr lang="en-US" sz="1600" b="1" spc="-10" dirty="0">
              <a:latin typeface="Times New Roman" pitchFamily="18" charset="0"/>
              <a:cs typeface="Times New Roman" pitchFamily="18" charset="0"/>
              <a:sym typeface="+mn-ea"/>
            </a:endParaRPr>
          </a:p>
          <a:p>
            <a:pPr algn="l">
              <a:lnSpc>
                <a:spcPct val="150000"/>
              </a:lnSpc>
              <a:buFont typeface="Arial" pitchFamily="34" charset="0"/>
              <a:buChar char="•"/>
            </a:pPr>
            <a:endParaRPr sz="155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" name="Title 1"/>
          <p:cNvSpPr>
            <a:spLocks noGrp="1"/>
          </p:cNvSpPr>
          <p:nvPr/>
        </p:nvSpPr>
        <p:spPr>
          <a:xfrm>
            <a:off x="762001" y="285671"/>
            <a:ext cx="7883525" cy="483394"/>
          </a:xfrm>
          <a:prstGeom prst="rect">
            <a:avLst/>
          </a:prstGeom>
        </p:spPr>
        <p:txBody>
          <a:bodyPr wrap="square" lIns="0" tIns="0" rIns="0" bIns="0" rtlCol="0">
            <a:normAutofit/>
          </a:bodyPr>
          <a:lstStyle>
            <a:lvl1pPr>
              <a:defRPr sz="3950" b="1" i="0">
                <a:solidFill>
                  <a:srgbClr val="1A1A1A"/>
                </a:solidFill>
                <a:latin typeface="Calibri"/>
                <a:ea typeface="+mj-ea"/>
                <a:cs typeface="Calibri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sz="2400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Topic to</a:t>
            </a:r>
            <a:r>
              <a:rPr sz="2400" spc="-60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sz="2400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be</a:t>
            </a:r>
            <a:r>
              <a:rPr sz="2400" spc="25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sz="2400" spc="-10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Covered</a:t>
            </a:r>
            <a:endParaRPr lang="en-US" altLang="en-IN" sz="24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4977" y="89852"/>
            <a:ext cx="8234044" cy="560665"/>
          </a:xfrm>
          <a:prstGeom prst="rect">
            <a:avLst/>
          </a:prstGeom>
        </p:spPr>
        <p:txBody>
          <a:bodyPr vert="horz" wrap="square" lIns="0" tIns="189483" rIns="0" bIns="0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   Eventual Consistency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697214" y="109791"/>
            <a:ext cx="126364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50" dirty="0">
                <a:latin typeface="Arial MT"/>
                <a:cs typeface="Arial MT"/>
              </a:rPr>
              <a:t>9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65847" y="1173416"/>
            <a:ext cx="3887153" cy="2964273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Eventual Consistency is a weak consistency model used in distributed systems where:</a:t>
            </a:r>
          </a:p>
          <a:p>
            <a:pPr>
              <a:buFont typeface="Arial" pitchFamily="34" charset="0"/>
              <a:buChar char="•"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Data updates happen at different replicas asynchronously.</a:t>
            </a:r>
          </a:p>
          <a:p>
            <a:pPr>
              <a:buFont typeface="Arial" pitchFamily="34" charset="0"/>
              <a:buChar char="•"/>
            </a:pPr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Temporary inconsistency is allowed</a:t>
            </a:r>
          </a:p>
          <a:p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All replicas become consistent eventually, after updates propagate.</a:t>
            </a:r>
          </a:p>
          <a:p>
            <a:pPr>
              <a:buFont typeface="Arial" pitchFamily="34" charset="0"/>
              <a:buChar char="•"/>
            </a:pPr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It is commonly used when availability and performance matter more than immediate accuracy.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6626" name="Picture 2" descr="https://guide.couchdb.org/draft/consistency/04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57800" y="1276350"/>
            <a:ext cx="3276600" cy="29718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762000" y="1123950"/>
            <a:ext cx="7883525" cy="3048000"/>
          </a:xfrm>
          <a:prstGeom prst="rect">
            <a:avLst/>
          </a:prstGeom>
        </p:spPr>
        <p:txBody>
          <a:bodyPr vert="horz" wrap="square" lIns="0" tIns="9525" rIns="0" bIns="0" rtlCol="0">
            <a:noAutofit/>
          </a:bodyPr>
          <a:lstStyle/>
          <a:p>
            <a:pPr>
              <a:buFont typeface="Arial" pitchFamily="34" charset="0"/>
              <a:buChar char="•"/>
            </a:pP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 High Availability</a:t>
            </a:r>
          </a:p>
          <a:p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Systems remain available even if some nodes are down or disconnected.</a:t>
            </a:r>
          </a:p>
          <a:p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 Low Latency</a:t>
            </a:r>
          </a:p>
          <a:p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Reads and writes happen quickly because they do not wait for all replicas to sync.</a:t>
            </a:r>
          </a:p>
          <a:p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 Scalability</a:t>
            </a:r>
          </a:p>
          <a:p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Supports globally distributed systems (Google, Amazon, Meta).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itle 1"/>
          <p:cNvSpPr>
            <a:spLocks noGrp="1"/>
          </p:cNvSpPr>
          <p:nvPr/>
        </p:nvSpPr>
        <p:spPr>
          <a:xfrm>
            <a:off x="762001" y="285671"/>
            <a:ext cx="7883525" cy="483394"/>
          </a:xfrm>
          <a:prstGeom prst="rect">
            <a:avLst/>
          </a:prstGeom>
        </p:spPr>
        <p:txBody>
          <a:bodyPr wrap="square" lIns="0" tIns="0" rIns="0" bIns="0" rtlCol="0">
            <a:normAutofit/>
          </a:bodyPr>
          <a:lstStyle>
            <a:lvl1pPr>
              <a:defRPr sz="3950" b="1" i="0">
                <a:solidFill>
                  <a:srgbClr val="1A1A1A"/>
                </a:solidFill>
                <a:latin typeface="Calibri"/>
                <a:ea typeface="+mj-ea"/>
                <a:cs typeface="Calibri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Why Eventual Consistency is Needed?</a:t>
            </a:r>
            <a:endParaRPr lang="en-US" sz="2400" b="1" spc="-10" dirty="0">
              <a:latin typeface="Times New Roman" pitchFamily="18" charset="0"/>
              <a:cs typeface="Times New Roman" pitchFamily="18" charset="0"/>
              <a:sym typeface="+mn-ea"/>
            </a:endParaRPr>
          </a:p>
        </p:txBody>
      </p:sp>
      <p:sp>
        <p:nvSpPr>
          <p:cNvPr id="32772" name="AutoShape 4" descr="Lightbox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774" name="AutoShape 6" descr="Lightbox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776" name="AutoShape 8" descr="Lightbox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778" name="AutoShape 10" descr="Lightbox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780" name="AutoShape 12" descr="Lightbox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762000" y="1123950"/>
            <a:ext cx="7883525" cy="2514600"/>
          </a:xfrm>
          <a:prstGeom prst="rect">
            <a:avLst/>
          </a:prstGeom>
        </p:spPr>
        <p:txBody>
          <a:bodyPr vert="horz" wrap="square" lIns="0" tIns="9525" rIns="0" bIns="0" rtlCol="0">
            <a:noAutofit/>
          </a:bodyPr>
          <a:lstStyle/>
          <a:p>
            <a:pPr marL="342900" indent="-342900"/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It works in 4 steps</a:t>
            </a:r>
          </a:p>
          <a:p>
            <a:pPr marL="342900" indent="-342900">
              <a:buFont typeface="+mj-lt"/>
              <a:buAutoNum type="arabicPeriod"/>
            </a:pPr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A client writes data to a single replica or leader node.</a:t>
            </a:r>
          </a:p>
          <a:p>
            <a:pPr marL="342900" indent="-342900">
              <a:buFont typeface="+mj-lt"/>
              <a:buAutoNum type="arabicPeriod"/>
            </a:pPr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The update is added to a replication log.</a:t>
            </a:r>
          </a:p>
          <a:p>
            <a:pPr marL="342900" indent="-342900">
              <a:buFont typeface="+mj-lt"/>
              <a:buAutoNum type="arabicPeriod"/>
            </a:pPr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Replicas receive the update asynchronously.</a:t>
            </a:r>
          </a:p>
          <a:p>
            <a:pPr marL="342900" indent="-342900">
              <a:buFont typeface="+mj-lt"/>
              <a:buAutoNum type="arabicPeriod"/>
            </a:pPr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All replicas converge to the same state over time.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itle 1"/>
          <p:cNvSpPr>
            <a:spLocks noGrp="1"/>
          </p:cNvSpPr>
          <p:nvPr/>
        </p:nvSpPr>
        <p:spPr>
          <a:xfrm>
            <a:off x="762001" y="285671"/>
            <a:ext cx="7883525" cy="483394"/>
          </a:xfrm>
          <a:prstGeom prst="rect">
            <a:avLst/>
          </a:prstGeom>
        </p:spPr>
        <p:txBody>
          <a:bodyPr wrap="square" lIns="0" tIns="0" rIns="0" bIns="0" rtlCol="0">
            <a:normAutofit/>
          </a:bodyPr>
          <a:lstStyle>
            <a:lvl1pPr>
              <a:defRPr sz="3950" b="1" i="0">
                <a:solidFill>
                  <a:srgbClr val="1A1A1A"/>
                </a:solidFill>
                <a:latin typeface="Calibri"/>
                <a:ea typeface="+mj-ea"/>
                <a:cs typeface="Calibri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How Eventual Consistency Works</a:t>
            </a:r>
            <a:endParaRPr lang="en-US" sz="2400" b="1" spc="-10" dirty="0">
              <a:latin typeface="Times New Roman" pitchFamily="18" charset="0"/>
              <a:cs typeface="Times New Roman" pitchFamily="18" charset="0"/>
              <a:sym typeface="+mn-ea"/>
            </a:endParaRPr>
          </a:p>
        </p:txBody>
      </p:sp>
      <p:sp>
        <p:nvSpPr>
          <p:cNvPr id="32772" name="AutoShape 4" descr="Lightbox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774" name="AutoShape 6" descr="Lightbox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776" name="AutoShape 8" descr="Lightbox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778" name="AutoShape 10" descr="Lightbox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780" name="AutoShape 12" descr="Lightbox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762000" y="1123950"/>
            <a:ext cx="7883525" cy="3581400"/>
          </a:xfrm>
          <a:prstGeom prst="rect">
            <a:avLst/>
          </a:prstGeom>
        </p:spPr>
        <p:txBody>
          <a:bodyPr vert="horz" wrap="square" lIns="0" tIns="9525" rIns="0" bIns="0" rtlCol="0">
            <a:noAutofit/>
          </a:bodyPr>
          <a:lstStyle/>
          <a:p>
            <a:pPr>
              <a:buFont typeface="Arial" pitchFamily="34" charset="0"/>
              <a:buChar char="•"/>
            </a:pP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itle 1"/>
          <p:cNvSpPr>
            <a:spLocks noGrp="1"/>
          </p:cNvSpPr>
          <p:nvPr/>
        </p:nvSpPr>
        <p:spPr>
          <a:xfrm>
            <a:off x="762001" y="285671"/>
            <a:ext cx="7883525" cy="483394"/>
          </a:xfrm>
          <a:prstGeom prst="rect">
            <a:avLst/>
          </a:prstGeom>
        </p:spPr>
        <p:txBody>
          <a:bodyPr wrap="square" lIns="0" tIns="0" rIns="0" bIns="0" rtlCol="0">
            <a:normAutofit/>
          </a:bodyPr>
          <a:lstStyle>
            <a:lvl1pPr>
              <a:defRPr sz="3950" b="1" i="0">
                <a:solidFill>
                  <a:srgbClr val="1A1A1A"/>
                </a:solidFill>
                <a:latin typeface="Calibri"/>
                <a:ea typeface="+mj-ea"/>
                <a:cs typeface="Calibri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Strong Consistency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vs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Eventual Consistency</a:t>
            </a:r>
            <a:endParaRPr lang="en-US" sz="2400" b="1" spc="-10" dirty="0">
              <a:latin typeface="Times New Roman" pitchFamily="18" charset="0"/>
              <a:cs typeface="Times New Roman" pitchFamily="18" charset="0"/>
              <a:sym typeface="+mn-ea"/>
            </a:endParaRPr>
          </a:p>
        </p:txBody>
      </p:sp>
      <p:sp>
        <p:nvSpPr>
          <p:cNvPr id="32772" name="AutoShape 4" descr="Lightbox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774" name="AutoShape 6" descr="Lightbox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776" name="AutoShape 8" descr="Lightbox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778" name="AutoShape 10" descr="Lightbox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780" name="AutoShape 12" descr="Lightbox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295400" y="1144270"/>
          <a:ext cx="6705600" cy="3662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35200"/>
                <a:gridCol w="2235200"/>
                <a:gridCol w="2235200"/>
              </a:tblGrid>
              <a:tr h="579771"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Times New Roman" pitchFamily="18" charset="0"/>
                          <a:cs typeface="Times New Roman" pitchFamily="18" charset="0"/>
                        </a:rPr>
                        <a:t>Aspect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Times New Roman" pitchFamily="18" charset="0"/>
                          <a:cs typeface="Times New Roman" pitchFamily="18" charset="0"/>
                        </a:rPr>
                        <a:t>Strong Consistency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Times New Roman" pitchFamily="18" charset="0"/>
                          <a:cs typeface="Times New Roman" pitchFamily="18" charset="0"/>
                        </a:rPr>
                        <a:t>Eventual Consistency</a:t>
                      </a:r>
                    </a:p>
                  </a:txBody>
                  <a:tcPr anchor="ctr"/>
                </a:tc>
              </a:tr>
              <a:tr h="335899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itchFamily="18" charset="0"/>
                          <a:cs typeface="Times New Roman" pitchFamily="18" charset="0"/>
                        </a:rPr>
                        <a:t>Data Sync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Times New Roman" pitchFamily="18" charset="0"/>
                          <a:cs typeface="Times New Roman" pitchFamily="18" charset="0"/>
                        </a:rPr>
                        <a:t>Immediate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Times New Roman" pitchFamily="18" charset="0"/>
                          <a:cs typeface="Times New Roman" pitchFamily="18" charset="0"/>
                        </a:rPr>
                        <a:t>Delayed</a:t>
                      </a:r>
                    </a:p>
                  </a:txBody>
                  <a:tcPr anchor="ctr"/>
                </a:tc>
              </a:tr>
              <a:tr h="579771">
                <a:tc>
                  <a:txBody>
                    <a:bodyPr/>
                    <a:lstStyle/>
                    <a:p>
                      <a:r>
                        <a:rPr lang="en-US" sz="1600">
                          <a:latin typeface="Times New Roman" pitchFamily="18" charset="0"/>
                          <a:cs typeface="Times New Roman" pitchFamily="18" charset="0"/>
                        </a:rPr>
                        <a:t>Read Behavior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Times New Roman" pitchFamily="18" charset="0"/>
                          <a:cs typeface="Times New Roman" pitchFamily="18" charset="0"/>
                        </a:rPr>
                        <a:t>Always latest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Times New Roman" pitchFamily="18" charset="0"/>
                          <a:cs typeface="Times New Roman" pitchFamily="18" charset="0"/>
                        </a:rPr>
                        <a:t>Might see stale data</a:t>
                      </a:r>
                    </a:p>
                  </a:txBody>
                  <a:tcPr anchor="ctr"/>
                </a:tc>
              </a:tr>
              <a:tr h="335899">
                <a:tc>
                  <a:txBody>
                    <a:bodyPr/>
                    <a:lstStyle/>
                    <a:p>
                      <a:r>
                        <a:rPr lang="en-US" sz="1600">
                          <a:latin typeface="Times New Roman" pitchFamily="18" charset="0"/>
                          <a:cs typeface="Times New Roman" pitchFamily="18" charset="0"/>
                        </a:rPr>
                        <a:t>Availability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Times New Roman" pitchFamily="18" charset="0"/>
                          <a:cs typeface="Times New Roman" pitchFamily="18" charset="0"/>
                        </a:rPr>
                        <a:t>Lower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itchFamily="18" charset="0"/>
                          <a:cs typeface="Times New Roman" pitchFamily="18" charset="0"/>
                        </a:rPr>
                        <a:t>Very high</a:t>
                      </a:r>
                    </a:p>
                  </a:txBody>
                  <a:tcPr anchor="ctr"/>
                </a:tc>
              </a:tr>
              <a:tr h="335899">
                <a:tc>
                  <a:txBody>
                    <a:bodyPr/>
                    <a:lstStyle/>
                    <a:p>
                      <a:r>
                        <a:rPr lang="en-US" sz="1600">
                          <a:latin typeface="Times New Roman" pitchFamily="18" charset="0"/>
                          <a:cs typeface="Times New Roman" pitchFamily="18" charset="0"/>
                        </a:rPr>
                        <a:t>Latency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Times New Roman" pitchFamily="18" charset="0"/>
                          <a:cs typeface="Times New Roman" pitchFamily="18" charset="0"/>
                        </a:rPr>
                        <a:t>Higher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Times New Roman" pitchFamily="18" charset="0"/>
                          <a:cs typeface="Times New Roman" pitchFamily="18" charset="0"/>
                        </a:rPr>
                        <a:t>Very low</a:t>
                      </a:r>
                    </a:p>
                  </a:txBody>
                  <a:tcPr anchor="ctr"/>
                </a:tc>
              </a:tr>
              <a:tr h="579771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itchFamily="18" charset="0"/>
                          <a:cs typeface="Times New Roman" pitchFamily="18" charset="0"/>
                        </a:rPr>
                        <a:t>Use Cases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Times New Roman" pitchFamily="18" charset="0"/>
                          <a:cs typeface="Times New Roman" pitchFamily="18" charset="0"/>
                        </a:rPr>
                        <a:t>Banking, payments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Times New Roman" pitchFamily="18" charset="0"/>
                          <a:cs typeface="Times New Roman" pitchFamily="18" charset="0"/>
                        </a:rPr>
                        <a:t>Social media, messaging</a:t>
                      </a:r>
                    </a:p>
                  </a:txBody>
                  <a:tcPr anchor="ctr"/>
                </a:tc>
              </a:tr>
              <a:tr h="579771">
                <a:tc>
                  <a:txBody>
                    <a:bodyPr/>
                    <a:lstStyle/>
                    <a:p>
                      <a:r>
                        <a:rPr lang="en-US" sz="1600">
                          <a:latin typeface="Times New Roman" pitchFamily="18" charset="0"/>
                          <a:cs typeface="Times New Roman" pitchFamily="18" charset="0"/>
                        </a:rPr>
                        <a:t>Aspect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Times New Roman" pitchFamily="18" charset="0"/>
                          <a:cs typeface="Times New Roman" pitchFamily="18" charset="0"/>
                        </a:rPr>
                        <a:t>Strong Consistency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Times New Roman" pitchFamily="18" charset="0"/>
                          <a:cs typeface="Times New Roman" pitchFamily="18" charset="0"/>
                        </a:rPr>
                        <a:t>Eventual Consistency</a:t>
                      </a:r>
                    </a:p>
                  </a:txBody>
                  <a:tcPr anchor="ctr"/>
                </a:tc>
              </a:tr>
              <a:tr h="335899">
                <a:tc>
                  <a:txBody>
                    <a:bodyPr/>
                    <a:lstStyle/>
                    <a:p>
                      <a:r>
                        <a:rPr lang="en-US" sz="1600">
                          <a:latin typeface="Times New Roman" pitchFamily="18" charset="0"/>
                          <a:cs typeface="Times New Roman" pitchFamily="18" charset="0"/>
                        </a:rPr>
                        <a:t>Data Sync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Times New Roman" pitchFamily="18" charset="0"/>
                          <a:cs typeface="Times New Roman" pitchFamily="18" charset="0"/>
                        </a:rPr>
                        <a:t>Immediate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itchFamily="18" charset="0"/>
                          <a:cs typeface="Times New Roman" pitchFamily="18" charset="0"/>
                        </a:rPr>
                        <a:t>Delayed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762000" y="1123950"/>
            <a:ext cx="7543799" cy="2971800"/>
          </a:xfrm>
          <a:prstGeom prst="rect">
            <a:avLst/>
          </a:prstGeom>
        </p:spPr>
        <p:txBody>
          <a:bodyPr vert="horz" wrap="square" lIns="0" tIns="9525" rIns="0" bIns="0" rtlCol="0">
            <a:noAutofit/>
          </a:bodyPr>
          <a:lstStyle/>
          <a:p>
            <a:pPr>
              <a:buFont typeface="Arial" pitchFamily="34" charset="0"/>
              <a:buChar char="•"/>
            </a:pP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 High Availability</a:t>
            </a:r>
          </a:p>
          <a:p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Nodes can continue to accept writes, even during network failures.</a:t>
            </a:r>
          </a:p>
          <a:p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 Fault Tolerant</a:t>
            </a:r>
          </a:p>
          <a:p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System keeps running even when some replicas are unreachable.</a:t>
            </a:r>
          </a:p>
          <a:p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 High Performance</a:t>
            </a:r>
          </a:p>
          <a:p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Reads and writes don’t wait for global synchronization</a:t>
            </a:r>
          </a:p>
          <a:p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1600" b="1" dirty="0" smtClean="0"/>
              <a:t> 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Supports Geo-Distributed Users</a:t>
            </a:r>
          </a:p>
          <a:p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Users in different countries get low-latency access.</a:t>
            </a:r>
          </a:p>
          <a:p>
            <a:pPr>
              <a:buFont typeface="Arial" pitchFamily="34" charset="0"/>
              <a:buChar char="•"/>
            </a:pP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itle 1"/>
          <p:cNvSpPr>
            <a:spLocks noGrp="1"/>
          </p:cNvSpPr>
          <p:nvPr/>
        </p:nvSpPr>
        <p:spPr>
          <a:xfrm>
            <a:off x="762001" y="285671"/>
            <a:ext cx="7883525" cy="483394"/>
          </a:xfrm>
          <a:prstGeom prst="rect">
            <a:avLst/>
          </a:prstGeom>
        </p:spPr>
        <p:txBody>
          <a:bodyPr wrap="square" lIns="0" tIns="0" rIns="0" bIns="0" rtlCol="0">
            <a:normAutofit/>
          </a:bodyPr>
          <a:lstStyle>
            <a:lvl1pPr>
              <a:defRPr sz="3950" b="1" i="0">
                <a:solidFill>
                  <a:srgbClr val="1A1A1A"/>
                </a:solidFill>
                <a:latin typeface="Calibri"/>
                <a:ea typeface="+mj-ea"/>
                <a:cs typeface="Calibri"/>
              </a:defRPr>
            </a:lvl1pPr>
          </a:lstStyle>
          <a:p>
            <a:pPr fontAlgn="base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Advantages of Eventual Consistency</a:t>
            </a:r>
            <a:endParaRPr lang="en-US" sz="2400" b="1" spc="-10" dirty="0">
              <a:latin typeface="Times New Roman" pitchFamily="18" charset="0"/>
              <a:cs typeface="Times New Roman" pitchFamily="18" charset="0"/>
              <a:sym typeface="+mn-ea"/>
            </a:endParaRPr>
          </a:p>
        </p:txBody>
      </p:sp>
      <p:sp>
        <p:nvSpPr>
          <p:cNvPr id="32772" name="AutoShape 4" descr="Lightbox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774" name="AutoShape 6" descr="Lightbox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776" name="AutoShape 8" descr="Lightbox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778" name="AutoShape 10" descr="Lightbox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780" name="AutoShape 12" descr="Lightbox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846" name="AutoShape 6" descr="blob:https://web.whatsapp.com/474a50cf-e89e-46fb-9210-021b243cb386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06" name="AutoShape 2" descr="Homogeneous Distributed Database (Self Creation) | Download Scientific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762000" y="1123950"/>
            <a:ext cx="7467599" cy="3276600"/>
          </a:xfrm>
          <a:prstGeom prst="rect">
            <a:avLst/>
          </a:prstGeom>
        </p:spPr>
        <p:txBody>
          <a:bodyPr vert="horz" wrap="square" lIns="0" tIns="9525" rIns="0" bIns="0" rtlCol="0">
            <a:noAutofit/>
          </a:bodyPr>
          <a:lstStyle/>
          <a:p>
            <a:pPr>
              <a:buFont typeface="Arial" pitchFamily="34" charset="0"/>
              <a:buChar char="•"/>
            </a:pP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 Stale Reads</a:t>
            </a:r>
          </a:p>
          <a:p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Users may read old data before replicas sync.</a:t>
            </a:r>
          </a:p>
          <a:p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 Conflict Resolution</a:t>
            </a:r>
          </a:p>
          <a:p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If two users update the same data at the same time, conflicts must be resolved.</a:t>
            </a:r>
          </a:p>
          <a:p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 Difficult to Reason About</a:t>
            </a:r>
          </a:p>
          <a:p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Developers must design applications expecting temporary inconsistency.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itle 1"/>
          <p:cNvSpPr>
            <a:spLocks noGrp="1"/>
          </p:cNvSpPr>
          <p:nvPr/>
        </p:nvSpPr>
        <p:spPr>
          <a:xfrm>
            <a:off x="762001" y="285671"/>
            <a:ext cx="7883525" cy="483394"/>
          </a:xfrm>
          <a:prstGeom prst="rect">
            <a:avLst/>
          </a:prstGeom>
        </p:spPr>
        <p:txBody>
          <a:bodyPr wrap="square" lIns="0" tIns="0" rIns="0" bIns="0" rtlCol="0">
            <a:normAutofit/>
          </a:bodyPr>
          <a:lstStyle>
            <a:lvl1pPr>
              <a:defRPr sz="3950" b="1" i="0">
                <a:solidFill>
                  <a:srgbClr val="1A1A1A"/>
                </a:solidFill>
                <a:latin typeface="Calibri"/>
                <a:ea typeface="+mj-ea"/>
                <a:cs typeface="Calibri"/>
              </a:defRPr>
            </a:lvl1pPr>
          </a:lstStyle>
          <a:p>
            <a:pPr fontAlgn="base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Challenges in Eventual Consistency</a:t>
            </a:r>
            <a:endParaRPr lang="en-US" sz="2400" b="1" spc="-10" dirty="0">
              <a:latin typeface="Times New Roman" pitchFamily="18" charset="0"/>
              <a:cs typeface="Times New Roman" pitchFamily="18" charset="0"/>
              <a:sym typeface="+mn-ea"/>
            </a:endParaRPr>
          </a:p>
        </p:txBody>
      </p:sp>
      <p:sp>
        <p:nvSpPr>
          <p:cNvPr id="32772" name="AutoShape 4" descr="Lightbox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774" name="AutoShape 6" descr="Lightbox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776" name="AutoShape 8" descr="Lightbox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778" name="AutoShape 10" descr="Lightbox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780" name="AutoShape 12" descr="Lightbox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846" name="AutoShape 6" descr="blob:https://web.whatsapp.com/474a50cf-e89e-46fb-9210-021b243cb386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762000" y="1123950"/>
            <a:ext cx="7883525" cy="1448435"/>
          </a:xfrm>
          <a:prstGeom prst="rect">
            <a:avLst/>
          </a:prstGeom>
        </p:spPr>
        <p:txBody>
          <a:bodyPr vert="horz" wrap="square" lIns="0" tIns="9525" rIns="0" bIns="0" rtlCol="0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In a distributed data store, you can only guarantee </a:t>
            </a:r>
            <a:r>
              <a:rPr lang="en-US" sz="16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two</a:t>
            </a:r>
            <a:r>
              <a:rPr lang="en-US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 of the following three:</a:t>
            </a:r>
          </a:p>
          <a:p>
            <a:pPr algn="just">
              <a:lnSpc>
                <a:spcPct val="150000"/>
              </a:lnSpc>
            </a:pPr>
            <a:r>
              <a:rPr lang="en-US" sz="1600" b="1" i="1" dirty="0" smtClean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 C</a:t>
            </a:r>
            <a:r>
              <a:rPr lang="en-US" sz="1600" b="0" i="1" dirty="0" smtClean="0">
                <a:solidFill>
                  <a:srgbClr val="FF0000"/>
                </a:solidFill>
                <a:latin typeface="Times New Roman Italic" panose="02020503050405090304" charset="0"/>
                <a:cs typeface="Times New Roman Italic" panose="02020503050405090304" charset="0"/>
              </a:rPr>
              <a:t>onsistency</a:t>
            </a:r>
            <a:r>
              <a:rPr lang="en-US" sz="1600" b="0" i="1" dirty="0">
                <a:solidFill>
                  <a:srgbClr val="FF0000"/>
                </a:solidFill>
                <a:latin typeface="Times New Roman Italic" panose="02020503050405090304" charset="0"/>
                <a:cs typeface="Times New Roman Italic" panose="02020503050405090304" charset="0"/>
              </a:rPr>
              <a:t>:</a:t>
            </a:r>
            <a:r>
              <a:rPr lang="en-US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 Every read receives the most recent write.</a:t>
            </a:r>
          </a:p>
          <a:p>
            <a:pPr algn="just">
              <a:lnSpc>
                <a:spcPct val="150000"/>
              </a:lnSpc>
            </a:pPr>
            <a:r>
              <a:rPr lang="en-US" sz="1600" b="1" i="1" dirty="0" smtClean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 A</a:t>
            </a:r>
            <a:r>
              <a:rPr lang="en-US" sz="1600" b="0" i="1" dirty="0" smtClean="0">
                <a:solidFill>
                  <a:srgbClr val="FF0000"/>
                </a:solidFill>
                <a:latin typeface="Times New Roman Italic" panose="02020503050405090304" charset="0"/>
                <a:cs typeface="Times New Roman Italic" panose="02020503050405090304" charset="0"/>
              </a:rPr>
              <a:t>vailability</a:t>
            </a:r>
            <a:r>
              <a:rPr lang="en-US" sz="1600" b="0" i="1" dirty="0">
                <a:solidFill>
                  <a:srgbClr val="FF0000"/>
                </a:solidFill>
                <a:latin typeface="Times New Roman Italic" panose="02020503050405090304" charset="0"/>
                <a:cs typeface="Times New Roman Italic" panose="02020503050405090304" charset="0"/>
              </a:rPr>
              <a:t>:</a:t>
            </a:r>
            <a:r>
              <a:rPr lang="en-US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 Every request receives a response (even if data is stale).</a:t>
            </a:r>
          </a:p>
          <a:p>
            <a:pPr algn="just">
              <a:lnSpc>
                <a:spcPct val="150000"/>
              </a:lnSpc>
            </a:pPr>
            <a:r>
              <a:rPr lang="en-US" sz="1600" b="1" i="1" dirty="0" smtClean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 P</a:t>
            </a:r>
            <a:r>
              <a:rPr lang="en-US" sz="1600" b="0" i="1" dirty="0" smtClean="0">
                <a:solidFill>
                  <a:srgbClr val="FF0000"/>
                </a:solidFill>
                <a:latin typeface="Times New Roman Italic" panose="02020503050405090304" charset="0"/>
                <a:cs typeface="Times New Roman Italic" panose="02020503050405090304" charset="0"/>
              </a:rPr>
              <a:t>artition </a:t>
            </a:r>
            <a:r>
              <a:rPr lang="en-US" sz="1600" b="0" i="1" dirty="0">
                <a:solidFill>
                  <a:srgbClr val="FF0000"/>
                </a:solidFill>
                <a:latin typeface="Times New Roman Italic" panose="02020503050405090304" charset="0"/>
                <a:cs typeface="Times New Roman Italic" panose="02020503050405090304" charset="0"/>
              </a:rPr>
              <a:t>Tolerance</a:t>
            </a:r>
            <a:r>
              <a:rPr lang="en-US" sz="16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:</a:t>
            </a:r>
            <a:r>
              <a:rPr lang="en-US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 The system works despite network failures.</a:t>
            </a:r>
          </a:p>
        </p:txBody>
      </p:sp>
      <p:pic>
        <p:nvPicPr>
          <p:cNvPr id="19458" name="Picture 2" descr="Venn diagram illustrating the CAP theorem trade-offs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19400" y="2647950"/>
            <a:ext cx="3352800" cy="2286000"/>
          </a:xfrm>
          <a:prstGeom prst="rect">
            <a:avLst/>
          </a:prstGeom>
          <a:noFill/>
        </p:spPr>
      </p:pic>
      <p:sp>
        <p:nvSpPr>
          <p:cNvPr id="6" name="Title 1"/>
          <p:cNvSpPr>
            <a:spLocks noGrp="1"/>
          </p:cNvSpPr>
          <p:nvPr/>
        </p:nvSpPr>
        <p:spPr>
          <a:xfrm>
            <a:off x="762001" y="285671"/>
            <a:ext cx="7883525" cy="483394"/>
          </a:xfrm>
          <a:prstGeom prst="rect">
            <a:avLst/>
          </a:prstGeom>
        </p:spPr>
        <p:txBody>
          <a:bodyPr wrap="square" lIns="0" tIns="0" rIns="0" bIns="0" rtlCol="0">
            <a:normAutofit/>
          </a:bodyPr>
          <a:lstStyle>
            <a:lvl1pPr>
              <a:defRPr sz="3950" b="1" i="0">
                <a:solidFill>
                  <a:srgbClr val="1A1A1A"/>
                </a:solidFill>
                <a:latin typeface="Calibri"/>
                <a:ea typeface="+mj-ea"/>
                <a:cs typeface="Calibri"/>
              </a:defRPr>
            </a:lvl1pPr>
          </a:lstStyle>
          <a:p>
            <a:pPr fontAlgn="base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Eventual Consistency in CAP Theorem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1999" y="285686"/>
            <a:ext cx="3616961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Summary</a:t>
            </a:r>
            <a:r>
              <a:rPr sz="2400" spc="-25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of</a:t>
            </a:r>
            <a:r>
              <a:rPr sz="2400" spc="-15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</a:t>
            </a:r>
            <a:r>
              <a:rPr sz="2400" spc="-15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sz="2400" spc="-10" dirty="0">
                <a:latin typeface="Times New Roman" panose="02020503050405090304" pitchFamily="18" charset="0"/>
                <a:cs typeface="Times New Roman" panose="02020503050405090304" pitchFamily="18" charset="0"/>
              </a:rPr>
              <a:t>Lecture</a:t>
            </a:r>
            <a:endParaRPr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2000" y="754380"/>
            <a:ext cx="7790180" cy="4389120"/>
          </a:xfrm>
          <a:prstGeom prst="rect">
            <a:avLst/>
          </a:prstGeom>
        </p:spPr>
        <p:txBody>
          <a:bodyPr vert="horz" wrap="square" lIns="0" tIns="15875" rIns="0" bIns="0" rtlCol="0">
            <a:noAutofit/>
          </a:bodyPr>
          <a:lstStyle/>
          <a:p>
            <a:pPr algn="just"/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1. Eventual Consistency is a weak consistency model used in distributed systems.</a:t>
            </a:r>
          </a:p>
          <a:p>
            <a:pPr algn="just"/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It ensures that all replicas will become consistent after some time, but not immediately.</a:t>
            </a:r>
          </a:p>
          <a:p>
            <a:pPr algn="just"/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2. Updates are replicated asynchronously across nodes.</a:t>
            </a:r>
          </a:p>
          <a:p>
            <a:pPr algn="just"/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The system does not wait for all replicas to update before responding.</a:t>
            </a:r>
          </a:p>
          <a:p>
            <a:pPr algn="just"/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3. Data may be temporarily inconsistent.</a:t>
            </a:r>
          </a:p>
          <a:p>
            <a:pPr algn="just"/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Different replicas may return different values until synchronization completes.</a:t>
            </a:r>
          </a:p>
          <a:p>
            <a:pPr algn="just"/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4. Guarantees that replicas converge to the same value eventually.</a:t>
            </a:r>
          </a:p>
          <a:p>
            <a:pPr algn="just"/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As long as no new updates occur, the system reaches a consistent state.</a:t>
            </a:r>
          </a:p>
          <a:p>
            <a:pPr algn="just"/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5. Prioritizes high availability and low latency.</a:t>
            </a:r>
          </a:p>
          <a:p>
            <a:pPr algn="just"/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Reads and writes are fast because replicas are not locked for synchronization.</a:t>
            </a:r>
          </a:p>
          <a:p>
            <a:pPr algn="just"/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6. Supports large-scale, distributed, fault-tolerant systems.</a:t>
            </a:r>
          </a:p>
          <a:p>
            <a:pPr algn="just"/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Used where uptime and performance are more critical than strong consistency.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762000" y="1276350"/>
            <a:ext cx="7630160" cy="2821940"/>
          </a:xfrm>
          <a:prstGeom prst="rect">
            <a:avLst/>
          </a:prstGeom>
        </p:spPr>
        <p:txBody>
          <a:bodyPr vert="horz" wrap="square" lIns="0" tIns="16510" rIns="0" bIns="0" rtlCol="0">
            <a:noAutofit/>
          </a:bodyPr>
          <a:lstStyle/>
          <a:p>
            <a:pPr marL="355600" indent="-342900">
              <a:lnSpc>
                <a:spcPts val="2290"/>
              </a:lnSpc>
              <a:spcBef>
                <a:spcPts val="130"/>
              </a:spcBef>
              <a:buClr>
                <a:srgbClr val="000000"/>
              </a:buClr>
              <a:buFont typeface="Arial MT"/>
              <a:buChar char="•"/>
              <a:tabLst>
                <a:tab pos="355600" algn="l"/>
              </a:tabLst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Distributed Caching (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Redis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Memcached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355600" indent="-342900">
              <a:lnSpc>
                <a:spcPts val="2290"/>
              </a:lnSpc>
              <a:spcBef>
                <a:spcPts val="130"/>
              </a:spcBef>
              <a:buClr>
                <a:srgbClr val="000000"/>
              </a:buClr>
              <a:buFont typeface="Arial MT"/>
              <a:buChar char="•"/>
              <a:tabLst>
                <a:tab pos="355600" algn="l"/>
              </a:tabLst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Designing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for Millions of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Users</a:t>
            </a:r>
          </a:p>
          <a:p>
            <a:pPr marL="355600" indent="-342900">
              <a:lnSpc>
                <a:spcPts val="2290"/>
              </a:lnSpc>
              <a:spcBef>
                <a:spcPts val="130"/>
              </a:spcBef>
              <a:buClr>
                <a:srgbClr val="000000"/>
              </a:buClr>
              <a:buFont typeface="Arial MT"/>
              <a:buChar char="•"/>
              <a:tabLst>
                <a:tab pos="355600" algn="l"/>
              </a:tabLst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Rate Limiting Basics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16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itle 1"/>
          <p:cNvSpPr>
            <a:spLocks noGrp="1"/>
          </p:cNvSpPr>
          <p:nvPr/>
        </p:nvSpPr>
        <p:spPr>
          <a:xfrm>
            <a:off x="762001" y="285671"/>
            <a:ext cx="7883525" cy="483394"/>
          </a:xfrm>
          <a:prstGeom prst="rect">
            <a:avLst/>
          </a:prstGeom>
        </p:spPr>
        <p:txBody>
          <a:bodyPr wrap="square" lIns="0" tIns="0" rIns="0" bIns="0" rtlCol="0">
            <a:normAutofit/>
          </a:bodyPr>
          <a:lstStyle>
            <a:lvl1pPr>
              <a:defRPr sz="3950" b="1" i="0">
                <a:solidFill>
                  <a:srgbClr val="1A1A1A"/>
                </a:solidFill>
                <a:latin typeface="Calibri"/>
                <a:ea typeface="+mj-ea"/>
                <a:cs typeface="Calibri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sz="2400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Next</a:t>
            </a:r>
            <a:r>
              <a:rPr sz="2400" spc="-65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sz="2400" spc="-10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Lecture</a:t>
            </a:r>
            <a:endParaRPr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l" fontAlgn="auto">
              <a:spcAft>
                <a:spcPts val="0"/>
              </a:spcAft>
              <a:defRPr/>
            </a:pPr>
            <a:endParaRPr lang="en-US" sz="2400" b="1" spc="-10" dirty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762000" y="1124585"/>
            <a:ext cx="7696200" cy="3799205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2. Eventual Consistency prioritizes which factor?</a:t>
            </a:r>
          </a:p>
          <a:p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A. Strong consistency</a:t>
            </a:r>
            <a:br>
              <a:rPr lang="en-US" sz="16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B. High availability</a:t>
            </a:r>
            <a:br>
              <a:rPr lang="en-US" sz="16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C. High memory usage</a:t>
            </a:r>
            <a:br>
              <a:rPr lang="en-US" sz="16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D. Expensive hardware</a:t>
            </a:r>
          </a:p>
          <a:p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3. In Eventual Consistency, updates are…</a:t>
            </a:r>
          </a:p>
          <a:p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A. Synchronous</a:t>
            </a:r>
            <a:br>
              <a:rPr lang="en-US" sz="16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B. Immediate on all replicas</a:t>
            </a:r>
            <a:br>
              <a:rPr lang="en-US" sz="16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C. Asynchronous</a:t>
            </a:r>
            <a:br>
              <a:rPr lang="en-US" sz="16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D. Blocked until all writes complete</a:t>
            </a:r>
          </a:p>
          <a:p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4. Eventual Consistency belongs to which CAP category?</a:t>
            </a:r>
          </a:p>
          <a:p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A. CP</a:t>
            </a:r>
            <a:br>
              <a:rPr lang="en-US" sz="16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B. AP</a:t>
            </a:r>
            <a:br>
              <a:rPr lang="en-US" sz="16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C. CA</a:t>
            </a:r>
            <a:br>
              <a:rPr lang="en-US" sz="16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D. None</a:t>
            </a:r>
            <a:br>
              <a:rPr lang="en-US" sz="1600" dirty="0" smtClean="0">
                <a:latin typeface="Times New Roman" pitchFamily="18" charset="0"/>
                <a:cs typeface="Times New Roman" pitchFamily="18" charset="0"/>
              </a:rPr>
            </a:b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itle 1"/>
          <p:cNvSpPr>
            <a:spLocks noGrp="1"/>
          </p:cNvSpPr>
          <p:nvPr/>
        </p:nvSpPr>
        <p:spPr>
          <a:xfrm>
            <a:off x="762001" y="285671"/>
            <a:ext cx="7883525" cy="483394"/>
          </a:xfrm>
          <a:prstGeom prst="rect">
            <a:avLst/>
          </a:prstGeom>
        </p:spPr>
        <p:txBody>
          <a:bodyPr wrap="square" lIns="0" tIns="0" rIns="0" bIns="0" rtlCol="0">
            <a:normAutofit/>
          </a:bodyPr>
          <a:lstStyle>
            <a:lvl1pPr>
              <a:defRPr sz="3950" b="1" i="0">
                <a:solidFill>
                  <a:srgbClr val="1A1A1A"/>
                </a:solidFill>
                <a:latin typeface="Calibri"/>
                <a:ea typeface="+mj-ea"/>
                <a:cs typeface="Calibri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sz="2400" spc="-10" dirty="0" smtClean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Quiz</a:t>
            </a:r>
            <a:endParaRPr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l" fontAlgn="auto">
              <a:spcAft>
                <a:spcPts val="0"/>
              </a:spcAft>
              <a:defRPr/>
            </a:pPr>
            <a:endParaRPr lang="en-US" sz="2400" b="1" spc="-10" dirty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762000" y="1124585"/>
            <a:ext cx="7696200" cy="3799205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1. Why is Eventual Consistency used?</a:t>
            </a:r>
          </a:p>
          <a:p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It provides high availability, low latency, and fault tolerance, especially in large distributed environments.</a:t>
            </a:r>
          </a:p>
          <a:p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2. Does Eventual Consistency mean the data is always correct?</a:t>
            </a:r>
          </a:p>
          <a:p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No. During replication delays, users may read old or inconsistent data, but the system eventually becomes correct.</a:t>
            </a:r>
          </a:p>
          <a:p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3. Where is Eventual Consistency commonly used?</a:t>
            </a:r>
          </a:p>
          <a:p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NoSQL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databases (Cassandra,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DynamoDB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Riak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Cloud storage (Amazon S3)</a:t>
            </a:r>
          </a:p>
          <a:p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Social networks feeds</a:t>
            </a:r>
          </a:p>
          <a:p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Caching and CDNs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itle 1"/>
          <p:cNvSpPr>
            <a:spLocks noGrp="1"/>
          </p:cNvSpPr>
          <p:nvPr/>
        </p:nvSpPr>
        <p:spPr>
          <a:xfrm>
            <a:off x="762001" y="285671"/>
            <a:ext cx="7883525" cy="483394"/>
          </a:xfrm>
          <a:prstGeom prst="rect">
            <a:avLst/>
          </a:prstGeom>
        </p:spPr>
        <p:txBody>
          <a:bodyPr wrap="square" lIns="0" tIns="0" rIns="0" bIns="0" rtlCol="0">
            <a:normAutofit/>
          </a:bodyPr>
          <a:lstStyle>
            <a:lvl1pPr>
              <a:defRPr sz="3950" b="1" i="0">
                <a:solidFill>
                  <a:srgbClr val="1A1A1A"/>
                </a:solidFill>
                <a:latin typeface="Calibri"/>
                <a:ea typeface="+mj-ea"/>
                <a:cs typeface="Calibri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sz="2400" spc="-10" dirty="0" smtClean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FAQ’s</a:t>
            </a:r>
            <a:endParaRPr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l" fontAlgn="auto">
              <a:spcAft>
                <a:spcPts val="0"/>
              </a:spcAft>
              <a:defRPr/>
            </a:pPr>
            <a:endParaRPr lang="en-US" sz="2400" b="1" spc="-10" dirty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762000" y="1123950"/>
            <a:ext cx="7982585" cy="3582035"/>
          </a:xfrm>
          <a:prstGeom prst="rect">
            <a:avLst/>
          </a:prstGeom>
        </p:spPr>
        <p:txBody>
          <a:bodyPr vert="horz" wrap="square" lIns="0" tIns="15875" rIns="0" bIns="0" rtlCol="0">
            <a:noAutofit/>
          </a:bodyPr>
          <a:lstStyle/>
          <a:p>
            <a:pPr marL="12700">
              <a:lnSpc>
                <a:spcPct val="150000"/>
              </a:lnSpc>
              <a:spcBef>
                <a:spcPts val="125"/>
              </a:spcBef>
            </a:pPr>
            <a:r>
              <a:rPr lang="en-US" altLang="en-US" sz="1600" i="0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Book Reference:</a:t>
            </a:r>
            <a:endParaRPr lang="en-US" altLang="en-US" sz="1600" b="0" i="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sz="1600" b="0" i="0" dirty="0" smtClean="0">
                <a:solidFill>
                  <a:schemeClr val="tx1"/>
                </a:solidFill>
              </a:rPr>
              <a:t>Designing Data-Intensive Applications – Martin </a:t>
            </a:r>
            <a:r>
              <a:rPr lang="en-US" sz="1600" b="0" i="0" dirty="0" err="1" smtClean="0">
                <a:solidFill>
                  <a:schemeClr val="tx1"/>
                </a:solidFill>
              </a:rPr>
              <a:t>Kleppmann</a:t>
            </a:r>
            <a:r>
              <a:rPr lang="en-US" sz="1600" b="0" i="0" dirty="0" smtClean="0">
                <a:solidFill>
                  <a:schemeClr val="tx1"/>
                </a:solidFill>
              </a:rPr>
              <a:t> Chapters on scalability, reliability, load balancing, replication.</a:t>
            </a:r>
          </a:p>
          <a:p>
            <a:r>
              <a:rPr lang="en-US" sz="1600" b="0" i="0" dirty="0" smtClean="0">
                <a:solidFill>
                  <a:schemeClr val="tx1"/>
                </a:solidFill>
              </a:rPr>
              <a:t>Site Reliability Engineering (SRE) – Google Concepts on reliability, traffic management, and load distribution.</a:t>
            </a:r>
          </a:p>
          <a:p>
            <a:pPr marL="12700">
              <a:lnSpc>
                <a:spcPct val="150000"/>
              </a:lnSpc>
              <a:spcBef>
                <a:spcPts val="125"/>
              </a:spcBef>
            </a:pPr>
            <a:endParaRPr lang="en-US" altLang="en-US" sz="1600" b="0" i="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12700">
              <a:lnSpc>
                <a:spcPct val="150000"/>
              </a:lnSpc>
              <a:spcBef>
                <a:spcPts val="125"/>
              </a:spcBef>
            </a:pPr>
            <a:r>
              <a:rPr lang="en-US" altLang="en-US" sz="1600" i="0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Tutorial Link:</a:t>
            </a:r>
            <a:endParaRPr lang="en-US" altLang="en-US" sz="1600" b="0" i="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12700">
              <a:lnSpc>
                <a:spcPct val="150000"/>
              </a:lnSpc>
              <a:spcBef>
                <a:spcPts val="125"/>
              </a:spcBef>
            </a:pPr>
            <a:r>
              <a:rPr lang="en-US" altLang="en-US" sz="1600" b="0" i="0" dirty="0" smtClean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https://www.youtube.com/watch?v=wLNE90bFfsA</a:t>
            </a:r>
            <a:endParaRPr lang="en-US" altLang="en-US" sz="1600" b="0" i="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12700">
              <a:lnSpc>
                <a:spcPct val="150000"/>
              </a:lnSpc>
              <a:spcBef>
                <a:spcPts val="125"/>
              </a:spcBef>
            </a:pPr>
            <a:r>
              <a:rPr lang="en-US" altLang="en-US" sz="1600" i="0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Video Link:</a:t>
            </a:r>
            <a:endParaRPr lang="en-US" altLang="en-US" sz="1600" b="0" i="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12700">
              <a:lnSpc>
                <a:spcPct val="150000"/>
              </a:lnSpc>
              <a:spcBef>
                <a:spcPts val="125"/>
              </a:spcBef>
            </a:pPr>
            <a:r>
              <a:rPr lang="en-US" altLang="en-US" sz="1600" b="0" i="0" smtClean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https://www.youtube.com/watch?v=rpqsSkTIdAw</a:t>
            </a:r>
            <a:endParaRPr lang="en-US" altLang="en-US" sz="1600" b="0" i="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6" name="Title 1"/>
          <p:cNvSpPr>
            <a:spLocks noGrp="1"/>
          </p:cNvSpPr>
          <p:nvPr/>
        </p:nvSpPr>
        <p:spPr>
          <a:xfrm>
            <a:off x="762001" y="285671"/>
            <a:ext cx="7883525" cy="483394"/>
          </a:xfrm>
          <a:prstGeom prst="rect">
            <a:avLst/>
          </a:prstGeom>
        </p:spPr>
        <p:txBody>
          <a:bodyPr wrap="square" lIns="0" tIns="0" rIns="0" bIns="0" rtlCol="0">
            <a:normAutofit/>
          </a:bodyPr>
          <a:lstStyle>
            <a:lvl1pPr>
              <a:defRPr sz="3950" b="1" i="0">
                <a:solidFill>
                  <a:srgbClr val="1A1A1A"/>
                </a:solidFill>
                <a:latin typeface="Calibri"/>
                <a:ea typeface="+mj-ea"/>
                <a:cs typeface="Calibri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sz="2400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References/</a:t>
            </a:r>
            <a:r>
              <a:rPr sz="2400" spc="-90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sz="2400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Articles/</a:t>
            </a:r>
            <a:r>
              <a:rPr sz="2400" spc="-85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sz="2400" spc="-10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Videos</a:t>
            </a:r>
            <a:endParaRPr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l" fontAlgn="auto">
              <a:spcAft>
                <a:spcPts val="0"/>
              </a:spcAft>
              <a:defRPr/>
            </a:pPr>
            <a:endParaRPr lang="en-US" sz="2400" b="1" spc="-10" dirty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/>
        </p:nvSpPr>
        <p:spPr>
          <a:xfrm>
            <a:off x="762001" y="285671"/>
            <a:ext cx="7883525" cy="483394"/>
          </a:xfrm>
          <a:prstGeom prst="rect">
            <a:avLst/>
          </a:prstGeom>
        </p:spPr>
        <p:txBody>
          <a:bodyPr wrap="square" lIns="0" tIns="0" rIns="0" bIns="0" rtlCol="0">
            <a:normAutofit/>
          </a:bodyPr>
          <a:lstStyle>
            <a:lvl1pPr>
              <a:defRPr sz="3950" b="1" i="0">
                <a:solidFill>
                  <a:srgbClr val="1A1A1A"/>
                </a:solidFill>
                <a:latin typeface="Calibri"/>
                <a:ea typeface="+mj-ea"/>
                <a:cs typeface="Calibri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sz="2400" spc="-10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Class-Wise Feedback</a:t>
            </a:r>
            <a:endParaRPr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l" fontAlgn="auto">
              <a:spcAft>
                <a:spcPts val="0"/>
              </a:spcAft>
              <a:defRPr/>
            </a:pPr>
            <a:endParaRPr lang="en-US" sz="2400" b="1" spc="-10" dirty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15362" name="AutoShape 2" descr="Homogeneous Distributed Database (Self Creation) | Download Scientific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 descr="qr-code-bee-is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496457" y="986972"/>
            <a:ext cx="3979636" cy="312601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47306" rIns="0" bIns="0" rtlCol="0">
            <a:spAutoFit/>
          </a:bodyPr>
          <a:lstStyle/>
          <a:p>
            <a:pPr marL="1548765">
              <a:lnSpc>
                <a:spcPct val="100000"/>
              </a:lnSpc>
              <a:spcBef>
                <a:spcPts val="90"/>
              </a:spcBef>
            </a:pPr>
            <a:r>
              <a:rPr spc="-819" dirty="0"/>
              <a:t>Thank</a:t>
            </a:r>
            <a:r>
              <a:rPr spc="-30" dirty="0"/>
              <a:t> </a:t>
            </a:r>
            <a:r>
              <a:rPr spc="-580" dirty="0"/>
              <a:t>You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59585" y="4324350"/>
            <a:ext cx="5624830" cy="32385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dirty="0">
                <a:latin typeface="Times New Roman" pitchFamily="18" charset="0"/>
                <a:cs typeface="Times New Roman" pitchFamily="18" charset="0"/>
              </a:rPr>
              <a:t>For</a:t>
            </a:r>
            <a:r>
              <a:rPr sz="2000" spc="-10" dirty="0">
                <a:latin typeface="Times New Roman" pitchFamily="18" charset="0"/>
                <a:cs typeface="Times New Roman" pitchFamily="18" charset="0"/>
              </a:rPr>
              <a:t> queries</a:t>
            </a:r>
            <a:r>
              <a:rPr lang="en-US" altLang="" sz="2000" spc="-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latin typeface="Times New Roman" pitchFamily="18" charset="0"/>
                <a:cs typeface="Times New Roman" pitchFamily="18" charset="0"/>
              </a:rPr>
              <a:t>Email:</a:t>
            </a:r>
            <a:r>
              <a:rPr lang="en-US" altLang="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spc="-10" dirty="0" smtClean="0">
                <a:latin typeface="Times New Roman" pitchFamily="18" charset="0"/>
                <a:cs typeface="Times New Roman" pitchFamily="18" charset="0"/>
                <a:hlinkClick r:id="rId2"/>
              </a:rPr>
              <a:t>kamaljee</a:t>
            </a:r>
            <a:r>
              <a:rPr lang="en-US" sz="2000" u="sng" spc="-10" dirty="0" smtClean="0">
                <a:solidFill>
                  <a:srgbClr val="1C3678"/>
                </a:solidFill>
                <a:uFill>
                  <a:solidFill>
                    <a:srgbClr val="1C3678"/>
                  </a:solidFill>
                </a:uFill>
                <a:latin typeface="Times New Roman" pitchFamily="18" charset="0"/>
                <a:cs typeface="Times New Roman" pitchFamily="18" charset="0"/>
                <a:hlinkClick r:id="rId3"/>
              </a:rPr>
              <a:t>t</a:t>
            </a:r>
            <a:r>
              <a:rPr sz="2000" spc="-10" dirty="0" smtClean="0">
                <a:latin typeface="Times New Roman" pitchFamily="18" charset="0"/>
                <a:cs typeface="Times New Roman" pitchFamily="18" charset="0"/>
                <a:hlinkClick r:id="rId2"/>
              </a:rPr>
              <a:t>.e1</a:t>
            </a:r>
            <a:r>
              <a:rPr lang="en-US" sz="2000" spc="-10" dirty="0" smtClean="0">
                <a:latin typeface="Times New Roman" pitchFamily="18" charset="0"/>
                <a:cs typeface="Times New Roman" pitchFamily="18" charset="0"/>
                <a:hlinkClick r:id="rId2"/>
              </a:rPr>
              <a:t>9147</a:t>
            </a:r>
            <a:r>
              <a:rPr sz="2000" spc="-10" dirty="0" smtClean="0">
                <a:latin typeface="Times New Roman" pitchFamily="18" charset="0"/>
                <a:cs typeface="Times New Roman" pitchFamily="18" charset="0"/>
                <a:hlinkClick r:id="rId2"/>
              </a:rPr>
              <a:t>@cumail.in</a:t>
            </a:r>
            <a:endParaRPr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1065</TotalTime>
  <Words>1051</Words>
  <Application>Microsoft Office PowerPoint</Application>
  <PresentationFormat>On-screen Show (16:9)</PresentationFormat>
  <Paragraphs>175</Paragraphs>
  <Slides>19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1" baseType="lpstr">
      <vt:lpstr>Office Theme</vt:lpstr>
      <vt:lpstr>CorelDRAW</vt:lpstr>
      <vt:lpstr>Slide 1</vt:lpstr>
      <vt:lpstr>Slide 2</vt:lpstr>
      <vt:lpstr>Course Outcomes</vt:lpstr>
      <vt:lpstr>Unit-1 Syllabus</vt:lpstr>
      <vt:lpstr>Slide 5</vt:lpstr>
      <vt:lpstr>        Eventual Consistency</vt:lpstr>
      <vt:lpstr>Slide 7</vt:lpstr>
      <vt:lpstr>Slide 8</vt:lpstr>
      <vt:lpstr>Slide 9</vt:lpstr>
      <vt:lpstr>Slide 10</vt:lpstr>
      <vt:lpstr>Slide 11</vt:lpstr>
      <vt:lpstr>Slide 12</vt:lpstr>
      <vt:lpstr>Summary of the Lecture</vt:lpstr>
      <vt:lpstr>Slide 14</vt:lpstr>
      <vt:lpstr>Slide 15</vt:lpstr>
      <vt:lpstr>Slide 16</vt:lpstr>
      <vt:lpstr>Slide 17</vt:lpstr>
      <vt:lpstr>Slide 18</vt:lpstr>
      <vt:lpstr>Slide 19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APEX INSTITUTE OF TECHNOLOGY DEPARTMENT OF COMPUTER SCIENCE &amp; ENGINEERING</dc:title>
  <dc:creator>DELL-LATITUDE</dc:creator>
  <cp:lastModifiedBy>DELL-LATITUDE</cp:lastModifiedBy>
  <cp:revision>132</cp:revision>
  <dcterms:created xsi:type="dcterms:W3CDTF">2025-12-03T05:18:11Z</dcterms:created>
  <dcterms:modified xsi:type="dcterms:W3CDTF">2025-12-15T07:17:57Z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2025-11-29T05:30:00Z</vt:filetime>
  </property>
  <property fmtid="{D5CDD505-2E9C-101B-9397-08002B2CF9AE}" pid="3" name="LastSaved">
    <vt:filetime>2025-11-30T05:30:00Z</vt:filetime>
  </property>
  <property fmtid="{D5CDD505-2E9C-101B-9397-08002B2CF9AE}" pid="4" name="ICV">
    <vt:lpwstr>BE53AF1E6976AF6A8CBC2F69ADEE211E_42</vt:lpwstr>
  </property>
  <property fmtid="{D5CDD505-2E9C-101B-9397-08002B2CF9AE}" pid="5" name="KSOProductBuildVer">
    <vt:lpwstr>1033-12.1.23143.23143</vt:lpwstr>
  </property>
</Properties>
</file>