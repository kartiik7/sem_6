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bin" ContentType="application/vnd.openxmlformats-officedocument.oleObject"/>
  <Default Extension="png" ContentType="image/png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95" r:id="rId2"/>
    <p:sldId id="257" r:id="rId3"/>
    <p:sldId id="297" r:id="rId4"/>
    <p:sldId id="298" r:id="rId5"/>
    <p:sldId id="302" r:id="rId6"/>
    <p:sldId id="299" r:id="rId7"/>
    <p:sldId id="300" r:id="rId8"/>
    <p:sldId id="301" r:id="rId9"/>
    <p:sldId id="285" r:id="rId10"/>
    <p:sldId id="286" r:id="rId11"/>
    <p:sldId id="287" r:id="rId12"/>
    <p:sldId id="288" r:id="rId13"/>
    <p:sldId id="289" r:id="rId14"/>
    <p:sldId id="290" r:id="rId15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="" xmlns:p15="http://schemas.microsoft.com/office/powerpoint/2012/main">
        <p15:guide id="1" orient="horz" pos="2862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822" y="-78"/>
      </p:cViewPr>
      <p:guideLst>
        <p:guide orient="horz" pos="2862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rgbClr val="1A1A1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50" b="1" i="1">
                <a:solidFill>
                  <a:srgbClr val="FF0000"/>
                </a:solidFill>
                <a:latin typeface="Times New Roman" panose="02020503050405090304"/>
                <a:cs typeface="Times New Roman" panose="0202050305040509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rgbClr val="1A1A1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8050" b="1" i="1">
                <a:solidFill>
                  <a:srgbClr val="FF0000"/>
                </a:solidFill>
                <a:latin typeface="Times New Roman" panose="02020503050405090304"/>
                <a:cs typeface="Times New Roman" panose="0202050305040509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rgbClr val="1A1A1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12/15/2025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rgbClr val="1A1A1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12/15/2025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12/15/2025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804386"/>
            <a:ext cx="2949178" cy="738664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143116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18466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83455"/>
            <a:ext cx="2103120" cy="276999"/>
          </a:xfrm>
        </p:spPr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9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08960" y="4783455"/>
            <a:ext cx="2926080" cy="276999"/>
          </a:xfrm>
        </p:spPr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9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83680" y="4783455"/>
            <a:ext cx="2103120" cy="276999"/>
          </a:xfrm>
        </p:spPr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90204" pitchFamily="34" charset="0"/>
              </a:defRPr>
            </a:lvl1pPr>
          </a:lstStyle>
          <a:p>
            <a:pPr>
              <a:defRPr/>
            </a:pPr>
            <a:fld id="{9D9B6AFD-A192-4C37-8069-CDFD0FFEA4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575" y="19050"/>
            <a:ext cx="657225" cy="10477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54977" y="89852"/>
            <a:ext cx="8234044" cy="8749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rgbClr val="1A1A1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56322" y="1461452"/>
            <a:ext cx="6900545" cy="23806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50" b="1" i="1">
                <a:solidFill>
                  <a:srgbClr val="FF0000"/>
                </a:solidFill>
                <a:latin typeface="Times New Roman" panose="02020503050405090304"/>
                <a:cs typeface="Times New Roman" panose="0202050305040509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gle/KF57CKfJj9WmhsEr5" TargetMode="External"/><Relationship Id="rId2" Type="http://schemas.openxmlformats.org/officeDocument/2006/relationships/hyperlink" Target="mailto:kamaljee.e18488@cumail.in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1588" y="3657600"/>
            <a:ext cx="9144001" cy="8536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228600" y="3962400"/>
            <a:ext cx="33338" cy="3452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44" name="Slide Number Placeholder 2"/>
          <p:cNvSpPr txBox="1"/>
          <p:nvPr/>
        </p:nvSpPr>
        <p:spPr>
          <a:xfrm>
            <a:off x="6572251" y="4302919"/>
            <a:ext cx="2055813" cy="205979"/>
          </a:xfrm>
          <a:prstGeom prst="rect">
            <a:avLst/>
          </a:prstGeom>
        </p:spPr>
        <p:txBody>
          <a:bodyPr lIns="68556" tIns="34279" rIns="68556" bIns="34279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6" name="Right Triangle 45"/>
          <p:cNvSpPr/>
          <p:nvPr/>
        </p:nvSpPr>
        <p:spPr>
          <a:xfrm flipV="1">
            <a:off x="7129464" y="3983832"/>
            <a:ext cx="968375" cy="651272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D" sz="1350" kern="0">
              <a:solidFill>
                <a:srgbClr val="FFFFFF"/>
              </a:solidFill>
              <a:latin typeface="Calibri"/>
            </a:endParaRPr>
          </a:p>
        </p:txBody>
      </p:sp>
      <p:graphicFrame>
        <p:nvGraphicFramePr>
          <p:cNvPr id="19462" name="Object 47"/>
          <p:cNvGraphicFramePr>
            <a:graphicFrameLocks noChangeAspect="1"/>
          </p:cNvGraphicFramePr>
          <p:nvPr/>
        </p:nvGraphicFramePr>
        <p:xfrm>
          <a:off x="58738" y="2399110"/>
          <a:ext cx="2476500" cy="1770459"/>
        </p:xfrm>
        <a:graphic>
          <a:graphicData uri="http://schemas.openxmlformats.org/presentationml/2006/ole">
            <p:oleObj spid="_x0000_s1025" name="CorelDRAW" r:id="rId3" imgW="2169000" imgH="2169360" progId="">
              <p:embed/>
            </p:oleObj>
          </a:graphicData>
        </a:graphic>
      </p:graphicFrame>
      <p:sp>
        <p:nvSpPr>
          <p:cNvPr id="37" name="Right Triangle 36"/>
          <p:cNvSpPr/>
          <p:nvPr/>
        </p:nvSpPr>
        <p:spPr>
          <a:xfrm flipH="1">
            <a:off x="5283201" y="628650"/>
            <a:ext cx="3859213" cy="3290888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D" sz="1350" kern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1594093" y="1782572"/>
            <a:ext cx="5120286" cy="888823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pic>
        <p:nvPicPr>
          <p:cNvPr id="19467" name="Picture 2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514350"/>
            <a:ext cx="6629400" cy="1338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Right Triangle 42"/>
          <p:cNvSpPr/>
          <p:nvPr/>
        </p:nvSpPr>
        <p:spPr>
          <a:xfrm rot="10800000" flipV="1">
            <a:off x="7370764" y="3643313"/>
            <a:ext cx="1774825" cy="898922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5160963" y="3984070"/>
            <a:ext cx="3695700" cy="321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dirty="0">
                <a:solidFill>
                  <a:prstClr val="black">
                    <a:lumMod val="65000"/>
                    <a:lumOff val="35000"/>
                  </a:prstClr>
                </a:solidFill>
                <a:latin typeface="Times New Roman" panose="02020503050405090304" pitchFamily="18" charset="0"/>
                <a:ea typeface="Karla" pitchFamily="2" charset="0"/>
                <a:cs typeface="Times New Roman" panose="02020503050405090304" pitchFamily="18" charset="0"/>
              </a:rPr>
              <a:t>DISCOVER . </a:t>
            </a:r>
            <a:r>
              <a:rPr lang="en-US" sz="1500" b="1" dirty="0">
                <a:solidFill>
                  <a:srgbClr val="C00000"/>
                </a:solidFill>
                <a:latin typeface="Times New Roman" panose="02020503050405090304" pitchFamily="18" charset="0"/>
                <a:ea typeface="Karla" pitchFamily="2" charset="0"/>
                <a:cs typeface="Times New Roman" panose="02020503050405090304" pitchFamily="18" charset="0"/>
              </a:rPr>
              <a:t>LEARN</a:t>
            </a:r>
            <a:r>
              <a:rPr lang="en-US" sz="1500" b="1" dirty="0">
                <a:solidFill>
                  <a:prstClr val="black">
                    <a:lumMod val="65000"/>
                    <a:lumOff val="35000"/>
                  </a:prstClr>
                </a:solidFill>
                <a:latin typeface="Times New Roman" panose="02020503050405090304" pitchFamily="18" charset="0"/>
                <a:ea typeface="Karla" pitchFamily="2" charset="0"/>
                <a:cs typeface="Times New Roman" panose="02020503050405090304" pitchFamily="18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5164139" y="4042172"/>
            <a:ext cx="34925" cy="20835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261939" y="4353323"/>
            <a:ext cx="4822825" cy="695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 defTabSz="466725" eaLnBrk="1" fontAlgn="auto" hangingPunct="1">
              <a:lnSpc>
                <a:spcPct val="90000"/>
              </a:lnSpc>
              <a:spcAft>
                <a:spcPct val="35000"/>
              </a:spcAft>
              <a:defRPr/>
            </a:pPr>
            <a:r>
              <a:rPr lang="en-IN" sz="18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Lecture</a:t>
            </a:r>
            <a:endParaRPr lang="en-US" sz="18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ctr" defTabSz="466725" eaLnBrk="1" fontAlgn="auto" hangingPunct="1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kern="1200" dirty="0" smtClean="0"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  <a:sym typeface="+mn-ea"/>
              </a:rPr>
              <a:t>Introduction to System Design</a:t>
            </a:r>
            <a:endParaRPr lang="en-US" sz="1600" dirty="0">
              <a:solidFill>
                <a:prstClr val="black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408305" y="1833880"/>
            <a:ext cx="8324850" cy="2213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 eaLnBrk="1" hangingPunct="1"/>
            <a:r>
              <a:rPr lang="en-IN" altLang="en-US" sz="35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en-US" altLang="en-IN" sz="35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pex</a:t>
            </a:r>
            <a:r>
              <a:rPr lang="en-IN" altLang="en-US" sz="35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I</a:t>
            </a:r>
            <a:r>
              <a:rPr lang="en-US" altLang="en-IN" sz="35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nstitute</a:t>
            </a:r>
            <a:r>
              <a:rPr lang="en-IN" altLang="en-US" sz="35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en-IN" sz="35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of</a:t>
            </a:r>
            <a:r>
              <a:rPr lang="en-IN" altLang="en-US" sz="35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T</a:t>
            </a:r>
            <a:r>
              <a:rPr lang="en-US" altLang="en-IN" sz="35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echnology</a:t>
            </a:r>
            <a:endParaRPr lang="en-US" altLang="en-US" sz="3500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ctr" eaLnBrk="1" hangingPunct="1"/>
            <a:r>
              <a:rPr lang="en-US" altLang="en-IN" sz="21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Department of</a:t>
            </a:r>
            <a:r>
              <a:rPr lang="en-IN" altLang="en-US" sz="21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en-IN" sz="21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Artificial Intelligence and Machine Learning</a:t>
            </a:r>
            <a:endParaRPr lang="en-US" altLang="en-US" sz="21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ctr" eaLnBrk="1" hangingPunct="1">
              <a:lnSpc>
                <a:spcPct val="90000"/>
              </a:lnSpc>
              <a:spcAft>
                <a:spcPct val="35000"/>
              </a:spcAft>
            </a:pPr>
            <a:endParaRPr lang="en-US" altLang="en-US" sz="2300" b="1" dirty="0">
              <a:solidFill>
                <a:srgbClr val="000000"/>
              </a:solidFill>
              <a:latin typeface="Times New Roman" panose="02020503050405090304" pitchFamily="18" charset="0"/>
              <a:ea typeface="Calibri" panose="020F0502020204030204" pitchFamily="34" charset="0"/>
              <a:cs typeface="Times New Roman" panose="02020503050405090304" pitchFamily="18" charset="0"/>
            </a:endParaRPr>
          </a:p>
          <a:p>
            <a:pPr algn="ctr" eaLnBrk="1" hangingPunct="1">
              <a:lnSpc>
                <a:spcPct val="90000"/>
              </a:lnSpc>
              <a:spcAft>
                <a:spcPct val="35000"/>
              </a:spcAft>
            </a:pPr>
            <a:r>
              <a:rPr lang="en-US" sz="24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System Design </a:t>
            </a:r>
            <a:r>
              <a:rPr lang="en-US" altLang="en-US" sz="2400" dirty="0" smtClean="0">
                <a:solidFill>
                  <a:srgbClr val="262626"/>
                </a:solidFill>
                <a:latin typeface="Times New Roman" panose="02020503050405090304" pitchFamily="18" charset="0"/>
                <a:ea typeface="Cambria" panose="02040503050406030204" pitchFamily="18" charset="0"/>
                <a:cs typeface="Times New Roman" panose="02020503050405090304" pitchFamily="18" charset="0"/>
              </a:rPr>
              <a:t>(</a:t>
            </a:r>
            <a:r>
              <a:rPr lang="en-US" sz="24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23CST-390</a:t>
            </a:r>
            <a:r>
              <a:rPr lang="en-US" altLang="en-US" sz="2400" dirty="0" smtClean="0">
                <a:solidFill>
                  <a:srgbClr val="262626"/>
                </a:solidFill>
                <a:latin typeface="Times New Roman" panose="02020503050405090304" pitchFamily="18" charset="0"/>
                <a:ea typeface="Cambria" panose="02040503050406030204" pitchFamily="18" charset="0"/>
                <a:cs typeface="Times New Roman" panose="02020503050405090304" pitchFamily="18" charset="0"/>
              </a:rPr>
              <a:t>)</a:t>
            </a:r>
            <a:endParaRPr lang="en-US" altLang="en-US" sz="2400" dirty="0">
              <a:solidFill>
                <a:srgbClr val="262626"/>
              </a:solidFill>
              <a:latin typeface="Times New Roman" panose="02020503050405090304" pitchFamily="18" charset="0"/>
              <a:ea typeface="Cambria" panose="02040503050406030204" pitchFamily="18" charset="0"/>
              <a:cs typeface="Times New Roman" panose="02020503050405090304" pitchFamily="18" charset="0"/>
            </a:endParaRPr>
          </a:p>
          <a:p>
            <a:pPr algn="ctr" eaLnBrk="1" hangingPunct="1">
              <a:lnSpc>
                <a:spcPct val="90000"/>
              </a:lnSpc>
              <a:spcAft>
                <a:spcPct val="35000"/>
              </a:spcAft>
            </a:pPr>
            <a:r>
              <a:rPr lang="en-US" altLang="en-US" sz="2300" b="1" dirty="0">
                <a:solidFill>
                  <a:srgbClr val="262626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Faculty:</a:t>
            </a:r>
            <a:r>
              <a:rPr lang="en-US" altLang="en-US" sz="2300" dirty="0">
                <a:solidFill>
                  <a:srgbClr val="262626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en-US" sz="2300" dirty="0" smtClean="0">
                <a:solidFill>
                  <a:srgbClr val="262626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en-US" sz="2300" dirty="0" err="1" smtClean="0">
                <a:solidFill>
                  <a:srgbClr val="262626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Er</a:t>
            </a:r>
            <a:r>
              <a:rPr lang="en-US" altLang="en-US" sz="2300" dirty="0">
                <a:solidFill>
                  <a:srgbClr val="262626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.) </a:t>
            </a:r>
            <a:r>
              <a:rPr lang="en-US" altLang="en-US" sz="2300" dirty="0" err="1" smtClean="0">
                <a:solidFill>
                  <a:srgbClr val="262626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Kamaljee</a:t>
            </a:r>
            <a:r>
              <a:rPr lang="en-IN" sz="2400" dirty="0" smtClean="0">
                <a:solidFill>
                  <a:prstClr val="black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en-US" altLang="en-US" sz="2300" dirty="0" smtClean="0">
                <a:solidFill>
                  <a:srgbClr val="262626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en-US" sz="2300" dirty="0" err="1" smtClean="0">
                <a:solidFill>
                  <a:srgbClr val="262626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Kaur </a:t>
            </a:r>
            <a:r>
              <a:rPr lang="en-US" altLang="en-US" sz="2300" dirty="0" smtClean="0">
                <a:solidFill>
                  <a:srgbClr val="262626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(E19147)</a:t>
            </a:r>
            <a:endParaRPr lang="en-US" altLang="en-US" sz="2300" dirty="0">
              <a:solidFill>
                <a:srgbClr val="262626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ctr" eaLnBrk="1" hangingPunct="1">
              <a:lnSpc>
                <a:spcPct val="90000"/>
              </a:lnSpc>
              <a:spcAft>
                <a:spcPct val="35000"/>
              </a:spcAft>
            </a:pPr>
            <a:endParaRPr lang="en-US" altLang="en-US" sz="1100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6" name="object 9"/>
          <p:cNvSpPr txBox="1"/>
          <p:nvPr/>
        </p:nvSpPr>
        <p:spPr>
          <a:xfrm>
            <a:off x="6327775" y="22860"/>
            <a:ext cx="2750185" cy="4724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30"/>
              </a:spcBef>
            </a:pPr>
            <a:r>
              <a:rPr sz="1550" b="0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Academic</a:t>
            </a:r>
            <a:r>
              <a:rPr sz="1550" b="0" spc="229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r>
              <a:rPr sz="1550" b="0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Session</a:t>
            </a:r>
            <a:r>
              <a:rPr sz="1550" b="0" spc="180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r>
              <a:rPr sz="1550" b="0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202</a:t>
            </a:r>
            <a:r>
              <a:rPr lang="en-US" altLang="" sz="1550" b="0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5</a:t>
            </a:r>
            <a:r>
              <a:rPr sz="1550" b="0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-</a:t>
            </a:r>
            <a:r>
              <a:rPr sz="1550" b="0" spc="-25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2</a:t>
            </a:r>
            <a:r>
              <a:rPr lang="en-US" altLang="" sz="1550" b="0" spc="-25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6</a:t>
            </a:r>
            <a:endParaRPr sz="1550" b="0" dirty="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120650" algn="r">
              <a:lnSpc>
                <a:spcPct val="100000"/>
              </a:lnSpc>
              <a:spcBef>
                <a:spcPts val="20"/>
              </a:spcBef>
            </a:pPr>
            <a:r>
              <a:rPr sz="1400" b="0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E</a:t>
            </a:r>
            <a:r>
              <a:rPr lang="en-US" altLang="" sz="1400" b="0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ven</a:t>
            </a:r>
            <a:r>
              <a:rPr sz="1400" b="0" spc="-5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r>
              <a:rPr sz="1400" b="0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Semester</a:t>
            </a:r>
            <a:r>
              <a:rPr sz="1400" b="0" spc="-25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r>
              <a:rPr sz="1400" b="0" spc="-10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Jan-</a:t>
            </a:r>
            <a:r>
              <a:rPr sz="1400" b="0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Jun</a:t>
            </a:r>
            <a:r>
              <a:rPr lang="en-US" altLang="" sz="1400" b="0" spc="-45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’</a:t>
            </a:r>
            <a:r>
              <a:rPr sz="1400" b="0" spc="-20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26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61365" y="1152525"/>
            <a:ext cx="7927340" cy="2270760"/>
          </a:xfrm>
          <a:prstGeom prst="rect">
            <a:avLst/>
          </a:prstGeom>
        </p:spPr>
        <p:txBody>
          <a:bodyPr vert="horz" wrap="square" lIns="0" tIns="15875" rIns="0" bIns="0" rtlCol="0">
            <a:noAutofit/>
          </a:bodyPr>
          <a:lstStyle/>
          <a:p>
            <a:pPr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 Understand the fundamental concepts of system design and its importance in building   </a:t>
            </a: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  scalable applications.</a:t>
            </a:r>
          </a:p>
          <a:p>
            <a:pPr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 Learn the principles of scalability, availability, and reliability in large systems.</a:t>
            </a:r>
          </a:p>
          <a:p>
            <a:pPr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 Differentiate between Monolithic and </a:t>
            </a:r>
            <a:r>
              <a:rPr lang="en-US" sz="1600" dirty="0" err="1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Microservices</a:t>
            </a:r>
            <a: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architectures.</a:t>
            </a:r>
          </a:p>
          <a:p>
            <a:pPr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 Explain key performance metrics such as latency and throughput.</a:t>
            </a:r>
          </a:p>
          <a:p>
            <a:pPr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 Understand how caching improves system speed and reduces load on backend services.</a:t>
            </a:r>
            <a:endParaRPr lang="en-US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8" name="Title 7"/>
          <p:cNvSpPr txBox="1">
            <a:spLocks noGrp="1" noChangeArrowheads="1"/>
          </p:cNvSpPr>
          <p:nvPr/>
        </p:nvSpPr>
        <p:spPr>
          <a:xfrm>
            <a:off x="761683" y="378381"/>
            <a:ext cx="4267200" cy="276860"/>
          </a:xfrm>
          <a:prstGeom prst="rect">
            <a:avLst/>
          </a:prstGeom>
        </p:spPr>
        <p:txBody>
          <a:bodyPr wrap="square" lIns="0" tIns="0" rIns="0" bIns="0" rtlCol="0" anchor="b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US" sz="18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Learning Objectives</a:t>
            </a:r>
            <a:endParaRPr lang="en-US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>
          <a:xfrm>
            <a:off x="761683" y="286306"/>
            <a:ext cx="4267200" cy="368935"/>
          </a:xfrm>
        </p:spPr>
        <p:txBody>
          <a:bodyPr rtlCol="0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US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Course </a:t>
            </a:r>
            <a:r>
              <a:rPr lang="en-US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Outcomes</a:t>
            </a:r>
          </a:p>
        </p:txBody>
      </p:sp>
      <p:sp>
        <p:nvSpPr>
          <p:cNvPr id="21508" name="Rectangle 3"/>
          <p:cNvSpPr>
            <a:spLocks noChangeArrowheads="1"/>
          </p:cNvSpPr>
          <p:nvPr/>
        </p:nvSpPr>
        <p:spPr bwMode="auto">
          <a:xfrm>
            <a:off x="741998" y="971471"/>
            <a:ext cx="507222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eaLnBrk="1" hangingPunct="1"/>
            <a:r>
              <a:rPr lang="en-IN" altLang="en-US" sz="16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On completion of this course, the students shall be able to:-</a:t>
            </a:r>
            <a:endParaRPr lang="en-US" altLang="en-US" sz="1600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41998" y="1351360"/>
          <a:ext cx="7772881" cy="31684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94030"/>
                <a:gridCol w="7278851"/>
              </a:tblGrid>
              <a:tr h="64138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0" dirty="0" smtClean="0">
                          <a:effectLst/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CO1</a:t>
                      </a:r>
                      <a:endParaRPr lang="en-US" sz="1200" kern="100" dirty="0">
                        <a:effectLst/>
                        <a:latin typeface="Times New Roman" panose="02020503050405090304" pitchFamily="18" charset="0"/>
                        <a:ea typeface="Calibri" panose="020F0502020204030204" pitchFamily="34" charset="0"/>
                        <a:cs typeface="Times New Roman" panose="02020503050405090304" pitchFamily="18" charset="0"/>
                      </a:endParaRPr>
                    </a:p>
                  </a:txBody>
                  <a:tcPr marL="36197" marR="36197" marT="27147" marB="271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Understand the fundamental system design principles, including scalability, high availability, and fault tolerance, while analyzing how these core principles influence architectural decisions in real-world distributed environments.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Times New Roman" panose="02020503050405090304" pitchFamily="18" charset="0"/>
                        <a:ea typeface="+mn-ea"/>
                        <a:cs typeface="Times New Roman" panose="02020503050405090304" pitchFamily="18" charset="0"/>
                      </a:endParaRPr>
                    </a:p>
                  </a:txBody>
                  <a:tcPr marL="36197" marR="36197" marT="27147" marB="271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4138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0" smtClean="0">
                          <a:effectLst/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CO2</a:t>
                      </a:r>
                      <a:endParaRPr lang="en-US" sz="1200" kern="100">
                        <a:effectLst/>
                        <a:latin typeface="Times New Roman" panose="02020503050405090304" pitchFamily="18" charset="0"/>
                        <a:ea typeface="Calibri" panose="020F0502020204030204" pitchFamily="34" charset="0"/>
                        <a:cs typeface="Times New Roman" panose="02020503050405090304" pitchFamily="18" charset="0"/>
                      </a:endParaRPr>
                    </a:p>
                  </a:txBody>
                  <a:tcPr marL="36197" marR="36197" marT="27147" marB="271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Apply various distributed architectural patterns, key database models (SQL and </a:t>
                      </a:r>
                      <a:r>
                        <a:rPr lang="en-US" sz="1200" kern="1200" dirty="0" err="1" smtClean="0">
                          <a:solidFill>
                            <a:schemeClr val="dk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NoSQL</a:t>
                      </a:r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), and critical communication protocols to evaluate their specific applications and trade-offs in modern system designs.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Times New Roman" panose="02020503050405090304" pitchFamily="18" charset="0"/>
                        <a:ea typeface="+mn-ea"/>
                        <a:cs typeface="Times New Roman" panose="02020503050405090304" pitchFamily="18" charset="0"/>
                      </a:endParaRPr>
                    </a:p>
                  </a:txBody>
                  <a:tcPr marL="36197" marR="36197" marT="27147" marB="271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4138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0" dirty="0" smtClean="0">
                          <a:effectLst/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CO3</a:t>
                      </a:r>
                      <a:endParaRPr lang="en-US" sz="1200" kern="100" dirty="0">
                        <a:effectLst/>
                        <a:latin typeface="Times New Roman" panose="02020503050405090304" pitchFamily="18" charset="0"/>
                        <a:ea typeface="Calibri" panose="020F0502020204030204" pitchFamily="34" charset="0"/>
                        <a:cs typeface="Times New Roman" panose="02020503050405090304" pitchFamily="18" charset="0"/>
                      </a:endParaRPr>
                    </a:p>
                  </a:txBody>
                  <a:tcPr marL="36197" marR="36197" marT="27147" marB="271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Apply advanced scaling techniques, such as caching, load balancing, database </a:t>
                      </a:r>
                      <a:r>
                        <a:rPr lang="en-US" sz="1200" kern="1200" dirty="0" err="1" smtClean="0">
                          <a:solidFill>
                            <a:schemeClr val="dk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sharding</a:t>
                      </a:r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, and replication, to design system components that effectively handle massive user traffic and data volumes.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Times New Roman" panose="02020503050405090304" pitchFamily="18" charset="0"/>
                        <a:ea typeface="+mn-ea"/>
                        <a:cs typeface="Times New Roman" panose="02020503050405090304" pitchFamily="18" charset="0"/>
                      </a:endParaRPr>
                    </a:p>
                  </a:txBody>
                  <a:tcPr marL="36197" marR="36197" marT="27147" marB="271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29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0" smtClean="0">
                          <a:effectLst/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CO4</a:t>
                      </a:r>
                      <a:endParaRPr lang="en-US" sz="1200" kern="100">
                        <a:effectLst/>
                        <a:latin typeface="Times New Roman" panose="02020503050405090304" pitchFamily="18" charset="0"/>
                        <a:ea typeface="Calibri" panose="020F0502020204030204" pitchFamily="34" charset="0"/>
                        <a:cs typeface="Times New Roman" panose="02020503050405090304" pitchFamily="18" charset="0"/>
                      </a:endParaRPr>
                    </a:p>
                  </a:txBody>
                  <a:tcPr marL="36197" marR="36197" marT="27147" marB="271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Analyze the trade-offs between different system architectures, data storage solutions, and consistency models (like the CAP theorem) to select and justify optimized configurations for performance, cost, and reliability goals.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Times New Roman" panose="02020503050405090304" pitchFamily="18" charset="0"/>
                        <a:ea typeface="+mn-ea"/>
                        <a:cs typeface="Times New Roman" panose="02020503050405090304" pitchFamily="18" charset="0"/>
                      </a:endParaRPr>
                    </a:p>
                  </a:txBody>
                  <a:tcPr marL="36197" marR="36197" marT="27147" marB="271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4136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0" smtClean="0">
                          <a:effectLst/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CO5</a:t>
                      </a:r>
                      <a:endParaRPr lang="en-US" sz="1200" kern="100">
                        <a:effectLst/>
                        <a:latin typeface="Times New Roman" panose="02020503050405090304" pitchFamily="18" charset="0"/>
                        <a:ea typeface="Calibri" panose="020F0502020204030204" pitchFamily="34" charset="0"/>
                        <a:cs typeface="Times New Roman" panose="02020503050405090304" pitchFamily="18" charset="0"/>
                      </a:endParaRPr>
                    </a:p>
                  </a:txBody>
                  <a:tcPr marL="36197" marR="36197" marT="27147" marB="271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Create and document comprehensive, end-to-end system designs that are inherently scalable, distributed, and fault-tolerant, leveraging modern paradigms such as cloud computing and </a:t>
                      </a:r>
                      <a:r>
                        <a:rPr lang="en-US" sz="1200" kern="1200" dirty="0" err="1" smtClean="0">
                          <a:solidFill>
                            <a:schemeClr val="dk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microservices</a:t>
                      </a:r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 architecture.</a:t>
                      </a:r>
                      <a:endParaRPr lang="en-US" sz="1200" kern="100" dirty="0">
                        <a:effectLst/>
                        <a:latin typeface="Times New Roman" panose="02020503050405090304" pitchFamily="18" charset="0"/>
                        <a:ea typeface="Calibri" panose="020F0502020204030204" pitchFamily="34" charset="0"/>
                        <a:cs typeface="Times New Roman" panose="02020503050405090304" pitchFamily="18" charset="0"/>
                      </a:endParaRPr>
                    </a:p>
                  </a:txBody>
                  <a:tcPr marL="36197" marR="36197" marT="27147" marB="271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1" y="285671"/>
            <a:ext cx="7883525" cy="483394"/>
          </a:xfrm>
        </p:spPr>
        <p:txBody>
          <a:bodyPr rtlCol="0">
            <a:normAutofit/>
          </a:bodyPr>
          <a:lstStyle/>
          <a:p>
            <a:pPr algn="l" fontAlgn="auto">
              <a:spcAft>
                <a:spcPts val="0"/>
              </a:spcAft>
              <a:defRPr/>
            </a:pPr>
            <a:r>
              <a:rPr lang="en-IN" sz="24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Unit-1 Syllabus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23900" y="1273969"/>
          <a:ext cx="7923530" cy="2432733"/>
        </p:xfrm>
        <a:graphic>
          <a:graphicData uri="http://schemas.openxmlformats.org/drawingml/2006/table">
            <a:tbl>
              <a:tblPr/>
              <a:tblGrid>
                <a:gridCol w="1850390"/>
                <a:gridCol w="6073140"/>
              </a:tblGrid>
              <a:tr h="297656">
                <a:tc>
                  <a:txBody>
                    <a:bodyPr/>
                    <a:lstStyle>
                      <a:lvl1pPr defTabSz="685800"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9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9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9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685800" fontAlgn="base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685800" fontAlgn="base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685800" fontAlgn="base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685800" fontAlgn="base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just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I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Unit-1</a:t>
                      </a:r>
                      <a:endParaRPr kumimoji="0" lang="en-US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Calibri" panose="020F0502020204030204" pitchFamily="34" charset="0"/>
                        <a:cs typeface="Times New Roman" panose="02020503050405090304" pitchFamily="18" charset="0"/>
                      </a:endParaRPr>
                    </a:p>
                  </a:txBody>
                  <a:tcPr marL="27146" marR="27146" marT="20360" marB="203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defTabSz="685800"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9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9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9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685800" fontAlgn="base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685800" fontAlgn="base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685800" fontAlgn="base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685800" fontAlgn="base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just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System Design </a:t>
                      </a:r>
                      <a:endParaRPr kumimoji="0" lang="en-US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Calibri" panose="020F0502020204030204" pitchFamily="34" charset="0"/>
                        <a:cs typeface="Times New Roman" panose="02020503050405090304" pitchFamily="18" charset="0"/>
                      </a:endParaRPr>
                    </a:p>
                  </a:txBody>
                  <a:tcPr marL="27146" marR="27146" marT="20360" marB="203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</a:tr>
              <a:tr h="829056">
                <a:tc>
                  <a:txBody>
                    <a:bodyPr/>
                    <a:lstStyle>
                      <a:lvl1pPr defTabSz="685800"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9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9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9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685800" fontAlgn="base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685800" fontAlgn="base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685800" fontAlgn="base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685800" fontAlgn="base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6858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75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Introduction to System Design </a:t>
                      </a:r>
                      <a:endParaRPr kumimoji="0" lang="en-US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Calibri" panose="020F0502020204030204" pitchFamily="34" charset="0"/>
                        <a:cs typeface="Times New Roman" panose="02020503050405090304" pitchFamily="18" charset="0"/>
                      </a:endParaRPr>
                    </a:p>
                  </a:txBody>
                  <a:tcPr marL="73025" marR="73025" marT="47625" marB="476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685800"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9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9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9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685800" fontAlgn="base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685800" fontAlgn="base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685800" fontAlgn="base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685800" fontAlgn="base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R="0" lvl="0" indent="0" algn="l" defTabSz="6858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0" kern="1200" dirty="0" smtClean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Introduction to System Design</a:t>
                      </a: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, Functional &amp; Non-Functional Requirements, Scaling Challenges, Load Balancing, Caching Strategies, Replication, </a:t>
                      </a:r>
                      <a:r>
                        <a:rPr lang="en-US" sz="1600" kern="1200" dirty="0" err="1" smtClean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Sharding.</a:t>
                      </a:r>
                      <a:endParaRPr kumimoji="0" lang="en-US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Calibri" panose="020F0502020204030204" pitchFamily="34" charset="0"/>
                        <a:cs typeface="Times New Roman" panose="02020503050405090304" pitchFamily="18" charset="0"/>
                      </a:endParaRPr>
                    </a:p>
                  </a:txBody>
                  <a:tcPr marL="73025" marR="73025" marT="47625" marB="476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57062">
                <a:tc>
                  <a:txBody>
                    <a:bodyPr/>
                    <a:lstStyle>
                      <a:lvl1pPr defTabSz="685800"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9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9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9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685800" fontAlgn="base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685800" fontAlgn="base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685800" fontAlgn="base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685800" fontAlgn="base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6858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75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Databases in System Design </a:t>
                      </a:r>
                      <a:endParaRPr kumimoji="0" lang="en-US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Calibri" panose="020F0502020204030204" pitchFamily="34" charset="0"/>
                        <a:cs typeface="Times New Roman" panose="02020503050405090304" pitchFamily="18" charset="0"/>
                      </a:endParaRPr>
                    </a:p>
                  </a:txBody>
                  <a:tcPr marL="73025" marR="73025" marT="47625" marB="476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685800"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9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9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9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685800" fontAlgn="base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685800" fontAlgn="base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685800" fontAlgn="base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685800" fontAlgn="base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6858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Databases in System Design – SQL </a:t>
                      </a:r>
                      <a:r>
                        <a:rPr lang="en-US" sz="1600" kern="1200" dirty="0" err="1" smtClean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vs</a:t>
                      </a: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 </a:t>
                      </a:r>
                      <a:r>
                        <a:rPr lang="en-US" sz="1600" kern="1200" dirty="0" err="1" smtClean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NoSQL</a:t>
                      </a: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, CAP Theorem, </a:t>
                      </a:r>
                      <a:r>
                        <a:rPr lang="en-US" sz="1600" b="0" kern="1200" dirty="0" smtClean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Distributed Databases</a:t>
                      </a: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, </a:t>
                      </a:r>
                      <a:r>
                        <a:rPr lang="en-US" sz="1600" b="1" kern="1200" dirty="0" smtClean="0">
                          <a:solidFill>
                            <a:srgbClr val="FF0000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Consistency Models</a:t>
                      </a: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, Eventual Consistency, Distributed Caching (</a:t>
                      </a:r>
                      <a:r>
                        <a:rPr lang="en-US" sz="1600" kern="1200" dirty="0" err="1" smtClean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Redis</a:t>
                      </a: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, </a:t>
                      </a:r>
                      <a:r>
                        <a:rPr lang="en-US" sz="1600" kern="1200" dirty="0" err="1" smtClean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Memcached</a:t>
                      </a: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), High Availability, Fault Tolerance, </a:t>
                      </a:r>
                      <a:r>
                        <a:rPr lang="en-US" sz="1600" kern="1200" dirty="0" err="1" smtClean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Microservices</a:t>
                      </a: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 </a:t>
                      </a:r>
                      <a:r>
                        <a:rPr lang="en-US" sz="1600" kern="1200" dirty="0" err="1" smtClean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vs</a:t>
                      </a: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 Monolithic Architecture.</a:t>
                      </a:r>
                      <a:endParaRPr kumimoji="0" lang="en-US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marL="73025" marR="73025" marT="47625" marB="476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762001" y="1123950"/>
            <a:ext cx="4114800" cy="3048000"/>
          </a:xfrm>
          <a:prstGeom prst="rect">
            <a:avLst/>
          </a:prstGeom>
        </p:spPr>
        <p:txBody>
          <a:bodyPr vert="horz" wrap="square" lIns="0" tIns="9525" rIns="0" bIns="0" rtlCol="0">
            <a:noAutofit/>
          </a:bodyPr>
          <a:lstStyle/>
          <a:p>
            <a:pPr marL="285750" indent="-285750" algn="just">
              <a:lnSpc>
                <a:spcPct val="150000"/>
              </a:lnSpc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    Consistency model acts as a contractual agreement between a distributed data store and the processes that access it. It defines the rules for how and when updates made by one node become visible to others.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itle 1"/>
          <p:cNvSpPr>
            <a:spLocks noGrp="1"/>
          </p:cNvSpPr>
          <p:nvPr/>
        </p:nvSpPr>
        <p:spPr>
          <a:xfrm>
            <a:off x="762001" y="285671"/>
            <a:ext cx="7883525" cy="483394"/>
          </a:xfrm>
          <a:prstGeom prst="rect">
            <a:avLst/>
          </a:prstGeom>
        </p:spPr>
        <p:txBody>
          <a:bodyPr wrap="square" lIns="0" tIns="0" rIns="0" bIns="0" rtlCol="0">
            <a:normAutofit/>
          </a:bodyPr>
          <a:lstStyle>
            <a:lvl1pPr>
              <a:defRPr sz="3950" b="1" i="0">
                <a:solidFill>
                  <a:srgbClr val="1A1A1A"/>
                </a:solidFill>
                <a:latin typeface="Calibri"/>
                <a:ea typeface="+mj-ea"/>
                <a:cs typeface="Calibri"/>
              </a:defRPr>
            </a:lvl1pPr>
          </a:lstStyle>
          <a:p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Consistency Models</a:t>
            </a:r>
          </a:p>
          <a:p>
            <a:pPr algn="l" fontAlgn="auto">
              <a:spcAft>
                <a:spcPts val="0"/>
              </a:spcAft>
              <a:defRPr/>
            </a:pPr>
            <a:endParaRPr lang="en-US" sz="2400" b="1" spc="-10" dirty="0">
              <a:latin typeface="Times New Roman" pitchFamily="18" charset="0"/>
              <a:cs typeface="Times New Roman" pitchFamily="18" charset="0"/>
              <a:sym typeface="+mn-ea"/>
            </a:endParaRPr>
          </a:p>
        </p:txBody>
      </p:sp>
      <p:sp>
        <p:nvSpPr>
          <p:cNvPr id="32772" name="AutoShape 4" descr="Lightbox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74" name="AutoShape 6" descr="Lightbox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76" name="AutoShape 8" descr="Lightbox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78" name="AutoShape 10" descr="Lightbox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80" name="AutoShape 12" descr="Lightbox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846" name="AutoShape 6" descr="blob:https://web.whatsapp.com/474a50cf-e89e-46fb-9210-021b243cb386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8D405956-5F44-DAAC-05E9-FFD3DB6ED6C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105400" y="1276350"/>
            <a:ext cx="3409835" cy="2819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762001" y="1123950"/>
            <a:ext cx="4114800" cy="3048000"/>
          </a:xfrm>
          <a:prstGeom prst="rect">
            <a:avLst/>
          </a:prstGeom>
        </p:spPr>
        <p:txBody>
          <a:bodyPr vert="horz" wrap="square" lIns="0" tIns="9525" rIns="0" bIns="0" rtlCol="0">
            <a:no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itle 1"/>
          <p:cNvSpPr>
            <a:spLocks noGrp="1"/>
          </p:cNvSpPr>
          <p:nvPr/>
        </p:nvSpPr>
        <p:spPr>
          <a:xfrm>
            <a:off x="762001" y="285671"/>
            <a:ext cx="7883525" cy="483394"/>
          </a:xfrm>
          <a:prstGeom prst="rect">
            <a:avLst/>
          </a:prstGeom>
        </p:spPr>
        <p:txBody>
          <a:bodyPr wrap="square" lIns="0" tIns="0" rIns="0" bIns="0" rtlCol="0">
            <a:normAutofit/>
          </a:bodyPr>
          <a:lstStyle>
            <a:lvl1pPr>
              <a:defRPr sz="3950" b="1" i="0">
                <a:solidFill>
                  <a:srgbClr val="1A1A1A"/>
                </a:solidFill>
                <a:latin typeface="Calibri"/>
                <a:ea typeface="+mj-ea"/>
                <a:cs typeface="Calibri"/>
              </a:defRPr>
            </a:lvl1pPr>
          </a:lstStyle>
          <a:p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Consistency Spectrum</a:t>
            </a:r>
            <a:endParaRPr lang="en-US" sz="2400" b="1" spc="-10" dirty="0">
              <a:latin typeface="Times New Roman" pitchFamily="18" charset="0"/>
              <a:cs typeface="Times New Roman" pitchFamily="18" charset="0"/>
              <a:sym typeface="+mn-ea"/>
            </a:endParaRPr>
          </a:p>
        </p:txBody>
      </p:sp>
      <p:sp>
        <p:nvSpPr>
          <p:cNvPr id="32772" name="AutoShape 4" descr="Lightbox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74" name="AutoShape 6" descr="Lightbox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76" name="AutoShape 8" descr="Lightbox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78" name="AutoShape 10" descr="Lightbox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80" name="AutoShape 12" descr="Lightbox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846" name="AutoShape 6" descr="blob:https://web.whatsapp.com/474a50cf-e89e-46fb-9210-021b243cb386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143000" y="1047750"/>
            <a:ext cx="6553200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Strong </a:t>
            </a:r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Linearizability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System behaves as a single copy. Highest latency.</a:t>
            </a:r>
          </a:p>
          <a:p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Sequential Ordering Preserved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Operations appear in a specific order, but not necessarily real-time.</a:t>
            </a:r>
          </a:p>
          <a:p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Causal Cause &amp; Effect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Related events are seen in order; unrelated events can be parallel.</a:t>
            </a:r>
          </a:p>
          <a:p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Eventual Convergence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Replicas converge eventually. Lowest latency, high availability.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762000" y="1123950"/>
            <a:ext cx="4343399" cy="3048000"/>
          </a:xfrm>
          <a:prstGeom prst="rect">
            <a:avLst/>
          </a:prstGeom>
        </p:spPr>
        <p:txBody>
          <a:bodyPr vert="horz" wrap="square" lIns="0" tIns="9525" rIns="0" bIns="0" rtlCol="0">
            <a:no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Linearizability</a:t>
            </a:r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(Strict Consistency) is the strongest guarantee. It requires that once a write completes, all subsequent reads (by wall-clock time) return that value.</a:t>
            </a:r>
          </a:p>
          <a:p>
            <a:pPr algn="just">
              <a:buFont typeface="Arial" pitchFamily="34" charset="0"/>
              <a:buChar char="•"/>
            </a:pPr>
            <a:endParaRPr lang="en-US" sz="16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It provides the illusion that the entire distributed system is just a single machine. While easiest for developers to reason about, it imposes significant latency penalties.</a:t>
            </a:r>
          </a:p>
          <a:p>
            <a:pPr algn="just">
              <a:buFont typeface="Arial" pitchFamily="34" charset="0"/>
              <a:buChar char="•"/>
            </a:pPr>
            <a:endParaRPr lang="en-US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itle 1"/>
          <p:cNvSpPr>
            <a:spLocks noGrp="1"/>
          </p:cNvSpPr>
          <p:nvPr/>
        </p:nvSpPr>
        <p:spPr>
          <a:xfrm>
            <a:off x="762001" y="285671"/>
            <a:ext cx="7883525" cy="483394"/>
          </a:xfrm>
          <a:prstGeom prst="rect">
            <a:avLst/>
          </a:prstGeom>
        </p:spPr>
        <p:txBody>
          <a:bodyPr wrap="square" lIns="0" tIns="0" rIns="0" bIns="0" rtlCol="0">
            <a:normAutofit/>
          </a:bodyPr>
          <a:lstStyle>
            <a:lvl1pPr>
              <a:defRPr sz="3950" b="1" i="0">
                <a:solidFill>
                  <a:srgbClr val="1A1A1A"/>
                </a:solidFill>
                <a:latin typeface="Calibri"/>
                <a:ea typeface="+mj-ea"/>
                <a:cs typeface="Calibri"/>
              </a:defRPr>
            </a:lvl1pPr>
          </a:lstStyle>
          <a:p>
            <a:r>
              <a:rPr lang="en-IN" sz="2400" dirty="0" err="1" smtClean="0">
                <a:latin typeface="Times New Roman" pitchFamily="18" charset="0"/>
                <a:cs typeface="Times New Roman" pitchFamily="18" charset="0"/>
              </a:rPr>
              <a:t>Linearizability</a:t>
            </a: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l" fontAlgn="auto">
              <a:spcAft>
                <a:spcPts val="0"/>
              </a:spcAft>
              <a:defRPr/>
            </a:pPr>
            <a:endParaRPr lang="en-US" sz="2400" b="1" spc="-10" dirty="0">
              <a:latin typeface="Times New Roman" pitchFamily="18" charset="0"/>
              <a:cs typeface="Times New Roman" pitchFamily="18" charset="0"/>
              <a:sym typeface="+mn-ea"/>
            </a:endParaRPr>
          </a:p>
        </p:txBody>
      </p:sp>
      <p:sp>
        <p:nvSpPr>
          <p:cNvPr id="32772" name="AutoShape 4" descr="Lightbox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74" name="AutoShape 6" descr="Lightbox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76" name="AutoShape 8" descr="Lightbox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78" name="AutoShape 10" descr="Lightbox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80" name="AutoShape 12" descr="Lightbox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846" name="AutoShape 6" descr="blob:https://web.whatsapp.com/474a50cf-e89e-46fb-9210-021b243cb386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" name="Graphic 10">
            <a:extLst>
              <a:ext uri="{FF2B5EF4-FFF2-40B4-BE49-F238E27FC236}">
                <a16:creationId xmlns:a16="http://schemas.microsoft.com/office/drawing/2014/main" xmlns="" id="{360516F8-70E6-4D47-067C-F951E77B32A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5257800" y="1103041"/>
            <a:ext cx="3048000" cy="291650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762000" y="1123950"/>
            <a:ext cx="4343399" cy="3048000"/>
          </a:xfrm>
          <a:prstGeom prst="rect">
            <a:avLst/>
          </a:prstGeom>
        </p:spPr>
        <p:txBody>
          <a:bodyPr vert="horz" wrap="square" lIns="0" tIns="9525" rIns="0" bIns="0" rtlCol="0">
            <a:noAutofit/>
          </a:bodyPr>
          <a:lstStyle/>
          <a:p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Unlike </a:t>
            </a:r>
            <a:r>
              <a:rPr lang="en-US" sz="16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Linearizability</a:t>
            </a:r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Sequential Consistency does not require strict adherence to real-time (wall-clock) order.</a:t>
            </a:r>
          </a:p>
          <a:p>
            <a:endParaRPr lang="en-US" sz="16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It guarantees that:</a:t>
            </a:r>
          </a:p>
          <a:p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result of execution is the same as if all operations were executed in some sequential order.</a:t>
            </a:r>
          </a:p>
          <a:p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Operations from a single processor appear in the order specified by its program.</a:t>
            </a:r>
          </a:p>
          <a:p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This is useful for queues and FIFO buffers where order matters more than "exact time."</a:t>
            </a:r>
            <a:endParaRPr lang="en-US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itle 1"/>
          <p:cNvSpPr>
            <a:spLocks noGrp="1"/>
          </p:cNvSpPr>
          <p:nvPr/>
        </p:nvSpPr>
        <p:spPr>
          <a:xfrm>
            <a:off x="762001" y="285671"/>
            <a:ext cx="7883525" cy="483394"/>
          </a:xfrm>
          <a:prstGeom prst="rect">
            <a:avLst/>
          </a:prstGeom>
        </p:spPr>
        <p:txBody>
          <a:bodyPr wrap="square" lIns="0" tIns="0" rIns="0" bIns="0" rtlCol="0">
            <a:normAutofit/>
          </a:bodyPr>
          <a:lstStyle>
            <a:lvl1pPr>
              <a:defRPr sz="3950" b="1" i="0">
                <a:solidFill>
                  <a:srgbClr val="1A1A1A"/>
                </a:solidFill>
                <a:latin typeface="Calibri"/>
                <a:ea typeface="+mj-ea"/>
                <a:cs typeface="Calibri"/>
              </a:defRPr>
            </a:lvl1pPr>
          </a:lstStyle>
          <a:p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Sequential Consistency</a:t>
            </a:r>
          </a:p>
          <a:p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l" fontAlgn="auto">
              <a:spcAft>
                <a:spcPts val="0"/>
              </a:spcAft>
              <a:defRPr/>
            </a:pPr>
            <a:endParaRPr lang="en-US" sz="2400" b="1" spc="-10" dirty="0">
              <a:latin typeface="Times New Roman" pitchFamily="18" charset="0"/>
              <a:cs typeface="Times New Roman" pitchFamily="18" charset="0"/>
              <a:sym typeface="+mn-ea"/>
            </a:endParaRPr>
          </a:p>
        </p:txBody>
      </p:sp>
      <p:sp>
        <p:nvSpPr>
          <p:cNvPr id="32772" name="AutoShape 4" descr="Lightbox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74" name="AutoShape 6" descr="Lightbox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76" name="AutoShape 8" descr="Lightbox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78" name="AutoShape 10" descr="Lightbox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80" name="AutoShape 12" descr="Lightbox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846" name="AutoShape 6" descr="blob:https://web.whatsapp.com/474a50cf-e89e-46fb-9210-021b243cb386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5BAB0C90-2CD7-0790-DA72-A4F73C2B99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105400" y="1200150"/>
            <a:ext cx="3540126" cy="31432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1999" y="285686"/>
            <a:ext cx="361696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Summary</a:t>
            </a:r>
            <a:r>
              <a:rPr sz="2400" spc="-25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of</a:t>
            </a:r>
            <a:r>
              <a:rPr sz="2400" spc="-15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</a:t>
            </a:r>
            <a:r>
              <a:rPr sz="2400" spc="-15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400" spc="-1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Lecture</a:t>
            </a: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2000" y="742950"/>
            <a:ext cx="7790180" cy="3722370"/>
          </a:xfrm>
          <a:prstGeom prst="rect">
            <a:avLst/>
          </a:prstGeom>
        </p:spPr>
        <p:txBody>
          <a:bodyPr vert="horz" wrap="square" lIns="0" tIns="15875" rIns="0" bIns="0" rtlCol="0">
            <a:noAutofit/>
          </a:bodyPr>
          <a:lstStyle/>
          <a:p>
            <a:pPr marL="12700" indent="0">
              <a:lnSpc>
                <a:spcPct val="150000"/>
              </a:lnSpc>
              <a:spcBef>
                <a:spcPts val="1700"/>
              </a:spcBef>
              <a:buClr>
                <a:srgbClr val="000000"/>
              </a:buClr>
              <a:buFont typeface="Arial MT"/>
              <a:buNone/>
              <a:tabLst>
                <a:tab pos="298450" algn="l"/>
              </a:tabLst>
            </a:pPr>
            <a:r>
              <a:rPr lang="en-US" sz="16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Scalability, Availability, and Reliability:</a:t>
            </a:r>
            <a: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/>
            </a:r>
            <a:b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</a:br>
            <a: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The lecture explained how systems must grow with user demand (scalability), stay accessible without downtime (availability), and function correctly even during failures (reliability).</a:t>
            </a:r>
          </a:p>
          <a:p>
            <a:pPr indent="0" algn="l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sz="16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Monolithic </a:t>
            </a:r>
            <a:r>
              <a:rPr lang="en-US" sz="1600" b="1" dirty="0" err="1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vs</a:t>
            </a:r>
            <a:r>
              <a:rPr lang="en-US" sz="16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sz="1600" b="1" dirty="0" err="1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Microservices</a:t>
            </a:r>
            <a:r>
              <a:rPr lang="en-US" sz="16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:</a:t>
            </a:r>
            <a: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/>
            </a:r>
            <a:b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</a:br>
            <a: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We learned the difference between a single, unified application (monolith) and a collection of small, independent services (</a:t>
            </a:r>
            <a:r>
              <a:rPr lang="en-US" sz="1600" dirty="0" err="1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microservices</a:t>
            </a:r>
            <a: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), including when each approach is useful.</a:t>
            </a:r>
          </a:p>
          <a:p>
            <a:pPr indent="0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sz="16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Latency and Throughput:</a:t>
            </a:r>
            <a: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/>
            </a:r>
            <a:b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</a:br>
            <a: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These performance metrics were discussed to understand system efficiency—latency measures response time, while throughput measures how many requests a system can handle per second.</a:t>
            </a:r>
          </a:p>
          <a:p>
            <a:pPr indent="0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sz="16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Caching:</a:t>
            </a:r>
            <a: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/>
            </a:r>
            <a:b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</a:br>
            <a: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The lecture highlighted caching as a method to store frequently accessed data for quick retrieval, helping to reduce load on servers and speed up system performance.</a:t>
            </a:r>
            <a:endParaRPr lang="en-US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62000" y="1276350"/>
            <a:ext cx="7630160" cy="2821940"/>
          </a:xfrm>
          <a:prstGeom prst="rect">
            <a:avLst/>
          </a:prstGeom>
        </p:spPr>
        <p:txBody>
          <a:bodyPr vert="horz" wrap="square" lIns="0" tIns="16510" rIns="0" bIns="0" rtlCol="0">
            <a:noAutofit/>
          </a:bodyPr>
          <a:lstStyle/>
          <a:p>
            <a:pPr marL="355600" indent="-342900">
              <a:lnSpc>
                <a:spcPts val="2290"/>
              </a:lnSpc>
              <a:spcBef>
                <a:spcPts val="130"/>
              </a:spcBef>
              <a:buClr>
                <a:srgbClr val="000000"/>
              </a:buClr>
              <a:buFont typeface="Arial MT"/>
              <a:buChar char="•"/>
              <a:tabLst>
                <a:tab pos="355600" algn="l"/>
              </a:tabLst>
            </a:pPr>
            <a:r>
              <a:rPr lang="en-US" sz="1600" dirty="0" smtClean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Functional vs. Non-Functional Requirements</a:t>
            </a:r>
          </a:p>
          <a:p>
            <a:pPr marL="355600" indent="-342900">
              <a:lnSpc>
                <a:spcPts val="2290"/>
              </a:lnSpc>
              <a:spcBef>
                <a:spcPts val="130"/>
              </a:spcBef>
              <a:buClr>
                <a:srgbClr val="000000"/>
              </a:buClr>
              <a:buFont typeface="Arial MT"/>
              <a:buChar char="•"/>
              <a:tabLst>
                <a:tab pos="355600" algn="l"/>
              </a:tabLst>
            </a:pPr>
            <a:r>
              <a:rPr lang="en-US" sz="1600" dirty="0" smtClean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Scaling Challenges: Horizontal vs. Vertical Scaling</a:t>
            </a:r>
          </a:p>
          <a:p>
            <a:pPr marL="355600" indent="-342900">
              <a:lnSpc>
                <a:spcPts val="2290"/>
              </a:lnSpc>
              <a:spcBef>
                <a:spcPts val="130"/>
              </a:spcBef>
              <a:buClr>
                <a:srgbClr val="000000"/>
              </a:buClr>
              <a:buFont typeface="Arial MT"/>
              <a:buChar char="•"/>
              <a:tabLst>
                <a:tab pos="355600" algn="l"/>
              </a:tabLst>
            </a:pPr>
            <a:r>
              <a:rPr lang="en-US" sz="1600" dirty="0" smtClean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Load Balancing – Principles and Deployment Strategies</a:t>
            </a:r>
          </a:p>
          <a:p>
            <a:pPr marL="355600" indent="-342900">
              <a:lnSpc>
                <a:spcPts val="2290"/>
              </a:lnSpc>
              <a:spcBef>
                <a:spcPts val="130"/>
              </a:spcBef>
              <a:buClr>
                <a:srgbClr val="000000"/>
              </a:buClr>
              <a:buFont typeface="Arial MT"/>
              <a:buChar char="•"/>
              <a:tabLst>
                <a:tab pos="355600" algn="l"/>
              </a:tabLst>
            </a:pPr>
            <a:r>
              <a:rPr lang="en-US" sz="1600" dirty="0" smtClean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Load Balancing Algorithms (RR, Weighted RR, Least Connection)</a:t>
            </a:r>
          </a:p>
        </p:txBody>
      </p:sp>
      <p:sp>
        <p:nvSpPr>
          <p:cNvPr id="6" name="Title 1"/>
          <p:cNvSpPr>
            <a:spLocks noGrp="1"/>
          </p:cNvSpPr>
          <p:nvPr/>
        </p:nvSpPr>
        <p:spPr>
          <a:xfrm>
            <a:off x="762001" y="285671"/>
            <a:ext cx="7883525" cy="483394"/>
          </a:xfrm>
          <a:prstGeom prst="rect">
            <a:avLst/>
          </a:prstGeom>
        </p:spPr>
        <p:txBody>
          <a:bodyPr wrap="square" lIns="0" tIns="0" rIns="0" bIns="0" rtlCol="0">
            <a:normAutofit/>
          </a:bodyPr>
          <a:lstStyle>
            <a:lvl1pPr>
              <a:defRPr sz="3950" b="1" i="0">
                <a:solidFill>
                  <a:srgbClr val="1A1A1A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Next</a:t>
            </a:r>
            <a:r>
              <a:rPr sz="2400" spc="-65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sz="2400" spc="-1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Lecture</a:t>
            </a: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l" fontAlgn="auto">
              <a:spcAft>
                <a:spcPts val="0"/>
              </a:spcAft>
              <a:defRPr/>
            </a:pPr>
            <a:endParaRPr lang="en-US" sz="2400" b="1" spc="-10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762000" y="1124585"/>
            <a:ext cx="7696200" cy="379920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r>
              <a:rPr lang="en-US" sz="1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1. What is the main difference between vertical and horizontal scaling?</a:t>
            </a:r>
          </a:p>
          <a:p>
            <a:r>
              <a:rPr lang="en-US" sz="1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A. Vertical scaling adds more machines; horizontal scaling increases RAM</a:t>
            </a:r>
            <a:br>
              <a:rPr lang="en-US" sz="1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</a:br>
            <a:r>
              <a:rPr lang="en-US" sz="1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B. Vertical scaling increases resources of one machine; horizontal scaling adds more machines</a:t>
            </a:r>
            <a:br>
              <a:rPr lang="en-US" sz="1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</a:br>
            <a:r>
              <a:rPr lang="en-US" sz="1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C. Both increase CPU only</a:t>
            </a:r>
            <a:br>
              <a:rPr lang="en-US" sz="1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</a:br>
            <a:r>
              <a:rPr lang="en-US" sz="1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D. None of the above</a:t>
            </a:r>
            <a:br>
              <a:rPr lang="en-US" sz="1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</a:br>
            <a:r>
              <a:rPr lang="en-US" sz="1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Correct Answer:</a:t>
            </a:r>
            <a:r>
              <a:rPr lang="en-US" sz="1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sz="1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B</a:t>
            </a:r>
            <a:endParaRPr lang="en-US" sz="1200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US" sz="1200" b="1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1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2. Which component helps distribute traffic among multiple servers?</a:t>
            </a:r>
          </a:p>
          <a:p>
            <a:r>
              <a:rPr lang="en-US" sz="1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A. Cache</a:t>
            </a:r>
            <a:br>
              <a:rPr lang="en-US" sz="1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</a:br>
            <a:r>
              <a:rPr lang="en-US" sz="1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B. Database</a:t>
            </a:r>
            <a:br>
              <a:rPr lang="en-US" sz="1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</a:br>
            <a:r>
              <a:rPr lang="en-US" sz="1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C. Load Balancer</a:t>
            </a:r>
            <a:br>
              <a:rPr lang="en-US" sz="1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</a:br>
            <a:r>
              <a:rPr lang="en-US" sz="1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D. API Gateway</a:t>
            </a:r>
            <a:br>
              <a:rPr lang="en-US" sz="1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</a:br>
            <a:r>
              <a:rPr lang="en-US" sz="1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Correct Answer:</a:t>
            </a:r>
            <a:r>
              <a:rPr lang="en-US" sz="1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sz="1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C</a:t>
            </a:r>
            <a:endParaRPr lang="en-US" sz="1200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US" sz="1200" b="1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1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3. What is the purpose of caching in a system?</a:t>
            </a:r>
          </a:p>
          <a:p>
            <a:r>
              <a:rPr lang="en-US" sz="1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A. To store data permanently</a:t>
            </a:r>
            <a:br>
              <a:rPr lang="en-US" sz="1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</a:br>
            <a:r>
              <a:rPr lang="en-US" sz="1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B. To speed up data retrieval by storing frequently accessed data</a:t>
            </a:r>
            <a:br>
              <a:rPr lang="en-US" sz="1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</a:br>
            <a:r>
              <a:rPr lang="en-US" sz="1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C. To replace the database</a:t>
            </a:r>
            <a:br>
              <a:rPr lang="en-US" sz="1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</a:br>
            <a:r>
              <a:rPr lang="en-US" sz="1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D. To improve </a:t>
            </a:r>
            <a:r>
              <a:rPr lang="en-US" sz="1200" dirty="0" err="1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microservices</a:t>
            </a:r>
            <a:r>
              <a:rPr lang="en-US" sz="1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communication</a:t>
            </a:r>
            <a:br>
              <a:rPr lang="en-US" sz="1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</a:br>
            <a:r>
              <a:rPr lang="en-US" sz="1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Correct Answer:</a:t>
            </a:r>
            <a:r>
              <a:rPr lang="en-US" sz="1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sz="1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B</a:t>
            </a:r>
            <a:endParaRPr lang="en-US" sz="1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" name="Title 1"/>
          <p:cNvSpPr>
            <a:spLocks noGrp="1"/>
          </p:cNvSpPr>
          <p:nvPr/>
        </p:nvSpPr>
        <p:spPr>
          <a:xfrm>
            <a:off x="762001" y="285671"/>
            <a:ext cx="7883525" cy="483394"/>
          </a:xfrm>
          <a:prstGeom prst="rect">
            <a:avLst/>
          </a:prstGeom>
        </p:spPr>
        <p:txBody>
          <a:bodyPr wrap="square" lIns="0" tIns="0" rIns="0" bIns="0" rtlCol="0">
            <a:normAutofit/>
          </a:bodyPr>
          <a:lstStyle>
            <a:lvl1pPr>
              <a:defRPr sz="3950" b="1" i="0">
                <a:solidFill>
                  <a:srgbClr val="1A1A1A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sz="2400" spc="-1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Quiz/ FAQ’s</a:t>
            </a: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l" fontAlgn="auto">
              <a:spcAft>
                <a:spcPts val="0"/>
              </a:spcAft>
              <a:defRPr/>
            </a:pPr>
            <a:endParaRPr lang="en-US" sz="2400" b="1" spc="-10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762000" y="1123950"/>
            <a:ext cx="7982585" cy="3582035"/>
          </a:xfrm>
          <a:prstGeom prst="rect">
            <a:avLst/>
          </a:prstGeom>
        </p:spPr>
        <p:txBody>
          <a:bodyPr vert="horz" wrap="square" lIns="0" tIns="15875" rIns="0" bIns="0" rtlCol="0">
            <a:noAutofit/>
          </a:bodyPr>
          <a:lstStyle/>
          <a:p>
            <a:pPr marL="12700">
              <a:lnSpc>
                <a:spcPct val="150000"/>
              </a:lnSpc>
              <a:spcBef>
                <a:spcPts val="125"/>
              </a:spcBef>
            </a:pPr>
            <a:r>
              <a:rPr lang="en-US" altLang="en-US" sz="1600" i="0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Book Reference:</a:t>
            </a:r>
            <a:endParaRPr lang="en-US" altLang="en-US" sz="1600" b="0" i="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12700">
              <a:lnSpc>
                <a:spcPct val="150000"/>
              </a:lnSpc>
              <a:spcBef>
                <a:spcPts val="125"/>
              </a:spcBef>
            </a:pPr>
            <a:r>
              <a:rPr lang="en-US" altLang="en-US" sz="1600" b="0" i="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System Design Guide for Software Professionals- Kindle Edition by</a:t>
            </a:r>
            <a:r>
              <a:rPr lang="" altLang="en-US" sz="1600" b="0" i="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 </a:t>
            </a:r>
            <a:r>
              <a:rPr lang="en-US" altLang="en-US" sz="1600" b="0" i="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Dhirendra Sinha</a:t>
            </a:r>
            <a:r>
              <a:rPr lang="" altLang="en-US" sz="1600" b="0" i="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 </a:t>
            </a:r>
            <a:r>
              <a:rPr lang="en-US" altLang="en-US" sz="1600" b="0" i="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(Author),</a:t>
            </a:r>
            <a:r>
              <a:rPr lang="" altLang="en-US" sz="1600" b="0" i="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 </a:t>
            </a:r>
            <a:r>
              <a:rPr lang="en-US" altLang="en-US" sz="1600" b="0" i="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Tejas Chopra</a:t>
            </a:r>
            <a:r>
              <a:rPr lang="" altLang="en-US" sz="1600" b="0" i="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 </a:t>
            </a:r>
            <a:r>
              <a:rPr lang="en-US" altLang="en-US" sz="1600" b="0" i="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(Author)</a:t>
            </a:r>
            <a:r>
              <a:rPr lang="" altLang="en-US" sz="1600" b="0" i="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  </a:t>
            </a:r>
            <a:r>
              <a:rPr lang="en-US" altLang="en-US" sz="1600" b="0" i="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Format</a:t>
            </a:r>
          </a:p>
          <a:p>
            <a:pPr marL="12700">
              <a:lnSpc>
                <a:spcPct val="150000"/>
              </a:lnSpc>
              <a:spcBef>
                <a:spcPts val="125"/>
              </a:spcBef>
            </a:pPr>
            <a:endParaRPr lang="en-US" altLang="en-US" sz="1600" b="0" i="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12700">
              <a:lnSpc>
                <a:spcPct val="150000"/>
              </a:lnSpc>
              <a:spcBef>
                <a:spcPts val="125"/>
              </a:spcBef>
            </a:pPr>
            <a:r>
              <a:rPr lang="en-US" altLang="en-US" sz="1600" i="0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Tutorial Link:</a:t>
            </a:r>
            <a:endParaRPr lang="en-US" altLang="en-US" sz="1600" b="0" i="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12700">
              <a:lnSpc>
                <a:spcPct val="150000"/>
              </a:lnSpc>
              <a:spcBef>
                <a:spcPts val="125"/>
              </a:spcBef>
            </a:pPr>
            <a:r>
              <a:rPr lang="en-US" altLang="en-US" sz="1600" b="0" i="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https://www.geeksforgeeks.org/system-design/system-design-tutorial/ </a:t>
            </a:r>
          </a:p>
          <a:p>
            <a:pPr marL="12700">
              <a:lnSpc>
                <a:spcPct val="150000"/>
              </a:lnSpc>
              <a:spcBef>
                <a:spcPts val="125"/>
              </a:spcBef>
            </a:pPr>
            <a:endParaRPr lang="en-US" altLang="en-US" sz="1600" b="0" i="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12700">
              <a:lnSpc>
                <a:spcPct val="150000"/>
              </a:lnSpc>
              <a:spcBef>
                <a:spcPts val="125"/>
              </a:spcBef>
            </a:pPr>
            <a:r>
              <a:rPr lang="en-US" altLang="en-US" sz="1600" i="0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Video Link:</a:t>
            </a:r>
            <a:endParaRPr lang="en-US" altLang="en-US" sz="1600" b="0" i="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12700">
              <a:lnSpc>
                <a:spcPct val="150000"/>
              </a:lnSpc>
              <a:spcBef>
                <a:spcPts val="125"/>
              </a:spcBef>
            </a:pPr>
            <a:r>
              <a:rPr lang="en-US" altLang="en-US" sz="1600" b="0" i="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https://www.youtube.com/results?search_query=Introduction+to+System+Design </a:t>
            </a:r>
          </a:p>
          <a:p>
            <a:pPr marL="12700">
              <a:lnSpc>
                <a:spcPct val="150000"/>
              </a:lnSpc>
              <a:spcBef>
                <a:spcPts val="125"/>
              </a:spcBef>
            </a:pPr>
            <a:r>
              <a:rPr lang="en-US" altLang="en-US" sz="1600" b="0" i="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https://x.com/ShradhaKhapra_</a:t>
            </a:r>
          </a:p>
        </p:txBody>
      </p:sp>
      <p:sp>
        <p:nvSpPr>
          <p:cNvPr id="6" name="Title 1"/>
          <p:cNvSpPr>
            <a:spLocks noGrp="1"/>
          </p:cNvSpPr>
          <p:nvPr/>
        </p:nvSpPr>
        <p:spPr>
          <a:xfrm>
            <a:off x="762001" y="285671"/>
            <a:ext cx="7883525" cy="483394"/>
          </a:xfrm>
          <a:prstGeom prst="rect">
            <a:avLst/>
          </a:prstGeom>
        </p:spPr>
        <p:txBody>
          <a:bodyPr wrap="square" lIns="0" tIns="0" rIns="0" bIns="0" rtlCol="0">
            <a:normAutofit/>
          </a:bodyPr>
          <a:lstStyle>
            <a:lvl1pPr>
              <a:defRPr sz="3950" b="1" i="0">
                <a:solidFill>
                  <a:srgbClr val="1A1A1A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References/</a:t>
            </a:r>
            <a:r>
              <a:rPr sz="2400" spc="-9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Articles/</a:t>
            </a:r>
            <a:r>
              <a:rPr sz="2400" spc="-85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sz="2400" spc="-1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Videos</a:t>
            </a: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l" fontAlgn="auto">
              <a:spcAft>
                <a:spcPts val="0"/>
              </a:spcAft>
              <a:defRPr/>
            </a:pPr>
            <a:endParaRPr lang="en-US" sz="2400" b="1" spc="-10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/>
        </p:nvSpPr>
        <p:spPr>
          <a:xfrm>
            <a:off x="762001" y="285671"/>
            <a:ext cx="7883525" cy="483394"/>
          </a:xfrm>
          <a:prstGeom prst="rect">
            <a:avLst/>
          </a:prstGeom>
        </p:spPr>
        <p:txBody>
          <a:bodyPr wrap="square" lIns="0" tIns="0" rIns="0" bIns="0" rtlCol="0">
            <a:normAutofit/>
          </a:bodyPr>
          <a:lstStyle>
            <a:lvl1pPr>
              <a:defRPr sz="3950" b="1" i="0">
                <a:solidFill>
                  <a:srgbClr val="1A1A1A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sz="2400" spc="-1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Class-Wise Feedback</a:t>
            </a: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l" fontAlgn="auto">
              <a:spcAft>
                <a:spcPts val="0"/>
              </a:spcAft>
              <a:defRPr/>
            </a:pPr>
            <a:endParaRPr lang="en-US" sz="2400" b="1" spc="-10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15362" name="AutoShape 2" descr="Homogeneous Distributed Database (Self Creation) | Download Scientific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 descr="qr-code-bee-is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96457" y="986972"/>
            <a:ext cx="3979636" cy="312601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47306" rIns="0" bIns="0" rtlCol="0">
            <a:spAutoFit/>
          </a:bodyPr>
          <a:lstStyle/>
          <a:p>
            <a:pPr marL="1548765">
              <a:lnSpc>
                <a:spcPct val="100000"/>
              </a:lnSpc>
              <a:spcBef>
                <a:spcPts val="90"/>
              </a:spcBef>
            </a:pPr>
            <a:r>
              <a:rPr spc="-819" dirty="0"/>
              <a:t>Thank</a:t>
            </a:r>
            <a:r>
              <a:rPr spc="-30" dirty="0"/>
              <a:t> </a:t>
            </a:r>
            <a:r>
              <a:rPr spc="-580" dirty="0"/>
              <a:t>You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59585" y="4324350"/>
            <a:ext cx="5624830" cy="3238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dirty="0">
                <a:latin typeface="Times New Roman" pitchFamily="18" charset="0"/>
                <a:cs typeface="Times New Roman" pitchFamily="18" charset="0"/>
              </a:rPr>
              <a:t>For</a:t>
            </a:r>
            <a:r>
              <a:rPr sz="2000" spc="-10" dirty="0">
                <a:latin typeface="Times New Roman" pitchFamily="18" charset="0"/>
                <a:cs typeface="Times New Roman" pitchFamily="18" charset="0"/>
              </a:rPr>
              <a:t> queries</a:t>
            </a:r>
            <a:r>
              <a:rPr lang="en-US" altLang="" sz="2000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Email:</a:t>
            </a:r>
            <a:r>
              <a:rPr lang="en-US" altLang="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  <a:hlinkClick r:id="rId2"/>
              </a:rPr>
              <a:t>kamaljee</a:t>
            </a:r>
            <a:r>
              <a:rPr lang="en-US" sz="2000" u="sng" spc="-10" dirty="0" smtClean="0">
                <a:solidFill>
                  <a:srgbClr val="1C3678"/>
                </a:solidFill>
                <a:uFill>
                  <a:solidFill>
                    <a:srgbClr val="1C3678"/>
                  </a:solidFill>
                </a:uFill>
                <a:latin typeface="Times New Roman" pitchFamily="18" charset="0"/>
                <a:cs typeface="Times New Roman" pitchFamily="18" charset="0"/>
                <a:hlinkClick r:id="rId3"/>
              </a:rPr>
              <a:t>t</a:t>
            </a:r>
            <a:r>
              <a:rPr sz="2000" spc="-10" dirty="0" smtClean="0">
                <a:latin typeface="Times New Roman" pitchFamily="18" charset="0"/>
                <a:cs typeface="Times New Roman" pitchFamily="18" charset="0"/>
                <a:hlinkClick r:id="rId2"/>
              </a:rPr>
              <a:t>.e1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  <a:hlinkClick r:id="rId2"/>
              </a:rPr>
              <a:t>9147</a:t>
            </a:r>
            <a:r>
              <a:rPr sz="2000" spc="-10" dirty="0" smtClean="0">
                <a:latin typeface="Times New Roman" pitchFamily="18" charset="0"/>
                <a:cs typeface="Times New Roman" pitchFamily="18" charset="0"/>
                <a:hlinkClick r:id="rId2"/>
              </a:rPr>
              <a:t>@cumail.in</a:t>
            </a:r>
            <a:endParaRPr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732</TotalTime>
  <Words>666</Words>
  <Application>Microsoft Office PowerPoint</Application>
  <PresentationFormat>On-screen Show (16:9)</PresentationFormat>
  <Paragraphs>93</Paragraphs>
  <Slides>14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Office Theme</vt:lpstr>
      <vt:lpstr>CorelDRAW</vt:lpstr>
      <vt:lpstr>Slide 1</vt:lpstr>
      <vt:lpstr>Slide 2</vt:lpstr>
      <vt:lpstr>Course Outcomes</vt:lpstr>
      <vt:lpstr>Unit-1 Syllabus</vt:lpstr>
      <vt:lpstr>Slide 5</vt:lpstr>
      <vt:lpstr>Slide 6</vt:lpstr>
      <vt:lpstr>Slide 7</vt:lpstr>
      <vt:lpstr>Slide 8</vt:lpstr>
      <vt:lpstr>Summary of the Lecture</vt:lpstr>
      <vt:lpstr>Slide 10</vt:lpstr>
      <vt:lpstr>Slide 11</vt:lpstr>
      <vt:lpstr>Slide 12</vt:lpstr>
      <vt:lpstr>Slide 13</vt:lpstr>
      <vt:lpstr>Slide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APEX INSTITUTE OF TECHNOLOGY DEPARTMENT OF COMPUTER SCIENCE &amp; ENGINEERING</dc:title>
  <dc:creator>DELL-LATITUDE</dc:creator>
  <cp:lastModifiedBy>DELL-LATITUDE</cp:lastModifiedBy>
  <cp:revision>92</cp:revision>
  <dcterms:created xsi:type="dcterms:W3CDTF">2025-12-03T05:18:11Z</dcterms:created>
  <dcterms:modified xsi:type="dcterms:W3CDTF">2025-12-15T07:05:59Z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2025-11-29T05:30:00Z</vt:filetime>
  </property>
  <property fmtid="{D5CDD505-2E9C-101B-9397-08002B2CF9AE}" pid="3" name="LastSaved">
    <vt:filetime>2025-11-30T05:30:00Z</vt:filetime>
  </property>
  <property fmtid="{D5CDD505-2E9C-101B-9397-08002B2CF9AE}" pid="4" name="ICV">
    <vt:lpwstr>BE53AF1E6976AF6A8CBC2F69ADEE211E_42</vt:lpwstr>
  </property>
  <property fmtid="{D5CDD505-2E9C-101B-9397-08002B2CF9AE}" pid="5" name="KSOProductBuildVer">
    <vt:lpwstr>1033-12.1.23143.23143</vt:lpwstr>
  </property>
</Properties>
</file>