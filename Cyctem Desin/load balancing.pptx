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Default Extension="bin" ContentType="application/vnd.openxmlformats-officedocument.oleObject"/>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95" r:id="rId2"/>
    <p:sldId id="257" r:id="rId3"/>
    <p:sldId id="297" r:id="rId4"/>
    <p:sldId id="298" r:id="rId5"/>
    <p:sldId id="310" r:id="rId6"/>
    <p:sldId id="311" r:id="rId7"/>
    <p:sldId id="312" r:id="rId8"/>
    <p:sldId id="300" r:id="rId9"/>
    <p:sldId id="301" r:id="rId10"/>
    <p:sldId id="302" r:id="rId11"/>
    <p:sldId id="303" r:id="rId12"/>
    <p:sldId id="304" r:id="rId13"/>
    <p:sldId id="305" r:id="rId14"/>
    <p:sldId id="306" r:id="rId15"/>
    <p:sldId id="307" r:id="rId16"/>
    <p:sldId id="308" r:id="rId17"/>
    <p:sldId id="285" r:id="rId18"/>
    <p:sldId id="286" r:id="rId19"/>
    <p:sldId id="287" r:id="rId20"/>
    <p:sldId id="313" r:id="rId21"/>
    <p:sldId id="288" r:id="rId22"/>
    <p:sldId id="289" r:id="rId23"/>
    <p:sldId id="290" r:id="rId24"/>
  </p:sldIdLst>
  <p:sldSz cx="9144000" cy="5143500" type="screen16x9"/>
  <p:notesSz cx="9144000" cy="5143500"/>
  <p:defaultTextStyle>
    <a:defPPr>
      <a:defRPr kern="0"/>
    </a:defPPr>
  </p:defaultTextStyle>
  <p:extLst>
    <p:ext uri="{EFAFB233-063F-42B5-8137-9DF3F51BA10A}">
      <p15:sldGuideLst xmlns:p15="http://schemas.microsoft.com/office/powerpoint/2012/main" xmlns="">
        <p15:guide id="1" orient="horz" pos="2862"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822" y="-78"/>
      </p:cViewPr>
      <p:guideLst>
        <p:guide orient="horz" pos="2862"/>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3950" b="1" i="0">
                <a:solidFill>
                  <a:srgbClr val="1A1A1A"/>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8050" b="1" i="1">
                <a:solidFill>
                  <a:srgbClr val="FF0000"/>
                </a:solidFill>
                <a:latin typeface="Times New Roman" panose="02020503050405090304"/>
                <a:cs typeface="Times New Roman" panose="0202050305040509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1A1A1A"/>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8050" b="1" i="1">
                <a:solidFill>
                  <a:srgbClr val="FF0000"/>
                </a:solidFill>
                <a:latin typeface="Times New Roman" panose="02020503050405090304"/>
                <a:cs typeface="Times New Roman" panose="0202050305040509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1A1A1A"/>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1A1A1A"/>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804386"/>
            <a:ext cx="2949178" cy="738664"/>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70"/>
            <a:ext cx="4629150" cy="143116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18466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a:xfrm>
            <a:off x="457200" y="4783455"/>
            <a:ext cx="2103120" cy="276999"/>
          </a:xfrm>
        </p:spPr>
        <p:txBody>
          <a:bodyPr/>
          <a:lstStyle>
            <a:lvl1pPr fontAlgn="base">
              <a:spcBef>
                <a:spcPct val="0"/>
              </a:spcBef>
              <a:spcAft>
                <a:spcPct val="0"/>
              </a:spcAft>
              <a:defRPr>
                <a:latin typeface="Arial" panose="020B0604020202090204" pitchFamily="34" charset="0"/>
              </a:defRPr>
            </a:lvl1pPr>
          </a:lstStyle>
          <a:p>
            <a:pPr>
              <a:defRPr/>
            </a:pPr>
            <a:endParaRPr lang="en-US"/>
          </a:p>
        </p:txBody>
      </p:sp>
      <p:sp>
        <p:nvSpPr>
          <p:cNvPr id="6" name="Footer Placeholder 5"/>
          <p:cNvSpPr>
            <a:spLocks noGrp="1"/>
          </p:cNvSpPr>
          <p:nvPr>
            <p:ph type="ftr" sz="quarter" idx="11"/>
          </p:nvPr>
        </p:nvSpPr>
        <p:spPr>
          <a:xfrm>
            <a:off x="3108960" y="4783455"/>
            <a:ext cx="2926080" cy="276999"/>
          </a:xfrm>
        </p:spPr>
        <p:txBody>
          <a:bodyPr/>
          <a:lstStyle>
            <a:lvl1pPr fontAlgn="base">
              <a:spcBef>
                <a:spcPct val="0"/>
              </a:spcBef>
              <a:spcAft>
                <a:spcPct val="0"/>
              </a:spcAft>
              <a:defRPr>
                <a:latin typeface="Arial" panose="020B0604020202090204" pitchFamily="34" charset="0"/>
              </a:defRPr>
            </a:lvl1pPr>
          </a:lstStyle>
          <a:p>
            <a:pPr>
              <a:defRPr/>
            </a:pPr>
            <a:endParaRPr lang="en-US"/>
          </a:p>
        </p:txBody>
      </p:sp>
      <p:sp>
        <p:nvSpPr>
          <p:cNvPr id="7" name="Slide Number Placeholder 6"/>
          <p:cNvSpPr>
            <a:spLocks noGrp="1"/>
          </p:cNvSpPr>
          <p:nvPr>
            <p:ph type="sldNum" sz="quarter" idx="12"/>
          </p:nvPr>
        </p:nvSpPr>
        <p:spPr>
          <a:xfrm>
            <a:off x="6583680" y="4783455"/>
            <a:ext cx="2103120" cy="276999"/>
          </a:xfrm>
        </p:spPr>
        <p:txBody>
          <a:bodyPr/>
          <a:lstStyle>
            <a:lvl1pPr fontAlgn="base">
              <a:spcBef>
                <a:spcPct val="0"/>
              </a:spcBef>
              <a:spcAft>
                <a:spcPct val="0"/>
              </a:spcAft>
              <a:defRPr>
                <a:latin typeface="Arial" panose="020B0604020202090204" pitchFamily="34" charset="0"/>
              </a:defRPr>
            </a:lvl1pPr>
          </a:lstStyle>
          <a:p>
            <a:pPr>
              <a:defRPr/>
            </a:pPr>
            <a:fld id="{9D9B6AFD-A192-4C37-8069-CDFD0FFEA4A5}"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28575" y="19050"/>
            <a:ext cx="657225" cy="1047750"/>
          </a:xfrm>
          <a:prstGeom prst="rect">
            <a:avLst/>
          </a:prstGeom>
        </p:spPr>
      </p:pic>
      <p:sp>
        <p:nvSpPr>
          <p:cNvPr id="2" name="Holder 2"/>
          <p:cNvSpPr>
            <a:spLocks noGrp="1"/>
          </p:cNvSpPr>
          <p:nvPr>
            <p:ph type="title"/>
          </p:nvPr>
        </p:nvSpPr>
        <p:spPr>
          <a:xfrm>
            <a:off x="454977" y="89852"/>
            <a:ext cx="8234044" cy="874966"/>
          </a:xfrm>
          <a:prstGeom prst="rect">
            <a:avLst/>
          </a:prstGeom>
        </p:spPr>
        <p:txBody>
          <a:bodyPr wrap="square" lIns="0" tIns="0" rIns="0" bIns="0">
            <a:spAutoFit/>
          </a:bodyPr>
          <a:lstStyle>
            <a:lvl1pPr>
              <a:defRPr sz="3950" b="1" i="0">
                <a:solidFill>
                  <a:srgbClr val="1A1A1A"/>
                </a:solidFill>
                <a:latin typeface="Calibri"/>
                <a:cs typeface="Calibri"/>
              </a:defRPr>
            </a:lvl1pPr>
          </a:lstStyle>
          <a:p>
            <a:endParaRPr/>
          </a:p>
        </p:txBody>
      </p:sp>
      <p:sp>
        <p:nvSpPr>
          <p:cNvPr id="3" name="Holder 3"/>
          <p:cNvSpPr>
            <a:spLocks noGrp="1"/>
          </p:cNvSpPr>
          <p:nvPr>
            <p:ph type="body" idx="1"/>
          </p:nvPr>
        </p:nvSpPr>
        <p:spPr>
          <a:xfrm>
            <a:off x="1056322" y="1461452"/>
            <a:ext cx="6900545" cy="2380615"/>
          </a:xfrm>
          <a:prstGeom prst="rect">
            <a:avLst/>
          </a:prstGeom>
        </p:spPr>
        <p:txBody>
          <a:bodyPr wrap="square" lIns="0" tIns="0" rIns="0" bIns="0">
            <a:spAutoFit/>
          </a:bodyPr>
          <a:lstStyle>
            <a:lvl1pPr>
              <a:defRPr sz="8050" b="1" i="1">
                <a:solidFill>
                  <a:srgbClr val="FF0000"/>
                </a:solidFill>
                <a:latin typeface="Times New Roman" panose="02020503050405090304"/>
                <a:cs typeface="Times New Roman" panose="02020503050405090304"/>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youtube.com/watch?v=chyZRNT7eEo"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forms.gle/KF57CKfJj9WmhsEr5" TargetMode="External"/><Relationship Id="rId2" Type="http://schemas.openxmlformats.org/officeDocument/2006/relationships/hyperlink" Target="mailto:kamaljee.e18488@cumail.i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1588" y="3657600"/>
            <a:ext cx="9144001" cy="8536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32" name="Rectangle 31"/>
          <p:cNvSpPr/>
          <p:nvPr/>
        </p:nvSpPr>
        <p:spPr>
          <a:xfrm>
            <a:off x="228600" y="3962400"/>
            <a:ext cx="33338" cy="3452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44" name="Slide Number Placeholder 2"/>
          <p:cNvSpPr txBox="1"/>
          <p:nvPr/>
        </p:nvSpPr>
        <p:spPr>
          <a:xfrm>
            <a:off x="6572251" y="4302919"/>
            <a:ext cx="2055813" cy="205979"/>
          </a:xfrm>
          <a:prstGeom prst="rect">
            <a:avLst/>
          </a:prstGeom>
        </p:spPr>
        <p:txBody>
          <a:bodyPr lIns="68556" tIns="34279" rIns="68556" bIns="34279"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endParaRPr lang="en-US" sz="900" dirty="0">
              <a:solidFill>
                <a:prstClr val="black">
                  <a:tint val="75000"/>
                </a:prstClr>
              </a:solidFill>
            </a:endParaRPr>
          </a:p>
        </p:txBody>
      </p:sp>
      <p:sp>
        <p:nvSpPr>
          <p:cNvPr id="46" name="Right Triangle 45"/>
          <p:cNvSpPr/>
          <p:nvPr/>
        </p:nvSpPr>
        <p:spPr>
          <a:xfrm flipV="1">
            <a:off x="7129464" y="3983832"/>
            <a:ext cx="968375" cy="651272"/>
          </a:xfrm>
          <a:prstGeom prst="rtTriangle">
            <a:avLst/>
          </a:prstGeom>
          <a:solidFill>
            <a:srgbClr val="FFFFFF">
              <a:lumMod val="95000"/>
              <a:alpha val="17000"/>
            </a:srgb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ID" sz="1350" kern="0">
              <a:solidFill>
                <a:srgbClr val="FFFFFF"/>
              </a:solidFill>
              <a:latin typeface="Calibri"/>
            </a:endParaRPr>
          </a:p>
        </p:txBody>
      </p:sp>
      <p:graphicFrame>
        <p:nvGraphicFramePr>
          <p:cNvPr id="19462" name="Object 47"/>
          <p:cNvGraphicFramePr>
            <a:graphicFrameLocks noChangeAspect="1"/>
          </p:cNvGraphicFramePr>
          <p:nvPr/>
        </p:nvGraphicFramePr>
        <p:xfrm>
          <a:off x="58738" y="2399110"/>
          <a:ext cx="2476500" cy="1770459"/>
        </p:xfrm>
        <a:graphic>
          <a:graphicData uri="http://schemas.openxmlformats.org/presentationml/2006/ole">
            <p:oleObj spid="_x0000_s1025" name="CorelDRAW" r:id="rId3" imgW="2169000" imgH="2169360" progId="">
              <p:embed/>
            </p:oleObj>
          </a:graphicData>
        </a:graphic>
      </p:graphicFrame>
      <p:sp>
        <p:nvSpPr>
          <p:cNvPr id="37" name="Right Triangle 36"/>
          <p:cNvSpPr/>
          <p:nvPr/>
        </p:nvSpPr>
        <p:spPr>
          <a:xfrm flipH="1">
            <a:off x="5283201" y="628650"/>
            <a:ext cx="3859213" cy="3290888"/>
          </a:xfrm>
          <a:prstGeom prst="rtTriangle">
            <a:avLst/>
          </a:prstGeom>
          <a:solidFill>
            <a:srgbClr val="FFFFFF">
              <a:lumMod val="95000"/>
              <a:alpha val="17000"/>
            </a:srgb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ID" sz="1350" kern="0">
              <a:solidFill>
                <a:srgbClr val="FFFFFF"/>
              </a:solidFill>
              <a:latin typeface="Calibri"/>
            </a:endParaRPr>
          </a:p>
        </p:txBody>
      </p:sp>
      <p:sp>
        <p:nvSpPr>
          <p:cNvPr id="45" name="Rectangle 44"/>
          <p:cNvSpPr/>
          <p:nvPr/>
        </p:nvSpPr>
        <p:spPr>
          <a:xfrm>
            <a:off x="1594093" y="1782572"/>
            <a:ext cx="5120286" cy="888823"/>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pic>
        <p:nvPicPr>
          <p:cNvPr id="19467" name="Picture 29"/>
          <p:cNvPicPr>
            <a:picLocks noChangeAspect="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219200" y="514350"/>
            <a:ext cx="6629400" cy="13385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3" name="Right Triangle 42"/>
          <p:cNvSpPr/>
          <p:nvPr/>
        </p:nvSpPr>
        <p:spPr>
          <a:xfrm rot="10800000" flipV="1">
            <a:off x="7370764" y="3643313"/>
            <a:ext cx="1774825" cy="898922"/>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36" name="TextBox 35"/>
          <p:cNvSpPr txBox="1">
            <a:spLocks noChangeArrowheads="1"/>
          </p:cNvSpPr>
          <p:nvPr/>
        </p:nvSpPr>
        <p:spPr bwMode="auto">
          <a:xfrm>
            <a:off x="5160963" y="3984070"/>
            <a:ext cx="3695700" cy="3219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eaLnBrk="1" fontAlgn="auto" hangingPunct="1">
              <a:spcBef>
                <a:spcPts val="0"/>
              </a:spcBef>
              <a:spcAft>
                <a:spcPts val="0"/>
              </a:spcAft>
              <a:defRPr/>
            </a:pPr>
            <a:r>
              <a:rPr lang="en-US" sz="1500" b="1" dirty="0">
                <a:solidFill>
                  <a:prstClr val="black">
                    <a:lumMod val="65000"/>
                    <a:lumOff val="35000"/>
                  </a:prstClr>
                </a:solidFill>
                <a:latin typeface="Times New Roman" panose="02020503050405090304" pitchFamily="18" charset="0"/>
                <a:ea typeface="Karla" pitchFamily="2" charset="0"/>
                <a:cs typeface="Times New Roman" panose="02020503050405090304" pitchFamily="18" charset="0"/>
              </a:rPr>
              <a:t>DISCOVER . </a:t>
            </a:r>
            <a:r>
              <a:rPr lang="en-US" sz="1500" b="1" dirty="0">
                <a:solidFill>
                  <a:srgbClr val="C00000"/>
                </a:solidFill>
                <a:latin typeface="Times New Roman" panose="02020503050405090304" pitchFamily="18" charset="0"/>
                <a:ea typeface="Karla" pitchFamily="2" charset="0"/>
                <a:cs typeface="Times New Roman" panose="02020503050405090304" pitchFamily="18" charset="0"/>
              </a:rPr>
              <a:t>LEARN</a:t>
            </a:r>
            <a:r>
              <a:rPr lang="en-US" sz="1500" b="1" dirty="0">
                <a:solidFill>
                  <a:prstClr val="black">
                    <a:lumMod val="65000"/>
                    <a:lumOff val="35000"/>
                  </a:prstClr>
                </a:solidFill>
                <a:latin typeface="Times New Roman" panose="02020503050405090304" pitchFamily="18" charset="0"/>
                <a:ea typeface="Karla" pitchFamily="2" charset="0"/>
                <a:cs typeface="Times New Roman" panose="02020503050405090304" pitchFamily="18" charset="0"/>
              </a:rPr>
              <a:t> . EMPOWER</a:t>
            </a:r>
            <a:endParaRPr lang="en-US" sz="1200" b="1" dirty="0">
              <a:solidFill>
                <a:prstClr val="black"/>
              </a:solidFill>
              <a:latin typeface="Casper" panose="02000506000000020004" pitchFamily="2" charset="0"/>
            </a:endParaRPr>
          </a:p>
        </p:txBody>
      </p:sp>
      <p:sp>
        <p:nvSpPr>
          <p:cNvPr id="52" name="Rectangle 51"/>
          <p:cNvSpPr/>
          <p:nvPr/>
        </p:nvSpPr>
        <p:spPr>
          <a:xfrm>
            <a:off x="5164139" y="4042172"/>
            <a:ext cx="34925" cy="20835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53" name="TextBox 52"/>
          <p:cNvSpPr txBox="1">
            <a:spLocks noChangeArrowheads="1"/>
          </p:cNvSpPr>
          <p:nvPr/>
        </p:nvSpPr>
        <p:spPr bwMode="auto">
          <a:xfrm>
            <a:off x="261939" y="4353323"/>
            <a:ext cx="4822825" cy="6959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eaLnBrk="1" fontAlgn="auto" hangingPunct="1">
              <a:lnSpc>
                <a:spcPct val="90000"/>
              </a:lnSpc>
              <a:spcAft>
                <a:spcPct val="35000"/>
              </a:spcAft>
              <a:defRPr/>
            </a:pPr>
            <a:r>
              <a:rPr lang="en-IN" sz="1800" b="1" dirty="0" smtClean="0">
                <a:solidFill>
                  <a:prstClr val="black">
                    <a:lumMod val="85000"/>
                    <a:lumOff val="15000"/>
                  </a:prstClr>
                </a:solidFill>
                <a:latin typeface="Times New Roman" panose="02020503050405090304" pitchFamily="18" charset="0"/>
                <a:cs typeface="Times New Roman" panose="02020503050405090304" pitchFamily="18" charset="0"/>
              </a:rPr>
              <a:t>Lecture</a:t>
            </a:r>
            <a:endParaRPr lang="en-US" sz="1800" b="1" dirty="0">
              <a:solidFill>
                <a:prstClr val="black">
                  <a:lumMod val="85000"/>
                  <a:lumOff val="15000"/>
                </a:prstClr>
              </a:solidFill>
              <a:latin typeface="Times New Roman" panose="02020503050405090304" pitchFamily="18" charset="0"/>
              <a:cs typeface="Times New Roman" panose="02020503050405090304" pitchFamily="18" charset="0"/>
            </a:endParaRPr>
          </a:p>
          <a:p>
            <a:pPr algn="ctr" defTabSz="466725" eaLnBrk="1" fontAlgn="auto" hangingPunct="1">
              <a:lnSpc>
                <a:spcPct val="90000"/>
              </a:lnSpc>
              <a:spcAft>
                <a:spcPct val="35000"/>
              </a:spcAft>
              <a:defRPr/>
            </a:pPr>
            <a:r>
              <a:rPr lang="en-US" kern="1200" dirty="0" smtClean="0">
                <a:latin typeface="Times New Roman" panose="02020503050405090304" pitchFamily="18" charset="0"/>
                <a:ea typeface="+mn-ea"/>
                <a:cs typeface="Times New Roman" panose="02020503050405090304" pitchFamily="18" charset="0"/>
                <a:sym typeface="+mn-ea"/>
              </a:rPr>
              <a:t>Introduction to System Design</a:t>
            </a:r>
            <a:endParaRPr lang="en-US" sz="1600" dirty="0">
              <a:solidFill>
                <a:prstClr val="black"/>
              </a:solidFill>
              <a:latin typeface="Times New Roman" panose="02020503050405090304" pitchFamily="18" charset="0"/>
              <a:cs typeface="Times New Roman" panose="02020503050405090304" pitchFamily="18" charset="0"/>
            </a:endParaRPr>
          </a:p>
        </p:txBody>
      </p:sp>
      <p:sp>
        <p:nvSpPr>
          <p:cNvPr id="26" name="TextBox 25"/>
          <p:cNvSpPr txBox="1">
            <a:spLocks noChangeArrowheads="1"/>
          </p:cNvSpPr>
          <p:nvPr/>
        </p:nvSpPr>
        <p:spPr bwMode="auto">
          <a:xfrm>
            <a:off x="408305" y="1833880"/>
            <a:ext cx="8324850" cy="2213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eaLnBrk="1" hangingPunct="1"/>
            <a:r>
              <a:rPr lang="en-IN" altLang="en-US" sz="3500" b="1" dirty="0">
                <a:solidFill>
                  <a:srgbClr val="000000"/>
                </a:solidFill>
                <a:latin typeface="Times New Roman" panose="02020503050405090304" pitchFamily="18" charset="0"/>
                <a:cs typeface="Times New Roman" panose="02020503050405090304" pitchFamily="18" charset="0"/>
              </a:rPr>
              <a:t>A</a:t>
            </a:r>
            <a:r>
              <a:rPr lang="en-US" altLang="en-IN" sz="3500" b="1" dirty="0">
                <a:solidFill>
                  <a:srgbClr val="000000"/>
                </a:solidFill>
                <a:latin typeface="Times New Roman" panose="02020503050405090304" pitchFamily="18" charset="0"/>
                <a:cs typeface="Times New Roman" panose="02020503050405090304" pitchFamily="18" charset="0"/>
              </a:rPr>
              <a:t>pex</a:t>
            </a:r>
            <a:r>
              <a:rPr lang="en-IN" altLang="en-US" sz="3500" b="1" dirty="0">
                <a:solidFill>
                  <a:srgbClr val="000000"/>
                </a:solidFill>
                <a:latin typeface="Times New Roman" panose="02020503050405090304" pitchFamily="18" charset="0"/>
                <a:cs typeface="Times New Roman" panose="02020503050405090304" pitchFamily="18" charset="0"/>
              </a:rPr>
              <a:t> I</a:t>
            </a:r>
            <a:r>
              <a:rPr lang="en-US" altLang="en-IN" sz="3500" b="1" dirty="0">
                <a:solidFill>
                  <a:srgbClr val="000000"/>
                </a:solidFill>
                <a:latin typeface="Times New Roman" panose="02020503050405090304" pitchFamily="18" charset="0"/>
                <a:cs typeface="Times New Roman" panose="02020503050405090304" pitchFamily="18" charset="0"/>
              </a:rPr>
              <a:t>nstitute</a:t>
            </a:r>
            <a:r>
              <a:rPr lang="en-IN" altLang="en-US" sz="3500" b="1" dirty="0">
                <a:solidFill>
                  <a:srgbClr val="000000"/>
                </a:solidFill>
                <a:latin typeface="Times New Roman" panose="02020503050405090304" pitchFamily="18" charset="0"/>
                <a:cs typeface="Times New Roman" panose="02020503050405090304" pitchFamily="18" charset="0"/>
              </a:rPr>
              <a:t> </a:t>
            </a:r>
            <a:r>
              <a:rPr lang="en-US" altLang="en-IN" sz="3500" b="1" dirty="0">
                <a:solidFill>
                  <a:srgbClr val="000000"/>
                </a:solidFill>
                <a:latin typeface="Times New Roman" panose="02020503050405090304" pitchFamily="18" charset="0"/>
                <a:cs typeface="Times New Roman" panose="02020503050405090304" pitchFamily="18" charset="0"/>
              </a:rPr>
              <a:t>of</a:t>
            </a:r>
            <a:r>
              <a:rPr lang="en-IN" altLang="en-US" sz="3500" b="1" dirty="0">
                <a:solidFill>
                  <a:srgbClr val="000000"/>
                </a:solidFill>
                <a:latin typeface="Times New Roman" panose="02020503050405090304" pitchFamily="18" charset="0"/>
                <a:cs typeface="Times New Roman" panose="02020503050405090304" pitchFamily="18" charset="0"/>
              </a:rPr>
              <a:t> T</a:t>
            </a:r>
            <a:r>
              <a:rPr lang="en-US" altLang="en-IN" sz="3500" b="1" dirty="0">
                <a:solidFill>
                  <a:srgbClr val="000000"/>
                </a:solidFill>
                <a:latin typeface="Times New Roman" panose="02020503050405090304" pitchFamily="18" charset="0"/>
                <a:cs typeface="Times New Roman" panose="02020503050405090304" pitchFamily="18" charset="0"/>
              </a:rPr>
              <a:t>echnology</a:t>
            </a:r>
            <a:endParaRPr lang="en-US" altLang="en-US" sz="3500" dirty="0">
              <a:solidFill>
                <a:srgbClr val="000000"/>
              </a:solidFill>
              <a:latin typeface="Times New Roman" panose="02020503050405090304" pitchFamily="18" charset="0"/>
              <a:cs typeface="Times New Roman" panose="02020503050405090304" pitchFamily="18" charset="0"/>
            </a:endParaRPr>
          </a:p>
          <a:p>
            <a:pPr algn="ctr" eaLnBrk="1" hangingPunct="1"/>
            <a:r>
              <a:rPr lang="en-US" altLang="en-IN" sz="2100" b="1" dirty="0">
                <a:solidFill>
                  <a:srgbClr val="000000"/>
                </a:solidFill>
                <a:latin typeface="Times New Roman" panose="02020503050405090304" pitchFamily="18" charset="0"/>
                <a:cs typeface="Times New Roman" panose="02020503050405090304" pitchFamily="18" charset="0"/>
              </a:rPr>
              <a:t>Department of</a:t>
            </a:r>
            <a:r>
              <a:rPr lang="en-IN" altLang="en-US" sz="2100" b="1" dirty="0">
                <a:solidFill>
                  <a:srgbClr val="000000"/>
                </a:solidFill>
                <a:latin typeface="Times New Roman" panose="02020503050405090304" pitchFamily="18" charset="0"/>
                <a:cs typeface="Times New Roman" panose="02020503050405090304" pitchFamily="18" charset="0"/>
              </a:rPr>
              <a:t> </a:t>
            </a:r>
            <a:r>
              <a:rPr lang="en-US" altLang="en-IN" sz="2100" b="1" dirty="0">
                <a:solidFill>
                  <a:srgbClr val="000000"/>
                </a:solidFill>
                <a:latin typeface="Times New Roman" panose="02020503050405090304" pitchFamily="18" charset="0"/>
                <a:cs typeface="Times New Roman" panose="02020503050405090304" pitchFamily="18" charset="0"/>
              </a:rPr>
              <a:t>Artificial Intelligence and Machine Learning</a:t>
            </a:r>
            <a:endParaRPr lang="en-US" altLang="en-US" sz="2100" b="1" dirty="0">
              <a:solidFill>
                <a:srgbClr val="000000"/>
              </a:solidFill>
              <a:latin typeface="Times New Roman" panose="02020503050405090304" pitchFamily="18" charset="0"/>
              <a:cs typeface="Times New Roman" panose="02020503050405090304" pitchFamily="18" charset="0"/>
            </a:endParaRPr>
          </a:p>
          <a:p>
            <a:pPr algn="ctr" eaLnBrk="1" hangingPunct="1">
              <a:lnSpc>
                <a:spcPct val="90000"/>
              </a:lnSpc>
              <a:spcAft>
                <a:spcPct val="35000"/>
              </a:spcAft>
            </a:pPr>
            <a:endParaRPr lang="en-US" altLang="en-US" sz="2300" b="1" dirty="0">
              <a:solidFill>
                <a:srgbClr val="000000"/>
              </a:solidFill>
              <a:latin typeface="Times New Roman" panose="02020503050405090304" pitchFamily="18" charset="0"/>
              <a:ea typeface="Calibri" panose="020F0502020204030204" pitchFamily="34" charset="0"/>
              <a:cs typeface="Times New Roman" panose="02020503050405090304" pitchFamily="18" charset="0"/>
            </a:endParaRPr>
          </a:p>
          <a:p>
            <a:pPr algn="ctr" eaLnBrk="1" hangingPunct="1">
              <a:lnSpc>
                <a:spcPct val="90000"/>
              </a:lnSpc>
              <a:spcAft>
                <a:spcPct val="35000"/>
              </a:spcAft>
            </a:pPr>
            <a:r>
              <a:rPr lang="en-US" sz="2400" dirty="0" smtClean="0">
                <a:latin typeface="Times New Roman" panose="02020503050405090304" pitchFamily="18" charset="0"/>
                <a:cs typeface="Times New Roman" panose="02020503050405090304" pitchFamily="18" charset="0"/>
              </a:rPr>
              <a:t>System Design </a:t>
            </a:r>
            <a:r>
              <a:rPr lang="en-US" altLang="en-US" sz="2400" dirty="0" smtClean="0">
                <a:solidFill>
                  <a:srgbClr val="262626"/>
                </a:solidFill>
                <a:latin typeface="Times New Roman" panose="02020503050405090304" pitchFamily="18" charset="0"/>
                <a:ea typeface="Cambria" panose="02040503050406030204" pitchFamily="18" charset="0"/>
                <a:cs typeface="Times New Roman" panose="02020503050405090304" pitchFamily="18" charset="0"/>
              </a:rPr>
              <a:t>(</a:t>
            </a:r>
            <a:r>
              <a:rPr lang="en-US" sz="2400" dirty="0" smtClean="0">
                <a:latin typeface="Times New Roman" panose="02020503050405090304" pitchFamily="18" charset="0"/>
                <a:cs typeface="Times New Roman" panose="02020503050405090304" pitchFamily="18" charset="0"/>
              </a:rPr>
              <a:t>23CST-390</a:t>
            </a:r>
            <a:r>
              <a:rPr lang="en-US" altLang="en-US" sz="2400" dirty="0" smtClean="0">
                <a:solidFill>
                  <a:srgbClr val="262626"/>
                </a:solidFill>
                <a:latin typeface="Times New Roman" panose="02020503050405090304" pitchFamily="18" charset="0"/>
                <a:ea typeface="Cambria" panose="02040503050406030204" pitchFamily="18" charset="0"/>
                <a:cs typeface="Times New Roman" panose="02020503050405090304" pitchFamily="18" charset="0"/>
              </a:rPr>
              <a:t>)</a:t>
            </a:r>
            <a:endParaRPr lang="en-US" altLang="en-US" sz="2400" dirty="0">
              <a:solidFill>
                <a:srgbClr val="262626"/>
              </a:solidFill>
              <a:latin typeface="Times New Roman" panose="02020503050405090304" pitchFamily="18" charset="0"/>
              <a:ea typeface="Cambria" panose="02040503050406030204" pitchFamily="18" charset="0"/>
              <a:cs typeface="Times New Roman" panose="02020503050405090304" pitchFamily="18" charset="0"/>
            </a:endParaRPr>
          </a:p>
          <a:p>
            <a:pPr algn="ctr" eaLnBrk="1" hangingPunct="1">
              <a:lnSpc>
                <a:spcPct val="90000"/>
              </a:lnSpc>
              <a:spcAft>
                <a:spcPct val="35000"/>
              </a:spcAft>
            </a:pPr>
            <a:r>
              <a:rPr lang="en-US" altLang="en-US" sz="2300" b="1" dirty="0">
                <a:solidFill>
                  <a:srgbClr val="262626"/>
                </a:solidFill>
                <a:latin typeface="Times New Roman" panose="02020503050405090304" pitchFamily="18" charset="0"/>
                <a:cs typeface="Times New Roman" panose="02020503050405090304" pitchFamily="18" charset="0"/>
              </a:rPr>
              <a:t>Faculty:</a:t>
            </a:r>
            <a:r>
              <a:rPr lang="en-US" altLang="en-US" sz="2300" dirty="0">
                <a:solidFill>
                  <a:srgbClr val="262626"/>
                </a:solidFill>
                <a:latin typeface="Times New Roman" panose="02020503050405090304" pitchFamily="18" charset="0"/>
                <a:cs typeface="Times New Roman" panose="02020503050405090304" pitchFamily="18" charset="0"/>
              </a:rPr>
              <a:t> </a:t>
            </a:r>
            <a:r>
              <a:rPr lang="en-US" altLang="en-US" sz="2300" dirty="0" smtClean="0">
                <a:solidFill>
                  <a:srgbClr val="262626"/>
                </a:solidFill>
                <a:latin typeface="Times New Roman" panose="02020503050405090304" pitchFamily="18" charset="0"/>
                <a:cs typeface="Times New Roman" panose="02020503050405090304" pitchFamily="18" charset="0"/>
              </a:rPr>
              <a:t>(</a:t>
            </a:r>
            <a:r>
              <a:rPr lang="en-US" altLang="en-US" sz="2300" dirty="0" err="1" smtClean="0">
                <a:solidFill>
                  <a:srgbClr val="262626"/>
                </a:solidFill>
                <a:latin typeface="Times New Roman" panose="02020503050405090304" pitchFamily="18" charset="0"/>
                <a:cs typeface="Times New Roman" panose="02020503050405090304" pitchFamily="18" charset="0"/>
              </a:rPr>
              <a:t>Er</a:t>
            </a:r>
            <a:r>
              <a:rPr lang="en-US" altLang="en-US" sz="2300" dirty="0">
                <a:solidFill>
                  <a:srgbClr val="262626"/>
                </a:solidFill>
                <a:latin typeface="Times New Roman" panose="02020503050405090304" pitchFamily="18" charset="0"/>
                <a:cs typeface="Times New Roman" panose="02020503050405090304" pitchFamily="18" charset="0"/>
              </a:rPr>
              <a:t>.) </a:t>
            </a:r>
            <a:r>
              <a:rPr lang="en-US" altLang="en-US" sz="2300" dirty="0" err="1" smtClean="0">
                <a:solidFill>
                  <a:srgbClr val="262626"/>
                </a:solidFill>
                <a:latin typeface="Times New Roman" panose="02020503050405090304" pitchFamily="18" charset="0"/>
                <a:cs typeface="Times New Roman" panose="02020503050405090304" pitchFamily="18" charset="0"/>
              </a:rPr>
              <a:t>Kamaljee</a:t>
            </a:r>
            <a:r>
              <a:rPr lang="en-IN" sz="2400" dirty="0" smtClean="0">
                <a:solidFill>
                  <a:prstClr val="black"/>
                </a:solidFill>
                <a:latin typeface="Times New Roman" panose="02020503050405090304" pitchFamily="18" charset="0"/>
                <a:ea typeface="Times New Roman" panose="02020503050405090304" pitchFamily="18" charset="0"/>
                <a:cs typeface="Times New Roman" panose="02020503050405090304" pitchFamily="18" charset="0"/>
              </a:rPr>
              <a:t>t</a:t>
            </a:r>
            <a:r>
              <a:rPr lang="en-US" altLang="en-US" sz="2300" dirty="0" smtClean="0">
                <a:solidFill>
                  <a:srgbClr val="262626"/>
                </a:solidFill>
                <a:latin typeface="Times New Roman" panose="02020503050405090304" pitchFamily="18" charset="0"/>
                <a:cs typeface="Times New Roman" panose="02020503050405090304" pitchFamily="18" charset="0"/>
              </a:rPr>
              <a:t> </a:t>
            </a:r>
            <a:r>
              <a:rPr lang="en-US" altLang="en-US" sz="2300" dirty="0" err="1" smtClean="0">
                <a:solidFill>
                  <a:srgbClr val="262626"/>
                </a:solidFill>
                <a:latin typeface="Times New Roman" panose="02020503050405090304" pitchFamily="18" charset="0"/>
                <a:cs typeface="Times New Roman" panose="02020503050405090304" pitchFamily="18" charset="0"/>
              </a:rPr>
              <a:t>Kaur </a:t>
            </a:r>
            <a:r>
              <a:rPr lang="en-US" altLang="en-US" sz="2300" dirty="0" smtClean="0">
                <a:solidFill>
                  <a:srgbClr val="262626"/>
                </a:solidFill>
                <a:latin typeface="Times New Roman" panose="02020503050405090304" pitchFamily="18" charset="0"/>
                <a:cs typeface="Times New Roman" panose="02020503050405090304" pitchFamily="18" charset="0"/>
              </a:rPr>
              <a:t>(E19147)</a:t>
            </a:r>
            <a:endParaRPr lang="en-US" altLang="en-US" sz="2300" dirty="0">
              <a:solidFill>
                <a:srgbClr val="262626"/>
              </a:solidFill>
              <a:latin typeface="Times New Roman" panose="02020503050405090304" pitchFamily="18" charset="0"/>
              <a:cs typeface="Times New Roman" panose="02020503050405090304" pitchFamily="18" charset="0"/>
            </a:endParaRPr>
          </a:p>
          <a:p>
            <a:pPr algn="ctr" eaLnBrk="1" hangingPunct="1">
              <a:lnSpc>
                <a:spcPct val="90000"/>
              </a:lnSpc>
              <a:spcAft>
                <a:spcPct val="35000"/>
              </a:spcAft>
            </a:pPr>
            <a:endParaRPr lang="en-US" altLang="en-US" sz="1100" dirty="0">
              <a:solidFill>
                <a:srgbClr val="000000"/>
              </a:solidFill>
              <a:latin typeface="Times New Roman" panose="02020503050405090304" pitchFamily="18" charset="0"/>
              <a:cs typeface="Times New Roman" panose="02020503050405090304" pitchFamily="18" charset="0"/>
            </a:endParaRPr>
          </a:p>
        </p:txBody>
      </p:sp>
      <p:sp>
        <p:nvSpPr>
          <p:cNvPr id="16" name="object 9"/>
          <p:cNvSpPr txBox="1"/>
          <p:nvPr/>
        </p:nvSpPr>
        <p:spPr>
          <a:xfrm>
            <a:off x="6327775" y="22860"/>
            <a:ext cx="2750185" cy="472440"/>
          </a:xfrm>
          <a:prstGeom prst="rect">
            <a:avLst/>
          </a:prstGeom>
        </p:spPr>
        <p:txBody>
          <a:bodyPr vert="horz" wrap="square" lIns="0" tIns="16510" rIns="0" bIns="0" rtlCol="0">
            <a:spAutoFit/>
          </a:bodyPr>
          <a:lstStyle/>
          <a:p>
            <a:pPr marL="12700" algn="r">
              <a:lnSpc>
                <a:spcPct val="100000"/>
              </a:lnSpc>
              <a:spcBef>
                <a:spcPts val="130"/>
              </a:spcBef>
            </a:pPr>
            <a:r>
              <a:rPr sz="1550" b="0" dirty="0">
                <a:solidFill>
                  <a:schemeClr val="tx1"/>
                </a:solidFill>
                <a:latin typeface="Times New Roman Regular" panose="02020503050405090304" charset="0"/>
                <a:cs typeface="Times New Roman Regular" panose="02020503050405090304" charset="0"/>
              </a:rPr>
              <a:t>Academic</a:t>
            </a:r>
            <a:r>
              <a:rPr sz="1550" b="0" spc="229" dirty="0">
                <a:solidFill>
                  <a:schemeClr val="tx1"/>
                </a:solidFill>
                <a:latin typeface="Times New Roman Regular" panose="02020503050405090304" charset="0"/>
                <a:cs typeface="Times New Roman Regular" panose="02020503050405090304" charset="0"/>
              </a:rPr>
              <a:t> </a:t>
            </a:r>
            <a:r>
              <a:rPr sz="1550" b="0" dirty="0">
                <a:solidFill>
                  <a:schemeClr val="tx1"/>
                </a:solidFill>
                <a:latin typeface="Times New Roman Regular" panose="02020503050405090304" charset="0"/>
                <a:cs typeface="Times New Roman Regular" panose="02020503050405090304" charset="0"/>
              </a:rPr>
              <a:t>Session</a:t>
            </a:r>
            <a:r>
              <a:rPr sz="1550" b="0" spc="180" dirty="0">
                <a:solidFill>
                  <a:schemeClr val="tx1"/>
                </a:solidFill>
                <a:latin typeface="Times New Roman Regular" panose="02020503050405090304" charset="0"/>
                <a:cs typeface="Times New Roman Regular" panose="02020503050405090304" charset="0"/>
              </a:rPr>
              <a:t> </a:t>
            </a:r>
            <a:r>
              <a:rPr sz="1550" b="0" dirty="0">
                <a:solidFill>
                  <a:schemeClr val="tx1"/>
                </a:solidFill>
                <a:latin typeface="Times New Roman Regular" panose="02020503050405090304" charset="0"/>
                <a:cs typeface="Times New Roman Regular" panose="02020503050405090304" charset="0"/>
              </a:rPr>
              <a:t>202</a:t>
            </a:r>
            <a:r>
              <a:rPr lang="en-US" altLang="" sz="1550" b="0" dirty="0">
                <a:solidFill>
                  <a:schemeClr val="tx1"/>
                </a:solidFill>
                <a:latin typeface="Times New Roman Regular" panose="02020503050405090304" charset="0"/>
                <a:cs typeface="Times New Roman Regular" panose="02020503050405090304" charset="0"/>
              </a:rPr>
              <a:t>5</a:t>
            </a:r>
            <a:r>
              <a:rPr sz="1550" b="0" dirty="0">
                <a:solidFill>
                  <a:schemeClr val="tx1"/>
                </a:solidFill>
                <a:latin typeface="Times New Roman Regular" panose="02020503050405090304" charset="0"/>
                <a:cs typeface="Times New Roman Regular" panose="02020503050405090304" charset="0"/>
              </a:rPr>
              <a:t>-</a:t>
            </a:r>
            <a:r>
              <a:rPr sz="1550" b="0" spc="-25" dirty="0">
                <a:solidFill>
                  <a:schemeClr val="tx1"/>
                </a:solidFill>
                <a:latin typeface="Times New Roman Regular" panose="02020503050405090304" charset="0"/>
                <a:cs typeface="Times New Roman Regular" panose="02020503050405090304" charset="0"/>
              </a:rPr>
              <a:t>2</a:t>
            </a:r>
            <a:r>
              <a:rPr lang="en-US" altLang="" sz="1550" b="0" spc="-25" dirty="0">
                <a:solidFill>
                  <a:schemeClr val="tx1"/>
                </a:solidFill>
                <a:latin typeface="Times New Roman Regular" panose="02020503050405090304" charset="0"/>
                <a:cs typeface="Times New Roman Regular" panose="02020503050405090304" charset="0"/>
              </a:rPr>
              <a:t>6</a:t>
            </a:r>
            <a:endParaRPr sz="1550" b="0" dirty="0">
              <a:solidFill>
                <a:schemeClr val="tx1"/>
              </a:solidFill>
              <a:latin typeface="Times New Roman Regular" panose="02020503050405090304" charset="0"/>
              <a:cs typeface="Times New Roman Regular" panose="02020503050405090304" charset="0"/>
            </a:endParaRPr>
          </a:p>
          <a:p>
            <a:pPr marL="120650" algn="r">
              <a:lnSpc>
                <a:spcPct val="100000"/>
              </a:lnSpc>
              <a:spcBef>
                <a:spcPts val="20"/>
              </a:spcBef>
            </a:pPr>
            <a:r>
              <a:rPr sz="1400" b="0" dirty="0">
                <a:solidFill>
                  <a:schemeClr val="tx1"/>
                </a:solidFill>
                <a:latin typeface="Times New Roman Regular" panose="02020503050405090304" charset="0"/>
                <a:cs typeface="Times New Roman Regular" panose="02020503050405090304" charset="0"/>
              </a:rPr>
              <a:t>E</a:t>
            </a:r>
            <a:r>
              <a:rPr lang="en-US" altLang="" sz="1400" b="0" dirty="0">
                <a:solidFill>
                  <a:schemeClr val="tx1"/>
                </a:solidFill>
                <a:latin typeface="Times New Roman Regular" panose="02020503050405090304" charset="0"/>
                <a:cs typeface="Times New Roman Regular" panose="02020503050405090304" charset="0"/>
              </a:rPr>
              <a:t>ven</a:t>
            </a:r>
            <a:r>
              <a:rPr sz="1400" b="0" spc="-5" dirty="0">
                <a:solidFill>
                  <a:schemeClr val="tx1"/>
                </a:solidFill>
                <a:latin typeface="Times New Roman Regular" panose="02020503050405090304" charset="0"/>
                <a:cs typeface="Times New Roman Regular" panose="02020503050405090304" charset="0"/>
              </a:rPr>
              <a:t> </a:t>
            </a:r>
            <a:r>
              <a:rPr sz="1400" b="0" dirty="0">
                <a:solidFill>
                  <a:schemeClr val="tx1"/>
                </a:solidFill>
                <a:latin typeface="Times New Roman Regular" panose="02020503050405090304" charset="0"/>
                <a:cs typeface="Times New Roman Regular" panose="02020503050405090304" charset="0"/>
              </a:rPr>
              <a:t>Semester</a:t>
            </a:r>
            <a:r>
              <a:rPr sz="1400" b="0" spc="-25" dirty="0">
                <a:solidFill>
                  <a:schemeClr val="tx1"/>
                </a:solidFill>
                <a:latin typeface="Times New Roman Regular" panose="02020503050405090304" charset="0"/>
                <a:cs typeface="Times New Roman Regular" panose="02020503050405090304" charset="0"/>
              </a:rPr>
              <a:t> </a:t>
            </a:r>
            <a:r>
              <a:rPr sz="1400" b="0" spc="-10" dirty="0">
                <a:solidFill>
                  <a:schemeClr val="tx1"/>
                </a:solidFill>
                <a:latin typeface="Times New Roman Regular" panose="02020503050405090304" charset="0"/>
                <a:cs typeface="Times New Roman Regular" panose="02020503050405090304" charset="0"/>
              </a:rPr>
              <a:t>Jan-</a:t>
            </a:r>
            <a:r>
              <a:rPr sz="1400" b="0" dirty="0">
                <a:solidFill>
                  <a:schemeClr val="tx1"/>
                </a:solidFill>
                <a:latin typeface="Times New Roman Regular" panose="02020503050405090304" charset="0"/>
                <a:cs typeface="Times New Roman Regular" panose="02020503050405090304" charset="0"/>
              </a:rPr>
              <a:t>Jun</a:t>
            </a:r>
            <a:r>
              <a:rPr lang="en-US" altLang="" sz="1400" b="0" spc="-45" dirty="0">
                <a:solidFill>
                  <a:schemeClr val="tx1"/>
                </a:solidFill>
                <a:latin typeface="Times New Roman Regular" panose="02020503050405090304" charset="0"/>
                <a:cs typeface="Times New Roman Regular" panose="02020503050405090304" charset="0"/>
              </a:rPr>
              <a:t>’</a:t>
            </a:r>
            <a:r>
              <a:rPr sz="1400" b="0" spc="-20" dirty="0">
                <a:solidFill>
                  <a:schemeClr val="tx1"/>
                </a:solidFill>
                <a:latin typeface="Times New Roman Regular" panose="02020503050405090304" charset="0"/>
                <a:cs typeface="Times New Roman Regular" panose="02020503050405090304" charset="0"/>
              </a:rPr>
              <a:t>26</a:t>
            </a:r>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1365" y="1152525"/>
            <a:ext cx="7927340" cy="2270760"/>
          </a:xfrm>
          <a:prstGeom prst="rect">
            <a:avLst/>
          </a:prstGeom>
        </p:spPr>
        <p:txBody>
          <a:bodyPr vert="horz" wrap="square" lIns="0" tIns="15875" rIns="0" bIns="0" rtlCol="0">
            <a:noAutofit/>
          </a:bodyPr>
          <a:lstStyle/>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Understand the fundamental concepts of system design and its importance in building   </a:t>
            </a:r>
          </a:p>
          <a:p>
            <a:pPr indent="0" algn="just">
              <a:lnSpc>
                <a:spcPct val="150000"/>
              </a:lnSpc>
              <a:buFont typeface="Arial" panose="020B0604020202090204" pitchFamily="34" charset="0"/>
              <a:buNone/>
            </a:pPr>
            <a:r>
              <a:rPr lang="en-US" sz="1600" dirty="0" smtClean="0">
                <a:latin typeface="Times New Roman" panose="02020503050405090304" pitchFamily="18" charset="0"/>
                <a:cs typeface="Times New Roman" panose="02020503050405090304" pitchFamily="18" charset="0"/>
              </a:rPr>
              <a:t>   scalable applications.</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Learn the principles of scalability, availability, and reliability in large systems.</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Differentiate between Monolithic and </a:t>
            </a:r>
            <a:r>
              <a:rPr lang="en-US" sz="1600" dirty="0" err="1" smtClean="0">
                <a:latin typeface="Times New Roman" panose="02020503050405090304" pitchFamily="18" charset="0"/>
                <a:cs typeface="Times New Roman" panose="02020503050405090304" pitchFamily="18" charset="0"/>
              </a:rPr>
              <a:t>Microservices</a:t>
            </a:r>
            <a:r>
              <a:rPr lang="en-US" sz="1600" dirty="0" smtClean="0">
                <a:latin typeface="Times New Roman" panose="02020503050405090304" pitchFamily="18" charset="0"/>
                <a:cs typeface="Times New Roman" panose="02020503050405090304" pitchFamily="18" charset="0"/>
              </a:rPr>
              <a:t> architectures.</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Explain key performance metrics such as latency and throughput.</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Understand how caching improves system speed and reduces load on backend services.</a:t>
            </a:r>
            <a:endParaRPr lang="en-US" sz="1600" dirty="0">
              <a:latin typeface="Times New Roman" panose="02020503050405090304" pitchFamily="18" charset="0"/>
              <a:cs typeface="Times New Roman" panose="02020503050405090304" pitchFamily="18" charset="0"/>
            </a:endParaRPr>
          </a:p>
        </p:txBody>
      </p:sp>
      <p:sp>
        <p:nvSpPr>
          <p:cNvPr id="8" name="Title 7"/>
          <p:cNvSpPr txBox="1">
            <a:spLocks noGrp="1" noChangeArrowheads="1"/>
          </p:cNvSpPr>
          <p:nvPr/>
        </p:nvSpPr>
        <p:spPr>
          <a:xfrm>
            <a:off x="761683" y="378381"/>
            <a:ext cx="4267200" cy="276860"/>
          </a:xfrm>
          <a:prstGeom prst="rect">
            <a:avLst/>
          </a:prstGeom>
        </p:spPr>
        <p:txBody>
          <a:bodyPr wrap="square" lIns="0" tIns="0" rIns="0" bIns="0" rtlCol="0" anchor="b">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fontAlgn="auto">
              <a:spcAft>
                <a:spcPts val="0"/>
              </a:spcAft>
              <a:defRPr/>
            </a:pPr>
            <a:r>
              <a:rPr lang="en-US" sz="1800" b="1" dirty="0">
                <a:latin typeface="Times New Roman" panose="02020503050405090304" pitchFamily="18" charset="0"/>
                <a:cs typeface="Times New Roman" panose="02020503050405090304" pitchFamily="18" charset="0"/>
                <a:sym typeface="+mn-ea"/>
              </a:rPr>
              <a:t>Learning Objectives</a:t>
            </a:r>
            <a:endParaRPr lang="en-US" b="1"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a:xfrm>
            <a:off x="761683" y="286306"/>
            <a:ext cx="4267200" cy="368935"/>
          </a:xfrm>
        </p:spPr>
        <p:txBody>
          <a:bodyPr rtlCol="0">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fontAlgn="auto">
              <a:spcAft>
                <a:spcPts val="0"/>
              </a:spcAft>
              <a:defRPr/>
            </a:pPr>
            <a:r>
              <a:rPr lang="en-US" b="1" dirty="0" smtClean="0">
                <a:latin typeface="Times New Roman" panose="02020503050405090304" pitchFamily="18" charset="0"/>
                <a:cs typeface="Times New Roman" panose="02020503050405090304" pitchFamily="18" charset="0"/>
              </a:rPr>
              <a:t>Course </a:t>
            </a:r>
            <a:r>
              <a:rPr lang="en-US" b="1" dirty="0">
                <a:latin typeface="Times New Roman" panose="02020503050405090304" pitchFamily="18" charset="0"/>
                <a:cs typeface="Times New Roman" panose="02020503050405090304" pitchFamily="18" charset="0"/>
              </a:rPr>
              <a:t>Outcomes</a:t>
            </a:r>
          </a:p>
        </p:txBody>
      </p:sp>
      <p:sp>
        <p:nvSpPr>
          <p:cNvPr id="21508" name="Rectangle 3"/>
          <p:cNvSpPr>
            <a:spLocks noChangeArrowheads="1"/>
          </p:cNvSpPr>
          <p:nvPr/>
        </p:nvSpPr>
        <p:spPr bwMode="auto">
          <a:xfrm>
            <a:off x="741998" y="971471"/>
            <a:ext cx="5072222"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eaLnBrk="1" hangingPunct="1"/>
            <a:r>
              <a:rPr lang="en-IN" altLang="en-US" sz="1600" dirty="0">
                <a:solidFill>
                  <a:srgbClr val="000000"/>
                </a:solidFill>
                <a:latin typeface="Times New Roman" panose="02020503050405090304" pitchFamily="18" charset="0"/>
                <a:cs typeface="Times New Roman" panose="02020503050405090304" pitchFamily="18" charset="0"/>
              </a:rPr>
              <a:t>On completion of this course, the students shall be able to:-</a:t>
            </a:r>
            <a:endParaRPr lang="en-US" altLang="en-US" sz="1600" dirty="0">
              <a:solidFill>
                <a:srgbClr val="000000"/>
              </a:solidFill>
              <a:latin typeface="Times New Roman" panose="02020503050405090304" pitchFamily="18" charset="0"/>
              <a:cs typeface="Times New Roman" panose="02020503050405090304" pitchFamily="18" charset="0"/>
            </a:endParaRPr>
          </a:p>
        </p:txBody>
      </p:sp>
      <p:graphicFrame>
        <p:nvGraphicFramePr>
          <p:cNvPr id="3" name="Table 2"/>
          <p:cNvGraphicFramePr>
            <a:graphicFrameLocks noGrp="1"/>
          </p:cNvGraphicFramePr>
          <p:nvPr/>
        </p:nvGraphicFramePr>
        <p:xfrm>
          <a:off x="741998" y="1351360"/>
          <a:ext cx="7772881" cy="3168460"/>
        </p:xfrm>
        <a:graphic>
          <a:graphicData uri="http://schemas.openxmlformats.org/drawingml/2006/table">
            <a:tbl>
              <a:tblPr bandRow="1">
                <a:tableStyleId>{5C22544A-7EE6-4342-B048-85BDC9FD1C3A}</a:tableStyleId>
              </a:tblPr>
              <a:tblGrid>
                <a:gridCol w="494030"/>
                <a:gridCol w="7278851"/>
              </a:tblGrid>
              <a:tr h="641386">
                <a:tc>
                  <a:txBody>
                    <a:bodyPr/>
                    <a:lstStyle/>
                    <a:p>
                      <a:pPr>
                        <a:lnSpc>
                          <a:spcPct val="107000"/>
                        </a:lnSpc>
                        <a:spcAft>
                          <a:spcPts val="0"/>
                        </a:spcAft>
                      </a:pPr>
                      <a:r>
                        <a:rPr lang="en-US" sz="1200" kern="0" dirty="0" smtClean="0">
                          <a:effectLst/>
                          <a:latin typeface="Times New Roman" panose="02020503050405090304" pitchFamily="18" charset="0"/>
                          <a:cs typeface="Times New Roman" panose="02020503050405090304" pitchFamily="18" charset="0"/>
                        </a:rPr>
                        <a:t>CO1</a:t>
                      </a:r>
                      <a:endParaRPr lang="en-US" sz="1200" kern="100" dirty="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200" kern="1200" dirty="0" smtClean="0">
                          <a:solidFill>
                            <a:schemeClr val="dk1"/>
                          </a:solidFill>
                          <a:latin typeface="Times New Roman" panose="02020503050405090304" pitchFamily="18" charset="0"/>
                          <a:ea typeface="+mn-ea"/>
                          <a:cs typeface="Times New Roman" panose="02020503050405090304" pitchFamily="18" charset="0"/>
                        </a:rPr>
                        <a:t>Understand the fundamental system design principles, including scalability, high availability, and fault tolerance, while analyzing how these core principles influence architectural decisions in real-world distributed environments.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1386">
                <a:tc>
                  <a:txBody>
                    <a:bodyPr/>
                    <a:lstStyle/>
                    <a:p>
                      <a:pPr>
                        <a:lnSpc>
                          <a:spcPct val="107000"/>
                        </a:lnSpc>
                        <a:spcAft>
                          <a:spcPts val="0"/>
                        </a:spcAft>
                      </a:pPr>
                      <a:r>
                        <a:rPr lang="en-US" sz="1200" kern="0" smtClean="0">
                          <a:effectLst/>
                          <a:latin typeface="Times New Roman" panose="02020503050405090304" pitchFamily="18" charset="0"/>
                          <a:cs typeface="Times New Roman" panose="02020503050405090304" pitchFamily="18" charset="0"/>
                        </a:rPr>
                        <a:t>CO2</a:t>
                      </a:r>
                      <a:endParaRPr lang="en-US" sz="1200" kern="10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200" kern="1200" dirty="0" smtClean="0">
                          <a:solidFill>
                            <a:schemeClr val="dk1"/>
                          </a:solidFill>
                          <a:latin typeface="Times New Roman" panose="02020503050405090304" pitchFamily="18" charset="0"/>
                          <a:ea typeface="+mn-ea"/>
                          <a:cs typeface="Times New Roman" panose="02020503050405090304" pitchFamily="18" charset="0"/>
                        </a:rPr>
                        <a:t>Apply various distributed architectural patterns, key database models (SQL and </a:t>
                      </a:r>
                      <a:r>
                        <a:rPr lang="en-US" sz="1200" kern="1200" dirty="0" err="1" smtClean="0">
                          <a:solidFill>
                            <a:schemeClr val="dk1"/>
                          </a:solidFill>
                          <a:latin typeface="Times New Roman" panose="02020503050405090304" pitchFamily="18" charset="0"/>
                          <a:ea typeface="+mn-ea"/>
                          <a:cs typeface="Times New Roman" panose="02020503050405090304" pitchFamily="18" charset="0"/>
                        </a:rPr>
                        <a:t>NoSQL</a:t>
                      </a:r>
                      <a:r>
                        <a:rPr lang="en-US" sz="1200" kern="1200" dirty="0" smtClean="0">
                          <a:solidFill>
                            <a:schemeClr val="dk1"/>
                          </a:solidFill>
                          <a:latin typeface="Times New Roman" panose="02020503050405090304" pitchFamily="18" charset="0"/>
                          <a:ea typeface="+mn-ea"/>
                          <a:cs typeface="Times New Roman" panose="02020503050405090304" pitchFamily="18" charset="0"/>
                        </a:rPr>
                        <a:t>), and critical communication protocols to evaluate their specific applications and trade-offs in modern system designs.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1386">
                <a:tc>
                  <a:txBody>
                    <a:bodyPr/>
                    <a:lstStyle/>
                    <a:p>
                      <a:pPr>
                        <a:lnSpc>
                          <a:spcPct val="107000"/>
                        </a:lnSpc>
                        <a:spcAft>
                          <a:spcPts val="0"/>
                        </a:spcAft>
                      </a:pPr>
                      <a:r>
                        <a:rPr lang="en-US" sz="1200" kern="0" dirty="0" smtClean="0">
                          <a:effectLst/>
                          <a:latin typeface="Times New Roman" panose="02020503050405090304" pitchFamily="18" charset="0"/>
                          <a:cs typeface="Times New Roman" panose="02020503050405090304" pitchFamily="18" charset="0"/>
                        </a:rPr>
                        <a:t>CO3</a:t>
                      </a:r>
                      <a:endParaRPr lang="en-US" sz="1200" kern="100" dirty="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kern="1200" dirty="0" smtClean="0">
                          <a:solidFill>
                            <a:schemeClr val="dk1"/>
                          </a:solidFill>
                          <a:latin typeface="Times New Roman" panose="02020503050405090304" pitchFamily="18" charset="0"/>
                          <a:ea typeface="+mn-ea"/>
                          <a:cs typeface="Times New Roman" panose="02020503050405090304" pitchFamily="18" charset="0"/>
                        </a:rPr>
                        <a:t>Apply advanced scaling techniques, such as caching, load balancing, database </a:t>
                      </a:r>
                      <a:r>
                        <a:rPr lang="en-US" sz="1200" kern="1200" dirty="0" err="1" smtClean="0">
                          <a:solidFill>
                            <a:schemeClr val="dk1"/>
                          </a:solidFill>
                          <a:latin typeface="Times New Roman" panose="02020503050405090304" pitchFamily="18" charset="0"/>
                          <a:ea typeface="+mn-ea"/>
                          <a:cs typeface="Times New Roman" panose="02020503050405090304" pitchFamily="18" charset="0"/>
                        </a:rPr>
                        <a:t>sharding</a:t>
                      </a:r>
                      <a:r>
                        <a:rPr lang="en-US" sz="1200" kern="1200" dirty="0" smtClean="0">
                          <a:solidFill>
                            <a:schemeClr val="dk1"/>
                          </a:solidFill>
                          <a:latin typeface="Times New Roman" panose="02020503050405090304" pitchFamily="18" charset="0"/>
                          <a:ea typeface="+mn-ea"/>
                          <a:cs typeface="Times New Roman" panose="02020503050405090304" pitchFamily="18" charset="0"/>
                        </a:rPr>
                        <a:t>, and replication, to design system components that effectively handle massive user traffic and data volumes.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02934">
                <a:tc>
                  <a:txBody>
                    <a:bodyPr/>
                    <a:lstStyle/>
                    <a:p>
                      <a:pPr>
                        <a:lnSpc>
                          <a:spcPct val="107000"/>
                        </a:lnSpc>
                        <a:spcAft>
                          <a:spcPts val="0"/>
                        </a:spcAft>
                      </a:pPr>
                      <a:r>
                        <a:rPr lang="en-US" sz="1200" kern="0" smtClean="0">
                          <a:effectLst/>
                          <a:latin typeface="Times New Roman" panose="02020503050405090304" pitchFamily="18" charset="0"/>
                          <a:cs typeface="Times New Roman" panose="02020503050405090304" pitchFamily="18" charset="0"/>
                        </a:rPr>
                        <a:t>CO4</a:t>
                      </a:r>
                      <a:endParaRPr lang="en-US" sz="1200" kern="10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kern="1200" dirty="0" smtClean="0">
                          <a:solidFill>
                            <a:schemeClr val="dk1"/>
                          </a:solidFill>
                          <a:latin typeface="Times New Roman" panose="02020503050405090304" pitchFamily="18" charset="0"/>
                          <a:ea typeface="+mn-ea"/>
                          <a:cs typeface="Times New Roman" panose="02020503050405090304" pitchFamily="18" charset="0"/>
                        </a:rPr>
                        <a:t>Analyze the trade-offs between different system architectures, data storage solutions, and consistency models (like the CAP theorem) to select and justify optimized configurations for performance, cost, and reliability goals.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1368">
                <a:tc>
                  <a:txBody>
                    <a:bodyPr/>
                    <a:lstStyle/>
                    <a:p>
                      <a:pPr>
                        <a:lnSpc>
                          <a:spcPct val="107000"/>
                        </a:lnSpc>
                        <a:spcAft>
                          <a:spcPts val="0"/>
                        </a:spcAft>
                      </a:pPr>
                      <a:r>
                        <a:rPr lang="en-US" sz="1200" kern="0" smtClean="0">
                          <a:effectLst/>
                          <a:latin typeface="Times New Roman" panose="02020503050405090304" pitchFamily="18" charset="0"/>
                          <a:cs typeface="Times New Roman" panose="02020503050405090304" pitchFamily="18" charset="0"/>
                        </a:rPr>
                        <a:t>CO5</a:t>
                      </a:r>
                      <a:endParaRPr lang="en-US" sz="1200" kern="10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US" sz="1200" kern="1200" dirty="0" smtClean="0">
                          <a:solidFill>
                            <a:schemeClr val="dk1"/>
                          </a:solidFill>
                          <a:latin typeface="Times New Roman" panose="02020503050405090304" pitchFamily="18" charset="0"/>
                          <a:ea typeface="+mn-ea"/>
                          <a:cs typeface="Times New Roman" panose="02020503050405090304" pitchFamily="18" charset="0"/>
                        </a:rPr>
                        <a:t>Create and document comprehensive, end-to-end system designs that are inherently scalable, distributed, and fault-tolerant, leveraging modern paradigms such as cloud computing and </a:t>
                      </a:r>
                      <a:r>
                        <a:rPr lang="en-US" sz="1200" kern="1200" dirty="0" err="1" smtClean="0">
                          <a:solidFill>
                            <a:schemeClr val="dk1"/>
                          </a:solidFill>
                          <a:latin typeface="Times New Roman" panose="02020503050405090304" pitchFamily="18" charset="0"/>
                          <a:ea typeface="+mn-ea"/>
                          <a:cs typeface="Times New Roman" panose="02020503050405090304" pitchFamily="18" charset="0"/>
                        </a:rPr>
                        <a:t>microservices</a:t>
                      </a:r>
                      <a:r>
                        <a:rPr lang="en-US" sz="1200" kern="1200" dirty="0" smtClean="0">
                          <a:solidFill>
                            <a:schemeClr val="dk1"/>
                          </a:solidFill>
                          <a:latin typeface="Times New Roman" panose="02020503050405090304" pitchFamily="18" charset="0"/>
                          <a:ea typeface="+mn-ea"/>
                          <a:cs typeface="Times New Roman" panose="02020503050405090304" pitchFamily="18" charset="0"/>
                        </a:rPr>
                        <a:t> architecture.</a:t>
                      </a:r>
                      <a:endParaRPr lang="en-US" sz="1200" kern="100" dirty="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1" y="285671"/>
            <a:ext cx="7883525" cy="483394"/>
          </a:xfrm>
        </p:spPr>
        <p:txBody>
          <a:bodyPr rtlCol="0">
            <a:normAutofit/>
          </a:bodyPr>
          <a:lstStyle/>
          <a:p>
            <a:pPr algn="l" fontAlgn="auto">
              <a:spcAft>
                <a:spcPts val="0"/>
              </a:spcAft>
              <a:defRPr/>
            </a:pPr>
            <a:r>
              <a:rPr lang="en-IN" sz="2400" b="1" dirty="0">
                <a:latin typeface="Times New Roman" panose="02020503050405090304" pitchFamily="18" charset="0"/>
                <a:cs typeface="Times New Roman" panose="02020503050405090304" pitchFamily="18" charset="0"/>
              </a:rPr>
              <a:t>Unit-1 Syllabus</a:t>
            </a:r>
          </a:p>
        </p:txBody>
      </p:sp>
      <p:graphicFrame>
        <p:nvGraphicFramePr>
          <p:cNvPr id="7" name="Table 6"/>
          <p:cNvGraphicFramePr>
            <a:graphicFrameLocks noGrp="1"/>
          </p:cNvGraphicFramePr>
          <p:nvPr/>
        </p:nvGraphicFramePr>
        <p:xfrm>
          <a:off x="723900" y="1273969"/>
          <a:ext cx="7923530" cy="2432733"/>
        </p:xfrm>
        <a:graphic>
          <a:graphicData uri="http://schemas.openxmlformats.org/drawingml/2006/table">
            <a:tbl>
              <a:tblPr/>
              <a:tblGrid>
                <a:gridCol w="1850390"/>
                <a:gridCol w="6073140"/>
              </a:tblGrid>
              <a:tr h="297656">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just" defTabSz="685800" rtl="0" eaLnBrk="1" fontAlgn="base" latinLnBrk="0" hangingPunct="1">
                        <a:lnSpc>
                          <a:spcPct val="100000"/>
                        </a:lnSpc>
                        <a:spcBef>
                          <a:spcPct val="0"/>
                        </a:spcBef>
                        <a:spcAft>
                          <a:spcPct val="0"/>
                        </a:spcAft>
                        <a:buClrTx/>
                        <a:buSzTx/>
                        <a:buFontTx/>
                        <a:buNone/>
                      </a:pPr>
                      <a:r>
                        <a:rPr kumimoji="0" lang="en-IN" altLang="en-US" sz="1600" b="1" i="0" u="none" strike="noStrike" cap="none" normalizeH="0" baseline="0" dirty="0" smtClean="0">
                          <a:ln>
                            <a:noFill/>
                          </a:ln>
                          <a:solidFill>
                            <a:schemeClr val="tx1"/>
                          </a:solidFill>
                          <a:effectLst/>
                          <a:latin typeface="Times New Roman" panose="02020503050405090304" pitchFamily="18" charset="0"/>
                          <a:cs typeface="Times New Roman" panose="02020503050405090304" pitchFamily="18" charset="0"/>
                        </a:rPr>
                        <a:t>Unit-1</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27146" marR="27146" marT="20360" marB="203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just" defTabSz="685800" rtl="0" eaLnBrk="1" fontAlgn="base" latinLnBrk="0" hangingPunct="1">
                        <a:lnSpc>
                          <a:spcPct val="100000"/>
                        </a:lnSpc>
                        <a:spcBef>
                          <a:spcPct val="0"/>
                        </a:spcBef>
                        <a:spcAft>
                          <a:spcPct val="0"/>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System Design </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27146" marR="27146" marT="20360" marB="203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829056">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l" defTabSz="685800" rtl="0" eaLnBrk="1" fontAlgn="base" latinLnBrk="0" hangingPunct="1">
                        <a:lnSpc>
                          <a:spcPct val="107000"/>
                        </a:lnSpc>
                        <a:spcBef>
                          <a:spcPct val="0"/>
                        </a:spcBef>
                        <a:spcAft>
                          <a:spcPts val="75"/>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Introduction to System Design </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R="0" lvl="0" indent="0" algn="l" defTabSz="685800" rtl="0" eaLnBrk="1" fontAlgn="base" latinLnBrk="0" hangingPunct="1">
                        <a:lnSpc>
                          <a:spcPct val="107000"/>
                        </a:lnSpc>
                        <a:spcBef>
                          <a:spcPct val="0"/>
                        </a:spcBef>
                        <a:spcAft>
                          <a:spcPts val="0"/>
                        </a:spcAft>
                        <a:buClrTx/>
                        <a:buSzTx/>
                        <a:buFontTx/>
                        <a:buNone/>
                      </a:pPr>
                      <a:r>
                        <a:rPr lang="en-US" sz="1600" b="0" kern="1200" dirty="0" smtClean="0">
                          <a:solidFill>
                            <a:schemeClr val="tx1"/>
                          </a:solidFill>
                          <a:latin typeface="Times New Roman" panose="02020503050405090304" pitchFamily="18" charset="0"/>
                          <a:ea typeface="+mn-ea"/>
                          <a:cs typeface="Times New Roman" panose="02020503050405090304" pitchFamily="18" charset="0"/>
                        </a:rPr>
                        <a:t>Introduction to System Design</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Functional &amp; Non-Functional Requirements, Scaling Challenges, </a:t>
                      </a:r>
                      <a:r>
                        <a:rPr lang="en-US" sz="1600" b="1" kern="1200" dirty="0" smtClean="0">
                          <a:solidFill>
                            <a:srgbClr val="FF0000"/>
                          </a:solidFill>
                          <a:latin typeface="Times New Roman" panose="02020503050405090304" pitchFamily="18" charset="0"/>
                          <a:ea typeface="+mn-ea"/>
                          <a:cs typeface="Times New Roman" panose="02020503050405090304" pitchFamily="18" charset="0"/>
                        </a:rPr>
                        <a:t>Load Balancing</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Caching Strategies, Replication,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Sharding.</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257062">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l" defTabSz="685800" rtl="0" eaLnBrk="1" fontAlgn="base" latinLnBrk="0" hangingPunct="1">
                        <a:lnSpc>
                          <a:spcPct val="107000"/>
                        </a:lnSpc>
                        <a:spcBef>
                          <a:spcPct val="0"/>
                        </a:spcBef>
                        <a:spcAft>
                          <a:spcPts val="75"/>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Databases in System Design </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l" defTabSz="685800" rtl="0" eaLnBrk="1" fontAlgn="base" latinLnBrk="0" hangingPunct="1">
                        <a:lnSpc>
                          <a:spcPct val="107000"/>
                        </a:lnSpc>
                        <a:spcBef>
                          <a:spcPct val="0"/>
                        </a:spcBef>
                        <a:spcAft>
                          <a:spcPct val="0"/>
                        </a:spcAft>
                        <a:buClrTx/>
                        <a:buSzTx/>
                        <a:buFontTx/>
                        <a:buNone/>
                      </a:pPr>
                      <a:r>
                        <a:rPr lang="en-US" sz="1600" b="0" kern="1200" dirty="0" smtClean="0">
                          <a:solidFill>
                            <a:schemeClr val="tx1"/>
                          </a:solidFill>
                          <a:latin typeface="Times New Roman" panose="02020503050405090304" pitchFamily="18" charset="0"/>
                          <a:ea typeface="+mn-ea"/>
                          <a:cs typeface="Times New Roman" panose="02020503050405090304" pitchFamily="18" charset="0"/>
                        </a:rPr>
                        <a:t>Databases in System Design – SQL </a:t>
                      </a:r>
                      <a:r>
                        <a:rPr lang="en-US" sz="1600" b="0" kern="1200" dirty="0" err="1" smtClean="0">
                          <a:solidFill>
                            <a:schemeClr val="tx1"/>
                          </a:solidFill>
                          <a:latin typeface="Times New Roman" panose="02020503050405090304" pitchFamily="18" charset="0"/>
                          <a:ea typeface="+mn-ea"/>
                          <a:cs typeface="Times New Roman" panose="02020503050405090304" pitchFamily="18" charset="0"/>
                        </a:rPr>
                        <a:t>vs</a:t>
                      </a:r>
                      <a:r>
                        <a:rPr lang="en-US" sz="1600" b="0" kern="1200" dirty="0" smtClean="0">
                          <a:solidFill>
                            <a:schemeClr val="tx1"/>
                          </a:solidFill>
                          <a:latin typeface="Times New Roman" panose="02020503050405090304" pitchFamily="18" charset="0"/>
                          <a:ea typeface="+mn-ea"/>
                          <a:cs typeface="Times New Roman" panose="02020503050405090304" pitchFamily="18" charset="0"/>
                        </a:rPr>
                        <a:t> </a:t>
                      </a:r>
                      <a:r>
                        <a:rPr lang="en-US" sz="1600" b="0" kern="1200" dirty="0" err="1" smtClean="0">
                          <a:solidFill>
                            <a:schemeClr val="tx1"/>
                          </a:solidFill>
                          <a:latin typeface="Times New Roman" panose="02020503050405090304" pitchFamily="18" charset="0"/>
                          <a:ea typeface="+mn-ea"/>
                          <a:cs typeface="Times New Roman" panose="02020503050405090304" pitchFamily="18" charset="0"/>
                        </a:rPr>
                        <a:t>NoSQL</a:t>
                      </a:r>
                      <a:r>
                        <a:rPr lang="en-US" sz="1600" b="0" kern="1200" dirty="0" smtClean="0">
                          <a:solidFill>
                            <a:schemeClr val="tx1"/>
                          </a:solidFill>
                          <a:latin typeface="Times New Roman" panose="02020503050405090304" pitchFamily="18" charset="0"/>
                          <a:ea typeface="+mn-ea"/>
                          <a:cs typeface="Times New Roman" panose="02020503050405090304" pitchFamily="18" charset="0"/>
                        </a:rPr>
                        <a:t>, CAP Theorem, Distributed Databases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Consistency Models, Eventual Consistency, Distributed Caching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Redis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Memcached</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High Availability, Fault Tolerance,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Microservices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vs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Monolithic Architecture.</a:t>
                      </a:r>
                      <a:endParaRPr kumimoji="0" lang="en-US" altLang="en-US" sz="1600" b="0" i="0" u="none" strike="noStrike" cap="none" normalizeH="0" baseline="0" dirty="0" smtClean="0">
                        <a:ln>
                          <a:noFill/>
                        </a:ln>
                        <a:solidFill>
                          <a:schemeClr val="tx1"/>
                        </a:solidFill>
                        <a:effectLst/>
                        <a:latin typeface="Times New Roman" panose="02020503050405090304" pitchFamily="18"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838517" y="1200146"/>
            <a:ext cx="5187950" cy="2221762"/>
          </a:xfrm>
          <a:prstGeom prst="rect">
            <a:avLst/>
          </a:prstGeom>
        </p:spPr>
        <p:txBody>
          <a:bodyPr vert="horz" wrap="square" lIns="0" tIns="139065" rIns="0" bIns="0" rtlCol="0">
            <a:spAutoFit/>
          </a:bodyPr>
          <a:lstStyle/>
          <a:p>
            <a:pPr lvl="3">
              <a:lnSpc>
                <a:spcPct val="150000"/>
              </a:lnSpc>
              <a:buFont typeface="Arial" pitchFamily="34" charset="0"/>
              <a:buChar char="•"/>
            </a:pPr>
            <a:r>
              <a:rPr lang="en-US" sz="1600" dirty="0">
                <a:latin typeface="Times New Roman" panose="02020503050405090304" pitchFamily="18" charset="0"/>
                <a:cs typeface="Times New Roman" panose="02020503050405090304" pitchFamily="18" charset="0"/>
              </a:rPr>
              <a:t> </a:t>
            </a:r>
            <a:r>
              <a:rPr lang="en-US" sz="1600" dirty="0" smtClean="0">
                <a:latin typeface="Times New Roman" pitchFamily="18" charset="0"/>
                <a:cs typeface="Times New Roman" pitchFamily="18" charset="0"/>
              </a:rPr>
              <a:t>Load Balancing</a:t>
            </a:r>
            <a:endParaRPr lang="en-IN" sz="1600" dirty="0" smtClean="0">
              <a:latin typeface="Times New Roman" pitchFamily="18" charset="0"/>
              <a:cs typeface="Times New Roman" pitchFamily="18" charset="0"/>
            </a:endParaRPr>
          </a:p>
          <a:p>
            <a:pPr algn="l">
              <a:lnSpc>
                <a:spcPct val="150000"/>
              </a:lnSpc>
              <a:buFont typeface="Arial" pitchFamily="34" charset="0"/>
              <a:buChar char="•"/>
            </a:pPr>
            <a:r>
              <a:rPr lang="en-US" sz="1600" dirty="0" smtClean="0">
                <a:latin typeface="Times New Roman" panose="02020503050405090304" pitchFamily="18" charset="0"/>
                <a:cs typeface="Times New Roman" panose="02020503050405090304" pitchFamily="18" charset="0"/>
              </a:rPr>
              <a:t> Need of Load Balancing</a:t>
            </a:r>
            <a:endParaRPr lang="en-US" sz="1600" b="1" spc="-10" dirty="0" smtClean="0">
              <a:latin typeface="Times New Roman" pitchFamily="18" charset="0"/>
              <a:cs typeface="Times New Roman" pitchFamily="18" charset="0"/>
              <a:sym typeface="+mn-ea"/>
            </a:endParaRPr>
          </a:p>
          <a:p>
            <a:pPr algn="l" fontAlgn="auto">
              <a:spcAft>
                <a:spcPts val="0"/>
              </a:spcAft>
              <a:buFont typeface="Arial" pitchFamily="34" charset="0"/>
              <a:buChar char="•"/>
              <a:defRPr/>
            </a:pPr>
            <a:r>
              <a:rPr lang="en-US" sz="1600" dirty="0" smtClean="0">
                <a:latin typeface="Times New Roman" pitchFamily="18" charset="0"/>
                <a:cs typeface="Times New Roman" pitchFamily="18" charset="0"/>
              </a:rPr>
              <a:t> Types </a:t>
            </a:r>
            <a:r>
              <a:rPr lang="en-US" sz="1600" dirty="0">
                <a:latin typeface="Times New Roman" pitchFamily="18" charset="0"/>
                <a:cs typeface="Times New Roman" pitchFamily="18" charset="0"/>
              </a:rPr>
              <a:t>of Load Balancers</a:t>
            </a:r>
            <a:endParaRPr lang="en-US" sz="1600" b="1" spc="-10" dirty="0">
              <a:latin typeface="Times New Roman" pitchFamily="18" charset="0"/>
              <a:cs typeface="Times New Roman" pitchFamily="18" charset="0"/>
              <a:sym typeface="+mn-ea"/>
            </a:endParaRPr>
          </a:p>
          <a:p>
            <a:pPr algn="l">
              <a:lnSpc>
                <a:spcPct val="150000"/>
              </a:lnSpc>
              <a:buFont typeface="Arial" pitchFamily="34" charset="0"/>
              <a:buChar char="•"/>
            </a:pPr>
            <a:r>
              <a:rPr lang="en-US" sz="1600" dirty="0" smtClean="0">
                <a:latin typeface="Times New Roman" pitchFamily="18" charset="0"/>
                <a:cs typeface="Times New Roman" pitchFamily="18" charset="0"/>
              </a:rPr>
              <a:t> Benefits of load balancing</a:t>
            </a:r>
            <a:endParaRPr lang="en-US" sz="1600" b="1" spc="-10" dirty="0" smtClean="0">
              <a:latin typeface="Times New Roman" pitchFamily="18" charset="0"/>
              <a:cs typeface="Times New Roman" pitchFamily="18" charset="0"/>
              <a:sym typeface="+mn-ea"/>
            </a:endParaRPr>
          </a:p>
          <a:p>
            <a:pPr algn="l">
              <a:lnSpc>
                <a:spcPct val="150000"/>
              </a:lnSpc>
              <a:buFont typeface="Arial" pitchFamily="34" charset="0"/>
              <a:buChar char="•"/>
            </a:pPr>
            <a:r>
              <a:rPr lang="en-US" sz="1600" dirty="0" smtClean="0">
                <a:latin typeface="Times New Roman" pitchFamily="18" charset="0"/>
                <a:cs typeface="Times New Roman" pitchFamily="18" charset="0"/>
              </a:rPr>
              <a:t> Issues of  Load Balancing</a:t>
            </a:r>
            <a:endParaRPr lang="en-US" sz="1600" b="1" spc="-10" dirty="0" smtClean="0">
              <a:latin typeface="Times New Roman" pitchFamily="18" charset="0"/>
              <a:cs typeface="Times New Roman" pitchFamily="18" charset="0"/>
              <a:sym typeface="+mn-ea"/>
            </a:endParaRPr>
          </a:p>
          <a:p>
            <a:pPr algn="l">
              <a:lnSpc>
                <a:spcPct val="150000"/>
              </a:lnSpc>
              <a:buFont typeface="Arial" pitchFamily="34" charset="0"/>
              <a:buChar char="•"/>
            </a:pPr>
            <a:endParaRPr sz="1550" dirty="0">
              <a:latin typeface="Times New Roman" panose="02020503050405090304" pitchFamily="18" charset="0"/>
              <a:cs typeface="Times New Roman" panose="02020503050405090304" pitchFamily="18" charset="0"/>
            </a:endParaRPr>
          </a:p>
        </p:txBody>
      </p:sp>
      <p:sp>
        <p:nvSpPr>
          <p:cNvPr id="5"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dirty="0">
                <a:latin typeface="Times New Roman" panose="02020503050405090304" pitchFamily="18" charset="0"/>
                <a:cs typeface="Times New Roman" panose="02020503050405090304" pitchFamily="18" charset="0"/>
                <a:sym typeface="+mn-ea"/>
              </a:rPr>
              <a:t>Topic to</a:t>
            </a:r>
            <a:r>
              <a:rPr sz="2400" spc="-60" dirty="0">
                <a:latin typeface="Times New Roman" panose="02020503050405090304" pitchFamily="18" charset="0"/>
                <a:cs typeface="Times New Roman" panose="02020503050405090304" pitchFamily="18" charset="0"/>
                <a:sym typeface="+mn-ea"/>
              </a:rPr>
              <a:t> </a:t>
            </a:r>
            <a:r>
              <a:rPr sz="2400" dirty="0">
                <a:latin typeface="Times New Roman" panose="02020503050405090304" pitchFamily="18" charset="0"/>
                <a:cs typeface="Times New Roman" panose="02020503050405090304" pitchFamily="18" charset="0"/>
                <a:sym typeface="+mn-ea"/>
              </a:rPr>
              <a:t>be</a:t>
            </a:r>
            <a:r>
              <a:rPr sz="2400" spc="25" dirty="0">
                <a:latin typeface="Times New Roman" panose="02020503050405090304" pitchFamily="18" charset="0"/>
                <a:cs typeface="Times New Roman" panose="02020503050405090304" pitchFamily="18" charset="0"/>
                <a:sym typeface="+mn-ea"/>
              </a:rPr>
              <a:t> </a:t>
            </a:r>
            <a:r>
              <a:rPr sz="2400" spc="-10" dirty="0">
                <a:latin typeface="Times New Roman" panose="02020503050405090304" pitchFamily="18" charset="0"/>
                <a:cs typeface="Times New Roman" panose="02020503050405090304" pitchFamily="18" charset="0"/>
                <a:sym typeface="+mn-ea"/>
              </a:rPr>
              <a:t>Covered</a:t>
            </a:r>
            <a:endParaRPr lang="en-US" altLang="en-IN" sz="2400" b="1"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4977" y="89852"/>
            <a:ext cx="8234044" cy="560665"/>
          </a:xfrm>
          <a:prstGeom prst="rect">
            <a:avLst/>
          </a:prstGeom>
        </p:spPr>
        <p:txBody>
          <a:bodyPr vert="horz" wrap="square" lIns="0" tIns="189483" rIns="0" bIns="0" rtlCol="0">
            <a:spAutoFit/>
          </a:bodyPr>
          <a:lstStyle/>
          <a:p>
            <a:r>
              <a:rPr lang="en-US" sz="2400" dirty="0" smtClean="0">
                <a:latin typeface="Times New Roman" pitchFamily="18" charset="0"/>
                <a:cs typeface="Times New Roman" pitchFamily="18" charset="0"/>
              </a:rPr>
              <a:t>        Load Balancing</a:t>
            </a:r>
            <a:endParaRPr lang="en-US" sz="2400" dirty="0">
              <a:latin typeface="Times New Roman" pitchFamily="18" charset="0"/>
              <a:cs typeface="Times New Roman" pitchFamily="18" charset="0"/>
            </a:endParaRPr>
          </a:p>
        </p:txBody>
      </p:sp>
      <p:sp>
        <p:nvSpPr>
          <p:cNvPr id="3" name="object 3"/>
          <p:cNvSpPr txBox="1"/>
          <p:nvPr/>
        </p:nvSpPr>
        <p:spPr>
          <a:xfrm>
            <a:off x="8697214" y="109791"/>
            <a:ext cx="126364" cy="243204"/>
          </a:xfrm>
          <a:prstGeom prst="rect">
            <a:avLst/>
          </a:prstGeom>
        </p:spPr>
        <p:txBody>
          <a:bodyPr vert="horz" wrap="square" lIns="0" tIns="15875" rIns="0" bIns="0" rtlCol="0">
            <a:spAutoFit/>
          </a:bodyPr>
          <a:lstStyle/>
          <a:p>
            <a:pPr marL="12700">
              <a:lnSpc>
                <a:spcPct val="100000"/>
              </a:lnSpc>
              <a:spcBef>
                <a:spcPts val="125"/>
              </a:spcBef>
            </a:pPr>
            <a:r>
              <a:rPr sz="1400" spc="-50" dirty="0">
                <a:latin typeface="Arial MT"/>
                <a:cs typeface="Arial MT"/>
              </a:rPr>
              <a:t>9</a:t>
            </a:r>
            <a:endParaRPr sz="1400">
              <a:latin typeface="Arial MT"/>
              <a:cs typeface="Arial MT"/>
            </a:endParaRPr>
          </a:p>
        </p:txBody>
      </p:sp>
      <p:sp>
        <p:nvSpPr>
          <p:cNvPr id="4" name="object 4"/>
          <p:cNvSpPr txBox="1"/>
          <p:nvPr/>
        </p:nvSpPr>
        <p:spPr>
          <a:xfrm>
            <a:off x="1065847" y="1173416"/>
            <a:ext cx="6935153" cy="1486946"/>
          </a:xfrm>
          <a:prstGeom prst="rect">
            <a:avLst/>
          </a:prstGeom>
        </p:spPr>
        <p:txBody>
          <a:bodyPr vert="horz" wrap="square" lIns="0" tIns="9525" rIns="0" bIns="0" rtlCol="0">
            <a:spAutoFit/>
          </a:bodyPr>
          <a:lstStyle/>
          <a:p>
            <a:pPr>
              <a:buFont typeface="Wingdings" pitchFamily="2" charset="2"/>
              <a:buChar char="Ø"/>
            </a:pPr>
            <a:r>
              <a:rPr lang="en-US" sz="1600" dirty="0">
                <a:latin typeface="Times New Roman" pitchFamily="18" charset="0"/>
                <a:cs typeface="Times New Roman" pitchFamily="18" charset="0"/>
              </a:rPr>
              <a:t>A </a:t>
            </a:r>
            <a:r>
              <a:rPr lang="en-US" sz="1600" b="1" dirty="0">
                <a:latin typeface="Times New Roman" pitchFamily="18" charset="0"/>
                <a:cs typeface="Times New Roman" pitchFamily="18" charset="0"/>
              </a:rPr>
              <a:t>Load Balancer (LB)</a:t>
            </a:r>
            <a:r>
              <a:rPr lang="en-US" sz="1600" dirty="0">
                <a:latin typeface="Times New Roman" pitchFamily="18" charset="0"/>
                <a:cs typeface="Times New Roman" pitchFamily="18" charset="0"/>
              </a:rPr>
              <a:t> sits between clients and servers. It acts as a traffic cop, distributing incoming requests across multiple healthy servers</a:t>
            </a:r>
            <a:r>
              <a:rPr lang="en-US" sz="1600" dirty="0" smtClean="0">
                <a:latin typeface="Times New Roman" pitchFamily="18" charset="0"/>
                <a:cs typeface="Times New Roman" pitchFamily="18" charset="0"/>
              </a:rPr>
              <a:t>.</a:t>
            </a:r>
          </a:p>
          <a:p>
            <a:pPr>
              <a:buFont typeface="Wingdings" pitchFamily="2" charset="2"/>
              <a:buChar char="Ø"/>
            </a:pPr>
            <a:endParaRPr lang="en-US" sz="1600" dirty="0">
              <a:latin typeface="Times New Roman" pitchFamily="18" charset="0"/>
              <a:cs typeface="Times New Roman" pitchFamily="18" charset="0"/>
            </a:endParaRPr>
          </a:p>
          <a:p>
            <a:pPr>
              <a:buFont typeface="Wingdings" pitchFamily="2" charset="2"/>
              <a:buChar char="Ø"/>
            </a:pPr>
            <a:r>
              <a:rPr lang="en-US" sz="1600" dirty="0">
                <a:latin typeface="Times New Roman" pitchFamily="18" charset="0"/>
                <a:cs typeface="Times New Roman" pitchFamily="18" charset="0"/>
              </a:rPr>
              <a:t>Prevents overload on a single server.</a:t>
            </a:r>
          </a:p>
          <a:p>
            <a:pPr>
              <a:buFont typeface="Wingdings" pitchFamily="2" charset="2"/>
              <a:buChar char="Ø"/>
            </a:pPr>
            <a:r>
              <a:rPr lang="en-US" sz="1600" dirty="0">
                <a:latin typeface="Times New Roman" pitchFamily="18" charset="0"/>
                <a:cs typeface="Times New Roman" pitchFamily="18" charset="0"/>
              </a:rPr>
              <a:t>Increases availability (reroutes traffic if a server dies).</a:t>
            </a:r>
          </a:p>
          <a:p>
            <a:pPr>
              <a:buFont typeface="Wingdings" pitchFamily="2" charset="2"/>
              <a:buChar char="Ø"/>
            </a:pPr>
            <a:r>
              <a:rPr lang="en-US" sz="1600" b="1" dirty="0">
                <a:latin typeface="Times New Roman" pitchFamily="18" charset="0"/>
                <a:cs typeface="Times New Roman" pitchFamily="18" charset="0"/>
              </a:rPr>
              <a:t>Algorithms:</a:t>
            </a:r>
            <a:r>
              <a:rPr lang="en-US" sz="1600" dirty="0">
                <a:latin typeface="Times New Roman" pitchFamily="18" charset="0"/>
                <a:cs typeface="Times New Roman" pitchFamily="18" charset="0"/>
              </a:rPr>
              <a:t> Round Robin, Least Connections, IP Hash.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4977" y="89852"/>
            <a:ext cx="8234044" cy="560665"/>
          </a:xfrm>
          <a:prstGeom prst="rect">
            <a:avLst/>
          </a:prstGeom>
        </p:spPr>
        <p:txBody>
          <a:bodyPr vert="horz" wrap="square" lIns="0" tIns="189483" rIns="0" bIns="0" rtlCol="0">
            <a:spAutoFit/>
          </a:bodyPr>
          <a:lstStyle/>
          <a:p>
            <a:r>
              <a:rPr lang="en-US" sz="2400" dirty="0" smtClean="0">
                <a:latin typeface="Times New Roman" pitchFamily="18" charset="0"/>
                <a:cs typeface="Times New Roman" pitchFamily="18" charset="0"/>
              </a:rPr>
              <a:t>        Load Balancing</a:t>
            </a:r>
            <a:endParaRPr lang="en-US" sz="2400" dirty="0">
              <a:latin typeface="Times New Roman" pitchFamily="18" charset="0"/>
              <a:cs typeface="Times New Roman" pitchFamily="18" charset="0"/>
            </a:endParaRPr>
          </a:p>
        </p:txBody>
      </p:sp>
      <p:sp>
        <p:nvSpPr>
          <p:cNvPr id="3" name="object 3"/>
          <p:cNvSpPr txBox="1"/>
          <p:nvPr/>
        </p:nvSpPr>
        <p:spPr>
          <a:xfrm>
            <a:off x="8697214" y="109791"/>
            <a:ext cx="126364" cy="243204"/>
          </a:xfrm>
          <a:prstGeom prst="rect">
            <a:avLst/>
          </a:prstGeom>
        </p:spPr>
        <p:txBody>
          <a:bodyPr vert="horz" wrap="square" lIns="0" tIns="15875" rIns="0" bIns="0" rtlCol="0">
            <a:spAutoFit/>
          </a:bodyPr>
          <a:lstStyle/>
          <a:p>
            <a:pPr marL="12700">
              <a:lnSpc>
                <a:spcPct val="100000"/>
              </a:lnSpc>
              <a:spcBef>
                <a:spcPts val="125"/>
              </a:spcBef>
            </a:pPr>
            <a:r>
              <a:rPr sz="1400" spc="-50" dirty="0">
                <a:latin typeface="Arial MT"/>
                <a:cs typeface="Arial MT"/>
              </a:rPr>
              <a:t>9</a:t>
            </a:r>
            <a:endParaRPr sz="1400">
              <a:latin typeface="Arial MT"/>
              <a:cs typeface="Arial MT"/>
            </a:endParaRPr>
          </a:p>
        </p:txBody>
      </p:sp>
      <p:pic>
        <p:nvPicPr>
          <p:cNvPr id="44034" name="Picture 2" descr="Diagram of a load balancer distributing traffic to multiple servers"/>
          <p:cNvPicPr>
            <a:picLocks noChangeAspect="1" noChangeArrowheads="1"/>
          </p:cNvPicPr>
          <p:nvPr/>
        </p:nvPicPr>
        <p:blipFill>
          <a:blip r:embed="rId2" cstate="print"/>
          <a:srcRect/>
          <a:stretch>
            <a:fillRect/>
          </a:stretch>
        </p:blipFill>
        <p:spPr bwMode="auto">
          <a:xfrm>
            <a:off x="1981199" y="-107994450"/>
            <a:ext cx="1414379" cy="1649480"/>
          </a:xfrm>
          <a:prstGeom prst="rect">
            <a:avLst/>
          </a:prstGeom>
          <a:noFill/>
        </p:spPr>
      </p:pic>
      <p:sp>
        <p:nvSpPr>
          <p:cNvPr id="44038"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4040"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4043" name="AutoShape 11"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4045" name="AutoShape 13"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4047" name="Picture 15" descr="https://www.psychz.net/content/loadbalancing/load-balancing.jpg"/>
          <p:cNvPicPr>
            <a:picLocks noChangeAspect="1" noChangeArrowheads="1"/>
          </p:cNvPicPr>
          <p:nvPr/>
        </p:nvPicPr>
        <p:blipFill>
          <a:blip r:embed="rId3" cstate="print"/>
          <a:srcRect/>
          <a:stretch>
            <a:fillRect/>
          </a:stretch>
        </p:blipFill>
        <p:spPr bwMode="auto">
          <a:xfrm>
            <a:off x="1676400" y="971550"/>
            <a:ext cx="5779770" cy="35052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83525" cy="3048000"/>
          </a:xfrm>
          <a:prstGeom prst="rect">
            <a:avLst/>
          </a:prstGeom>
        </p:spPr>
        <p:txBody>
          <a:bodyPr vert="horz" wrap="square" lIns="0" tIns="9525" rIns="0" bIns="0" rtlCol="0">
            <a:noAutofit/>
          </a:bodyPr>
          <a:lstStyle/>
          <a:p>
            <a:pPr>
              <a:buFont typeface="Arial" pitchFamily="34" charset="0"/>
              <a:buChar char="•"/>
            </a:pPr>
            <a:r>
              <a:rPr lang="en-US" sz="1600" b="1" dirty="0" smtClean="0">
                <a:latin typeface="Times New Roman" pitchFamily="18" charset="0"/>
                <a:cs typeface="Times New Roman" pitchFamily="18" charset="0"/>
              </a:rPr>
              <a:t> Performance Improvement</a:t>
            </a:r>
          </a:p>
          <a:p>
            <a:r>
              <a:rPr lang="en-US" sz="1600" dirty="0" smtClean="0">
                <a:latin typeface="Times New Roman" pitchFamily="18" charset="0"/>
                <a:cs typeface="Times New Roman" pitchFamily="18" charset="0"/>
              </a:rPr>
              <a:t>When multiple servers share the workload, each server handles fewer requests → responses become faster.</a:t>
            </a:r>
          </a:p>
          <a:p>
            <a:endParaRPr lang="en-US" sz="1600" dirty="0" smtClean="0">
              <a:latin typeface="Times New Roman" pitchFamily="18" charset="0"/>
              <a:cs typeface="Times New Roman" pitchFamily="18" charset="0"/>
            </a:endParaRPr>
          </a:p>
          <a:p>
            <a:pPr>
              <a:buFont typeface="Arial" pitchFamily="34" charset="0"/>
              <a:buChar char="•"/>
            </a:pPr>
            <a:r>
              <a:rPr lang="en-US" sz="1600" b="1" dirty="0" smtClean="0">
                <a:latin typeface="Times New Roman" pitchFamily="18" charset="0"/>
                <a:cs typeface="Times New Roman" pitchFamily="18" charset="0"/>
              </a:rPr>
              <a:t> Better Availability</a:t>
            </a:r>
          </a:p>
          <a:p>
            <a:r>
              <a:rPr lang="en-US" sz="1600" dirty="0" smtClean="0">
                <a:latin typeface="Times New Roman" pitchFamily="18" charset="0"/>
                <a:cs typeface="Times New Roman" pitchFamily="18" charset="0"/>
              </a:rPr>
              <a:t>If one server fails, traffic is sent to others → system stays online.</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This ensures High Availability (HA).</a:t>
            </a:r>
          </a:p>
          <a:p>
            <a:endParaRPr lang="en-US" sz="1600" dirty="0" smtClean="0">
              <a:latin typeface="Times New Roman" pitchFamily="18" charset="0"/>
              <a:cs typeface="Times New Roman" pitchFamily="18" charset="0"/>
            </a:endParaRPr>
          </a:p>
          <a:p>
            <a:pPr>
              <a:buFont typeface="Arial" pitchFamily="34" charset="0"/>
              <a:buChar char="•"/>
            </a:pPr>
            <a:r>
              <a:rPr lang="en-US" sz="1600" b="1" dirty="0" smtClean="0">
                <a:latin typeface="Times New Roman" pitchFamily="18" charset="0"/>
                <a:cs typeface="Times New Roman" pitchFamily="18" charset="0"/>
              </a:rPr>
              <a:t> Overload Prevention</a:t>
            </a:r>
          </a:p>
          <a:p>
            <a:r>
              <a:rPr lang="en-US" sz="1600" dirty="0" smtClean="0">
                <a:latin typeface="Times New Roman" pitchFamily="18" charset="0"/>
                <a:cs typeface="Times New Roman" pitchFamily="18" charset="0"/>
              </a:rPr>
              <a:t>If all traffic goes to one server, it may crash.</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Load balancers distribute requests safely.</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lang="en-US" sz="2400" dirty="0" smtClean="0">
                <a:latin typeface="Times New Roman" pitchFamily="18" charset="0"/>
                <a:cs typeface="Times New Roman" pitchFamily="18" charset="0"/>
              </a:rPr>
              <a:t>Need of Load Balancing</a:t>
            </a:r>
            <a:endParaRPr lang="en-US" sz="2400" b="1" spc="-10" dirty="0">
              <a:latin typeface="Times New Roman" pitchFamily="18" charset="0"/>
              <a:cs typeface="Times New Roman" pitchFamily="18" charset="0"/>
              <a:sym typeface="+mn-ea"/>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83525" cy="2514600"/>
          </a:xfrm>
          <a:prstGeom prst="rect">
            <a:avLst/>
          </a:prstGeom>
        </p:spPr>
        <p:txBody>
          <a:bodyPr vert="horz" wrap="square" lIns="0" tIns="9525" rIns="0" bIns="0" rtlCol="0">
            <a:noAutofit/>
          </a:bodyPr>
          <a:lstStyle/>
          <a:p>
            <a:pPr>
              <a:buFont typeface="Arial" pitchFamily="34" charset="0"/>
              <a:buChar char="•"/>
            </a:pPr>
            <a:r>
              <a:rPr lang="en-US" sz="1600" b="1" dirty="0" smtClean="0">
                <a:latin typeface="Times New Roman" pitchFamily="18" charset="0"/>
                <a:cs typeface="Times New Roman" pitchFamily="18" charset="0"/>
              </a:rPr>
              <a:t> Scalability</a:t>
            </a:r>
          </a:p>
          <a:p>
            <a:r>
              <a:rPr lang="en-US" sz="1600" dirty="0" smtClean="0">
                <a:latin typeface="Times New Roman" pitchFamily="18" charset="0"/>
                <a:cs typeface="Times New Roman" pitchFamily="18" charset="0"/>
              </a:rPr>
              <a:t>You can add more servers when traffic grows.</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The load balancer automatically starts sending traffic to the new server.</a:t>
            </a:r>
          </a:p>
          <a:p>
            <a:endParaRPr lang="en-US" sz="1600" dirty="0" smtClean="0">
              <a:latin typeface="Times New Roman" pitchFamily="18" charset="0"/>
              <a:cs typeface="Times New Roman" pitchFamily="18" charset="0"/>
            </a:endParaRPr>
          </a:p>
          <a:p>
            <a:pPr>
              <a:buFont typeface="Arial" pitchFamily="34" charset="0"/>
              <a:buChar char="•"/>
            </a:pPr>
            <a:r>
              <a:rPr lang="en-US" sz="1600" b="1" dirty="0" smtClean="0">
                <a:latin typeface="Times New Roman" pitchFamily="18" charset="0"/>
                <a:cs typeface="Times New Roman" pitchFamily="18" charset="0"/>
              </a:rPr>
              <a:t> Fault Tolerance</a:t>
            </a:r>
          </a:p>
          <a:p>
            <a:r>
              <a:rPr lang="en-US" sz="1600" dirty="0" smtClean="0">
                <a:latin typeface="Times New Roman" pitchFamily="18" charset="0"/>
                <a:cs typeface="Times New Roman" pitchFamily="18" charset="0"/>
              </a:rPr>
              <a:t>Even if a server goes offline, users never notice.</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Load balancer reroutes traffic immediately.</a:t>
            </a:r>
          </a:p>
          <a:p>
            <a:endParaRPr lang="en-US" sz="1600" dirty="0" smtClean="0">
              <a:latin typeface="Times New Roman" pitchFamily="18" charset="0"/>
              <a:cs typeface="Times New Roman" pitchFamily="18" charset="0"/>
            </a:endParaRPr>
          </a:p>
          <a:p>
            <a:pPr>
              <a:buFont typeface="Arial" pitchFamily="34" charset="0"/>
              <a:buChar char="•"/>
            </a:pPr>
            <a:r>
              <a:rPr lang="en-US" sz="1600" b="1" dirty="0" smtClean="0">
                <a:latin typeface="Times New Roman" pitchFamily="18" charset="0"/>
                <a:cs typeface="Times New Roman" pitchFamily="18" charset="0"/>
              </a:rPr>
              <a:t> High Throughput</a:t>
            </a:r>
          </a:p>
          <a:p>
            <a:r>
              <a:rPr lang="en-US" sz="1600" dirty="0" smtClean="0">
                <a:latin typeface="Times New Roman" pitchFamily="18" charset="0"/>
                <a:cs typeface="Times New Roman" pitchFamily="18" charset="0"/>
              </a:rPr>
              <a:t>Overall system performance increases because workload is evenly shared.</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lang="en-US" sz="2400" dirty="0" smtClean="0">
                <a:latin typeface="Times New Roman" pitchFamily="18" charset="0"/>
                <a:cs typeface="Times New Roman" pitchFamily="18" charset="0"/>
              </a:rPr>
              <a:t>Benefits of load balancing</a:t>
            </a:r>
            <a:endParaRPr lang="en-US" sz="2400" b="1" spc="-10" dirty="0">
              <a:latin typeface="Times New Roman" pitchFamily="18" charset="0"/>
              <a:cs typeface="Times New Roman" pitchFamily="18" charset="0"/>
              <a:sym typeface="+mn-ea"/>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83525" cy="3581400"/>
          </a:xfrm>
          <a:prstGeom prst="rect">
            <a:avLst/>
          </a:prstGeom>
        </p:spPr>
        <p:txBody>
          <a:bodyPr vert="horz" wrap="square" lIns="0" tIns="9525" rIns="0" bIns="0" rtlCol="0">
            <a:noAutofit/>
          </a:bodyPr>
          <a:lstStyle/>
          <a:p>
            <a:pPr>
              <a:buFont typeface="Arial" pitchFamily="34" charset="0"/>
              <a:buChar char="•"/>
            </a:pPr>
            <a:r>
              <a:rPr lang="en-US" sz="1600" b="1" dirty="0" smtClean="0">
                <a:latin typeface="Times New Roman" pitchFamily="18" charset="0"/>
                <a:cs typeface="Times New Roman" pitchFamily="18" charset="0"/>
              </a:rPr>
              <a:t> Hardware Load Balancers</a:t>
            </a:r>
          </a:p>
          <a:p>
            <a:r>
              <a:rPr lang="en-US" sz="1600" dirty="0" smtClean="0">
                <a:latin typeface="Times New Roman" pitchFamily="18" charset="0"/>
                <a:cs typeface="Times New Roman" pitchFamily="18" charset="0"/>
              </a:rPr>
              <a:t>Physical devices</a:t>
            </a:r>
          </a:p>
          <a:p>
            <a:r>
              <a:rPr lang="en-US" sz="1600" dirty="0" smtClean="0">
                <a:latin typeface="Times New Roman" pitchFamily="18" charset="0"/>
                <a:cs typeface="Times New Roman" pitchFamily="18" charset="0"/>
              </a:rPr>
              <a:t>Very fast and reliable</a:t>
            </a:r>
          </a:p>
          <a:p>
            <a:r>
              <a:rPr lang="en-US" sz="1600" dirty="0" smtClean="0">
                <a:latin typeface="Times New Roman" pitchFamily="18" charset="0"/>
                <a:cs typeface="Times New Roman" pitchFamily="18" charset="0"/>
              </a:rPr>
              <a:t>Expensive</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Examples: F5, Citrix</a:t>
            </a:r>
          </a:p>
          <a:p>
            <a:pPr>
              <a:buFont typeface="Arial" pitchFamily="34" charset="0"/>
              <a:buChar char="•"/>
            </a:pPr>
            <a:r>
              <a:rPr lang="en-US" sz="1600" b="1" dirty="0" smtClean="0">
                <a:latin typeface="Times New Roman" pitchFamily="18" charset="0"/>
                <a:cs typeface="Times New Roman" pitchFamily="18" charset="0"/>
              </a:rPr>
              <a:t> Software Load Balancers</a:t>
            </a:r>
          </a:p>
          <a:p>
            <a:r>
              <a:rPr lang="en-US" sz="1600" dirty="0" smtClean="0">
                <a:latin typeface="Times New Roman" pitchFamily="18" charset="0"/>
                <a:cs typeface="Times New Roman" pitchFamily="18" charset="0"/>
              </a:rPr>
              <a:t>Run on general-purpose machines</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Examples: NGINX, </a:t>
            </a:r>
            <a:r>
              <a:rPr lang="en-US" sz="1600" dirty="0" err="1" smtClean="0">
                <a:latin typeface="Times New Roman" pitchFamily="18" charset="0"/>
                <a:cs typeface="Times New Roman" pitchFamily="18" charset="0"/>
              </a:rPr>
              <a:t>HAProxy</a:t>
            </a:r>
            <a:endParaRPr lang="en-US" sz="1600" dirty="0" smtClean="0">
              <a:latin typeface="Times New Roman" pitchFamily="18" charset="0"/>
              <a:cs typeface="Times New Roman" pitchFamily="18" charset="0"/>
            </a:endParaRPr>
          </a:p>
          <a:p>
            <a:pPr>
              <a:buFont typeface="Arial" pitchFamily="34" charset="0"/>
              <a:buChar char="•"/>
            </a:pPr>
            <a:r>
              <a:rPr lang="en-US" sz="1600" b="1" dirty="0" smtClean="0">
                <a:latin typeface="Times New Roman" pitchFamily="18" charset="0"/>
                <a:cs typeface="Times New Roman" pitchFamily="18" charset="0"/>
              </a:rPr>
              <a:t> Cloud Load Balancers</a:t>
            </a:r>
          </a:p>
          <a:p>
            <a:r>
              <a:rPr lang="en-US" sz="1600" dirty="0" smtClean="0">
                <a:latin typeface="Times New Roman" pitchFamily="18" charset="0"/>
                <a:cs typeface="Times New Roman" pitchFamily="18" charset="0"/>
              </a:rPr>
              <a:t>Managed by cloud providers</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Examples: AWS ELB/ALB, </a:t>
            </a:r>
          </a:p>
          <a:p>
            <a:r>
              <a:rPr lang="en-US" sz="1600" dirty="0" smtClean="0">
                <a:latin typeface="Times New Roman" pitchFamily="18" charset="0"/>
                <a:cs typeface="Times New Roman" pitchFamily="18" charset="0"/>
              </a:rPr>
              <a:t>Google Cloud LB, Azure LB</a:t>
            </a:r>
          </a:p>
          <a:p>
            <a:r>
              <a:rPr lang="en-US" sz="1600" dirty="0" smtClean="0">
                <a:latin typeface="Times New Roman" pitchFamily="18" charset="0"/>
                <a:cs typeface="Times New Roman" pitchFamily="18" charset="0"/>
              </a:rPr>
              <a:t>Highly scalable</a:t>
            </a:r>
          </a:p>
          <a:p>
            <a:r>
              <a:rPr lang="en-US" sz="1600" dirty="0" smtClean="0">
                <a:latin typeface="Times New Roman" pitchFamily="18" charset="0"/>
                <a:cs typeface="Times New Roman" pitchFamily="18" charset="0"/>
              </a:rPr>
              <a:t>No maintenance required</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lang="en-US" sz="2400" dirty="0" smtClean="0">
                <a:latin typeface="Times New Roman" pitchFamily="18" charset="0"/>
                <a:cs typeface="Times New Roman" pitchFamily="18" charset="0"/>
              </a:rPr>
              <a:t>Types of Load Balancers</a:t>
            </a:r>
            <a:endParaRPr lang="en-US" sz="2400" b="1" spc="-10" dirty="0">
              <a:latin typeface="Times New Roman" pitchFamily="18" charset="0"/>
              <a:cs typeface="Times New Roman" pitchFamily="18" charset="0"/>
              <a:sym typeface="+mn-ea"/>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9218" name="Picture 2"/>
          <p:cNvPicPr>
            <a:picLocks noChangeAspect="1" noChangeArrowheads="1"/>
          </p:cNvPicPr>
          <p:nvPr/>
        </p:nvPicPr>
        <p:blipFill>
          <a:blip r:embed="rId2" cstate="print"/>
          <a:srcRect/>
          <a:stretch>
            <a:fillRect/>
          </a:stretch>
        </p:blipFill>
        <p:spPr bwMode="auto">
          <a:xfrm>
            <a:off x="4267200" y="1657350"/>
            <a:ext cx="4343400" cy="23622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543799" cy="1524000"/>
          </a:xfrm>
          <a:prstGeom prst="rect">
            <a:avLst/>
          </a:prstGeom>
        </p:spPr>
        <p:txBody>
          <a:bodyPr vert="horz" wrap="square" lIns="0" tIns="9525" rIns="0" bIns="0" rtlCol="0">
            <a:noAutofit/>
          </a:bodyPr>
          <a:lstStyle/>
          <a:p>
            <a:pPr algn="just" fontAlgn="base">
              <a:buFont typeface="Arial" pitchFamily="34" charset="0"/>
              <a:buChar char="•"/>
            </a:pPr>
            <a:r>
              <a:rPr lang="en-US" sz="1600" dirty="0" smtClean="0">
                <a:latin typeface="Times New Roman" pitchFamily="18" charset="0"/>
                <a:cs typeface="Times New Roman" pitchFamily="18" charset="0"/>
              </a:rPr>
              <a:t> The </a:t>
            </a:r>
            <a:r>
              <a:rPr lang="en-US" sz="1600" dirty="0">
                <a:latin typeface="Times New Roman" pitchFamily="18" charset="0"/>
                <a:cs typeface="Times New Roman" pitchFamily="18" charset="0"/>
              </a:rPr>
              <a:t>goal is to make sure that no single server is overloaded when too many users visit an application</a:t>
            </a:r>
            <a:r>
              <a:rPr lang="en-US" sz="1600" dirty="0" smtClean="0">
                <a:latin typeface="Times New Roman" pitchFamily="18" charset="0"/>
                <a:cs typeface="Times New Roman" pitchFamily="18" charset="0"/>
              </a:rPr>
              <a:t>.</a:t>
            </a:r>
          </a:p>
          <a:p>
            <a:pPr algn="just" fontAlgn="base">
              <a:buFont typeface="Arial" pitchFamily="34" charset="0"/>
              <a:buChar char="•"/>
            </a:pPr>
            <a:endParaRPr lang="en-US" sz="1600" dirty="0">
              <a:latin typeface="Times New Roman" pitchFamily="18" charset="0"/>
              <a:cs typeface="Times New Roman" pitchFamily="18" charset="0"/>
            </a:endParaRPr>
          </a:p>
          <a:p>
            <a:pPr algn="just" fontAlgn="base">
              <a:buFont typeface="Arial" pitchFamily="34" charset="0"/>
              <a:buChar char="•"/>
            </a:pPr>
            <a:r>
              <a:rPr lang="en-US" sz="1600" dirty="0" smtClean="0">
                <a:latin typeface="Times New Roman" pitchFamily="18" charset="0"/>
                <a:cs typeface="Times New Roman" pitchFamily="18" charset="0"/>
              </a:rPr>
              <a:t> Load </a:t>
            </a:r>
            <a:r>
              <a:rPr lang="en-US" sz="1600" dirty="0">
                <a:latin typeface="Times New Roman" pitchFamily="18" charset="0"/>
                <a:cs typeface="Times New Roman" pitchFamily="18" charset="0"/>
              </a:rPr>
              <a:t>balancing algorithms can be broadly categorized into two types: Dynamic load balancing and Static load balancing.</a:t>
            </a: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fontAlgn="base"/>
            <a:r>
              <a:rPr lang="en-US" sz="2400" dirty="0" smtClean="0">
                <a:latin typeface="Times New Roman" pitchFamily="18" charset="0"/>
                <a:cs typeface="Times New Roman" pitchFamily="18" charset="0"/>
              </a:rPr>
              <a:t>Load Balancing Algorithms</a:t>
            </a:r>
          </a:p>
          <a:p>
            <a:pPr algn="l" fontAlgn="auto">
              <a:spcAft>
                <a:spcPts val="0"/>
              </a:spcAft>
              <a:defRPr/>
            </a:pPr>
            <a:endParaRPr lang="en-US" sz="2400" b="1" spc="-10" dirty="0">
              <a:latin typeface="Times New Roman" pitchFamily="18" charset="0"/>
              <a:cs typeface="Times New Roman" pitchFamily="18" charset="0"/>
              <a:sym typeface="+mn-ea"/>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1506" name="AutoShape 2" descr="Homogeneous Distributed Database (Self Creation) | Download Scientific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2" name="Picture 11" descr="load balancer.PNG"/>
          <p:cNvPicPr>
            <a:picLocks noChangeAspect="1"/>
          </p:cNvPicPr>
          <p:nvPr/>
        </p:nvPicPr>
        <p:blipFill>
          <a:blip r:embed="rId2" cstate="print"/>
          <a:stretch>
            <a:fillRect/>
          </a:stretch>
        </p:blipFill>
        <p:spPr>
          <a:xfrm>
            <a:off x="1524000" y="2647950"/>
            <a:ext cx="5638800" cy="1676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467599" cy="3276600"/>
          </a:xfrm>
          <a:prstGeom prst="rect">
            <a:avLst/>
          </a:prstGeom>
        </p:spPr>
        <p:txBody>
          <a:bodyPr vert="horz" wrap="square" lIns="0" tIns="9525" rIns="0" bIns="0" rtlCol="0">
            <a:noAutofit/>
          </a:bodyPr>
          <a:lstStyle/>
          <a:p>
            <a:pPr algn="just">
              <a:lnSpc>
                <a:spcPct val="150000"/>
              </a:lnSpc>
            </a:pPr>
            <a:r>
              <a:rPr lang="en-US" sz="1600" dirty="0">
                <a:latin typeface="Times New Roman" pitchFamily="18" charset="0"/>
                <a:cs typeface="Times New Roman" pitchFamily="18" charset="0"/>
              </a:rPr>
              <a:t>Static load balancing involves predetermined assignment of tasks or resources without considering real-time variations in the system</a:t>
            </a:r>
            <a:r>
              <a:rPr lang="en-US" sz="1600" dirty="0" smtClean="0">
                <a:latin typeface="Times New Roman" pitchFamily="18" charset="0"/>
                <a:cs typeface="Times New Roman" pitchFamily="18" charset="0"/>
              </a:rPr>
              <a:t>.</a:t>
            </a:r>
            <a:r>
              <a:rPr lang="en-US" sz="1600" dirty="0">
                <a:latin typeface="Times New Roman" pitchFamily="18" charset="0"/>
                <a:cs typeface="Times New Roman" pitchFamily="18" charset="0"/>
              </a:rPr>
              <a:t> This approach relies on a fixed allocation of workloads to servers or resources, and it doesn’t adapt to changes during runtime.</a:t>
            </a: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fontAlgn="base"/>
            <a:r>
              <a:rPr lang="en-US" sz="2400" dirty="0" smtClean="0">
                <a:latin typeface="Times New Roman" pitchFamily="18" charset="0"/>
                <a:cs typeface="Times New Roman" pitchFamily="18" charset="0"/>
              </a:rPr>
              <a:t>Static Load Balancing Algorithms (Cont…)</a:t>
            </a:r>
          </a:p>
          <a:p>
            <a:pPr algn="l" fontAlgn="auto">
              <a:spcAft>
                <a:spcPts val="0"/>
              </a:spcAft>
              <a:defRPr/>
            </a:pPr>
            <a:endParaRPr lang="en-US" sz="2400" b="1" spc="-10" dirty="0">
              <a:latin typeface="Times New Roman" pitchFamily="18" charset="0"/>
              <a:cs typeface="Times New Roman" pitchFamily="18" charset="0"/>
              <a:sym typeface="+mn-ea"/>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8077199" cy="1447800"/>
          </a:xfrm>
          <a:prstGeom prst="rect">
            <a:avLst/>
          </a:prstGeom>
        </p:spPr>
        <p:txBody>
          <a:bodyPr vert="horz" wrap="square" lIns="0" tIns="9525" rIns="0" bIns="0" rtlCol="0">
            <a:noAutofit/>
          </a:bodyPr>
          <a:lstStyle/>
          <a:p>
            <a:pPr algn="just">
              <a:lnSpc>
                <a:spcPct val="150000"/>
              </a:lnSpc>
            </a:pPr>
            <a:r>
              <a:rPr lang="en-US" sz="1600" dirty="0">
                <a:latin typeface="Times New Roman" pitchFamily="18" charset="0"/>
                <a:cs typeface="Times New Roman" pitchFamily="18" charset="0"/>
              </a:rPr>
              <a:t>The Round Robin algorithm is a simple static load balancing approach in which requests are distributed across the servers in a sequential or rotational manner. It is easy to implement but it doesn’t consider the load already on a server so there is a risk that one of the servers receives a lot of requests and becomes overloaded.</a:t>
            </a: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fontAlgn="base"/>
            <a:r>
              <a:rPr lang="en-US" sz="2400" dirty="0" smtClean="0"/>
              <a:t>Round Robin Load Balancing Algorithm</a:t>
            </a:r>
            <a:endParaRPr lang="en-US" sz="2400" dirty="0"/>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42" name="Picture 2"/>
          <p:cNvPicPr>
            <a:picLocks noChangeAspect="1" noChangeArrowheads="1"/>
          </p:cNvPicPr>
          <p:nvPr/>
        </p:nvPicPr>
        <p:blipFill>
          <a:blip r:embed="rId2" cstate="print"/>
          <a:srcRect/>
          <a:stretch>
            <a:fillRect/>
          </a:stretch>
        </p:blipFill>
        <p:spPr bwMode="auto">
          <a:xfrm>
            <a:off x="1600200" y="2647950"/>
            <a:ext cx="6019800" cy="22098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924799" cy="1143000"/>
          </a:xfrm>
          <a:prstGeom prst="rect">
            <a:avLst/>
          </a:prstGeom>
        </p:spPr>
        <p:txBody>
          <a:bodyPr vert="horz" wrap="square" lIns="0" tIns="9525" rIns="0" bIns="0" rtlCol="0">
            <a:noAutofit/>
          </a:bodyPr>
          <a:lstStyle/>
          <a:p>
            <a:pPr algn="just">
              <a:lnSpc>
                <a:spcPct val="150000"/>
              </a:lnSpc>
            </a:pPr>
            <a:r>
              <a:rPr lang="en-US" sz="1600" dirty="0" smtClean="0">
                <a:latin typeface="Times New Roman" pitchFamily="18" charset="0"/>
                <a:cs typeface="Times New Roman" pitchFamily="18" charset="0"/>
              </a:rPr>
              <a:t>It is </a:t>
            </a:r>
            <a:r>
              <a:rPr lang="en-US" sz="1600" dirty="0">
                <a:latin typeface="Times New Roman" pitchFamily="18" charset="0"/>
                <a:cs typeface="Times New Roman" pitchFamily="18" charset="0"/>
              </a:rPr>
              <a:t>also a static load balancing approach which is much similar to the round-robin technique. The only difference is, that each of the resources in a list is provided a weighted score.</a:t>
            </a: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fontAlgn="base"/>
            <a:r>
              <a:rPr lang="en-US" sz="2400" dirty="0" smtClean="0">
                <a:latin typeface="Times New Roman" pitchFamily="18" charset="0"/>
                <a:cs typeface="Times New Roman" pitchFamily="18" charset="0"/>
              </a:rPr>
              <a:t>Weighted Round Robin Load Balancing Algorithm</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1266" name="Picture 2"/>
          <p:cNvPicPr>
            <a:picLocks noChangeAspect="1" noChangeArrowheads="1"/>
          </p:cNvPicPr>
          <p:nvPr/>
        </p:nvPicPr>
        <p:blipFill>
          <a:blip r:embed="rId2" cstate="print"/>
          <a:srcRect/>
          <a:stretch>
            <a:fillRect/>
          </a:stretch>
        </p:blipFill>
        <p:spPr bwMode="auto">
          <a:xfrm>
            <a:off x="1752600" y="2114550"/>
            <a:ext cx="5943601" cy="264795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1" y="1123950"/>
            <a:ext cx="7772400" cy="1295400"/>
          </a:xfrm>
          <a:prstGeom prst="rect">
            <a:avLst/>
          </a:prstGeom>
        </p:spPr>
        <p:txBody>
          <a:bodyPr vert="horz" wrap="square" lIns="0" tIns="9525" rIns="0" bIns="0" rtlCol="0">
            <a:noAutofit/>
          </a:bodyPr>
          <a:lstStyle/>
          <a:p>
            <a:pPr algn="just">
              <a:lnSpc>
                <a:spcPct val="150000"/>
              </a:lnSpc>
              <a:buFont typeface="Arial" pitchFamily="34" charset="0"/>
              <a:buChar char="•"/>
            </a:pPr>
            <a:r>
              <a:rPr lang="en-US" sz="1600" dirty="0" smtClean="0">
                <a:latin typeface="Times New Roman" pitchFamily="18" charset="0"/>
                <a:cs typeface="Times New Roman" pitchFamily="18" charset="0"/>
              </a:rPr>
              <a:t> It is </a:t>
            </a:r>
            <a:r>
              <a:rPr lang="en-US" sz="1600" dirty="0">
                <a:latin typeface="Times New Roman" pitchFamily="18" charset="0"/>
                <a:cs typeface="Times New Roman" pitchFamily="18" charset="0"/>
              </a:rPr>
              <a:t>a method used in network load balancing to distribute incoming requests among a set of servers based on the hash value of the source IP address. This algorithm aims to ensure that requests originating from the same source IP address are consistently directed to the same server.</a:t>
            </a: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fontAlgn="base"/>
            <a:r>
              <a:rPr lang="en-US" sz="2400" dirty="0" smtClean="0">
                <a:latin typeface="Times New Roman" pitchFamily="18" charset="0"/>
                <a:cs typeface="Times New Roman" pitchFamily="18" charset="0"/>
              </a:rPr>
              <a:t>Source IP Hash Load Balancing Algorithm</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2290" name="Picture 2"/>
          <p:cNvPicPr>
            <a:picLocks noChangeAspect="1" noChangeArrowheads="1"/>
          </p:cNvPicPr>
          <p:nvPr/>
        </p:nvPicPr>
        <p:blipFill>
          <a:blip r:embed="rId2" cstate="print"/>
          <a:srcRect/>
          <a:stretch>
            <a:fillRect/>
          </a:stretch>
        </p:blipFill>
        <p:spPr bwMode="auto">
          <a:xfrm>
            <a:off x="1904999" y="2647950"/>
            <a:ext cx="5562601" cy="22479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391400" cy="3276600"/>
          </a:xfrm>
          <a:prstGeom prst="rect">
            <a:avLst/>
          </a:prstGeom>
        </p:spPr>
        <p:txBody>
          <a:bodyPr vert="horz" wrap="square" lIns="0" tIns="9525" rIns="0" bIns="0" rtlCol="0">
            <a:noAutofit/>
          </a:bodyPr>
          <a:lstStyle/>
          <a:p>
            <a:pPr>
              <a:buFont typeface="Arial" pitchFamily="34" charset="0"/>
              <a:buChar char="•"/>
            </a:pPr>
            <a:r>
              <a:rPr lang="en-US" sz="1600" b="1" dirty="0" smtClean="0">
                <a:latin typeface="Times New Roman" pitchFamily="18" charset="0"/>
                <a:cs typeface="Times New Roman" pitchFamily="18" charset="0"/>
              </a:rPr>
              <a:t> Session Persistence</a:t>
            </a:r>
          </a:p>
          <a:p>
            <a:r>
              <a:rPr lang="en-US" sz="1600" dirty="0" smtClean="0">
                <a:latin typeface="Times New Roman" pitchFamily="18" charset="0"/>
                <a:cs typeface="Times New Roman" pitchFamily="18" charset="0"/>
              </a:rPr>
              <a:t>Users sometimes need to stay connected to a specific server (shopping cart, login session).</a:t>
            </a:r>
          </a:p>
          <a:p>
            <a:endParaRPr lang="en-US" sz="1600" dirty="0" smtClean="0">
              <a:latin typeface="Times New Roman" pitchFamily="18" charset="0"/>
              <a:cs typeface="Times New Roman" pitchFamily="18" charset="0"/>
            </a:endParaRPr>
          </a:p>
          <a:p>
            <a:pPr>
              <a:buFont typeface="Arial" pitchFamily="34" charset="0"/>
              <a:buChar char="•"/>
            </a:pPr>
            <a:r>
              <a:rPr lang="en-US" sz="1600" b="1" dirty="0" smtClean="0">
                <a:latin typeface="Times New Roman" pitchFamily="18" charset="0"/>
                <a:cs typeface="Times New Roman" pitchFamily="18" charset="0"/>
              </a:rPr>
              <a:t> Global Traffic Distribution</a:t>
            </a:r>
          </a:p>
          <a:p>
            <a:r>
              <a:rPr lang="en-US" sz="1600" dirty="0" smtClean="0">
                <a:latin typeface="Times New Roman" pitchFamily="18" charset="0"/>
                <a:cs typeface="Times New Roman" pitchFamily="18" charset="0"/>
              </a:rPr>
              <a:t>Apps used worldwide must handle traffic from multiple regions → need Global Load Balancers (GSLB).</a:t>
            </a:r>
          </a:p>
          <a:p>
            <a:endParaRPr lang="en-US" sz="1600" dirty="0" smtClean="0">
              <a:latin typeface="Times New Roman" pitchFamily="18" charset="0"/>
              <a:cs typeface="Times New Roman" pitchFamily="18" charset="0"/>
            </a:endParaRPr>
          </a:p>
          <a:p>
            <a:pPr>
              <a:buFont typeface="Arial" pitchFamily="34" charset="0"/>
              <a:buChar char="•"/>
            </a:pPr>
            <a:r>
              <a:rPr lang="en-US" sz="1600" b="1" dirty="0" smtClean="0">
                <a:latin typeface="Times New Roman" pitchFamily="18" charset="0"/>
                <a:cs typeface="Times New Roman" pitchFamily="18" charset="0"/>
              </a:rPr>
              <a:t> Failover Management</a:t>
            </a:r>
          </a:p>
          <a:p>
            <a:r>
              <a:rPr lang="en-US" sz="1600" dirty="0" smtClean="0">
                <a:latin typeface="Times New Roman" pitchFamily="18" charset="0"/>
                <a:cs typeface="Times New Roman" pitchFamily="18" charset="0"/>
              </a:rPr>
              <a:t>When multiple load balancers are used, ensuring one takes over if another fails is complex.</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a:defRPr/>
            </a:pPr>
            <a:r>
              <a:rPr lang="en-US" sz="2400" dirty="0" smtClean="0">
                <a:latin typeface="Times New Roman" pitchFamily="18" charset="0"/>
                <a:cs typeface="Times New Roman" pitchFamily="18" charset="0"/>
              </a:rPr>
              <a:t>Challenges in Load Balancing</a:t>
            </a:r>
            <a:endParaRPr lang="en-US" sz="2400" b="1" spc="-10" dirty="0">
              <a:latin typeface="Times New Roman" pitchFamily="18" charset="0"/>
              <a:cs typeface="Times New Roman" pitchFamily="18" charset="0"/>
              <a:sym typeface="+mn-ea"/>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1999" y="285686"/>
            <a:ext cx="3616961" cy="382156"/>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panose="02020503050405090304" pitchFamily="18" charset="0"/>
                <a:cs typeface="Times New Roman" panose="02020503050405090304" pitchFamily="18" charset="0"/>
              </a:rPr>
              <a:t>Summary</a:t>
            </a:r>
            <a:r>
              <a:rPr sz="2400" spc="-25" dirty="0">
                <a:latin typeface="Times New Roman" panose="02020503050405090304" pitchFamily="18" charset="0"/>
                <a:cs typeface="Times New Roman" panose="02020503050405090304" pitchFamily="18" charset="0"/>
              </a:rPr>
              <a:t> </a:t>
            </a:r>
            <a:r>
              <a:rPr sz="2400" dirty="0">
                <a:latin typeface="Times New Roman" panose="02020503050405090304" pitchFamily="18" charset="0"/>
                <a:cs typeface="Times New Roman" panose="02020503050405090304" pitchFamily="18" charset="0"/>
              </a:rPr>
              <a:t>of</a:t>
            </a:r>
            <a:r>
              <a:rPr sz="2400" spc="-15" dirty="0">
                <a:latin typeface="Times New Roman" panose="02020503050405090304" pitchFamily="18" charset="0"/>
                <a:cs typeface="Times New Roman" panose="02020503050405090304" pitchFamily="18" charset="0"/>
              </a:rPr>
              <a:t> </a:t>
            </a:r>
            <a:r>
              <a:rPr sz="2400" dirty="0">
                <a:latin typeface="Times New Roman" panose="02020503050405090304" pitchFamily="18" charset="0"/>
                <a:cs typeface="Times New Roman" panose="02020503050405090304" pitchFamily="18" charset="0"/>
              </a:rPr>
              <a:t>the</a:t>
            </a:r>
            <a:r>
              <a:rPr sz="2400" spc="-15" dirty="0">
                <a:latin typeface="Times New Roman" panose="02020503050405090304" pitchFamily="18" charset="0"/>
                <a:cs typeface="Times New Roman" panose="02020503050405090304" pitchFamily="18" charset="0"/>
              </a:rPr>
              <a:t> </a:t>
            </a:r>
            <a:r>
              <a:rPr sz="2400" spc="-10" dirty="0">
                <a:latin typeface="Times New Roman" panose="02020503050405090304" pitchFamily="18" charset="0"/>
                <a:cs typeface="Times New Roman" panose="02020503050405090304" pitchFamily="18" charset="0"/>
              </a:rPr>
              <a:t>Lecture</a:t>
            </a:r>
            <a:endParaRPr sz="2400" dirty="0">
              <a:latin typeface="Times New Roman" panose="02020503050405090304" pitchFamily="18" charset="0"/>
              <a:cs typeface="Times New Roman" panose="02020503050405090304" pitchFamily="18" charset="0"/>
            </a:endParaRPr>
          </a:p>
        </p:txBody>
      </p:sp>
      <p:sp>
        <p:nvSpPr>
          <p:cNvPr id="4" name="object 4"/>
          <p:cNvSpPr txBox="1"/>
          <p:nvPr/>
        </p:nvSpPr>
        <p:spPr>
          <a:xfrm>
            <a:off x="762000" y="754380"/>
            <a:ext cx="7790180" cy="3722370"/>
          </a:xfrm>
          <a:prstGeom prst="rect">
            <a:avLst/>
          </a:prstGeom>
        </p:spPr>
        <p:txBody>
          <a:bodyPr vert="horz" wrap="square" lIns="0" tIns="15875" rIns="0" bIns="0" rtlCol="0">
            <a:noAutofit/>
          </a:bodyPr>
          <a:lstStyle/>
          <a:p>
            <a:pPr>
              <a:buFont typeface="Arial" pitchFamily="34" charset="0"/>
              <a:buChar char="•"/>
            </a:pPr>
            <a:r>
              <a:rPr lang="en-US" sz="1600" dirty="0" smtClean="0">
                <a:latin typeface="Times New Roman" pitchFamily="18" charset="0"/>
                <a:cs typeface="Times New Roman" pitchFamily="18" charset="0"/>
              </a:rPr>
              <a:t>Load balancing is the process of distributing incoming network traffic across multiple servers to ensure no single server becomes overloaded.</a:t>
            </a:r>
          </a:p>
          <a:p>
            <a:pPr>
              <a:buFont typeface="Arial" pitchFamily="34" charset="0"/>
              <a:buChar char="•"/>
            </a:pPr>
            <a:endParaRPr lang="en-US" sz="1600" dirty="0" smtClean="0">
              <a:latin typeface="Times New Roman" pitchFamily="18" charset="0"/>
              <a:cs typeface="Times New Roman" pitchFamily="18" charset="0"/>
            </a:endParaRPr>
          </a:p>
          <a:p>
            <a:pPr>
              <a:buFont typeface="Arial" pitchFamily="34" charset="0"/>
              <a:buChar char="•"/>
            </a:pPr>
            <a:r>
              <a:rPr lang="en-US" sz="1600" dirty="0" smtClean="0">
                <a:latin typeface="Times New Roman" pitchFamily="18" charset="0"/>
                <a:cs typeface="Times New Roman" pitchFamily="18" charset="0"/>
              </a:rPr>
              <a:t>It improves system performance, availability, and fault tolerance by allowing multiple servers to share workload efficiently.</a:t>
            </a:r>
          </a:p>
          <a:p>
            <a:pPr>
              <a:buFont typeface="Arial" pitchFamily="34" charset="0"/>
              <a:buChar char="•"/>
            </a:pPr>
            <a:endParaRPr lang="en-US" sz="1600" dirty="0" smtClean="0">
              <a:latin typeface="Times New Roman" pitchFamily="18" charset="0"/>
              <a:cs typeface="Times New Roman" pitchFamily="18" charset="0"/>
            </a:endParaRPr>
          </a:p>
          <a:p>
            <a:pPr>
              <a:buFont typeface="Arial" pitchFamily="34" charset="0"/>
              <a:buChar char="•"/>
            </a:pPr>
            <a:r>
              <a:rPr lang="en-US" sz="1600" dirty="0" smtClean="0">
                <a:latin typeface="Times New Roman" pitchFamily="18" charset="0"/>
                <a:cs typeface="Times New Roman" pitchFamily="18" charset="0"/>
              </a:rPr>
              <a:t>Load balancers can be hardware-based, software-based, or cloud-managed, each offering different levels of scalability, cost, and flexibility.</a:t>
            </a:r>
          </a:p>
          <a:p>
            <a:pPr>
              <a:buFont typeface="Arial" pitchFamily="34" charset="0"/>
              <a:buChar char="•"/>
            </a:pPr>
            <a:endParaRPr lang="en-US" sz="1600" dirty="0" smtClean="0">
              <a:latin typeface="Times New Roman" pitchFamily="18" charset="0"/>
              <a:cs typeface="Times New Roman" pitchFamily="18" charset="0"/>
            </a:endParaRPr>
          </a:p>
          <a:p>
            <a:pPr>
              <a:buFont typeface="Arial" pitchFamily="34" charset="0"/>
              <a:buChar char="•"/>
            </a:pPr>
            <a:r>
              <a:rPr lang="en-US" sz="1600" dirty="0" smtClean="0">
                <a:latin typeface="Times New Roman" pitchFamily="18" charset="0"/>
                <a:cs typeface="Times New Roman" pitchFamily="18" charset="0"/>
              </a:rPr>
              <a:t>Different load balancing algorithms such as Round Robin, Least Connections, Weighted algorithms, and IP Hash determine how requests are distributed.</a:t>
            </a:r>
          </a:p>
          <a:p>
            <a:pPr>
              <a:buFont typeface="Arial" pitchFamily="34" charset="0"/>
              <a:buChar char="•"/>
            </a:pPr>
            <a:endParaRPr lang="en-US" sz="1600" dirty="0" smtClean="0">
              <a:latin typeface="Times New Roman" pitchFamily="18" charset="0"/>
              <a:cs typeface="Times New Roman" pitchFamily="18" charset="0"/>
            </a:endParaRPr>
          </a:p>
          <a:p>
            <a:pPr>
              <a:buFont typeface="Arial" pitchFamily="34" charset="0"/>
              <a:buChar char="•"/>
            </a:pPr>
            <a:r>
              <a:rPr lang="en-US" sz="1600" dirty="0" smtClean="0">
                <a:latin typeface="Times New Roman" pitchFamily="18" charset="0"/>
                <a:cs typeface="Times New Roman" pitchFamily="18" charset="0"/>
              </a:rPr>
              <a:t>Health checks are continuously performed to detect unresponsive or unhealthy servers, ensuring traffic is routed only to functional servers.</a:t>
            </a:r>
          </a:p>
          <a:p>
            <a:pPr>
              <a:buFont typeface="Arial" pitchFamily="34" charset="0"/>
              <a:buChar char="•"/>
            </a:pPr>
            <a:endParaRPr lang="en-US" sz="1600" dirty="0" smtClean="0">
              <a:latin typeface="Times New Roman" pitchFamily="18" charset="0"/>
              <a:cs typeface="Times New Roman" pitchFamily="18" charset="0"/>
            </a:endParaRPr>
          </a:p>
          <a:p>
            <a:pPr>
              <a:buFont typeface="Arial" pitchFamily="34" charset="0"/>
              <a:buChar char="•"/>
            </a:pPr>
            <a:r>
              <a:rPr lang="en-US" sz="1600" dirty="0" smtClean="0">
                <a:latin typeface="Times New Roman" pitchFamily="18" charset="0"/>
                <a:cs typeface="Times New Roman" pitchFamily="18" charset="0"/>
              </a:rPr>
              <a:t>Load balancing helps in achieving high scalability, allowing more servers to be added easily as user traffic grows.</a:t>
            </a:r>
            <a:endParaRPr lang="en-US" sz="16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2000" y="1276350"/>
            <a:ext cx="7630160" cy="2821940"/>
          </a:xfrm>
          <a:prstGeom prst="rect">
            <a:avLst/>
          </a:prstGeom>
        </p:spPr>
        <p:txBody>
          <a:bodyPr vert="horz" wrap="square" lIns="0" tIns="16510" rIns="0" bIns="0" rtlCol="0">
            <a:noAutofit/>
          </a:bodyPr>
          <a:lstStyle/>
          <a:p>
            <a:pPr marL="355600" indent="-342900">
              <a:lnSpc>
                <a:spcPts val="2290"/>
              </a:lnSpc>
              <a:spcBef>
                <a:spcPts val="130"/>
              </a:spcBef>
              <a:buClr>
                <a:srgbClr val="000000"/>
              </a:buClr>
              <a:buFont typeface="Arial MT"/>
              <a:buChar char="•"/>
              <a:tabLst>
                <a:tab pos="355600" algn="l"/>
              </a:tabLst>
            </a:pPr>
            <a:r>
              <a:rPr lang="en-US" sz="1600" dirty="0">
                <a:latin typeface="Times New Roman" pitchFamily="18" charset="0"/>
                <a:cs typeface="Times New Roman" pitchFamily="18" charset="0"/>
              </a:rPr>
              <a:t>Caching </a:t>
            </a:r>
            <a:r>
              <a:rPr lang="en-US" sz="1600" dirty="0" smtClean="0">
                <a:latin typeface="Times New Roman" pitchFamily="18" charset="0"/>
                <a:cs typeface="Times New Roman" pitchFamily="18" charset="0"/>
              </a:rPr>
              <a:t>Strategies</a:t>
            </a:r>
          </a:p>
          <a:p>
            <a:pPr marL="355600" indent="-342900">
              <a:lnSpc>
                <a:spcPts val="2290"/>
              </a:lnSpc>
              <a:spcBef>
                <a:spcPts val="130"/>
              </a:spcBef>
              <a:buClr>
                <a:srgbClr val="000000"/>
              </a:buClr>
              <a:buFont typeface="Arial MT"/>
              <a:buChar char="•"/>
              <a:tabLst>
                <a:tab pos="355600" algn="l"/>
              </a:tabLst>
            </a:pP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Overview</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Client-Side </a:t>
            </a:r>
            <a:r>
              <a:rPr lang="en-US" sz="1600" dirty="0" err="1">
                <a:latin typeface="Times New Roman" pitchFamily="18" charset="0"/>
                <a:cs typeface="Times New Roman" pitchFamily="18" charset="0"/>
              </a:rPr>
              <a:t>vs</a:t>
            </a:r>
            <a:r>
              <a:rPr lang="en-US" sz="1600" dirty="0">
                <a:latin typeface="Times New Roman" pitchFamily="18" charset="0"/>
                <a:cs typeface="Times New Roman" pitchFamily="18" charset="0"/>
              </a:rPr>
              <a:t> Server-Side </a:t>
            </a:r>
            <a:r>
              <a:rPr lang="en-US" sz="1600" dirty="0" smtClean="0">
                <a:latin typeface="Times New Roman" pitchFamily="18" charset="0"/>
                <a:cs typeface="Times New Roman" pitchFamily="18" charset="0"/>
              </a:rPr>
              <a:t>Caching</a:t>
            </a:r>
          </a:p>
          <a:p>
            <a:pPr marL="355600" indent="-342900">
              <a:lnSpc>
                <a:spcPts val="2290"/>
              </a:lnSpc>
              <a:spcBef>
                <a:spcPts val="130"/>
              </a:spcBef>
              <a:buClr>
                <a:srgbClr val="000000"/>
              </a:buClr>
              <a:buFont typeface="Arial MT"/>
              <a:buChar char="•"/>
              <a:tabLst>
                <a:tab pos="355600" algn="l"/>
              </a:tabLst>
            </a:pP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Replication Techniques</a:t>
            </a:r>
            <a:r>
              <a:rPr lang="en-US" sz="1600" dirty="0" smtClean="0">
                <a:latin typeface="Times New Roman" pitchFamily="18" charset="0"/>
                <a:cs typeface="Times New Roman" pitchFamily="18" charset="0"/>
              </a:rPr>
              <a:t> </a:t>
            </a:r>
          </a:p>
          <a:p>
            <a:pPr marL="355600" indent="-342900">
              <a:lnSpc>
                <a:spcPts val="2290"/>
              </a:lnSpc>
              <a:spcBef>
                <a:spcPts val="130"/>
              </a:spcBef>
              <a:buClr>
                <a:srgbClr val="000000"/>
              </a:buClr>
              <a:buFont typeface="Arial MT"/>
              <a:buChar char="•"/>
              <a:tabLst>
                <a:tab pos="355600" algn="l"/>
              </a:tabLst>
            </a:pPr>
            <a:r>
              <a:rPr lang="en-US" sz="1600" dirty="0" err="1" smtClean="0">
                <a:latin typeface="Times New Roman" pitchFamily="18" charset="0"/>
                <a:cs typeface="Times New Roman" pitchFamily="18" charset="0"/>
              </a:rPr>
              <a:t>Sharding</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Strategies</a:t>
            </a:r>
            <a:r>
              <a:rPr lang="en-US" sz="1600" dirty="0" smtClean="0">
                <a:latin typeface="Times New Roman" pitchFamily="18" charset="0"/>
                <a:cs typeface="Times New Roman" pitchFamily="18" charset="0"/>
              </a:rPr>
              <a:t> </a:t>
            </a:r>
            <a:endParaRPr lang="en-US" sz="1600" dirty="0" smtClean="0">
              <a:solidFill>
                <a:schemeClr val="tx1"/>
              </a:solidFill>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dirty="0">
                <a:latin typeface="Times New Roman" panose="02020503050405090304" pitchFamily="18" charset="0"/>
                <a:cs typeface="Times New Roman" panose="02020503050405090304" pitchFamily="18" charset="0"/>
                <a:sym typeface="+mn-ea"/>
              </a:rPr>
              <a:t>Next</a:t>
            </a:r>
            <a:r>
              <a:rPr sz="2400" spc="-65" dirty="0">
                <a:latin typeface="Times New Roman" panose="02020503050405090304" pitchFamily="18" charset="0"/>
                <a:cs typeface="Times New Roman" panose="02020503050405090304" pitchFamily="18" charset="0"/>
                <a:sym typeface="+mn-ea"/>
              </a:rPr>
              <a:t> </a:t>
            </a:r>
            <a:r>
              <a:rPr sz="2400" spc="-10" dirty="0">
                <a:latin typeface="Times New Roman" panose="02020503050405090304" pitchFamily="18" charset="0"/>
                <a:cs typeface="Times New Roman" panose="02020503050405090304" pitchFamily="18" charset="0"/>
                <a:sym typeface="+mn-ea"/>
              </a:rPr>
              <a:t>Lecture</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4585"/>
            <a:ext cx="7696200" cy="3799205"/>
          </a:xfrm>
          <a:prstGeom prst="rect">
            <a:avLst/>
          </a:prstGeom>
        </p:spPr>
        <p:txBody>
          <a:bodyPr vert="horz" wrap="square" lIns="0" tIns="12700" rIns="0" bIns="0" rtlCol="0">
            <a:noAutofit/>
          </a:bodyPr>
          <a:lstStyle/>
          <a:p>
            <a:r>
              <a:rPr lang="en-US" sz="1200" b="1" dirty="0" smtClean="0">
                <a:latin typeface="Times New Roman" pitchFamily="18" charset="0"/>
                <a:cs typeface="Times New Roman" pitchFamily="18" charset="0"/>
              </a:rPr>
              <a:t>1. What is the main purpose of load balancing?</a:t>
            </a:r>
          </a:p>
          <a:p>
            <a:r>
              <a:rPr lang="en-US" sz="1200" dirty="0" smtClean="0">
                <a:latin typeface="Times New Roman" pitchFamily="18" charset="0"/>
                <a:cs typeface="Times New Roman" pitchFamily="18" charset="0"/>
              </a:rPr>
              <a:t>a) To increase latency</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b) To distribute traffic across multiple servers</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c) To reduce the number of servers</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d) To slow down client requests</a:t>
            </a:r>
          </a:p>
          <a:p>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200" b="1" dirty="0" smtClean="0">
                <a:latin typeface="Times New Roman" pitchFamily="18" charset="0"/>
                <a:cs typeface="Times New Roman" pitchFamily="18" charset="0"/>
              </a:rPr>
              <a:t>Answer:</a:t>
            </a:r>
            <a:r>
              <a:rPr lang="en-US" sz="1200" dirty="0" smtClean="0">
                <a:latin typeface="Times New Roman" pitchFamily="18" charset="0"/>
                <a:cs typeface="Times New Roman" pitchFamily="18" charset="0"/>
              </a:rPr>
              <a:t> </a:t>
            </a:r>
            <a:r>
              <a:rPr lang="en-US" sz="1200" b="1" dirty="0" smtClean="0">
                <a:latin typeface="Times New Roman" pitchFamily="18" charset="0"/>
                <a:cs typeface="Times New Roman" pitchFamily="18" charset="0"/>
              </a:rPr>
              <a:t>b</a:t>
            </a:r>
            <a:endParaRPr lang="en-US" sz="1200" dirty="0" smtClean="0">
              <a:latin typeface="Times New Roman" pitchFamily="18" charset="0"/>
              <a:cs typeface="Times New Roman" pitchFamily="18" charset="0"/>
            </a:endParaRPr>
          </a:p>
          <a:p>
            <a:r>
              <a:rPr lang="en-US" sz="1200" b="1" dirty="0" smtClean="0">
                <a:latin typeface="Times New Roman" pitchFamily="18" charset="0"/>
                <a:cs typeface="Times New Roman" pitchFamily="18" charset="0"/>
              </a:rPr>
              <a:t>2. Which load balancing algorithm sends requests one after another in a rotating order?</a:t>
            </a:r>
          </a:p>
          <a:p>
            <a:r>
              <a:rPr lang="en-US" sz="1200" dirty="0" smtClean="0">
                <a:latin typeface="Times New Roman" pitchFamily="18" charset="0"/>
                <a:cs typeface="Times New Roman" pitchFamily="18" charset="0"/>
              </a:rPr>
              <a:t>a) Least Connections</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b) IP Hash</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c) Round Robin</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d) Weighted Random</a:t>
            </a:r>
            <a:br>
              <a:rPr lang="en-US" sz="1200" dirty="0" smtClean="0">
                <a:latin typeface="Times New Roman" pitchFamily="18" charset="0"/>
                <a:cs typeface="Times New Roman" pitchFamily="18" charset="0"/>
              </a:rPr>
            </a:br>
            <a:r>
              <a:rPr lang="en-US" sz="1200" b="1" dirty="0" smtClean="0">
                <a:latin typeface="Times New Roman" pitchFamily="18" charset="0"/>
                <a:cs typeface="Times New Roman" pitchFamily="18" charset="0"/>
              </a:rPr>
              <a:t>Answer:</a:t>
            </a:r>
            <a:r>
              <a:rPr lang="en-US" sz="1200" dirty="0" smtClean="0">
                <a:latin typeface="Times New Roman" pitchFamily="18" charset="0"/>
                <a:cs typeface="Times New Roman" pitchFamily="18" charset="0"/>
              </a:rPr>
              <a:t> </a:t>
            </a:r>
            <a:r>
              <a:rPr lang="en-US" sz="1200" b="1" dirty="0" smtClean="0">
                <a:latin typeface="Times New Roman" pitchFamily="18" charset="0"/>
                <a:cs typeface="Times New Roman" pitchFamily="18" charset="0"/>
              </a:rPr>
              <a:t>c</a:t>
            </a:r>
          </a:p>
          <a:p>
            <a:endParaRPr lang="en-US" sz="1200" dirty="0" smtClean="0">
              <a:latin typeface="Times New Roman" pitchFamily="18" charset="0"/>
              <a:cs typeface="Times New Roman" pitchFamily="18" charset="0"/>
            </a:endParaRPr>
          </a:p>
          <a:p>
            <a:r>
              <a:rPr lang="en-US" sz="1200" b="1" dirty="0" smtClean="0">
                <a:latin typeface="Times New Roman" pitchFamily="18" charset="0"/>
                <a:cs typeface="Times New Roman" pitchFamily="18" charset="0"/>
              </a:rPr>
              <a:t>3. Which of the following ensures that the same user is routed to the same server?</a:t>
            </a:r>
          </a:p>
          <a:p>
            <a:r>
              <a:rPr lang="en-US" sz="1200" dirty="0" smtClean="0">
                <a:latin typeface="Times New Roman" pitchFamily="18" charset="0"/>
                <a:cs typeface="Times New Roman" pitchFamily="18" charset="0"/>
              </a:rPr>
              <a:t>a) Session Timeout</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b) Server Caching</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c) IP Hash</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d) Health Check</a:t>
            </a:r>
            <a:br>
              <a:rPr lang="en-US" sz="1200" dirty="0" smtClean="0">
                <a:latin typeface="Times New Roman" pitchFamily="18" charset="0"/>
                <a:cs typeface="Times New Roman" pitchFamily="18" charset="0"/>
              </a:rPr>
            </a:br>
            <a:r>
              <a:rPr lang="en-US" sz="1200" b="1" dirty="0" smtClean="0">
                <a:latin typeface="Times New Roman" pitchFamily="18" charset="0"/>
                <a:cs typeface="Times New Roman" pitchFamily="18" charset="0"/>
              </a:rPr>
              <a:t>Answer:</a:t>
            </a:r>
            <a:r>
              <a:rPr lang="en-US" sz="1200" dirty="0" smtClean="0">
                <a:latin typeface="Times New Roman" pitchFamily="18" charset="0"/>
                <a:cs typeface="Times New Roman" pitchFamily="18" charset="0"/>
              </a:rPr>
              <a:t> </a:t>
            </a:r>
            <a:r>
              <a:rPr lang="en-US" sz="1200" b="1" dirty="0" smtClean="0">
                <a:latin typeface="Times New Roman" pitchFamily="18" charset="0"/>
                <a:cs typeface="Times New Roman" pitchFamily="18" charset="0"/>
              </a:rPr>
              <a:t>c</a:t>
            </a:r>
            <a:endParaRPr lang="en-US" sz="12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spc="-10" dirty="0" smtClean="0">
                <a:latin typeface="Times New Roman" panose="02020503050405090304" pitchFamily="18" charset="0"/>
                <a:cs typeface="Times New Roman" panose="02020503050405090304" pitchFamily="18" charset="0"/>
                <a:sym typeface="+mn-ea"/>
              </a:rPr>
              <a:t>Quiz</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4585"/>
            <a:ext cx="7696200" cy="3799205"/>
          </a:xfrm>
          <a:prstGeom prst="rect">
            <a:avLst/>
          </a:prstGeom>
        </p:spPr>
        <p:txBody>
          <a:bodyPr vert="horz" wrap="square" lIns="0" tIns="12700" rIns="0" bIns="0" rtlCol="0">
            <a:noAutofit/>
          </a:bodyPr>
          <a:lstStyle/>
          <a:p>
            <a:r>
              <a:rPr lang="en-US" sz="1600" b="1" dirty="0" smtClean="0">
                <a:latin typeface="Times New Roman" pitchFamily="18" charset="0"/>
                <a:cs typeface="Times New Roman" pitchFamily="18" charset="0"/>
              </a:rPr>
              <a:t>1. What is load balancing in simple words?</a:t>
            </a:r>
          </a:p>
          <a:p>
            <a:r>
              <a:rPr lang="en-US" sz="1600" dirty="0" smtClean="0">
                <a:latin typeface="Times New Roman" pitchFamily="18" charset="0"/>
                <a:cs typeface="Times New Roman" pitchFamily="18" charset="0"/>
              </a:rPr>
              <a:t>Load balancing is a method of distributing incoming user requests across multiple servers to prevent overload and improve performance.</a:t>
            </a:r>
          </a:p>
          <a:p>
            <a:endParaRPr lang="en-US" sz="1600"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2. Why is load balancing important for large systems?</a:t>
            </a:r>
          </a:p>
          <a:p>
            <a:r>
              <a:rPr lang="en-US" sz="1600" dirty="0" smtClean="0">
                <a:latin typeface="Times New Roman" pitchFamily="18" charset="0"/>
                <a:cs typeface="Times New Roman" pitchFamily="18" charset="0"/>
              </a:rPr>
              <a:t>It ensures the system is always available, performs well under heavy traffic, and avoids server failures by distributing workload.</a:t>
            </a:r>
          </a:p>
          <a:p>
            <a:endParaRPr lang="en-US" sz="1600"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3. What is the difference between Round Robin and Least Connections?</a:t>
            </a:r>
          </a:p>
          <a:p>
            <a:r>
              <a:rPr lang="en-US" sz="1600" b="1" dirty="0" smtClean="0">
                <a:latin typeface="Times New Roman" pitchFamily="18" charset="0"/>
                <a:cs typeface="Times New Roman" pitchFamily="18" charset="0"/>
              </a:rPr>
              <a:t>Round Robin:</a:t>
            </a:r>
            <a:r>
              <a:rPr lang="en-US" sz="1600" dirty="0" smtClean="0">
                <a:latin typeface="Times New Roman" pitchFamily="18" charset="0"/>
                <a:cs typeface="Times New Roman" pitchFamily="18" charset="0"/>
              </a:rPr>
              <a:t> Cycles through servers equally.</a:t>
            </a:r>
          </a:p>
          <a:p>
            <a:r>
              <a:rPr lang="en-US" sz="1600" b="1" dirty="0" smtClean="0">
                <a:latin typeface="Times New Roman" pitchFamily="18" charset="0"/>
                <a:cs typeface="Times New Roman" pitchFamily="18" charset="0"/>
              </a:rPr>
              <a:t>Least Connections:</a:t>
            </a:r>
            <a:r>
              <a:rPr lang="en-US" sz="1600" dirty="0" smtClean="0">
                <a:latin typeface="Times New Roman" pitchFamily="18" charset="0"/>
                <a:cs typeface="Times New Roman" pitchFamily="18" charset="0"/>
              </a:rPr>
              <a:t> Chooses the server with the fewest active connections.</a:t>
            </a:r>
          </a:p>
          <a:p>
            <a:endParaRPr lang="en-US" sz="1600"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4. What is a health check in load balancing?</a:t>
            </a:r>
          </a:p>
          <a:p>
            <a:r>
              <a:rPr lang="en-US" sz="1600" dirty="0" smtClean="0">
                <a:latin typeface="Times New Roman" pitchFamily="18" charset="0"/>
                <a:cs typeface="Times New Roman" pitchFamily="18" charset="0"/>
              </a:rPr>
              <a:t>A mechanism that checks whether a server is online and performing correctly.</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Unhealthy servers are temporarily removed from traffic.</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spc="-10" dirty="0" smtClean="0">
                <a:latin typeface="Times New Roman" panose="02020503050405090304" pitchFamily="18" charset="0"/>
                <a:cs typeface="Times New Roman" panose="02020503050405090304" pitchFamily="18" charset="0"/>
                <a:sym typeface="+mn-ea"/>
              </a:rPr>
              <a:t>FAQ’s</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body" idx="1"/>
          </p:nvPr>
        </p:nvSpPr>
        <p:spPr>
          <a:xfrm>
            <a:off x="762000" y="1123950"/>
            <a:ext cx="7982585" cy="3582035"/>
          </a:xfrm>
          <a:prstGeom prst="rect">
            <a:avLst/>
          </a:prstGeom>
        </p:spPr>
        <p:txBody>
          <a:bodyPr vert="horz" wrap="square" lIns="0" tIns="15875" rIns="0" bIns="0" rtlCol="0">
            <a:noAutofit/>
          </a:bodyPr>
          <a:lstStyle/>
          <a:p>
            <a:pPr marL="12700">
              <a:lnSpc>
                <a:spcPct val="150000"/>
              </a:lnSpc>
              <a:spcBef>
                <a:spcPts val="125"/>
              </a:spcBef>
            </a:pPr>
            <a:r>
              <a:rPr lang="en-US" altLang="en-US" sz="1600" i="0" dirty="0">
                <a:solidFill>
                  <a:schemeClr val="tx1"/>
                </a:solidFill>
                <a:latin typeface="Times New Roman Bold" panose="02020503050405090304" charset="0"/>
                <a:cs typeface="Times New Roman Bold" panose="02020503050405090304" charset="0"/>
              </a:rPr>
              <a:t>Book Reference:</a:t>
            </a:r>
            <a:endParaRPr lang="en-US" altLang="en-US" sz="1600" b="0" i="0" dirty="0">
              <a:solidFill>
                <a:schemeClr val="tx1"/>
              </a:solidFill>
              <a:latin typeface="Times New Roman" panose="02020503050405090304" pitchFamily="18" charset="0"/>
              <a:cs typeface="Times New Roman" panose="02020503050405090304" pitchFamily="18" charset="0"/>
            </a:endParaRPr>
          </a:p>
          <a:p>
            <a:r>
              <a:rPr lang="en-US" sz="1600" b="0" i="0" dirty="0" smtClean="0">
                <a:solidFill>
                  <a:schemeClr val="tx1"/>
                </a:solidFill>
              </a:rPr>
              <a:t>Designing Data-Intensive Applications – Martin </a:t>
            </a:r>
            <a:r>
              <a:rPr lang="en-US" sz="1600" b="0" i="0" dirty="0" err="1" smtClean="0">
                <a:solidFill>
                  <a:schemeClr val="tx1"/>
                </a:solidFill>
              </a:rPr>
              <a:t>Kleppmann</a:t>
            </a:r>
            <a:r>
              <a:rPr lang="en-US" sz="1600" b="0" i="0" dirty="0" smtClean="0">
                <a:solidFill>
                  <a:schemeClr val="tx1"/>
                </a:solidFill>
              </a:rPr>
              <a:t> Chapters on scalability, reliability, load balancing, replication.</a:t>
            </a:r>
          </a:p>
          <a:p>
            <a:r>
              <a:rPr lang="en-US" sz="1600" b="0" i="0" dirty="0" smtClean="0">
                <a:solidFill>
                  <a:schemeClr val="tx1"/>
                </a:solidFill>
              </a:rPr>
              <a:t>Site Reliability Engineering (SRE) – Google Concepts on reliability, traffic management, and load distribution.</a:t>
            </a:r>
          </a:p>
          <a:p>
            <a:pPr marL="12700">
              <a:lnSpc>
                <a:spcPct val="150000"/>
              </a:lnSpc>
              <a:spcBef>
                <a:spcPts val="125"/>
              </a:spcBef>
            </a:pP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i="0" dirty="0">
                <a:solidFill>
                  <a:schemeClr val="tx1"/>
                </a:solidFill>
                <a:latin typeface="Times New Roman Bold" panose="02020503050405090304" charset="0"/>
                <a:cs typeface="Times New Roman Bold" panose="02020503050405090304" charset="0"/>
              </a:rPr>
              <a:t>Tutorial Link:</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b="0" i="0" dirty="0" smtClean="0">
                <a:solidFill>
                  <a:schemeClr val="tx1"/>
                </a:solidFill>
                <a:latin typeface="Times New Roman" panose="02020503050405090304" pitchFamily="18" charset="0"/>
                <a:cs typeface="Times New Roman" panose="02020503050405090304" pitchFamily="18" charset="0"/>
                <a:hlinkClick r:id="rId2"/>
              </a:rPr>
              <a:t>https://www.youtube.com/watch?v=chyZRNT7eEo</a:t>
            </a:r>
            <a:r>
              <a:rPr lang="en-US" altLang="en-US" sz="1600" b="0" i="0" dirty="0" smtClean="0">
                <a:solidFill>
                  <a:schemeClr val="tx1"/>
                </a:solidFill>
                <a:latin typeface="Times New Roman" panose="02020503050405090304" pitchFamily="18" charset="0"/>
                <a:cs typeface="Times New Roman" panose="02020503050405090304" pitchFamily="18" charset="0"/>
              </a:rPr>
              <a:t>  </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i="0" dirty="0">
                <a:solidFill>
                  <a:schemeClr val="tx1"/>
                </a:solidFill>
                <a:latin typeface="Times New Roman Bold" panose="02020503050405090304" charset="0"/>
                <a:cs typeface="Times New Roman Bold" panose="02020503050405090304" charset="0"/>
              </a:rPr>
              <a:t>Video Link:</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b="0" i="0" dirty="0" smtClean="0">
                <a:solidFill>
                  <a:schemeClr val="tx1"/>
                </a:solidFill>
                <a:latin typeface="Times New Roman" panose="02020503050405090304" pitchFamily="18" charset="0"/>
                <a:cs typeface="Times New Roman" panose="02020503050405090304" pitchFamily="18" charset="0"/>
              </a:rPr>
              <a:t>https://www.youtube.com/watch?v=sCR3SAVdyCc</a:t>
            </a:r>
            <a:endParaRPr lang="en-US" altLang="en-US" sz="1600" b="0" i="0" dirty="0">
              <a:solidFill>
                <a:schemeClr val="tx1"/>
              </a:solidFill>
              <a:latin typeface="Times New Roman" panose="02020503050405090304" pitchFamily="18" charset="0"/>
              <a:cs typeface="Times New Roman" panose="02020503050405090304"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dirty="0">
                <a:latin typeface="Times New Roman" panose="02020503050405090304" pitchFamily="18" charset="0"/>
                <a:cs typeface="Times New Roman" panose="02020503050405090304" pitchFamily="18" charset="0"/>
                <a:sym typeface="+mn-ea"/>
              </a:rPr>
              <a:t>References/</a:t>
            </a:r>
            <a:r>
              <a:rPr sz="2400" spc="-90" dirty="0">
                <a:latin typeface="Times New Roman" panose="02020503050405090304" pitchFamily="18" charset="0"/>
                <a:cs typeface="Times New Roman" panose="02020503050405090304" pitchFamily="18" charset="0"/>
                <a:sym typeface="+mn-ea"/>
              </a:rPr>
              <a:t> </a:t>
            </a:r>
            <a:r>
              <a:rPr sz="2400" dirty="0">
                <a:latin typeface="Times New Roman" panose="02020503050405090304" pitchFamily="18" charset="0"/>
                <a:cs typeface="Times New Roman" panose="02020503050405090304" pitchFamily="18" charset="0"/>
                <a:sym typeface="+mn-ea"/>
              </a:rPr>
              <a:t>Articles/</a:t>
            </a:r>
            <a:r>
              <a:rPr sz="2400" spc="-85" dirty="0">
                <a:latin typeface="Times New Roman" panose="02020503050405090304" pitchFamily="18" charset="0"/>
                <a:cs typeface="Times New Roman" panose="02020503050405090304" pitchFamily="18" charset="0"/>
                <a:sym typeface="+mn-ea"/>
              </a:rPr>
              <a:t> </a:t>
            </a:r>
            <a:r>
              <a:rPr sz="2400" spc="-10" dirty="0">
                <a:latin typeface="Times New Roman" panose="02020503050405090304" pitchFamily="18" charset="0"/>
                <a:cs typeface="Times New Roman" panose="02020503050405090304" pitchFamily="18" charset="0"/>
                <a:sym typeface="+mn-ea"/>
              </a:rPr>
              <a:t>Videos</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spc="-10" dirty="0">
                <a:latin typeface="Times New Roman" panose="02020503050405090304" pitchFamily="18" charset="0"/>
                <a:cs typeface="Times New Roman" panose="02020503050405090304" pitchFamily="18" charset="0"/>
                <a:sym typeface="+mn-ea"/>
              </a:rPr>
              <a:t>Class-Wise Feedback</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
        <p:nvSpPr>
          <p:cNvPr id="15362" name="AutoShape 2" descr="Homogeneous Distributed Database (Self Creation) | Download Scientific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7" name="Picture 6" descr="qr-code-bee-is.png"/>
          <p:cNvPicPr>
            <a:picLocks noChangeAspect="1"/>
          </p:cNvPicPr>
          <p:nvPr/>
        </p:nvPicPr>
        <p:blipFill>
          <a:blip r:embed="rId2" cstate="print"/>
          <a:stretch>
            <a:fillRect/>
          </a:stretch>
        </p:blipFill>
        <p:spPr>
          <a:xfrm>
            <a:off x="2496457" y="986972"/>
            <a:ext cx="3979636" cy="312601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547306" rIns="0" bIns="0" rtlCol="0">
            <a:spAutoFit/>
          </a:bodyPr>
          <a:lstStyle/>
          <a:p>
            <a:pPr marL="1548765">
              <a:lnSpc>
                <a:spcPct val="100000"/>
              </a:lnSpc>
              <a:spcBef>
                <a:spcPts val="90"/>
              </a:spcBef>
            </a:pPr>
            <a:r>
              <a:rPr spc="-819" dirty="0"/>
              <a:t>Thank</a:t>
            </a:r>
            <a:r>
              <a:rPr spc="-30" dirty="0"/>
              <a:t> </a:t>
            </a:r>
            <a:r>
              <a:rPr spc="-580" dirty="0"/>
              <a:t>You</a:t>
            </a:r>
          </a:p>
        </p:txBody>
      </p:sp>
      <p:sp>
        <p:nvSpPr>
          <p:cNvPr id="3" name="object 3"/>
          <p:cNvSpPr txBox="1"/>
          <p:nvPr/>
        </p:nvSpPr>
        <p:spPr>
          <a:xfrm>
            <a:off x="1759585" y="4324350"/>
            <a:ext cx="5624830" cy="323850"/>
          </a:xfrm>
          <a:prstGeom prst="rect">
            <a:avLst/>
          </a:prstGeom>
        </p:spPr>
        <p:txBody>
          <a:bodyPr vert="horz" wrap="square" lIns="0" tIns="16510" rIns="0" bIns="0" rtlCol="0">
            <a:spAutoFit/>
          </a:bodyPr>
          <a:lstStyle/>
          <a:p>
            <a:pPr marL="12700">
              <a:lnSpc>
                <a:spcPct val="100000"/>
              </a:lnSpc>
              <a:spcBef>
                <a:spcPts val="130"/>
              </a:spcBef>
            </a:pPr>
            <a:r>
              <a:rPr sz="2000" dirty="0">
                <a:latin typeface="Times New Roman" pitchFamily="18" charset="0"/>
                <a:cs typeface="Times New Roman" pitchFamily="18" charset="0"/>
              </a:rPr>
              <a:t>For</a:t>
            </a:r>
            <a:r>
              <a:rPr sz="2000" spc="-10" dirty="0">
                <a:latin typeface="Times New Roman" pitchFamily="18" charset="0"/>
                <a:cs typeface="Times New Roman" pitchFamily="18" charset="0"/>
              </a:rPr>
              <a:t> queries</a:t>
            </a:r>
            <a:r>
              <a:rPr lang="en-US" altLang="" sz="2000" spc="-10" dirty="0">
                <a:latin typeface="Times New Roman" pitchFamily="18" charset="0"/>
                <a:cs typeface="Times New Roman" pitchFamily="18" charset="0"/>
              </a:rPr>
              <a:t> </a:t>
            </a:r>
            <a:r>
              <a:rPr sz="2000" dirty="0">
                <a:latin typeface="Times New Roman" pitchFamily="18" charset="0"/>
                <a:cs typeface="Times New Roman" pitchFamily="18" charset="0"/>
              </a:rPr>
              <a:t>Email:</a:t>
            </a:r>
            <a:r>
              <a:rPr lang="en-US" altLang="" sz="2000" dirty="0">
                <a:latin typeface="Times New Roman" pitchFamily="18" charset="0"/>
                <a:cs typeface="Times New Roman" pitchFamily="18" charset="0"/>
              </a:rPr>
              <a:t> </a:t>
            </a:r>
            <a:r>
              <a:rPr lang="en-US" sz="2000" spc="-10" dirty="0" smtClean="0">
                <a:latin typeface="Times New Roman" pitchFamily="18" charset="0"/>
                <a:cs typeface="Times New Roman" pitchFamily="18" charset="0"/>
                <a:hlinkClick r:id="rId2"/>
              </a:rPr>
              <a:t>kamaljee</a:t>
            </a:r>
            <a:r>
              <a:rPr lang="en-US" sz="2000" u="sng" spc="-10" dirty="0" smtClean="0">
                <a:solidFill>
                  <a:srgbClr val="1C3678"/>
                </a:solidFill>
                <a:uFill>
                  <a:solidFill>
                    <a:srgbClr val="1C3678"/>
                  </a:solidFill>
                </a:uFill>
                <a:latin typeface="Times New Roman" pitchFamily="18" charset="0"/>
                <a:cs typeface="Times New Roman" pitchFamily="18" charset="0"/>
                <a:hlinkClick r:id="rId3"/>
              </a:rPr>
              <a:t>t</a:t>
            </a:r>
            <a:r>
              <a:rPr sz="2000" spc="-10" dirty="0" smtClean="0">
                <a:latin typeface="Times New Roman" pitchFamily="18" charset="0"/>
                <a:cs typeface="Times New Roman" pitchFamily="18" charset="0"/>
                <a:hlinkClick r:id="rId2"/>
              </a:rPr>
              <a:t>.e1</a:t>
            </a:r>
            <a:r>
              <a:rPr lang="en-US" sz="2000" spc="-10" dirty="0" smtClean="0">
                <a:latin typeface="Times New Roman" pitchFamily="18" charset="0"/>
                <a:cs typeface="Times New Roman" pitchFamily="18" charset="0"/>
                <a:hlinkClick r:id="rId2"/>
              </a:rPr>
              <a:t>9147</a:t>
            </a:r>
            <a:r>
              <a:rPr sz="2000" spc="-10" dirty="0" smtClean="0">
                <a:latin typeface="Times New Roman" pitchFamily="18" charset="0"/>
                <a:cs typeface="Times New Roman" pitchFamily="18" charset="0"/>
                <a:hlinkClick r:id="rId2"/>
              </a:rPr>
              <a:t>@cumail.in</a:t>
            </a:r>
            <a:endParaRPr sz="20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867</TotalTime>
  <Words>1104</Words>
  <Application>Microsoft Office PowerPoint</Application>
  <PresentationFormat>On-screen Show (16:9)</PresentationFormat>
  <Paragraphs>154</Paragraphs>
  <Slides>23</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25" baseType="lpstr">
      <vt:lpstr>Office Theme</vt:lpstr>
      <vt:lpstr>CorelDRAW</vt:lpstr>
      <vt:lpstr>Slide 1</vt:lpstr>
      <vt:lpstr>Slide 2</vt:lpstr>
      <vt:lpstr>Course Outcomes</vt:lpstr>
      <vt:lpstr>Unit-1 Syllabus</vt:lpstr>
      <vt:lpstr>Slide 5</vt:lpstr>
      <vt:lpstr>        Load Balancing</vt:lpstr>
      <vt:lpstr>        Load Balancing</vt:lpstr>
      <vt:lpstr>Slide 8</vt:lpstr>
      <vt:lpstr>Slide 9</vt:lpstr>
      <vt:lpstr>Slide 10</vt:lpstr>
      <vt:lpstr>Slide 11</vt:lpstr>
      <vt:lpstr>Slide 12</vt:lpstr>
      <vt:lpstr>Slide 13</vt:lpstr>
      <vt:lpstr>Slide 14</vt:lpstr>
      <vt:lpstr>Slide 15</vt:lpstr>
      <vt:lpstr>Slide 16</vt:lpstr>
      <vt:lpstr>Summary of the Lecture</vt:lpstr>
      <vt:lpstr>Slide 18</vt:lpstr>
      <vt:lpstr>Slide 19</vt:lpstr>
      <vt:lpstr>Slide 20</vt:lpstr>
      <vt:lpstr>Slide 21</vt:lpstr>
      <vt:lpstr>Slide 22</vt:lpstr>
      <vt:lpstr>Slide 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APEX INSTITUTE OF TECHNOLOGY DEPARTMENT OF COMPUTER SCIENCE &amp; ENGINEERING</dc:title>
  <dc:creator>DELL-LATITUDE</dc:creator>
  <cp:lastModifiedBy>DELL-LATITUDE</cp:lastModifiedBy>
  <cp:revision>118</cp:revision>
  <dcterms:created xsi:type="dcterms:W3CDTF">2025-12-03T05:18:11Z</dcterms:created>
  <dcterms:modified xsi:type="dcterms:W3CDTF">2025-12-15T05:43:04Z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2025-11-29T05:30:00Z</vt:filetime>
  </property>
  <property fmtid="{D5CDD505-2E9C-101B-9397-08002B2CF9AE}" pid="3" name="LastSaved">
    <vt:filetime>2025-11-30T05:30:00Z</vt:filetime>
  </property>
  <property fmtid="{D5CDD505-2E9C-101B-9397-08002B2CF9AE}" pid="4" name="ICV">
    <vt:lpwstr>BE53AF1E6976AF6A8CBC2F69ADEE211E_42</vt:lpwstr>
  </property>
  <property fmtid="{D5CDD505-2E9C-101B-9397-08002B2CF9AE}" pid="5" name="KSOProductBuildVer">
    <vt:lpwstr>1033-12.1.23143.23143</vt:lpwstr>
  </property>
</Properties>
</file>