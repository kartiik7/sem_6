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Default Extension="bin" ContentType="application/vnd.openxmlformats-officedocument.oleObject"/>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95" r:id="rId2"/>
    <p:sldId id="257" r:id="rId3"/>
    <p:sldId id="297" r:id="rId4"/>
    <p:sldId id="298" r:id="rId5"/>
    <p:sldId id="310" r:id="rId6"/>
    <p:sldId id="314" r:id="rId7"/>
    <p:sldId id="311" r:id="rId8"/>
    <p:sldId id="300" r:id="rId9"/>
    <p:sldId id="301" r:id="rId10"/>
    <p:sldId id="303" r:id="rId11"/>
    <p:sldId id="304" r:id="rId12"/>
    <p:sldId id="315" r:id="rId13"/>
    <p:sldId id="316" r:id="rId14"/>
    <p:sldId id="285" r:id="rId15"/>
    <p:sldId id="286" r:id="rId16"/>
    <p:sldId id="287" r:id="rId17"/>
    <p:sldId id="313" r:id="rId18"/>
    <p:sldId id="288" r:id="rId19"/>
    <p:sldId id="289" r:id="rId20"/>
    <p:sldId id="290" r:id="rId21"/>
  </p:sldIdLst>
  <p:sldSz cx="9144000" cy="5143500" type="screen16x9"/>
  <p:notesSz cx="9144000" cy="5143500"/>
  <p:defaultTextStyle>
    <a:defPPr>
      <a:defRPr kern="0"/>
    </a:defPPr>
  </p:defaultTextStyle>
  <p:extLst>
    <p:ext uri="{EFAFB233-063F-42B5-8137-9DF3F51BA10A}">
      <p15:sldGuideLst xmlns:p15="http://schemas.microsoft.com/office/powerpoint/2012/main" xmlns="">
        <p15:guide id="1" orient="horz" pos="2862"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822" y="-78"/>
      </p:cViewPr>
      <p:guideLst>
        <p:guide orient="horz" pos="2862"/>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3950" b="1" i="0">
                <a:solidFill>
                  <a:srgbClr val="1A1A1A"/>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8050" b="1" i="1">
                <a:solidFill>
                  <a:srgbClr val="FF0000"/>
                </a:solidFill>
                <a:latin typeface="Times New Roman" panose="02020503050405090304"/>
                <a:cs typeface="Times New Roman" panose="0202050305040509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1A1A1A"/>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8050" b="1" i="1">
                <a:solidFill>
                  <a:srgbClr val="FF0000"/>
                </a:solidFill>
                <a:latin typeface="Times New Roman" panose="02020503050405090304"/>
                <a:cs typeface="Times New Roman" panose="0202050305040509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1A1A1A"/>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1A1A1A"/>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804386"/>
            <a:ext cx="2949178" cy="738664"/>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70"/>
            <a:ext cx="4629150" cy="143116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0"/>
            <a:ext cx="2949178" cy="18466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a:xfrm>
            <a:off x="457200" y="4783455"/>
            <a:ext cx="2103120" cy="276999"/>
          </a:xfrm>
        </p:spPr>
        <p:txBody>
          <a:bodyPr/>
          <a:lstStyle>
            <a:lvl1pPr fontAlgn="base">
              <a:spcBef>
                <a:spcPct val="0"/>
              </a:spcBef>
              <a:spcAft>
                <a:spcPct val="0"/>
              </a:spcAft>
              <a:defRPr>
                <a:latin typeface="Arial" panose="020B0604020202090204" pitchFamily="34" charset="0"/>
              </a:defRPr>
            </a:lvl1pPr>
          </a:lstStyle>
          <a:p>
            <a:pPr>
              <a:defRPr/>
            </a:pPr>
            <a:endParaRPr lang="en-US"/>
          </a:p>
        </p:txBody>
      </p:sp>
      <p:sp>
        <p:nvSpPr>
          <p:cNvPr id="6" name="Footer Placeholder 5"/>
          <p:cNvSpPr>
            <a:spLocks noGrp="1"/>
          </p:cNvSpPr>
          <p:nvPr>
            <p:ph type="ftr" sz="quarter" idx="11"/>
          </p:nvPr>
        </p:nvSpPr>
        <p:spPr>
          <a:xfrm>
            <a:off x="3108960" y="4783455"/>
            <a:ext cx="2926080" cy="276999"/>
          </a:xfrm>
        </p:spPr>
        <p:txBody>
          <a:bodyPr/>
          <a:lstStyle>
            <a:lvl1pPr fontAlgn="base">
              <a:spcBef>
                <a:spcPct val="0"/>
              </a:spcBef>
              <a:spcAft>
                <a:spcPct val="0"/>
              </a:spcAft>
              <a:defRPr>
                <a:latin typeface="Arial" panose="020B0604020202090204" pitchFamily="34" charset="0"/>
              </a:defRPr>
            </a:lvl1pPr>
          </a:lstStyle>
          <a:p>
            <a:pPr>
              <a:defRPr/>
            </a:pPr>
            <a:endParaRPr lang="en-US"/>
          </a:p>
        </p:txBody>
      </p:sp>
      <p:sp>
        <p:nvSpPr>
          <p:cNvPr id="7" name="Slide Number Placeholder 6"/>
          <p:cNvSpPr>
            <a:spLocks noGrp="1"/>
          </p:cNvSpPr>
          <p:nvPr>
            <p:ph type="sldNum" sz="quarter" idx="12"/>
          </p:nvPr>
        </p:nvSpPr>
        <p:spPr>
          <a:xfrm>
            <a:off x="6583680" y="4783455"/>
            <a:ext cx="2103120" cy="276999"/>
          </a:xfrm>
        </p:spPr>
        <p:txBody>
          <a:bodyPr/>
          <a:lstStyle>
            <a:lvl1pPr fontAlgn="base">
              <a:spcBef>
                <a:spcPct val="0"/>
              </a:spcBef>
              <a:spcAft>
                <a:spcPct val="0"/>
              </a:spcAft>
              <a:defRPr>
                <a:latin typeface="Arial" panose="020B0604020202090204" pitchFamily="34" charset="0"/>
              </a:defRPr>
            </a:lvl1pPr>
          </a:lstStyle>
          <a:p>
            <a:pPr>
              <a:defRPr/>
            </a:pPr>
            <a:fld id="{9D9B6AFD-A192-4C37-8069-CDFD0FFEA4A5}"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28575" y="19050"/>
            <a:ext cx="657225" cy="1047750"/>
          </a:xfrm>
          <a:prstGeom prst="rect">
            <a:avLst/>
          </a:prstGeom>
        </p:spPr>
      </p:pic>
      <p:sp>
        <p:nvSpPr>
          <p:cNvPr id="2" name="Holder 2"/>
          <p:cNvSpPr>
            <a:spLocks noGrp="1"/>
          </p:cNvSpPr>
          <p:nvPr>
            <p:ph type="title"/>
          </p:nvPr>
        </p:nvSpPr>
        <p:spPr>
          <a:xfrm>
            <a:off x="454977" y="89852"/>
            <a:ext cx="8234044" cy="874966"/>
          </a:xfrm>
          <a:prstGeom prst="rect">
            <a:avLst/>
          </a:prstGeom>
        </p:spPr>
        <p:txBody>
          <a:bodyPr wrap="square" lIns="0" tIns="0" rIns="0" bIns="0">
            <a:spAutoFit/>
          </a:bodyPr>
          <a:lstStyle>
            <a:lvl1pPr>
              <a:defRPr sz="3950" b="1" i="0">
                <a:solidFill>
                  <a:srgbClr val="1A1A1A"/>
                </a:solidFill>
                <a:latin typeface="Calibri"/>
                <a:cs typeface="Calibri"/>
              </a:defRPr>
            </a:lvl1pPr>
          </a:lstStyle>
          <a:p>
            <a:endParaRPr/>
          </a:p>
        </p:txBody>
      </p:sp>
      <p:sp>
        <p:nvSpPr>
          <p:cNvPr id="3" name="Holder 3"/>
          <p:cNvSpPr>
            <a:spLocks noGrp="1"/>
          </p:cNvSpPr>
          <p:nvPr>
            <p:ph type="body" idx="1"/>
          </p:nvPr>
        </p:nvSpPr>
        <p:spPr>
          <a:xfrm>
            <a:off x="1056322" y="1461452"/>
            <a:ext cx="6900545" cy="2380615"/>
          </a:xfrm>
          <a:prstGeom prst="rect">
            <a:avLst/>
          </a:prstGeom>
        </p:spPr>
        <p:txBody>
          <a:bodyPr wrap="square" lIns="0" tIns="0" rIns="0" bIns="0">
            <a:spAutoFit/>
          </a:bodyPr>
          <a:lstStyle>
            <a:lvl1pPr>
              <a:defRPr sz="8050" b="1" i="1">
                <a:solidFill>
                  <a:srgbClr val="FF0000"/>
                </a:solidFill>
                <a:latin typeface="Times New Roman" panose="02020503050405090304"/>
                <a:cs typeface="Times New Roman" panose="02020503050405090304"/>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forms.gle/KF57CKfJj9WmhsEr5" TargetMode="External"/><Relationship Id="rId2" Type="http://schemas.openxmlformats.org/officeDocument/2006/relationships/hyperlink" Target="mailto:kamaljee.e18488@cumail.i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1588" y="3657600"/>
            <a:ext cx="9144001" cy="8536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32" name="Rectangle 31"/>
          <p:cNvSpPr/>
          <p:nvPr/>
        </p:nvSpPr>
        <p:spPr>
          <a:xfrm>
            <a:off x="228600" y="3962400"/>
            <a:ext cx="33338" cy="3452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44" name="Slide Number Placeholder 2"/>
          <p:cNvSpPr txBox="1"/>
          <p:nvPr/>
        </p:nvSpPr>
        <p:spPr>
          <a:xfrm>
            <a:off x="6572251" y="4302919"/>
            <a:ext cx="2055813" cy="205979"/>
          </a:xfrm>
          <a:prstGeom prst="rect">
            <a:avLst/>
          </a:prstGeom>
        </p:spPr>
        <p:txBody>
          <a:bodyPr lIns="68556" tIns="34279" rIns="68556" bIns="34279"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endParaRPr lang="en-US" sz="900" dirty="0">
              <a:solidFill>
                <a:prstClr val="black">
                  <a:tint val="75000"/>
                </a:prstClr>
              </a:solidFill>
            </a:endParaRPr>
          </a:p>
        </p:txBody>
      </p:sp>
      <p:sp>
        <p:nvSpPr>
          <p:cNvPr id="46" name="Right Triangle 45"/>
          <p:cNvSpPr/>
          <p:nvPr/>
        </p:nvSpPr>
        <p:spPr>
          <a:xfrm flipV="1">
            <a:off x="7129464" y="3983832"/>
            <a:ext cx="968375" cy="651272"/>
          </a:xfrm>
          <a:prstGeom prst="rtTriangle">
            <a:avLst/>
          </a:prstGeom>
          <a:solidFill>
            <a:srgbClr val="FFFFFF">
              <a:lumMod val="95000"/>
              <a:alpha val="17000"/>
            </a:srgb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ID" sz="1350" kern="0">
              <a:solidFill>
                <a:srgbClr val="FFFFFF"/>
              </a:solidFill>
              <a:latin typeface="Calibri"/>
            </a:endParaRPr>
          </a:p>
        </p:txBody>
      </p:sp>
      <p:graphicFrame>
        <p:nvGraphicFramePr>
          <p:cNvPr id="19462" name="Object 47"/>
          <p:cNvGraphicFramePr>
            <a:graphicFrameLocks noChangeAspect="1"/>
          </p:cNvGraphicFramePr>
          <p:nvPr/>
        </p:nvGraphicFramePr>
        <p:xfrm>
          <a:off x="58738" y="2399110"/>
          <a:ext cx="2476500" cy="1770459"/>
        </p:xfrm>
        <a:graphic>
          <a:graphicData uri="http://schemas.openxmlformats.org/presentationml/2006/ole">
            <p:oleObj spid="_x0000_s1025" name="CorelDRAW" r:id="rId3" imgW="2169000" imgH="2169360" progId="">
              <p:embed/>
            </p:oleObj>
          </a:graphicData>
        </a:graphic>
      </p:graphicFrame>
      <p:sp>
        <p:nvSpPr>
          <p:cNvPr id="37" name="Right Triangle 36"/>
          <p:cNvSpPr/>
          <p:nvPr/>
        </p:nvSpPr>
        <p:spPr>
          <a:xfrm flipH="1">
            <a:off x="5283201" y="628650"/>
            <a:ext cx="3859213" cy="3290888"/>
          </a:xfrm>
          <a:prstGeom prst="rtTriangle">
            <a:avLst/>
          </a:prstGeom>
          <a:solidFill>
            <a:srgbClr val="FFFFFF">
              <a:lumMod val="95000"/>
              <a:alpha val="17000"/>
            </a:srgb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ID" sz="1350" kern="0">
              <a:solidFill>
                <a:srgbClr val="FFFFFF"/>
              </a:solidFill>
              <a:latin typeface="Calibri"/>
            </a:endParaRPr>
          </a:p>
        </p:txBody>
      </p:sp>
      <p:sp>
        <p:nvSpPr>
          <p:cNvPr id="45" name="Rectangle 44"/>
          <p:cNvSpPr/>
          <p:nvPr/>
        </p:nvSpPr>
        <p:spPr>
          <a:xfrm>
            <a:off x="1594093" y="1782572"/>
            <a:ext cx="5120286" cy="888823"/>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pic>
        <p:nvPicPr>
          <p:cNvPr id="19467" name="Picture 29"/>
          <p:cNvPicPr>
            <a:picLocks noChangeAspect="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219200" y="514350"/>
            <a:ext cx="6629400" cy="13385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3" name="Right Triangle 42"/>
          <p:cNvSpPr/>
          <p:nvPr/>
        </p:nvSpPr>
        <p:spPr>
          <a:xfrm rot="10800000" flipV="1">
            <a:off x="7370764" y="3643313"/>
            <a:ext cx="1774825" cy="898922"/>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36" name="TextBox 35"/>
          <p:cNvSpPr txBox="1">
            <a:spLocks noChangeArrowheads="1"/>
          </p:cNvSpPr>
          <p:nvPr/>
        </p:nvSpPr>
        <p:spPr bwMode="auto">
          <a:xfrm>
            <a:off x="5160963" y="3984070"/>
            <a:ext cx="3695700" cy="32194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eaLnBrk="1" fontAlgn="auto" hangingPunct="1">
              <a:spcBef>
                <a:spcPts val="0"/>
              </a:spcBef>
              <a:spcAft>
                <a:spcPts val="0"/>
              </a:spcAft>
              <a:defRPr/>
            </a:pPr>
            <a:r>
              <a:rPr lang="en-US" sz="1500" b="1" dirty="0">
                <a:solidFill>
                  <a:prstClr val="black">
                    <a:lumMod val="65000"/>
                    <a:lumOff val="35000"/>
                  </a:prstClr>
                </a:solidFill>
                <a:latin typeface="Times New Roman" panose="02020503050405090304" pitchFamily="18" charset="0"/>
                <a:ea typeface="Karla" pitchFamily="2" charset="0"/>
                <a:cs typeface="Times New Roman" panose="02020503050405090304" pitchFamily="18" charset="0"/>
              </a:rPr>
              <a:t>DISCOVER . </a:t>
            </a:r>
            <a:r>
              <a:rPr lang="en-US" sz="1500" b="1" dirty="0">
                <a:solidFill>
                  <a:srgbClr val="C00000"/>
                </a:solidFill>
                <a:latin typeface="Times New Roman" panose="02020503050405090304" pitchFamily="18" charset="0"/>
                <a:ea typeface="Karla" pitchFamily="2" charset="0"/>
                <a:cs typeface="Times New Roman" panose="02020503050405090304" pitchFamily="18" charset="0"/>
              </a:rPr>
              <a:t>LEARN</a:t>
            </a:r>
            <a:r>
              <a:rPr lang="en-US" sz="1500" b="1" dirty="0">
                <a:solidFill>
                  <a:prstClr val="black">
                    <a:lumMod val="65000"/>
                    <a:lumOff val="35000"/>
                  </a:prstClr>
                </a:solidFill>
                <a:latin typeface="Times New Roman" panose="02020503050405090304" pitchFamily="18" charset="0"/>
                <a:ea typeface="Karla" pitchFamily="2" charset="0"/>
                <a:cs typeface="Times New Roman" panose="02020503050405090304" pitchFamily="18" charset="0"/>
              </a:rPr>
              <a:t> . EMPOWER</a:t>
            </a:r>
            <a:endParaRPr lang="en-US" sz="1200" b="1" dirty="0">
              <a:solidFill>
                <a:prstClr val="black"/>
              </a:solidFill>
              <a:latin typeface="Casper" panose="02000506000000020004" pitchFamily="2" charset="0"/>
            </a:endParaRPr>
          </a:p>
        </p:txBody>
      </p:sp>
      <p:sp>
        <p:nvSpPr>
          <p:cNvPr id="52" name="Rectangle 51"/>
          <p:cNvSpPr/>
          <p:nvPr/>
        </p:nvSpPr>
        <p:spPr>
          <a:xfrm>
            <a:off x="5164139" y="4042172"/>
            <a:ext cx="34925" cy="20835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53" name="TextBox 52"/>
          <p:cNvSpPr txBox="1">
            <a:spLocks noChangeArrowheads="1"/>
          </p:cNvSpPr>
          <p:nvPr/>
        </p:nvSpPr>
        <p:spPr bwMode="auto">
          <a:xfrm>
            <a:off x="261939" y="4353323"/>
            <a:ext cx="4822825" cy="6959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eaLnBrk="1" fontAlgn="auto" hangingPunct="1">
              <a:lnSpc>
                <a:spcPct val="90000"/>
              </a:lnSpc>
              <a:spcAft>
                <a:spcPct val="35000"/>
              </a:spcAft>
              <a:defRPr/>
            </a:pPr>
            <a:r>
              <a:rPr lang="en-IN" sz="1800" b="1" dirty="0" smtClean="0">
                <a:solidFill>
                  <a:prstClr val="black">
                    <a:lumMod val="85000"/>
                    <a:lumOff val="15000"/>
                  </a:prstClr>
                </a:solidFill>
                <a:latin typeface="Times New Roman" panose="02020503050405090304" pitchFamily="18" charset="0"/>
                <a:cs typeface="Times New Roman" panose="02020503050405090304" pitchFamily="18" charset="0"/>
              </a:rPr>
              <a:t>Lecture</a:t>
            </a:r>
            <a:endParaRPr lang="en-US" sz="1800" b="1" dirty="0">
              <a:solidFill>
                <a:prstClr val="black">
                  <a:lumMod val="85000"/>
                  <a:lumOff val="15000"/>
                </a:prstClr>
              </a:solidFill>
              <a:latin typeface="Times New Roman" panose="02020503050405090304" pitchFamily="18" charset="0"/>
              <a:cs typeface="Times New Roman" panose="02020503050405090304" pitchFamily="18" charset="0"/>
            </a:endParaRPr>
          </a:p>
          <a:p>
            <a:pPr algn="ctr" defTabSz="466725" eaLnBrk="1" fontAlgn="auto" hangingPunct="1">
              <a:lnSpc>
                <a:spcPct val="90000"/>
              </a:lnSpc>
              <a:spcAft>
                <a:spcPct val="35000"/>
              </a:spcAft>
              <a:defRPr/>
            </a:pPr>
            <a:r>
              <a:rPr lang="en-US" kern="1200" dirty="0" smtClean="0">
                <a:latin typeface="Times New Roman" panose="02020503050405090304" pitchFamily="18" charset="0"/>
                <a:ea typeface="+mn-ea"/>
                <a:cs typeface="Times New Roman" panose="02020503050405090304" pitchFamily="18" charset="0"/>
                <a:sym typeface="+mn-ea"/>
              </a:rPr>
              <a:t>Databases in System Design</a:t>
            </a:r>
            <a:endParaRPr lang="en-US" sz="1600" dirty="0">
              <a:solidFill>
                <a:prstClr val="black"/>
              </a:solidFill>
              <a:latin typeface="Times New Roman" panose="02020503050405090304" pitchFamily="18" charset="0"/>
              <a:cs typeface="Times New Roman" panose="02020503050405090304" pitchFamily="18" charset="0"/>
            </a:endParaRPr>
          </a:p>
        </p:txBody>
      </p:sp>
      <p:sp>
        <p:nvSpPr>
          <p:cNvPr id="26" name="TextBox 25"/>
          <p:cNvSpPr txBox="1">
            <a:spLocks noChangeArrowheads="1"/>
          </p:cNvSpPr>
          <p:nvPr/>
        </p:nvSpPr>
        <p:spPr bwMode="auto">
          <a:xfrm>
            <a:off x="408305" y="1833880"/>
            <a:ext cx="8324850" cy="2213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eaLnBrk="1" hangingPunct="1"/>
            <a:r>
              <a:rPr lang="en-IN" altLang="en-US" sz="3500" b="1" dirty="0">
                <a:solidFill>
                  <a:srgbClr val="000000"/>
                </a:solidFill>
                <a:latin typeface="Times New Roman" panose="02020503050405090304" pitchFamily="18" charset="0"/>
                <a:cs typeface="Times New Roman" panose="02020503050405090304" pitchFamily="18" charset="0"/>
              </a:rPr>
              <a:t>A</a:t>
            </a:r>
            <a:r>
              <a:rPr lang="en-US" altLang="en-IN" sz="3500" b="1" dirty="0">
                <a:solidFill>
                  <a:srgbClr val="000000"/>
                </a:solidFill>
                <a:latin typeface="Times New Roman" panose="02020503050405090304" pitchFamily="18" charset="0"/>
                <a:cs typeface="Times New Roman" panose="02020503050405090304" pitchFamily="18" charset="0"/>
              </a:rPr>
              <a:t>pex</a:t>
            </a:r>
            <a:r>
              <a:rPr lang="en-IN" altLang="en-US" sz="3500" b="1" dirty="0">
                <a:solidFill>
                  <a:srgbClr val="000000"/>
                </a:solidFill>
                <a:latin typeface="Times New Roman" panose="02020503050405090304" pitchFamily="18" charset="0"/>
                <a:cs typeface="Times New Roman" panose="02020503050405090304" pitchFamily="18" charset="0"/>
              </a:rPr>
              <a:t> I</a:t>
            </a:r>
            <a:r>
              <a:rPr lang="en-US" altLang="en-IN" sz="3500" b="1" dirty="0">
                <a:solidFill>
                  <a:srgbClr val="000000"/>
                </a:solidFill>
                <a:latin typeface="Times New Roman" panose="02020503050405090304" pitchFamily="18" charset="0"/>
                <a:cs typeface="Times New Roman" panose="02020503050405090304" pitchFamily="18" charset="0"/>
              </a:rPr>
              <a:t>nstitute</a:t>
            </a:r>
            <a:r>
              <a:rPr lang="en-IN" altLang="en-US" sz="3500" b="1" dirty="0">
                <a:solidFill>
                  <a:srgbClr val="000000"/>
                </a:solidFill>
                <a:latin typeface="Times New Roman" panose="02020503050405090304" pitchFamily="18" charset="0"/>
                <a:cs typeface="Times New Roman" panose="02020503050405090304" pitchFamily="18" charset="0"/>
              </a:rPr>
              <a:t> </a:t>
            </a:r>
            <a:r>
              <a:rPr lang="en-US" altLang="en-IN" sz="3500" b="1" dirty="0">
                <a:solidFill>
                  <a:srgbClr val="000000"/>
                </a:solidFill>
                <a:latin typeface="Times New Roman" panose="02020503050405090304" pitchFamily="18" charset="0"/>
                <a:cs typeface="Times New Roman" panose="02020503050405090304" pitchFamily="18" charset="0"/>
              </a:rPr>
              <a:t>of</a:t>
            </a:r>
            <a:r>
              <a:rPr lang="en-IN" altLang="en-US" sz="3500" b="1" dirty="0">
                <a:solidFill>
                  <a:srgbClr val="000000"/>
                </a:solidFill>
                <a:latin typeface="Times New Roman" panose="02020503050405090304" pitchFamily="18" charset="0"/>
                <a:cs typeface="Times New Roman" panose="02020503050405090304" pitchFamily="18" charset="0"/>
              </a:rPr>
              <a:t> T</a:t>
            </a:r>
            <a:r>
              <a:rPr lang="en-US" altLang="en-IN" sz="3500" b="1" dirty="0">
                <a:solidFill>
                  <a:srgbClr val="000000"/>
                </a:solidFill>
                <a:latin typeface="Times New Roman" panose="02020503050405090304" pitchFamily="18" charset="0"/>
                <a:cs typeface="Times New Roman" panose="02020503050405090304" pitchFamily="18" charset="0"/>
              </a:rPr>
              <a:t>echnology</a:t>
            </a:r>
            <a:endParaRPr lang="en-US" altLang="en-US" sz="3500" dirty="0">
              <a:solidFill>
                <a:srgbClr val="000000"/>
              </a:solidFill>
              <a:latin typeface="Times New Roman" panose="02020503050405090304" pitchFamily="18" charset="0"/>
              <a:cs typeface="Times New Roman" panose="02020503050405090304" pitchFamily="18" charset="0"/>
            </a:endParaRPr>
          </a:p>
          <a:p>
            <a:pPr algn="ctr" eaLnBrk="1" hangingPunct="1"/>
            <a:r>
              <a:rPr lang="en-US" altLang="en-IN" sz="2100" b="1" dirty="0">
                <a:solidFill>
                  <a:srgbClr val="000000"/>
                </a:solidFill>
                <a:latin typeface="Times New Roman" panose="02020503050405090304" pitchFamily="18" charset="0"/>
                <a:cs typeface="Times New Roman" panose="02020503050405090304" pitchFamily="18" charset="0"/>
              </a:rPr>
              <a:t>Department of</a:t>
            </a:r>
            <a:r>
              <a:rPr lang="en-IN" altLang="en-US" sz="2100" b="1" dirty="0">
                <a:solidFill>
                  <a:srgbClr val="000000"/>
                </a:solidFill>
                <a:latin typeface="Times New Roman" panose="02020503050405090304" pitchFamily="18" charset="0"/>
                <a:cs typeface="Times New Roman" panose="02020503050405090304" pitchFamily="18" charset="0"/>
              </a:rPr>
              <a:t> </a:t>
            </a:r>
            <a:r>
              <a:rPr lang="en-US" altLang="en-IN" sz="2100" b="1" dirty="0">
                <a:solidFill>
                  <a:srgbClr val="000000"/>
                </a:solidFill>
                <a:latin typeface="Times New Roman" panose="02020503050405090304" pitchFamily="18" charset="0"/>
                <a:cs typeface="Times New Roman" panose="02020503050405090304" pitchFamily="18" charset="0"/>
              </a:rPr>
              <a:t>Artificial Intelligence and Machine Learning</a:t>
            </a:r>
            <a:endParaRPr lang="en-US" altLang="en-US" sz="2100" b="1" dirty="0">
              <a:solidFill>
                <a:srgbClr val="000000"/>
              </a:solidFill>
              <a:latin typeface="Times New Roman" panose="02020503050405090304" pitchFamily="18" charset="0"/>
              <a:cs typeface="Times New Roman" panose="02020503050405090304" pitchFamily="18" charset="0"/>
            </a:endParaRPr>
          </a:p>
          <a:p>
            <a:pPr algn="ctr" eaLnBrk="1" hangingPunct="1">
              <a:lnSpc>
                <a:spcPct val="90000"/>
              </a:lnSpc>
              <a:spcAft>
                <a:spcPct val="35000"/>
              </a:spcAft>
            </a:pPr>
            <a:endParaRPr lang="en-US" altLang="en-US" sz="2300" b="1" dirty="0">
              <a:solidFill>
                <a:srgbClr val="000000"/>
              </a:solidFill>
              <a:latin typeface="Times New Roman" panose="02020503050405090304" pitchFamily="18" charset="0"/>
              <a:ea typeface="Calibri" panose="020F0502020204030204" pitchFamily="34" charset="0"/>
              <a:cs typeface="Times New Roman" panose="02020503050405090304" pitchFamily="18" charset="0"/>
            </a:endParaRPr>
          </a:p>
          <a:p>
            <a:pPr algn="ctr" eaLnBrk="1" hangingPunct="1">
              <a:lnSpc>
                <a:spcPct val="90000"/>
              </a:lnSpc>
              <a:spcAft>
                <a:spcPct val="35000"/>
              </a:spcAft>
            </a:pPr>
            <a:r>
              <a:rPr lang="en-US" sz="2400" dirty="0" smtClean="0">
                <a:latin typeface="Times New Roman" panose="02020503050405090304" pitchFamily="18" charset="0"/>
                <a:cs typeface="Times New Roman" panose="02020503050405090304" pitchFamily="18" charset="0"/>
              </a:rPr>
              <a:t>System Design </a:t>
            </a:r>
            <a:r>
              <a:rPr lang="en-US" altLang="en-US" sz="2400" dirty="0" smtClean="0">
                <a:solidFill>
                  <a:srgbClr val="262626"/>
                </a:solidFill>
                <a:latin typeface="Times New Roman" panose="02020503050405090304" pitchFamily="18" charset="0"/>
                <a:ea typeface="Cambria" panose="02040503050406030204" pitchFamily="18" charset="0"/>
                <a:cs typeface="Times New Roman" panose="02020503050405090304" pitchFamily="18" charset="0"/>
              </a:rPr>
              <a:t>(</a:t>
            </a:r>
            <a:r>
              <a:rPr lang="en-US" sz="2400" dirty="0" smtClean="0">
                <a:latin typeface="Times New Roman" panose="02020503050405090304" pitchFamily="18" charset="0"/>
                <a:cs typeface="Times New Roman" panose="02020503050405090304" pitchFamily="18" charset="0"/>
              </a:rPr>
              <a:t>23CST-390</a:t>
            </a:r>
            <a:r>
              <a:rPr lang="en-US" altLang="en-US" sz="2400" dirty="0" smtClean="0">
                <a:solidFill>
                  <a:srgbClr val="262626"/>
                </a:solidFill>
                <a:latin typeface="Times New Roman" panose="02020503050405090304" pitchFamily="18" charset="0"/>
                <a:ea typeface="Cambria" panose="02040503050406030204" pitchFamily="18" charset="0"/>
                <a:cs typeface="Times New Roman" panose="02020503050405090304" pitchFamily="18" charset="0"/>
              </a:rPr>
              <a:t>)</a:t>
            </a:r>
            <a:endParaRPr lang="en-US" altLang="en-US" sz="2400" dirty="0">
              <a:solidFill>
                <a:srgbClr val="262626"/>
              </a:solidFill>
              <a:latin typeface="Times New Roman" panose="02020503050405090304" pitchFamily="18" charset="0"/>
              <a:ea typeface="Cambria" panose="02040503050406030204" pitchFamily="18" charset="0"/>
              <a:cs typeface="Times New Roman" panose="02020503050405090304" pitchFamily="18" charset="0"/>
            </a:endParaRPr>
          </a:p>
          <a:p>
            <a:pPr algn="ctr" eaLnBrk="1" hangingPunct="1">
              <a:lnSpc>
                <a:spcPct val="90000"/>
              </a:lnSpc>
              <a:spcAft>
                <a:spcPct val="35000"/>
              </a:spcAft>
            </a:pPr>
            <a:r>
              <a:rPr lang="en-US" altLang="en-US" sz="2300" b="1" dirty="0">
                <a:solidFill>
                  <a:srgbClr val="262626"/>
                </a:solidFill>
                <a:latin typeface="Times New Roman" panose="02020503050405090304" pitchFamily="18" charset="0"/>
                <a:cs typeface="Times New Roman" panose="02020503050405090304" pitchFamily="18" charset="0"/>
              </a:rPr>
              <a:t>Faculty:</a:t>
            </a:r>
            <a:r>
              <a:rPr lang="en-US" altLang="en-US" sz="2300" dirty="0">
                <a:solidFill>
                  <a:srgbClr val="262626"/>
                </a:solidFill>
                <a:latin typeface="Times New Roman" panose="02020503050405090304" pitchFamily="18" charset="0"/>
                <a:cs typeface="Times New Roman" panose="02020503050405090304" pitchFamily="18" charset="0"/>
              </a:rPr>
              <a:t> </a:t>
            </a:r>
            <a:r>
              <a:rPr lang="en-US" altLang="en-US" sz="2300" dirty="0" smtClean="0">
                <a:solidFill>
                  <a:srgbClr val="262626"/>
                </a:solidFill>
                <a:latin typeface="Times New Roman" panose="02020503050405090304" pitchFamily="18" charset="0"/>
                <a:cs typeface="Times New Roman" panose="02020503050405090304" pitchFamily="18" charset="0"/>
              </a:rPr>
              <a:t>(</a:t>
            </a:r>
            <a:r>
              <a:rPr lang="en-US" altLang="en-US" sz="2300" dirty="0" err="1" smtClean="0">
                <a:solidFill>
                  <a:srgbClr val="262626"/>
                </a:solidFill>
                <a:latin typeface="Times New Roman" panose="02020503050405090304" pitchFamily="18" charset="0"/>
                <a:cs typeface="Times New Roman" panose="02020503050405090304" pitchFamily="18" charset="0"/>
              </a:rPr>
              <a:t>Er</a:t>
            </a:r>
            <a:r>
              <a:rPr lang="en-US" altLang="en-US" sz="2300" dirty="0">
                <a:solidFill>
                  <a:srgbClr val="262626"/>
                </a:solidFill>
                <a:latin typeface="Times New Roman" panose="02020503050405090304" pitchFamily="18" charset="0"/>
                <a:cs typeface="Times New Roman" panose="02020503050405090304" pitchFamily="18" charset="0"/>
              </a:rPr>
              <a:t>.) </a:t>
            </a:r>
            <a:r>
              <a:rPr lang="en-US" altLang="en-US" sz="2300" dirty="0" err="1" smtClean="0">
                <a:solidFill>
                  <a:srgbClr val="262626"/>
                </a:solidFill>
                <a:latin typeface="Times New Roman" panose="02020503050405090304" pitchFamily="18" charset="0"/>
                <a:cs typeface="Times New Roman" panose="02020503050405090304" pitchFamily="18" charset="0"/>
              </a:rPr>
              <a:t>Kamaljee</a:t>
            </a:r>
            <a:r>
              <a:rPr lang="en-IN" sz="2400" dirty="0" smtClean="0">
                <a:solidFill>
                  <a:prstClr val="black"/>
                </a:solidFill>
                <a:latin typeface="Times New Roman" panose="02020503050405090304" pitchFamily="18" charset="0"/>
                <a:ea typeface="Times New Roman" panose="02020503050405090304" pitchFamily="18" charset="0"/>
                <a:cs typeface="Times New Roman" panose="02020503050405090304" pitchFamily="18" charset="0"/>
              </a:rPr>
              <a:t>t</a:t>
            </a:r>
            <a:r>
              <a:rPr lang="en-US" altLang="en-US" sz="2300" dirty="0" smtClean="0">
                <a:solidFill>
                  <a:srgbClr val="262626"/>
                </a:solidFill>
                <a:latin typeface="Times New Roman" panose="02020503050405090304" pitchFamily="18" charset="0"/>
                <a:cs typeface="Times New Roman" panose="02020503050405090304" pitchFamily="18" charset="0"/>
              </a:rPr>
              <a:t> </a:t>
            </a:r>
            <a:r>
              <a:rPr lang="en-US" altLang="en-US" sz="2300" dirty="0" err="1" smtClean="0">
                <a:solidFill>
                  <a:srgbClr val="262626"/>
                </a:solidFill>
                <a:latin typeface="Times New Roman" panose="02020503050405090304" pitchFamily="18" charset="0"/>
                <a:cs typeface="Times New Roman" panose="02020503050405090304" pitchFamily="18" charset="0"/>
              </a:rPr>
              <a:t>Kaur </a:t>
            </a:r>
            <a:r>
              <a:rPr lang="en-US" altLang="en-US" sz="2300" dirty="0" smtClean="0">
                <a:solidFill>
                  <a:srgbClr val="262626"/>
                </a:solidFill>
                <a:latin typeface="Times New Roman" panose="02020503050405090304" pitchFamily="18" charset="0"/>
                <a:cs typeface="Times New Roman" panose="02020503050405090304" pitchFamily="18" charset="0"/>
              </a:rPr>
              <a:t>(E19147)</a:t>
            </a:r>
            <a:endParaRPr lang="en-US" altLang="en-US" sz="2300" dirty="0">
              <a:solidFill>
                <a:srgbClr val="262626"/>
              </a:solidFill>
              <a:latin typeface="Times New Roman" panose="02020503050405090304" pitchFamily="18" charset="0"/>
              <a:cs typeface="Times New Roman" panose="02020503050405090304" pitchFamily="18" charset="0"/>
            </a:endParaRPr>
          </a:p>
          <a:p>
            <a:pPr algn="ctr" eaLnBrk="1" hangingPunct="1">
              <a:lnSpc>
                <a:spcPct val="90000"/>
              </a:lnSpc>
              <a:spcAft>
                <a:spcPct val="35000"/>
              </a:spcAft>
            </a:pPr>
            <a:endParaRPr lang="en-US" altLang="en-US" sz="1100" dirty="0">
              <a:solidFill>
                <a:srgbClr val="000000"/>
              </a:solidFill>
              <a:latin typeface="Times New Roman" panose="02020503050405090304" pitchFamily="18" charset="0"/>
              <a:cs typeface="Times New Roman" panose="02020503050405090304" pitchFamily="18" charset="0"/>
            </a:endParaRPr>
          </a:p>
        </p:txBody>
      </p:sp>
      <p:sp>
        <p:nvSpPr>
          <p:cNvPr id="16" name="object 9"/>
          <p:cNvSpPr txBox="1"/>
          <p:nvPr/>
        </p:nvSpPr>
        <p:spPr>
          <a:xfrm>
            <a:off x="6327775" y="22860"/>
            <a:ext cx="2750185" cy="472440"/>
          </a:xfrm>
          <a:prstGeom prst="rect">
            <a:avLst/>
          </a:prstGeom>
        </p:spPr>
        <p:txBody>
          <a:bodyPr vert="horz" wrap="square" lIns="0" tIns="16510" rIns="0" bIns="0" rtlCol="0">
            <a:spAutoFit/>
          </a:bodyPr>
          <a:lstStyle/>
          <a:p>
            <a:pPr marL="12700" algn="r">
              <a:lnSpc>
                <a:spcPct val="100000"/>
              </a:lnSpc>
              <a:spcBef>
                <a:spcPts val="130"/>
              </a:spcBef>
            </a:pPr>
            <a:r>
              <a:rPr sz="1550" b="0" dirty="0">
                <a:solidFill>
                  <a:schemeClr val="tx1"/>
                </a:solidFill>
                <a:latin typeface="Times New Roman Regular" panose="02020503050405090304" charset="0"/>
                <a:cs typeface="Times New Roman Regular" panose="02020503050405090304" charset="0"/>
              </a:rPr>
              <a:t>Academic</a:t>
            </a:r>
            <a:r>
              <a:rPr sz="1550" b="0" spc="229" dirty="0">
                <a:solidFill>
                  <a:schemeClr val="tx1"/>
                </a:solidFill>
                <a:latin typeface="Times New Roman Regular" panose="02020503050405090304" charset="0"/>
                <a:cs typeface="Times New Roman Regular" panose="02020503050405090304" charset="0"/>
              </a:rPr>
              <a:t> </a:t>
            </a:r>
            <a:r>
              <a:rPr sz="1550" b="0" dirty="0">
                <a:solidFill>
                  <a:schemeClr val="tx1"/>
                </a:solidFill>
                <a:latin typeface="Times New Roman Regular" panose="02020503050405090304" charset="0"/>
                <a:cs typeface="Times New Roman Regular" panose="02020503050405090304" charset="0"/>
              </a:rPr>
              <a:t>Session</a:t>
            </a:r>
            <a:r>
              <a:rPr sz="1550" b="0" spc="180" dirty="0">
                <a:solidFill>
                  <a:schemeClr val="tx1"/>
                </a:solidFill>
                <a:latin typeface="Times New Roman Regular" panose="02020503050405090304" charset="0"/>
                <a:cs typeface="Times New Roman Regular" panose="02020503050405090304" charset="0"/>
              </a:rPr>
              <a:t> </a:t>
            </a:r>
            <a:r>
              <a:rPr sz="1550" b="0" dirty="0">
                <a:solidFill>
                  <a:schemeClr val="tx1"/>
                </a:solidFill>
                <a:latin typeface="Times New Roman Regular" panose="02020503050405090304" charset="0"/>
                <a:cs typeface="Times New Roman Regular" panose="02020503050405090304" charset="0"/>
              </a:rPr>
              <a:t>202</a:t>
            </a:r>
            <a:r>
              <a:rPr lang="en-US" altLang="" sz="1550" b="0" dirty="0">
                <a:solidFill>
                  <a:schemeClr val="tx1"/>
                </a:solidFill>
                <a:latin typeface="Times New Roman Regular" panose="02020503050405090304" charset="0"/>
                <a:cs typeface="Times New Roman Regular" panose="02020503050405090304" charset="0"/>
              </a:rPr>
              <a:t>5</a:t>
            </a:r>
            <a:r>
              <a:rPr sz="1550" b="0" dirty="0">
                <a:solidFill>
                  <a:schemeClr val="tx1"/>
                </a:solidFill>
                <a:latin typeface="Times New Roman Regular" panose="02020503050405090304" charset="0"/>
                <a:cs typeface="Times New Roman Regular" panose="02020503050405090304" charset="0"/>
              </a:rPr>
              <a:t>-</a:t>
            </a:r>
            <a:r>
              <a:rPr sz="1550" b="0" spc="-25" dirty="0">
                <a:solidFill>
                  <a:schemeClr val="tx1"/>
                </a:solidFill>
                <a:latin typeface="Times New Roman Regular" panose="02020503050405090304" charset="0"/>
                <a:cs typeface="Times New Roman Regular" panose="02020503050405090304" charset="0"/>
              </a:rPr>
              <a:t>2</a:t>
            </a:r>
            <a:r>
              <a:rPr lang="en-US" altLang="" sz="1550" b="0" spc="-25" dirty="0">
                <a:solidFill>
                  <a:schemeClr val="tx1"/>
                </a:solidFill>
                <a:latin typeface="Times New Roman Regular" panose="02020503050405090304" charset="0"/>
                <a:cs typeface="Times New Roman Regular" panose="02020503050405090304" charset="0"/>
              </a:rPr>
              <a:t>6</a:t>
            </a:r>
            <a:endParaRPr sz="1550" b="0" dirty="0">
              <a:solidFill>
                <a:schemeClr val="tx1"/>
              </a:solidFill>
              <a:latin typeface="Times New Roman Regular" panose="02020503050405090304" charset="0"/>
              <a:cs typeface="Times New Roman Regular" panose="02020503050405090304" charset="0"/>
            </a:endParaRPr>
          </a:p>
          <a:p>
            <a:pPr marL="120650" algn="r">
              <a:lnSpc>
                <a:spcPct val="100000"/>
              </a:lnSpc>
              <a:spcBef>
                <a:spcPts val="20"/>
              </a:spcBef>
            </a:pPr>
            <a:r>
              <a:rPr sz="1400" b="0" dirty="0">
                <a:solidFill>
                  <a:schemeClr val="tx1"/>
                </a:solidFill>
                <a:latin typeface="Times New Roman Regular" panose="02020503050405090304" charset="0"/>
                <a:cs typeface="Times New Roman Regular" panose="02020503050405090304" charset="0"/>
              </a:rPr>
              <a:t>E</a:t>
            </a:r>
            <a:r>
              <a:rPr lang="en-US" altLang="" sz="1400" b="0" dirty="0">
                <a:solidFill>
                  <a:schemeClr val="tx1"/>
                </a:solidFill>
                <a:latin typeface="Times New Roman Regular" panose="02020503050405090304" charset="0"/>
                <a:cs typeface="Times New Roman Regular" panose="02020503050405090304" charset="0"/>
              </a:rPr>
              <a:t>ven</a:t>
            </a:r>
            <a:r>
              <a:rPr sz="1400" b="0" spc="-5" dirty="0">
                <a:solidFill>
                  <a:schemeClr val="tx1"/>
                </a:solidFill>
                <a:latin typeface="Times New Roman Regular" panose="02020503050405090304" charset="0"/>
                <a:cs typeface="Times New Roman Regular" panose="02020503050405090304" charset="0"/>
              </a:rPr>
              <a:t> </a:t>
            </a:r>
            <a:r>
              <a:rPr sz="1400" b="0" dirty="0">
                <a:solidFill>
                  <a:schemeClr val="tx1"/>
                </a:solidFill>
                <a:latin typeface="Times New Roman Regular" panose="02020503050405090304" charset="0"/>
                <a:cs typeface="Times New Roman Regular" panose="02020503050405090304" charset="0"/>
              </a:rPr>
              <a:t>Semester</a:t>
            </a:r>
            <a:r>
              <a:rPr sz="1400" b="0" spc="-25" dirty="0">
                <a:solidFill>
                  <a:schemeClr val="tx1"/>
                </a:solidFill>
                <a:latin typeface="Times New Roman Regular" panose="02020503050405090304" charset="0"/>
                <a:cs typeface="Times New Roman Regular" panose="02020503050405090304" charset="0"/>
              </a:rPr>
              <a:t> </a:t>
            </a:r>
            <a:r>
              <a:rPr sz="1400" b="0" spc="-10" dirty="0">
                <a:solidFill>
                  <a:schemeClr val="tx1"/>
                </a:solidFill>
                <a:latin typeface="Times New Roman Regular" panose="02020503050405090304" charset="0"/>
                <a:cs typeface="Times New Roman Regular" panose="02020503050405090304" charset="0"/>
              </a:rPr>
              <a:t>Jan-</a:t>
            </a:r>
            <a:r>
              <a:rPr sz="1400" b="0" dirty="0">
                <a:solidFill>
                  <a:schemeClr val="tx1"/>
                </a:solidFill>
                <a:latin typeface="Times New Roman Regular" panose="02020503050405090304" charset="0"/>
                <a:cs typeface="Times New Roman Regular" panose="02020503050405090304" charset="0"/>
              </a:rPr>
              <a:t>Jun</a:t>
            </a:r>
            <a:r>
              <a:rPr lang="en-US" altLang="" sz="1400" b="0" spc="-45" dirty="0">
                <a:solidFill>
                  <a:schemeClr val="tx1"/>
                </a:solidFill>
                <a:latin typeface="Times New Roman Regular" panose="02020503050405090304" charset="0"/>
                <a:cs typeface="Times New Roman Regular" panose="02020503050405090304" charset="0"/>
              </a:rPr>
              <a:t>’</a:t>
            </a:r>
            <a:r>
              <a:rPr sz="1400" b="0" spc="-20" dirty="0">
                <a:solidFill>
                  <a:schemeClr val="tx1"/>
                </a:solidFill>
                <a:latin typeface="Times New Roman Regular" panose="02020503050405090304" charset="0"/>
                <a:cs typeface="Times New Roman Regular" panose="02020503050405090304" charset="0"/>
              </a:rPr>
              <a:t>26</a:t>
            </a:r>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1365" y="1152525"/>
            <a:ext cx="7927340" cy="2270760"/>
          </a:xfrm>
          <a:prstGeom prst="rect">
            <a:avLst/>
          </a:prstGeom>
        </p:spPr>
        <p:txBody>
          <a:bodyPr vert="horz" wrap="square" lIns="0" tIns="15875" rIns="0" bIns="0" rtlCol="0">
            <a:noAutofit/>
          </a:bodyPr>
          <a:lstStyle/>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Understand the fundamental concepts of system design and its importance in building   </a:t>
            </a:r>
          </a:p>
          <a:p>
            <a:pPr indent="0" algn="just">
              <a:lnSpc>
                <a:spcPct val="150000"/>
              </a:lnSpc>
              <a:buFont typeface="Arial" panose="020B0604020202090204" pitchFamily="34" charset="0"/>
              <a:buNone/>
            </a:pPr>
            <a:r>
              <a:rPr lang="en-US" sz="1600" dirty="0" smtClean="0">
                <a:latin typeface="Times New Roman" panose="02020503050405090304" pitchFamily="18" charset="0"/>
                <a:cs typeface="Times New Roman" panose="02020503050405090304" pitchFamily="18" charset="0"/>
              </a:rPr>
              <a:t>   scalable applications.</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Learn the principles of scalability, availability, and reliability in large systems.</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Differentiate between Monolithic and </a:t>
            </a:r>
            <a:r>
              <a:rPr lang="en-US" sz="1600" dirty="0" err="1" smtClean="0">
                <a:latin typeface="Times New Roman" panose="02020503050405090304" pitchFamily="18" charset="0"/>
                <a:cs typeface="Times New Roman" panose="02020503050405090304" pitchFamily="18" charset="0"/>
              </a:rPr>
              <a:t>Microservices</a:t>
            </a:r>
            <a:r>
              <a:rPr lang="en-US" sz="1600" dirty="0" smtClean="0">
                <a:latin typeface="Times New Roman" panose="02020503050405090304" pitchFamily="18" charset="0"/>
                <a:cs typeface="Times New Roman" panose="02020503050405090304" pitchFamily="18" charset="0"/>
              </a:rPr>
              <a:t> architectures.</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Explain key performance metrics such as latency and throughput.</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Understand how caching improves system speed and reduces load on backend services.</a:t>
            </a:r>
            <a:endParaRPr lang="en-US" sz="1600" dirty="0">
              <a:latin typeface="Times New Roman" panose="02020503050405090304" pitchFamily="18" charset="0"/>
              <a:cs typeface="Times New Roman" panose="02020503050405090304" pitchFamily="18" charset="0"/>
            </a:endParaRPr>
          </a:p>
        </p:txBody>
      </p:sp>
      <p:sp>
        <p:nvSpPr>
          <p:cNvPr id="8" name="Title 7"/>
          <p:cNvSpPr txBox="1">
            <a:spLocks noGrp="1" noChangeArrowheads="1"/>
          </p:cNvSpPr>
          <p:nvPr/>
        </p:nvSpPr>
        <p:spPr>
          <a:xfrm>
            <a:off x="761683" y="378381"/>
            <a:ext cx="4267200" cy="276860"/>
          </a:xfrm>
          <a:prstGeom prst="rect">
            <a:avLst/>
          </a:prstGeom>
        </p:spPr>
        <p:txBody>
          <a:bodyPr wrap="square" lIns="0" tIns="0" rIns="0" bIns="0" rtlCol="0" anchor="b">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fontAlgn="auto">
              <a:spcAft>
                <a:spcPts val="0"/>
              </a:spcAft>
              <a:defRPr/>
            </a:pPr>
            <a:r>
              <a:rPr lang="en-US" sz="1800" b="1" dirty="0">
                <a:latin typeface="Times New Roman" panose="02020503050405090304" pitchFamily="18" charset="0"/>
                <a:cs typeface="Times New Roman" panose="02020503050405090304" pitchFamily="18" charset="0"/>
                <a:sym typeface="+mn-ea"/>
              </a:rPr>
              <a:t>Learning Objectives</a:t>
            </a:r>
            <a:endParaRPr lang="en-US" b="1"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a:xfrm>
            <a:off x="761683" y="286306"/>
            <a:ext cx="4267200" cy="368935"/>
          </a:xfrm>
        </p:spPr>
        <p:txBody>
          <a:bodyPr rtlCol="0">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fontAlgn="auto">
              <a:spcAft>
                <a:spcPts val="0"/>
              </a:spcAft>
              <a:defRPr/>
            </a:pPr>
            <a:r>
              <a:rPr lang="en-US" b="1" dirty="0" smtClean="0">
                <a:latin typeface="Times New Roman" panose="02020503050405090304" pitchFamily="18" charset="0"/>
                <a:cs typeface="Times New Roman" panose="02020503050405090304" pitchFamily="18" charset="0"/>
              </a:rPr>
              <a:t>Course </a:t>
            </a:r>
            <a:r>
              <a:rPr lang="en-US" b="1" dirty="0">
                <a:latin typeface="Times New Roman" panose="02020503050405090304" pitchFamily="18" charset="0"/>
                <a:cs typeface="Times New Roman" panose="02020503050405090304" pitchFamily="18" charset="0"/>
              </a:rPr>
              <a:t>Outcomes</a:t>
            </a:r>
          </a:p>
        </p:txBody>
      </p:sp>
      <p:sp>
        <p:nvSpPr>
          <p:cNvPr id="21508" name="Rectangle 3"/>
          <p:cNvSpPr>
            <a:spLocks noChangeArrowheads="1"/>
          </p:cNvSpPr>
          <p:nvPr/>
        </p:nvSpPr>
        <p:spPr bwMode="auto">
          <a:xfrm>
            <a:off x="741998" y="971471"/>
            <a:ext cx="5072222"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eaLnBrk="1" hangingPunct="1"/>
            <a:r>
              <a:rPr lang="en-IN" altLang="en-US" sz="1600" dirty="0">
                <a:solidFill>
                  <a:srgbClr val="000000"/>
                </a:solidFill>
                <a:latin typeface="Times New Roman" panose="02020503050405090304" pitchFamily="18" charset="0"/>
                <a:cs typeface="Times New Roman" panose="02020503050405090304" pitchFamily="18" charset="0"/>
              </a:rPr>
              <a:t>On completion of this course, the students shall be able to:-</a:t>
            </a:r>
            <a:endParaRPr lang="en-US" altLang="en-US" sz="1600" dirty="0">
              <a:solidFill>
                <a:srgbClr val="000000"/>
              </a:solidFill>
              <a:latin typeface="Times New Roman" panose="02020503050405090304" pitchFamily="18" charset="0"/>
              <a:cs typeface="Times New Roman" panose="02020503050405090304" pitchFamily="18" charset="0"/>
            </a:endParaRPr>
          </a:p>
        </p:txBody>
      </p:sp>
      <p:graphicFrame>
        <p:nvGraphicFramePr>
          <p:cNvPr id="3" name="Table 2"/>
          <p:cNvGraphicFramePr>
            <a:graphicFrameLocks noGrp="1"/>
          </p:cNvGraphicFramePr>
          <p:nvPr/>
        </p:nvGraphicFramePr>
        <p:xfrm>
          <a:off x="741998" y="1351360"/>
          <a:ext cx="7772881" cy="3168460"/>
        </p:xfrm>
        <a:graphic>
          <a:graphicData uri="http://schemas.openxmlformats.org/drawingml/2006/table">
            <a:tbl>
              <a:tblPr bandRow="1">
                <a:tableStyleId>{5C22544A-7EE6-4342-B048-85BDC9FD1C3A}</a:tableStyleId>
              </a:tblPr>
              <a:tblGrid>
                <a:gridCol w="494030"/>
                <a:gridCol w="7278851"/>
              </a:tblGrid>
              <a:tr h="641386">
                <a:tc>
                  <a:txBody>
                    <a:bodyPr/>
                    <a:lstStyle/>
                    <a:p>
                      <a:pPr>
                        <a:lnSpc>
                          <a:spcPct val="107000"/>
                        </a:lnSpc>
                        <a:spcAft>
                          <a:spcPts val="0"/>
                        </a:spcAft>
                      </a:pPr>
                      <a:r>
                        <a:rPr lang="en-US" sz="1200" kern="0" dirty="0" smtClean="0">
                          <a:effectLst/>
                          <a:latin typeface="Times New Roman" panose="02020503050405090304" pitchFamily="18" charset="0"/>
                          <a:cs typeface="Times New Roman" panose="02020503050405090304" pitchFamily="18" charset="0"/>
                        </a:rPr>
                        <a:t>CO1</a:t>
                      </a:r>
                      <a:endParaRPr lang="en-US" sz="1200" kern="100" dirty="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200" kern="1200" dirty="0" smtClean="0">
                          <a:solidFill>
                            <a:schemeClr val="dk1"/>
                          </a:solidFill>
                          <a:latin typeface="Times New Roman" panose="02020503050405090304" pitchFamily="18" charset="0"/>
                          <a:ea typeface="+mn-ea"/>
                          <a:cs typeface="Times New Roman" panose="02020503050405090304" pitchFamily="18" charset="0"/>
                        </a:rPr>
                        <a:t>Understand the fundamental system design principles, including scalability, high availability, and fault tolerance, while analyzing how these core principles influence architectural decisions in real-world distributed environments.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1386">
                <a:tc>
                  <a:txBody>
                    <a:bodyPr/>
                    <a:lstStyle/>
                    <a:p>
                      <a:pPr>
                        <a:lnSpc>
                          <a:spcPct val="107000"/>
                        </a:lnSpc>
                        <a:spcAft>
                          <a:spcPts val="0"/>
                        </a:spcAft>
                      </a:pPr>
                      <a:r>
                        <a:rPr lang="en-US" sz="1200" kern="0" smtClean="0">
                          <a:effectLst/>
                          <a:latin typeface="Times New Roman" panose="02020503050405090304" pitchFamily="18" charset="0"/>
                          <a:cs typeface="Times New Roman" panose="02020503050405090304" pitchFamily="18" charset="0"/>
                        </a:rPr>
                        <a:t>CO2</a:t>
                      </a:r>
                      <a:endParaRPr lang="en-US" sz="1200" kern="10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200" kern="1200" dirty="0" smtClean="0">
                          <a:solidFill>
                            <a:schemeClr val="dk1"/>
                          </a:solidFill>
                          <a:latin typeface="Times New Roman" panose="02020503050405090304" pitchFamily="18" charset="0"/>
                          <a:ea typeface="+mn-ea"/>
                          <a:cs typeface="Times New Roman" panose="02020503050405090304" pitchFamily="18" charset="0"/>
                        </a:rPr>
                        <a:t>Apply various distributed architectural patterns, key database models (SQL and </a:t>
                      </a:r>
                      <a:r>
                        <a:rPr lang="en-US" sz="1200" kern="1200" dirty="0" err="1" smtClean="0">
                          <a:solidFill>
                            <a:schemeClr val="dk1"/>
                          </a:solidFill>
                          <a:latin typeface="Times New Roman" panose="02020503050405090304" pitchFamily="18" charset="0"/>
                          <a:ea typeface="+mn-ea"/>
                          <a:cs typeface="Times New Roman" panose="02020503050405090304" pitchFamily="18" charset="0"/>
                        </a:rPr>
                        <a:t>NoSQL</a:t>
                      </a:r>
                      <a:r>
                        <a:rPr lang="en-US" sz="1200" kern="1200" dirty="0" smtClean="0">
                          <a:solidFill>
                            <a:schemeClr val="dk1"/>
                          </a:solidFill>
                          <a:latin typeface="Times New Roman" panose="02020503050405090304" pitchFamily="18" charset="0"/>
                          <a:ea typeface="+mn-ea"/>
                          <a:cs typeface="Times New Roman" panose="02020503050405090304" pitchFamily="18" charset="0"/>
                        </a:rPr>
                        <a:t>), and critical communication protocols to evaluate their specific applications and trade-offs in modern system designs.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1386">
                <a:tc>
                  <a:txBody>
                    <a:bodyPr/>
                    <a:lstStyle/>
                    <a:p>
                      <a:pPr>
                        <a:lnSpc>
                          <a:spcPct val="107000"/>
                        </a:lnSpc>
                        <a:spcAft>
                          <a:spcPts val="0"/>
                        </a:spcAft>
                      </a:pPr>
                      <a:r>
                        <a:rPr lang="en-US" sz="1200" kern="0" dirty="0" smtClean="0">
                          <a:effectLst/>
                          <a:latin typeface="Times New Roman" panose="02020503050405090304" pitchFamily="18" charset="0"/>
                          <a:cs typeface="Times New Roman" panose="02020503050405090304" pitchFamily="18" charset="0"/>
                        </a:rPr>
                        <a:t>CO3</a:t>
                      </a:r>
                      <a:endParaRPr lang="en-US" sz="1200" kern="100" dirty="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kern="1200" dirty="0" smtClean="0">
                          <a:solidFill>
                            <a:schemeClr val="dk1"/>
                          </a:solidFill>
                          <a:latin typeface="Times New Roman" panose="02020503050405090304" pitchFamily="18" charset="0"/>
                          <a:ea typeface="+mn-ea"/>
                          <a:cs typeface="Times New Roman" panose="02020503050405090304" pitchFamily="18" charset="0"/>
                        </a:rPr>
                        <a:t>Apply advanced scaling techniques, such as caching, load balancing, database </a:t>
                      </a:r>
                      <a:r>
                        <a:rPr lang="en-US" sz="1200" kern="1200" dirty="0" err="1" smtClean="0">
                          <a:solidFill>
                            <a:schemeClr val="dk1"/>
                          </a:solidFill>
                          <a:latin typeface="Times New Roman" panose="02020503050405090304" pitchFamily="18" charset="0"/>
                          <a:ea typeface="+mn-ea"/>
                          <a:cs typeface="Times New Roman" panose="02020503050405090304" pitchFamily="18" charset="0"/>
                        </a:rPr>
                        <a:t>sharding</a:t>
                      </a:r>
                      <a:r>
                        <a:rPr lang="en-US" sz="1200" kern="1200" dirty="0" smtClean="0">
                          <a:solidFill>
                            <a:schemeClr val="dk1"/>
                          </a:solidFill>
                          <a:latin typeface="Times New Roman" panose="02020503050405090304" pitchFamily="18" charset="0"/>
                          <a:ea typeface="+mn-ea"/>
                          <a:cs typeface="Times New Roman" panose="02020503050405090304" pitchFamily="18" charset="0"/>
                        </a:rPr>
                        <a:t>, and replication, to design system components that effectively handle massive user traffic and data volumes.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02934">
                <a:tc>
                  <a:txBody>
                    <a:bodyPr/>
                    <a:lstStyle/>
                    <a:p>
                      <a:pPr>
                        <a:lnSpc>
                          <a:spcPct val="107000"/>
                        </a:lnSpc>
                        <a:spcAft>
                          <a:spcPts val="0"/>
                        </a:spcAft>
                      </a:pPr>
                      <a:r>
                        <a:rPr lang="en-US" sz="1200" kern="0" smtClean="0">
                          <a:effectLst/>
                          <a:latin typeface="Times New Roman" panose="02020503050405090304" pitchFamily="18" charset="0"/>
                          <a:cs typeface="Times New Roman" panose="02020503050405090304" pitchFamily="18" charset="0"/>
                        </a:rPr>
                        <a:t>CO4</a:t>
                      </a:r>
                      <a:endParaRPr lang="en-US" sz="1200" kern="10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kern="1200" dirty="0" smtClean="0">
                          <a:solidFill>
                            <a:schemeClr val="dk1"/>
                          </a:solidFill>
                          <a:latin typeface="Times New Roman" panose="02020503050405090304" pitchFamily="18" charset="0"/>
                          <a:ea typeface="+mn-ea"/>
                          <a:cs typeface="Times New Roman" panose="02020503050405090304" pitchFamily="18" charset="0"/>
                        </a:rPr>
                        <a:t>Analyze the trade-offs between different system architectures, data storage solutions, and consistency models (like the CAP theorem) to select and justify optimized configurations for performance, cost, and reliability goals.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1368">
                <a:tc>
                  <a:txBody>
                    <a:bodyPr/>
                    <a:lstStyle/>
                    <a:p>
                      <a:pPr>
                        <a:lnSpc>
                          <a:spcPct val="107000"/>
                        </a:lnSpc>
                        <a:spcAft>
                          <a:spcPts val="0"/>
                        </a:spcAft>
                      </a:pPr>
                      <a:r>
                        <a:rPr lang="en-US" sz="1200" kern="0" smtClean="0">
                          <a:effectLst/>
                          <a:latin typeface="Times New Roman" panose="02020503050405090304" pitchFamily="18" charset="0"/>
                          <a:cs typeface="Times New Roman" panose="02020503050405090304" pitchFamily="18" charset="0"/>
                        </a:rPr>
                        <a:t>CO5</a:t>
                      </a:r>
                      <a:endParaRPr lang="en-US" sz="1200" kern="10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US" sz="1200" kern="1200" dirty="0" smtClean="0">
                          <a:solidFill>
                            <a:schemeClr val="dk1"/>
                          </a:solidFill>
                          <a:latin typeface="Times New Roman" panose="02020503050405090304" pitchFamily="18" charset="0"/>
                          <a:ea typeface="+mn-ea"/>
                          <a:cs typeface="Times New Roman" panose="02020503050405090304" pitchFamily="18" charset="0"/>
                        </a:rPr>
                        <a:t>Create and document comprehensive, end-to-end system designs that are inherently scalable, distributed, and fault-tolerant, leveraging modern paradigms such as cloud computing and </a:t>
                      </a:r>
                      <a:r>
                        <a:rPr lang="en-US" sz="1200" kern="1200" dirty="0" err="1" smtClean="0">
                          <a:solidFill>
                            <a:schemeClr val="dk1"/>
                          </a:solidFill>
                          <a:latin typeface="Times New Roman" panose="02020503050405090304" pitchFamily="18" charset="0"/>
                          <a:ea typeface="+mn-ea"/>
                          <a:cs typeface="Times New Roman" panose="02020503050405090304" pitchFamily="18" charset="0"/>
                        </a:rPr>
                        <a:t>microservices</a:t>
                      </a:r>
                      <a:r>
                        <a:rPr lang="en-US" sz="1200" kern="1200" dirty="0" smtClean="0">
                          <a:solidFill>
                            <a:schemeClr val="dk1"/>
                          </a:solidFill>
                          <a:latin typeface="Times New Roman" panose="02020503050405090304" pitchFamily="18" charset="0"/>
                          <a:ea typeface="+mn-ea"/>
                          <a:cs typeface="Times New Roman" panose="02020503050405090304" pitchFamily="18" charset="0"/>
                        </a:rPr>
                        <a:t> architecture.</a:t>
                      </a:r>
                      <a:endParaRPr lang="en-US" sz="1200" kern="100" dirty="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1" y="285671"/>
            <a:ext cx="7883525" cy="483394"/>
          </a:xfrm>
        </p:spPr>
        <p:txBody>
          <a:bodyPr rtlCol="0">
            <a:normAutofit/>
          </a:bodyPr>
          <a:lstStyle/>
          <a:p>
            <a:pPr algn="l" fontAlgn="auto">
              <a:spcAft>
                <a:spcPts val="0"/>
              </a:spcAft>
              <a:defRPr/>
            </a:pPr>
            <a:r>
              <a:rPr lang="en-IN" sz="2400" b="1" dirty="0">
                <a:latin typeface="Times New Roman" panose="02020503050405090304" pitchFamily="18" charset="0"/>
                <a:cs typeface="Times New Roman" panose="02020503050405090304" pitchFamily="18" charset="0"/>
              </a:rPr>
              <a:t>Unit-1 Syllabus</a:t>
            </a:r>
          </a:p>
        </p:txBody>
      </p:sp>
      <p:graphicFrame>
        <p:nvGraphicFramePr>
          <p:cNvPr id="7" name="Table 6"/>
          <p:cNvGraphicFramePr>
            <a:graphicFrameLocks noGrp="1"/>
          </p:cNvGraphicFramePr>
          <p:nvPr/>
        </p:nvGraphicFramePr>
        <p:xfrm>
          <a:off x="723900" y="1273969"/>
          <a:ext cx="7923530" cy="2432733"/>
        </p:xfrm>
        <a:graphic>
          <a:graphicData uri="http://schemas.openxmlformats.org/drawingml/2006/table">
            <a:tbl>
              <a:tblPr/>
              <a:tblGrid>
                <a:gridCol w="1850390"/>
                <a:gridCol w="6073140"/>
              </a:tblGrid>
              <a:tr h="297656">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just" defTabSz="685800" rtl="0" eaLnBrk="1" fontAlgn="base" latinLnBrk="0" hangingPunct="1">
                        <a:lnSpc>
                          <a:spcPct val="100000"/>
                        </a:lnSpc>
                        <a:spcBef>
                          <a:spcPct val="0"/>
                        </a:spcBef>
                        <a:spcAft>
                          <a:spcPct val="0"/>
                        </a:spcAft>
                        <a:buClrTx/>
                        <a:buSzTx/>
                        <a:buFontTx/>
                        <a:buNone/>
                      </a:pPr>
                      <a:r>
                        <a:rPr kumimoji="0" lang="en-IN" altLang="en-US" sz="1600" b="1" i="0" u="none" strike="noStrike" cap="none" normalizeH="0" baseline="0" dirty="0" smtClean="0">
                          <a:ln>
                            <a:noFill/>
                          </a:ln>
                          <a:solidFill>
                            <a:schemeClr val="tx1"/>
                          </a:solidFill>
                          <a:effectLst/>
                          <a:latin typeface="Times New Roman" panose="02020503050405090304" pitchFamily="18" charset="0"/>
                          <a:cs typeface="Times New Roman" panose="02020503050405090304" pitchFamily="18" charset="0"/>
                        </a:rPr>
                        <a:t>Unit-1</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27146" marR="27146" marT="20360" marB="203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just" defTabSz="685800" rtl="0" eaLnBrk="1" fontAlgn="base" latinLnBrk="0" hangingPunct="1">
                        <a:lnSpc>
                          <a:spcPct val="100000"/>
                        </a:lnSpc>
                        <a:spcBef>
                          <a:spcPct val="0"/>
                        </a:spcBef>
                        <a:spcAft>
                          <a:spcPct val="0"/>
                        </a:spcAft>
                        <a:buClrTx/>
                        <a:buSzTx/>
                        <a:buFontTx/>
                        <a:buNone/>
                      </a:pPr>
                      <a:r>
                        <a:rPr lang="en-US" sz="1600" kern="1200" dirty="0" smtClean="0">
                          <a:solidFill>
                            <a:schemeClr val="tx1"/>
                          </a:solidFill>
                          <a:latin typeface="Times New Roman" panose="02020503050405090304" pitchFamily="18" charset="0"/>
                          <a:ea typeface="+mn-ea"/>
                          <a:cs typeface="Times New Roman" panose="02020503050405090304" pitchFamily="18" charset="0"/>
                        </a:rPr>
                        <a:t>System Design </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27146" marR="27146" marT="20360" marB="203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829056">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l" defTabSz="685800" rtl="0" eaLnBrk="1" fontAlgn="base" latinLnBrk="0" hangingPunct="1">
                        <a:lnSpc>
                          <a:spcPct val="107000"/>
                        </a:lnSpc>
                        <a:spcBef>
                          <a:spcPct val="0"/>
                        </a:spcBef>
                        <a:spcAft>
                          <a:spcPts val="75"/>
                        </a:spcAft>
                        <a:buClrTx/>
                        <a:buSzTx/>
                        <a:buFontTx/>
                        <a:buNone/>
                      </a:pPr>
                      <a:r>
                        <a:rPr lang="en-US" sz="1600" kern="1200" dirty="0" smtClean="0">
                          <a:solidFill>
                            <a:schemeClr val="tx1"/>
                          </a:solidFill>
                          <a:latin typeface="Times New Roman" panose="02020503050405090304" pitchFamily="18" charset="0"/>
                          <a:ea typeface="+mn-ea"/>
                          <a:cs typeface="Times New Roman" panose="02020503050405090304" pitchFamily="18" charset="0"/>
                        </a:rPr>
                        <a:t>Introduction to System Design </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R="0" lvl="0" indent="0" algn="l" defTabSz="685800" rtl="0" eaLnBrk="1" fontAlgn="base" latinLnBrk="0" hangingPunct="1">
                        <a:lnSpc>
                          <a:spcPct val="107000"/>
                        </a:lnSpc>
                        <a:spcBef>
                          <a:spcPct val="0"/>
                        </a:spcBef>
                        <a:spcAft>
                          <a:spcPts val="0"/>
                        </a:spcAft>
                        <a:buClrTx/>
                        <a:buSzTx/>
                        <a:buFontTx/>
                        <a:buNone/>
                      </a:pPr>
                      <a:r>
                        <a:rPr lang="en-US" sz="1600" b="0" kern="1200" dirty="0" smtClean="0">
                          <a:solidFill>
                            <a:schemeClr val="tx1"/>
                          </a:solidFill>
                          <a:latin typeface="Times New Roman" panose="02020503050405090304" pitchFamily="18" charset="0"/>
                          <a:ea typeface="+mn-ea"/>
                          <a:cs typeface="Times New Roman" panose="02020503050405090304" pitchFamily="18" charset="0"/>
                        </a:rPr>
                        <a:t>Introduction to System Design</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Functional &amp; Non-Functional Requirements, Scaling Challenges, </a:t>
                      </a:r>
                      <a:r>
                        <a:rPr lang="en-US" sz="1600" b="0" kern="1200" dirty="0" smtClean="0">
                          <a:solidFill>
                            <a:schemeClr val="tx1"/>
                          </a:solidFill>
                          <a:latin typeface="Times New Roman" panose="02020503050405090304" pitchFamily="18" charset="0"/>
                          <a:ea typeface="+mn-ea"/>
                          <a:cs typeface="Times New Roman" panose="02020503050405090304" pitchFamily="18" charset="0"/>
                        </a:rPr>
                        <a:t>Load Balancing</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Caching Strategies, Replication,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Sharding.</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257062">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l" defTabSz="685800" rtl="0" eaLnBrk="1" fontAlgn="base" latinLnBrk="0" hangingPunct="1">
                        <a:lnSpc>
                          <a:spcPct val="107000"/>
                        </a:lnSpc>
                        <a:spcBef>
                          <a:spcPct val="0"/>
                        </a:spcBef>
                        <a:spcAft>
                          <a:spcPts val="75"/>
                        </a:spcAft>
                        <a:buClrTx/>
                        <a:buSzTx/>
                        <a:buFontTx/>
                        <a:buNone/>
                      </a:pPr>
                      <a:r>
                        <a:rPr lang="en-US" sz="1600" kern="1200" dirty="0" smtClean="0">
                          <a:solidFill>
                            <a:schemeClr val="tx1"/>
                          </a:solidFill>
                          <a:latin typeface="Times New Roman" panose="02020503050405090304" pitchFamily="18" charset="0"/>
                          <a:ea typeface="+mn-ea"/>
                          <a:cs typeface="Times New Roman" panose="02020503050405090304" pitchFamily="18" charset="0"/>
                        </a:rPr>
                        <a:t>Databases in System Design </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l" defTabSz="685800" rtl="0" eaLnBrk="1" fontAlgn="base" latinLnBrk="0" hangingPunct="1">
                        <a:lnSpc>
                          <a:spcPct val="107000"/>
                        </a:lnSpc>
                        <a:spcBef>
                          <a:spcPct val="0"/>
                        </a:spcBef>
                        <a:spcAft>
                          <a:spcPct val="0"/>
                        </a:spcAft>
                        <a:buClrTx/>
                        <a:buSzTx/>
                        <a:buFontTx/>
                        <a:buNone/>
                      </a:pPr>
                      <a:r>
                        <a:rPr lang="en-US" sz="1600" b="0" kern="1200" dirty="0" smtClean="0">
                          <a:solidFill>
                            <a:schemeClr val="tx1"/>
                          </a:solidFill>
                          <a:latin typeface="Times New Roman" panose="02020503050405090304" pitchFamily="18" charset="0"/>
                          <a:ea typeface="+mn-ea"/>
                          <a:cs typeface="Times New Roman" panose="02020503050405090304" pitchFamily="18" charset="0"/>
                        </a:rPr>
                        <a:t>Databases in System Design – SQL </a:t>
                      </a:r>
                      <a:r>
                        <a:rPr lang="en-US" sz="1600" b="0" kern="1200" dirty="0" err="1" smtClean="0">
                          <a:solidFill>
                            <a:schemeClr val="tx1"/>
                          </a:solidFill>
                          <a:latin typeface="Times New Roman" panose="02020503050405090304" pitchFamily="18" charset="0"/>
                          <a:ea typeface="+mn-ea"/>
                          <a:cs typeface="Times New Roman" panose="02020503050405090304" pitchFamily="18" charset="0"/>
                        </a:rPr>
                        <a:t>vs</a:t>
                      </a:r>
                      <a:r>
                        <a:rPr lang="en-US" sz="1600" b="0" kern="1200" dirty="0" smtClean="0">
                          <a:solidFill>
                            <a:schemeClr val="tx1"/>
                          </a:solidFill>
                          <a:latin typeface="Times New Roman" panose="02020503050405090304" pitchFamily="18" charset="0"/>
                          <a:ea typeface="+mn-ea"/>
                          <a:cs typeface="Times New Roman" panose="02020503050405090304" pitchFamily="18" charset="0"/>
                        </a:rPr>
                        <a:t> </a:t>
                      </a:r>
                      <a:r>
                        <a:rPr lang="en-US" sz="1600" b="0" kern="1200" dirty="0" err="1" smtClean="0">
                          <a:solidFill>
                            <a:schemeClr val="tx1"/>
                          </a:solidFill>
                          <a:latin typeface="Times New Roman" panose="02020503050405090304" pitchFamily="18" charset="0"/>
                          <a:ea typeface="+mn-ea"/>
                          <a:cs typeface="Times New Roman" panose="02020503050405090304" pitchFamily="18" charset="0"/>
                        </a:rPr>
                        <a:t>NoSQL</a:t>
                      </a:r>
                      <a:r>
                        <a:rPr lang="en-US" sz="1600" b="0" kern="1200" dirty="0" smtClean="0">
                          <a:solidFill>
                            <a:schemeClr val="tx1"/>
                          </a:solidFill>
                          <a:latin typeface="Times New Roman" panose="02020503050405090304" pitchFamily="18" charset="0"/>
                          <a:ea typeface="+mn-ea"/>
                          <a:cs typeface="Times New Roman" panose="02020503050405090304" pitchFamily="18" charset="0"/>
                        </a:rPr>
                        <a:t>, </a:t>
                      </a:r>
                      <a:r>
                        <a:rPr lang="en-US" sz="1600" b="1" kern="1200" dirty="0" smtClean="0">
                          <a:solidFill>
                            <a:srgbClr val="FF0000"/>
                          </a:solidFill>
                          <a:latin typeface="Times New Roman" panose="02020503050405090304" pitchFamily="18" charset="0"/>
                          <a:ea typeface="+mn-ea"/>
                          <a:cs typeface="Times New Roman" panose="02020503050405090304" pitchFamily="18" charset="0"/>
                        </a:rPr>
                        <a:t>CAP Theorem</a:t>
                      </a:r>
                      <a:r>
                        <a:rPr lang="en-US" sz="1600" b="0" kern="1200" dirty="0" smtClean="0">
                          <a:solidFill>
                            <a:schemeClr val="tx1"/>
                          </a:solidFill>
                          <a:latin typeface="Times New Roman" panose="02020503050405090304" pitchFamily="18" charset="0"/>
                          <a:ea typeface="+mn-ea"/>
                          <a:cs typeface="Times New Roman" panose="02020503050405090304" pitchFamily="18" charset="0"/>
                        </a:rPr>
                        <a:t>, Distributed Databases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Consistency Models, </a:t>
                      </a:r>
                      <a:r>
                        <a:rPr lang="en-US" sz="1600" b="0" kern="1200" dirty="0" smtClean="0">
                          <a:solidFill>
                            <a:schemeClr val="tx1"/>
                          </a:solidFill>
                          <a:latin typeface="Times New Roman" panose="02020503050405090304" pitchFamily="18" charset="0"/>
                          <a:ea typeface="+mn-ea"/>
                          <a:cs typeface="Times New Roman" panose="02020503050405090304" pitchFamily="18" charset="0"/>
                        </a:rPr>
                        <a:t>Eventual Consistency</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Distributed Caching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Redis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Memcached</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High Availability, Fault Tolerance,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Microservices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vs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Monolithic Architecture.</a:t>
                      </a:r>
                      <a:endParaRPr kumimoji="0" lang="en-US" altLang="en-US" sz="1600" b="0" i="0" u="none" strike="noStrike" cap="none" normalizeH="0" baseline="0" dirty="0" smtClean="0">
                        <a:ln>
                          <a:noFill/>
                        </a:ln>
                        <a:solidFill>
                          <a:schemeClr val="tx1"/>
                        </a:solidFill>
                        <a:effectLst/>
                        <a:latin typeface="Times New Roman" panose="02020503050405090304" pitchFamily="18"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838517" y="1200146"/>
            <a:ext cx="5187950" cy="3533147"/>
          </a:xfrm>
          <a:prstGeom prst="rect">
            <a:avLst/>
          </a:prstGeom>
        </p:spPr>
        <p:txBody>
          <a:bodyPr vert="horz" wrap="square" lIns="0" tIns="139065" rIns="0" bIns="0" rtlCol="0">
            <a:spAutoFit/>
          </a:bodyPr>
          <a:lstStyle/>
          <a:p>
            <a:pPr lvl="3" algn="just">
              <a:lnSpc>
                <a:spcPct val="150000"/>
              </a:lnSpc>
              <a:buFont typeface="Arial" pitchFamily="34" charset="0"/>
              <a:buChar char="•"/>
            </a:pPr>
            <a:r>
              <a:rPr lang="en-US" sz="1600" dirty="0">
                <a:solidFill>
                  <a:schemeClr val="tx1"/>
                </a:solidFill>
                <a:latin typeface="Times New Roman" panose="02020503050405090304" pitchFamily="18" charset="0"/>
                <a:cs typeface="Times New Roman" panose="02020503050405090304" pitchFamily="18" charset="0"/>
              </a:rPr>
              <a:t> </a:t>
            </a:r>
            <a:r>
              <a:rPr lang="en-US" sz="1600" dirty="0" smtClean="0">
                <a:solidFill>
                  <a:schemeClr val="tx1"/>
                </a:solidFill>
                <a:latin typeface="Times New Roman" pitchFamily="18" charset="0"/>
                <a:cs typeface="Times New Roman" pitchFamily="18" charset="0"/>
              </a:rPr>
              <a:t>CAP Theorem</a:t>
            </a:r>
            <a:endParaRPr lang="en-IN" sz="1600" dirty="0" smtClean="0">
              <a:solidFill>
                <a:schemeClr val="tx1"/>
              </a:solidFill>
              <a:latin typeface="Times New Roman" pitchFamily="18" charset="0"/>
              <a:cs typeface="Times New Roman" pitchFamily="18" charset="0"/>
            </a:endParaRPr>
          </a:p>
          <a:p>
            <a:pPr algn="just">
              <a:lnSpc>
                <a:spcPct val="150000"/>
              </a:lnSpc>
              <a:buFont typeface="Arial" pitchFamily="34" charset="0"/>
              <a:buChar char="•"/>
            </a:pPr>
            <a:r>
              <a:rPr lang="en-US" sz="1600" dirty="0" smtClean="0">
                <a:solidFill>
                  <a:schemeClr val="tx1"/>
                </a:solidFill>
                <a:latin typeface="Times New Roman" panose="02020503050405090304" pitchFamily="18" charset="0"/>
                <a:cs typeface="Times New Roman" panose="02020503050405090304" pitchFamily="18" charset="0"/>
              </a:rPr>
              <a:t> </a:t>
            </a:r>
            <a:r>
              <a:rPr lang="en-US" sz="1600" dirty="0" smtClean="0">
                <a:solidFill>
                  <a:schemeClr val="tx1"/>
                </a:solidFill>
                <a:latin typeface="Times New Roman" pitchFamily="18" charset="0"/>
                <a:ea typeface="Lato Bold" pitchFamily="34" charset="-122"/>
                <a:cs typeface="Times New Roman" pitchFamily="18" charset="0"/>
              </a:rPr>
              <a:t>CAP Theorem Components</a:t>
            </a:r>
            <a:endParaRPr lang="en-US" sz="1600" dirty="0" smtClean="0">
              <a:solidFill>
                <a:schemeClr val="tx1"/>
              </a:solidFill>
              <a:latin typeface="Times New Roman" pitchFamily="18" charset="0"/>
              <a:cs typeface="Times New Roman" pitchFamily="18" charset="0"/>
            </a:endParaRPr>
          </a:p>
          <a:p>
            <a:pPr algn="just">
              <a:buFont typeface="Arial" pitchFamily="34" charset="0"/>
              <a:buChar char="•"/>
              <a:defRPr/>
            </a:pPr>
            <a:r>
              <a:rPr lang="en-US" sz="1600" dirty="0" smtClean="0">
                <a:solidFill>
                  <a:schemeClr val="tx1"/>
                </a:solidFill>
                <a:latin typeface="Times New Roman" pitchFamily="18" charset="0"/>
                <a:cs typeface="Times New Roman" pitchFamily="18" charset="0"/>
              </a:rPr>
              <a:t> </a:t>
            </a:r>
            <a:r>
              <a:rPr lang="en-US" sz="1600" dirty="0">
                <a:solidFill>
                  <a:schemeClr val="tx1"/>
                </a:solidFill>
                <a:latin typeface="Times New Roman" pitchFamily="18" charset="0"/>
                <a:ea typeface="Lato Bold" pitchFamily="34" charset="-122"/>
                <a:cs typeface="Times New Roman" pitchFamily="18" charset="0"/>
              </a:rPr>
              <a:t>Availability</a:t>
            </a:r>
            <a:endParaRPr lang="en-US" sz="1600" dirty="0">
              <a:solidFill>
                <a:schemeClr val="tx1"/>
              </a:solidFill>
              <a:latin typeface="Times New Roman" pitchFamily="18" charset="0"/>
              <a:cs typeface="Times New Roman" pitchFamily="18" charset="0"/>
            </a:endParaRPr>
          </a:p>
          <a:p>
            <a:pPr algn="just">
              <a:buFont typeface="Arial" pitchFamily="34" charset="0"/>
              <a:buChar char="•"/>
              <a:defRPr/>
            </a:pPr>
            <a:r>
              <a:rPr lang="en-US" sz="1600" dirty="0" smtClean="0">
                <a:solidFill>
                  <a:schemeClr val="tx1"/>
                </a:solidFill>
                <a:latin typeface="Times New Roman" pitchFamily="18" charset="0"/>
                <a:ea typeface="Lato Bold" pitchFamily="34" charset="-122"/>
                <a:cs typeface="Times New Roman" pitchFamily="18" charset="0"/>
              </a:rPr>
              <a:t> Partition </a:t>
            </a:r>
            <a:r>
              <a:rPr lang="en-US" sz="1600" dirty="0">
                <a:solidFill>
                  <a:schemeClr val="tx1"/>
                </a:solidFill>
                <a:latin typeface="Times New Roman" pitchFamily="18" charset="0"/>
                <a:ea typeface="Lato Bold" pitchFamily="34" charset="-122"/>
                <a:cs typeface="Times New Roman" pitchFamily="18" charset="0"/>
              </a:rPr>
              <a:t>Tolerance</a:t>
            </a:r>
            <a:endParaRPr lang="en-US" sz="1600" dirty="0">
              <a:solidFill>
                <a:schemeClr val="tx1"/>
              </a:solidFill>
              <a:latin typeface="Times New Roman" pitchFamily="18" charset="0"/>
              <a:cs typeface="Times New Roman" pitchFamily="18" charset="0"/>
            </a:endParaRPr>
          </a:p>
          <a:p>
            <a:pPr algn="just">
              <a:lnSpc>
                <a:spcPct val="150000"/>
              </a:lnSpc>
              <a:buFont typeface="Arial" pitchFamily="34" charset="0"/>
              <a:buChar char="•"/>
            </a:pPr>
            <a:r>
              <a:rPr lang="en-US" sz="1600" dirty="0" smtClean="0">
                <a:solidFill>
                  <a:schemeClr val="tx1"/>
                </a:solidFill>
                <a:latin typeface="Times New Roman" pitchFamily="18" charset="0"/>
                <a:cs typeface="Times New Roman" pitchFamily="18" charset="0"/>
              </a:rPr>
              <a:t> </a:t>
            </a:r>
            <a:r>
              <a:rPr lang="en-US" sz="1600" dirty="0" smtClean="0">
                <a:solidFill>
                  <a:schemeClr val="tx1"/>
                </a:solidFill>
                <a:latin typeface="Times New Roman" pitchFamily="18" charset="0"/>
                <a:ea typeface="Lato Bold" pitchFamily="34" charset="-122"/>
                <a:cs typeface="Times New Roman" pitchFamily="18" charset="0"/>
              </a:rPr>
              <a:t>Key-Value Stores</a:t>
            </a:r>
          </a:p>
          <a:p>
            <a:pPr algn="just">
              <a:lnSpc>
                <a:spcPct val="150000"/>
              </a:lnSpc>
              <a:buFont typeface="Arial" pitchFamily="34" charset="0"/>
              <a:buChar char="•"/>
            </a:pPr>
            <a:r>
              <a:rPr lang="en-US" sz="1600" dirty="0" smtClean="0">
                <a:solidFill>
                  <a:schemeClr val="tx1"/>
                </a:solidFill>
                <a:latin typeface="Times New Roman" pitchFamily="18" charset="0"/>
                <a:ea typeface="Lato Bold" pitchFamily="34" charset="-122"/>
                <a:cs typeface="Times New Roman" pitchFamily="18" charset="0"/>
              </a:rPr>
              <a:t> CAP Trade-Offs</a:t>
            </a:r>
          </a:p>
          <a:p>
            <a:pPr algn="just">
              <a:lnSpc>
                <a:spcPct val="150000"/>
              </a:lnSpc>
              <a:buFont typeface="Arial" pitchFamily="34" charset="0"/>
              <a:buChar char="•"/>
            </a:pPr>
            <a:r>
              <a:rPr lang="en-US" sz="1600" dirty="0" smtClean="0">
                <a:solidFill>
                  <a:schemeClr val="tx1"/>
                </a:solidFill>
                <a:latin typeface="Times New Roman" pitchFamily="18" charset="0"/>
                <a:ea typeface="Lato Bold" pitchFamily="34" charset="-122"/>
                <a:cs typeface="Times New Roman" pitchFamily="18" charset="0"/>
              </a:rPr>
              <a:t> CA Systems: Consistency + Availability</a:t>
            </a:r>
            <a:endParaRPr lang="en-US" sz="1600" dirty="0" smtClean="0">
              <a:solidFill>
                <a:schemeClr val="tx1"/>
              </a:solidFill>
              <a:latin typeface="Times New Roman" pitchFamily="18" charset="0"/>
              <a:cs typeface="Times New Roman" pitchFamily="18" charset="0"/>
            </a:endParaRPr>
          </a:p>
          <a:p>
            <a:pPr algn="just">
              <a:lnSpc>
                <a:spcPct val="150000"/>
              </a:lnSpc>
              <a:buFont typeface="Arial" pitchFamily="34" charset="0"/>
              <a:buChar char="•"/>
            </a:pPr>
            <a:r>
              <a:rPr lang="en-US" sz="1600" dirty="0" smtClean="0">
                <a:solidFill>
                  <a:schemeClr val="tx1"/>
                </a:solidFill>
                <a:latin typeface="Times New Roman" pitchFamily="18" charset="0"/>
                <a:ea typeface="Lato Bold" pitchFamily="34" charset="-122"/>
                <a:cs typeface="Times New Roman" pitchFamily="18" charset="0"/>
              </a:rPr>
              <a:t> CP Systems: Consistency + Partition Tolerance</a:t>
            </a:r>
          </a:p>
          <a:p>
            <a:pPr algn="just">
              <a:lnSpc>
                <a:spcPct val="150000"/>
              </a:lnSpc>
              <a:buFont typeface="Arial" pitchFamily="34" charset="0"/>
              <a:buChar char="•"/>
            </a:pPr>
            <a:r>
              <a:rPr lang="en-US" sz="1600" dirty="0" smtClean="0">
                <a:solidFill>
                  <a:schemeClr val="tx1"/>
                </a:solidFill>
                <a:latin typeface="Times New Roman" pitchFamily="18" charset="0"/>
                <a:ea typeface="Lato Bold" pitchFamily="34" charset="-122"/>
                <a:cs typeface="Times New Roman" pitchFamily="18" charset="0"/>
              </a:rPr>
              <a:t> AP Systems: Availability + Partition Tolerance</a:t>
            </a:r>
            <a:endParaRPr lang="en-US" sz="1600" dirty="0" smtClean="0">
              <a:solidFill>
                <a:schemeClr val="tx1"/>
              </a:solidFill>
              <a:latin typeface="Times New Roman" pitchFamily="18" charset="0"/>
              <a:cs typeface="Times New Roman" pitchFamily="18" charset="0"/>
            </a:endParaRPr>
          </a:p>
          <a:p>
            <a:pPr algn="just">
              <a:lnSpc>
                <a:spcPct val="150000"/>
              </a:lnSpc>
              <a:buFont typeface="Arial" pitchFamily="34" charset="0"/>
              <a:buChar char="•"/>
            </a:pPr>
            <a:endParaRPr sz="1550" dirty="0">
              <a:solidFill>
                <a:schemeClr val="tx1"/>
              </a:solidFill>
              <a:latin typeface="Times New Roman" panose="02020503050405090304" pitchFamily="18" charset="0"/>
              <a:cs typeface="Times New Roman" panose="02020503050405090304" pitchFamily="18" charset="0"/>
            </a:endParaRPr>
          </a:p>
        </p:txBody>
      </p:sp>
      <p:sp>
        <p:nvSpPr>
          <p:cNvPr id="5"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dirty="0">
                <a:latin typeface="Times New Roman" panose="02020503050405090304" pitchFamily="18" charset="0"/>
                <a:cs typeface="Times New Roman" panose="02020503050405090304" pitchFamily="18" charset="0"/>
                <a:sym typeface="+mn-ea"/>
              </a:rPr>
              <a:t>Topic to</a:t>
            </a:r>
            <a:r>
              <a:rPr sz="2400" spc="-60" dirty="0">
                <a:latin typeface="Times New Roman" panose="02020503050405090304" pitchFamily="18" charset="0"/>
                <a:cs typeface="Times New Roman" panose="02020503050405090304" pitchFamily="18" charset="0"/>
                <a:sym typeface="+mn-ea"/>
              </a:rPr>
              <a:t> </a:t>
            </a:r>
            <a:r>
              <a:rPr sz="2400" dirty="0">
                <a:latin typeface="Times New Roman" panose="02020503050405090304" pitchFamily="18" charset="0"/>
                <a:cs typeface="Times New Roman" panose="02020503050405090304" pitchFamily="18" charset="0"/>
                <a:sym typeface="+mn-ea"/>
              </a:rPr>
              <a:t>be</a:t>
            </a:r>
            <a:r>
              <a:rPr sz="2400" spc="25" dirty="0">
                <a:latin typeface="Times New Roman" panose="02020503050405090304" pitchFamily="18" charset="0"/>
                <a:cs typeface="Times New Roman" panose="02020503050405090304" pitchFamily="18" charset="0"/>
                <a:sym typeface="+mn-ea"/>
              </a:rPr>
              <a:t> </a:t>
            </a:r>
            <a:r>
              <a:rPr sz="2400" spc="-10" dirty="0">
                <a:latin typeface="Times New Roman" panose="02020503050405090304" pitchFamily="18" charset="0"/>
                <a:cs typeface="Times New Roman" panose="02020503050405090304" pitchFamily="18" charset="0"/>
                <a:sym typeface="+mn-ea"/>
              </a:rPr>
              <a:t>Covered</a:t>
            </a:r>
            <a:endParaRPr lang="en-US" altLang="en-IN" sz="2400" b="1"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1" y="1123951"/>
            <a:ext cx="7883525" cy="1448435"/>
          </a:xfrm>
          <a:prstGeom prst="rect">
            <a:avLst/>
          </a:prstGeom>
        </p:spPr>
        <p:txBody>
          <a:bodyPr vert="horz" wrap="square" lIns="0" tIns="9525" rIns="0" bIns="0" rtlCol="0">
            <a:noAutofit/>
          </a:bodyPr>
          <a:lstStyle/>
          <a:p>
            <a:pPr algn="just">
              <a:lnSpc>
                <a:spcPct val="150000"/>
              </a:lnSpc>
            </a:pPr>
            <a:r>
              <a:rPr lang="en-US" sz="1600" dirty="0">
                <a:latin typeface="Times New Roman" panose="02020503050405090304" pitchFamily="18" charset="0"/>
                <a:cs typeface="Times New Roman" panose="02020503050405090304" pitchFamily="18" charset="0"/>
              </a:rPr>
              <a:t>In a distributed data store, you can only guarantee </a:t>
            </a:r>
            <a:r>
              <a:rPr lang="en-US" sz="1600" b="1" dirty="0">
                <a:latin typeface="Times New Roman" panose="02020503050405090304" pitchFamily="18" charset="0"/>
                <a:cs typeface="Times New Roman" panose="02020503050405090304" pitchFamily="18" charset="0"/>
              </a:rPr>
              <a:t>two</a:t>
            </a:r>
            <a:r>
              <a:rPr lang="en-US" sz="1600" dirty="0">
                <a:latin typeface="Times New Roman" panose="02020503050405090304" pitchFamily="18" charset="0"/>
                <a:cs typeface="Times New Roman" panose="02020503050405090304" pitchFamily="18" charset="0"/>
              </a:rPr>
              <a:t> of the following three:</a:t>
            </a:r>
          </a:p>
          <a:p>
            <a:pPr algn="just">
              <a:lnSpc>
                <a:spcPct val="150000"/>
              </a:lnSpc>
            </a:pPr>
            <a:r>
              <a:rPr lang="en-US" sz="1600" b="1" i="1" dirty="0">
                <a:solidFill>
                  <a:srgbClr val="FF0000"/>
                </a:solidFill>
                <a:latin typeface="Times New Roman Bold Italic" panose="02020503050405090304" charset="0"/>
                <a:cs typeface="Times New Roman Bold Italic" panose="02020503050405090304" charset="0"/>
              </a:rPr>
              <a:t> C</a:t>
            </a:r>
            <a:r>
              <a:rPr lang="en-US" sz="1600" i="1" dirty="0">
                <a:solidFill>
                  <a:srgbClr val="FF0000"/>
                </a:solidFill>
                <a:latin typeface="Times New Roman Italic" panose="02020503050405090304" charset="0"/>
                <a:cs typeface="Times New Roman Italic" panose="02020503050405090304" charset="0"/>
              </a:rPr>
              <a:t>onsistency:</a:t>
            </a:r>
            <a:r>
              <a:rPr lang="en-US" sz="1600" dirty="0">
                <a:latin typeface="Times New Roman" panose="02020503050405090304" pitchFamily="18" charset="0"/>
                <a:cs typeface="Times New Roman" panose="02020503050405090304" pitchFamily="18" charset="0"/>
              </a:rPr>
              <a:t> Every read receives the most recent write.</a:t>
            </a:r>
          </a:p>
          <a:p>
            <a:pPr algn="just">
              <a:lnSpc>
                <a:spcPct val="150000"/>
              </a:lnSpc>
            </a:pPr>
            <a:r>
              <a:rPr lang="en-US" sz="1600" b="1" i="1" dirty="0">
                <a:solidFill>
                  <a:srgbClr val="FF0000"/>
                </a:solidFill>
                <a:latin typeface="Times New Roman Bold Italic" panose="02020503050405090304" charset="0"/>
                <a:cs typeface="Times New Roman Bold Italic" panose="02020503050405090304" charset="0"/>
              </a:rPr>
              <a:t> A</a:t>
            </a:r>
            <a:r>
              <a:rPr lang="en-US" sz="1600" i="1" dirty="0">
                <a:solidFill>
                  <a:srgbClr val="FF0000"/>
                </a:solidFill>
                <a:latin typeface="Times New Roman Italic" panose="02020503050405090304" charset="0"/>
                <a:cs typeface="Times New Roman Italic" panose="02020503050405090304" charset="0"/>
              </a:rPr>
              <a:t>vailability:</a:t>
            </a:r>
            <a:r>
              <a:rPr lang="en-US" sz="1600" dirty="0">
                <a:latin typeface="Times New Roman" panose="02020503050405090304" pitchFamily="18" charset="0"/>
                <a:cs typeface="Times New Roman" panose="02020503050405090304" pitchFamily="18" charset="0"/>
              </a:rPr>
              <a:t> Every request receives a response (even if data is stale).</a:t>
            </a:r>
          </a:p>
          <a:p>
            <a:pPr algn="just">
              <a:lnSpc>
                <a:spcPct val="150000"/>
              </a:lnSpc>
            </a:pPr>
            <a:r>
              <a:rPr lang="en-US" sz="1600" b="1" i="1" dirty="0">
                <a:solidFill>
                  <a:srgbClr val="FF0000"/>
                </a:solidFill>
                <a:latin typeface="Times New Roman Bold Italic" panose="02020503050405090304" charset="0"/>
                <a:cs typeface="Times New Roman Bold Italic" panose="02020503050405090304" charset="0"/>
              </a:rPr>
              <a:t> P</a:t>
            </a:r>
            <a:r>
              <a:rPr lang="en-US" sz="1600" i="1" dirty="0">
                <a:solidFill>
                  <a:srgbClr val="FF0000"/>
                </a:solidFill>
                <a:latin typeface="Times New Roman Italic" panose="02020503050405090304" charset="0"/>
                <a:cs typeface="Times New Roman Italic" panose="02020503050405090304" charset="0"/>
              </a:rPr>
              <a:t>artition Tolerance</a:t>
            </a:r>
            <a:r>
              <a:rPr lang="en-US" sz="1600" b="1" i="1" dirty="0">
                <a:solidFill>
                  <a:srgbClr val="FF0000"/>
                </a:solidFill>
                <a:latin typeface="Times New Roman Bold Italic" panose="02020503050405090304" charset="0"/>
                <a:cs typeface="Times New Roman Bold Italic" panose="02020503050405090304" charset="0"/>
              </a:rPr>
              <a:t>:</a:t>
            </a:r>
            <a:r>
              <a:rPr lang="en-US" sz="1600" dirty="0">
                <a:latin typeface="Times New Roman" panose="02020503050405090304" pitchFamily="18" charset="0"/>
                <a:cs typeface="Times New Roman" panose="02020503050405090304" pitchFamily="18" charset="0"/>
              </a:rPr>
              <a:t> The system works despite network failures.</a:t>
            </a:r>
          </a:p>
        </p:txBody>
      </p:sp>
      <p:pic>
        <p:nvPicPr>
          <p:cNvPr id="19458" name="Picture 2" descr="Venn diagram illustrating the CAP theorem trade-offs"/>
          <p:cNvPicPr>
            <a:picLocks noChangeAspect="1" noChangeArrowheads="1"/>
          </p:cNvPicPr>
          <p:nvPr/>
        </p:nvPicPr>
        <p:blipFill>
          <a:blip r:embed="rId2" cstate="print"/>
          <a:srcRect/>
          <a:stretch>
            <a:fillRect/>
          </a:stretch>
        </p:blipFill>
        <p:spPr bwMode="auto">
          <a:xfrm>
            <a:off x="2819400" y="2647950"/>
            <a:ext cx="3352800" cy="2286000"/>
          </a:xfrm>
          <a:prstGeom prst="rect">
            <a:avLst/>
          </a:prstGeom>
          <a:noFill/>
        </p:spPr>
      </p:pic>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fontAlgn="base"/>
            <a:r>
              <a:rPr lang="en-US" sz="2400" dirty="0" smtClean="0">
                <a:latin typeface="Times New Roman" pitchFamily="18" charset="0"/>
                <a:cs typeface="Times New Roman" pitchFamily="18" charset="0"/>
              </a:rPr>
              <a:t>Eventual Consistency in CAP Theorem</a:t>
            </a:r>
            <a:endParaRPr lang="en-US" sz="24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4977" y="89852"/>
            <a:ext cx="8234044" cy="734752"/>
          </a:xfrm>
          <a:prstGeom prst="rect">
            <a:avLst/>
          </a:prstGeom>
        </p:spPr>
        <p:txBody>
          <a:bodyPr vert="horz" wrap="square" lIns="0" tIns="189483" rIns="0" bIns="0" rtlCol="0">
            <a:spAutoFit/>
          </a:bodyPr>
          <a:lstStyle/>
          <a:p>
            <a:pPr marL="0" indent="0">
              <a:lnSpc>
                <a:spcPts val="4850"/>
              </a:lnSpc>
            </a:pPr>
            <a:r>
              <a:rPr lang="en-US" sz="2400" dirty="0" smtClean="0">
                <a:solidFill>
                  <a:srgbClr val="282824"/>
                </a:solidFill>
                <a:latin typeface="Times New Roman" pitchFamily="18" charset="0"/>
                <a:ea typeface="Lato Bold" pitchFamily="34" charset="-122"/>
                <a:cs typeface="Times New Roman" pitchFamily="18" charset="0"/>
              </a:rPr>
              <a:t>    CAP Theorem Components </a:t>
            </a:r>
            <a:endParaRPr lang="en-US" sz="2400" dirty="0">
              <a:latin typeface="Times New Roman" pitchFamily="18" charset="0"/>
              <a:cs typeface="Times New Roman" pitchFamily="18" charset="0"/>
            </a:endParaRPr>
          </a:p>
        </p:txBody>
      </p:sp>
      <p:sp>
        <p:nvSpPr>
          <p:cNvPr id="3" name="object 3"/>
          <p:cNvSpPr txBox="1"/>
          <p:nvPr/>
        </p:nvSpPr>
        <p:spPr>
          <a:xfrm>
            <a:off x="8697214" y="109791"/>
            <a:ext cx="126364" cy="243204"/>
          </a:xfrm>
          <a:prstGeom prst="rect">
            <a:avLst/>
          </a:prstGeom>
        </p:spPr>
        <p:txBody>
          <a:bodyPr vert="horz" wrap="square" lIns="0" tIns="15875" rIns="0" bIns="0" rtlCol="0">
            <a:spAutoFit/>
          </a:bodyPr>
          <a:lstStyle/>
          <a:p>
            <a:pPr marL="12700">
              <a:lnSpc>
                <a:spcPct val="100000"/>
              </a:lnSpc>
              <a:spcBef>
                <a:spcPts val="125"/>
              </a:spcBef>
            </a:pPr>
            <a:r>
              <a:rPr sz="1400" spc="-50" dirty="0">
                <a:latin typeface="Arial MT"/>
                <a:cs typeface="Arial MT"/>
              </a:rPr>
              <a:t>9</a:t>
            </a:r>
            <a:endParaRPr sz="1400">
              <a:latin typeface="Arial MT"/>
              <a:cs typeface="Arial MT"/>
            </a:endParaRPr>
          </a:p>
        </p:txBody>
      </p:sp>
      <p:sp>
        <p:nvSpPr>
          <p:cNvPr id="4" name="object 4"/>
          <p:cNvSpPr txBox="1"/>
          <p:nvPr/>
        </p:nvSpPr>
        <p:spPr>
          <a:xfrm>
            <a:off x="1065847" y="1173416"/>
            <a:ext cx="7392353" cy="2612895"/>
          </a:xfrm>
          <a:prstGeom prst="rect">
            <a:avLst/>
          </a:prstGeom>
        </p:spPr>
        <p:txBody>
          <a:bodyPr vert="horz" wrap="square" lIns="0" tIns="9525" rIns="0" bIns="0" rtlCol="0">
            <a:spAutoFit/>
          </a:bodyPr>
          <a:lstStyle/>
          <a:p>
            <a:pPr algn="just">
              <a:lnSpc>
                <a:spcPts val="2900"/>
              </a:lnSpc>
              <a:buFont typeface="Arial" pitchFamily="34" charset="0"/>
              <a:buChar char="•"/>
            </a:pPr>
            <a:r>
              <a:rPr lang="en-US" sz="1600" b="1" dirty="0" smtClean="0">
                <a:solidFill>
                  <a:schemeClr val="tx1"/>
                </a:solidFill>
                <a:latin typeface="Times New Roman" pitchFamily="18" charset="0"/>
                <a:ea typeface="Lato Bold" pitchFamily="34" charset="-122"/>
                <a:cs typeface="Times New Roman" pitchFamily="18" charset="0"/>
              </a:rPr>
              <a:t> Consistency </a:t>
            </a:r>
            <a:r>
              <a:rPr lang="en-US" sz="1600" b="1" dirty="0" smtClean="0">
                <a:solidFill>
                  <a:schemeClr val="tx1"/>
                </a:solidFill>
                <a:latin typeface="Times New Roman" pitchFamily="18" charset="0"/>
                <a:ea typeface="Lato" pitchFamily="34" charset="-122"/>
                <a:cs typeface="Times New Roman" pitchFamily="18" charset="0"/>
              </a:rPr>
              <a:t>: </a:t>
            </a:r>
            <a:r>
              <a:rPr lang="en-US" sz="1600" dirty="0" smtClean="0">
                <a:solidFill>
                  <a:schemeClr val="tx1"/>
                </a:solidFill>
                <a:latin typeface="Times New Roman" pitchFamily="18" charset="0"/>
                <a:ea typeface="Lato" pitchFamily="34" charset="-122"/>
                <a:cs typeface="Times New Roman" pitchFamily="18" charset="0"/>
              </a:rPr>
              <a:t>Every read receives the most recent write or an error. All nodes in the system see the same data at the same time. When a write occurs, all subsequent reads must reflect that write across all nodes.</a:t>
            </a:r>
          </a:p>
          <a:p>
            <a:pPr algn="just">
              <a:lnSpc>
                <a:spcPts val="2900"/>
              </a:lnSpc>
              <a:buFont typeface="Arial" pitchFamily="34" charset="0"/>
              <a:buChar char="•"/>
            </a:pPr>
            <a:endParaRPr lang="en-US" sz="1600" dirty="0" smtClean="0">
              <a:solidFill>
                <a:schemeClr val="tx1"/>
              </a:solidFill>
              <a:latin typeface="Times New Roman" pitchFamily="18" charset="0"/>
              <a:cs typeface="Times New Roman" pitchFamily="18" charset="0"/>
            </a:endParaRPr>
          </a:p>
          <a:p>
            <a:pPr algn="just">
              <a:lnSpc>
                <a:spcPts val="2900"/>
              </a:lnSpc>
              <a:buFont typeface="Arial" pitchFamily="34" charset="0"/>
              <a:buChar char="•"/>
            </a:pPr>
            <a:r>
              <a:rPr lang="en-US" sz="1600" b="1" dirty="0" smtClean="0">
                <a:solidFill>
                  <a:schemeClr val="tx1"/>
                </a:solidFill>
                <a:latin typeface="Times New Roman" pitchFamily="18" charset="0"/>
                <a:ea typeface="Lato" pitchFamily="34" charset="-122"/>
                <a:cs typeface="Times New Roman" pitchFamily="18" charset="0"/>
              </a:rPr>
              <a:t> Real-world example:</a:t>
            </a:r>
            <a:r>
              <a:rPr lang="en-US" sz="1600" dirty="0" smtClean="0">
                <a:solidFill>
                  <a:schemeClr val="tx1"/>
                </a:solidFill>
                <a:latin typeface="Times New Roman" pitchFamily="18" charset="0"/>
                <a:ea typeface="Lato" pitchFamily="34" charset="-122"/>
                <a:cs typeface="Times New Roman" pitchFamily="18" charset="0"/>
              </a:rPr>
              <a:t> In a banking system, if you transfer ₹10,000, all ATMs must immediately show the updated balance—no delays or inconsistencies allowed.</a:t>
            </a:r>
            <a:endParaRPr lang="en-US" sz="1600" dirty="0" smtClean="0">
              <a:solidFill>
                <a:schemeClr val="tx1"/>
              </a:solidFill>
              <a:latin typeface="Times New Roman" pitchFamily="18" charset="0"/>
              <a:cs typeface="Times New Roman" pitchFamily="18" charset="0"/>
            </a:endParaRPr>
          </a:p>
          <a:p>
            <a:pPr marL="0" indent="0" algn="just">
              <a:lnSpc>
                <a:spcPts val="2900"/>
              </a:lnSpc>
              <a:buFont typeface="Arial" pitchFamily="34" charset="0"/>
              <a:buChar char="•"/>
            </a:pPr>
            <a:endParaRPr lang="en-US" sz="1600" dirty="0">
              <a:solidFill>
                <a:schemeClr val="tx1"/>
              </a:solidFill>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883525" cy="3048000"/>
          </a:xfrm>
          <a:prstGeom prst="rect">
            <a:avLst/>
          </a:prstGeom>
        </p:spPr>
        <p:txBody>
          <a:bodyPr vert="horz" wrap="square" lIns="0" tIns="9525" rIns="0" bIns="0" rtlCol="0">
            <a:noAutofit/>
          </a:bodyPr>
          <a:lstStyle/>
          <a:p>
            <a:pPr marL="0" indent="0" algn="just">
              <a:lnSpc>
                <a:spcPts val="2500"/>
              </a:lnSpc>
              <a:buFont typeface="Arial" pitchFamily="34" charset="0"/>
              <a:buChar char="•"/>
            </a:pPr>
            <a:r>
              <a:rPr lang="en-US" sz="1600" dirty="0" smtClean="0">
                <a:solidFill>
                  <a:schemeClr val="tx1"/>
                </a:solidFill>
                <a:latin typeface="Times New Roman" pitchFamily="18" charset="0"/>
                <a:ea typeface="Lato" pitchFamily="34" charset="-122"/>
                <a:cs typeface="Times New Roman" pitchFamily="18" charset="0"/>
              </a:rPr>
              <a:t> Every request receives a response, regardless of the state of any individual node. The system remains operational even if some nodes fail. Non-failing nodes must return reasonable responses within acceptable time.</a:t>
            </a:r>
          </a:p>
          <a:p>
            <a:pPr marL="0" indent="0" algn="just">
              <a:lnSpc>
                <a:spcPts val="2500"/>
              </a:lnSpc>
              <a:buFont typeface="Arial" pitchFamily="34" charset="0"/>
              <a:buChar char="•"/>
            </a:pPr>
            <a:endParaRPr lang="en-US" sz="1600" dirty="0">
              <a:solidFill>
                <a:schemeClr val="tx1"/>
              </a:solidFill>
              <a:latin typeface="Times New Roman" pitchFamily="18" charset="0"/>
              <a:ea typeface="Lato" pitchFamily="34" charset="-122"/>
              <a:cs typeface="Times New Roman" pitchFamily="18" charset="0"/>
            </a:endParaRPr>
          </a:p>
          <a:p>
            <a:pPr algn="just">
              <a:lnSpc>
                <a:spcPts val="2500"/>
              </a:lnSpc>
              <a:buFont typeface="Arial" pitchFamily="34" charset="0"/>
              <a:buChar char="•"/>
            </a:pPr>
            <a:r>
              <a:rPr lang="en-US" sz="1600" b="1" dirty="0" smtClean="0">
                <a:solidFill>
                  <a:schemeClr val="tx1"/>
                </a:solidFill>
                <a:latin typeface="Times New Roman" pitchFamily="18" charset="0"/>
                <a:ea typeface="Lato" pitchFamily="34" charset="-122"/>
                <a:cs typeface="Times New Roman" pitchFamily="18" charset="0"/>
              </a:rPr>
              <a:t> Real-world example:</a:t>
            </a:r>
            <a:r>
              <a:rPr lang="en-US" sz="1600" dirty="0" smtClean="0">
                <a:solidFill>
                  <a:schemeClr val="tx1"/>
                </a:solidFill>
                <a:latin typeface="Times New Roman" pitchFamily="18" charset="0"/>
                <a:ea typeface="Lato" pitchFamily="34" charset="-122"/>
                <a:cs typeface="Times New Roman" pitchFamily="18" charset="0"/>
              </a:rPr>
              <a:t> An e-commerce website remains accessible during peak sales, even if some backend servers are experiencing issues—customers can always browse and purchase.</a:t>
            </a:r>
            <a:endParaRPr lang="en-US" sz="1600" dirty="0" smtClean="0">
              <a:solidFill>
                <a:schemeClr val="tx1"/>
              </a:solidFill>
              <a:latin typeface="Times New Roman" pitchFamily="18" charset="0"/>
              <a:cs typeface="Times New Roman" pitchFamily="18" charset="0"/>
            </a:endParaRPr>
          </a:p>
          <a:p>
            <a:pPr marL="0" indent="0" algn="just">
              <a:lnSpc>
                <a:spcPts val="2500"/>
              </a:lnSpc>
              <a:buFont typeface="Arial" pitchFamily="34" charset="0"/>
              <a:buChar char="•"/>
            </a:pPr>
            <a:endParaRPr lang="en-US" sz="1600" dirty="0" smtClean="0">
              <a:solidFill>
                <a:schemeClr val="tx1"/>
              </a:solidFill>
              <a:latin typeface="Times New Roman" pitchFamily="18" charset="0"/>
              <a:ea typeface="Lato" pitchFamily="34" charset="-122"/>
              <a:cs typeface="Times New Roman" pitchFamily="18" charset="0"/>
            </a:endParaRPr>
          </a:p>
          <a:p>
            <a:pPr marL="0" indent="0" algn="just">
              <a:lnSpc>
                <a:spcPts val="2500"/>
              </a:lnSpc>
              <a:buFont typeface="Arial" pitchFamily="34" charset="0"/>
              <a:buChar char="•"/>
            </a:pPr>
            <a:endParaRPr lang="en-US" sz="1600" dirty="0">
              <a:solidFill>
                <a:schemeClr val="tx1"/>
              </a:solidFill>
              <a:latin typeface="Times New Roman" pitchFamily="18" charset="0"/>
              <a:cs typeface="Times New Roman" pitchFamily="18" charset="0"/>
            </a:endParaRPr>
          </a:p>
          <a:p>
            <a:pPr marL="0" indent="0" algn="just">
              <a:lnSpc>
                <a:spcPts val="2500"/>
              </a:lnSpc>
              <a:buFont typeface="Arial" pitchFamily="34" charset="0"/>
              <a:buChar char="•"/>
            </a:pPr>
            <a:endParaRPr lang="en-US" sz="1600" dirty="0">
              <a:solidFill>
                <a:schemeClr val="tx1"/>
              </a:solidFill>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marL="0" indent="0" algn="l">
              <a:lnSpc>
                <a:spcPts val="2900"/>
              </a:lnSpc>
              <a:buNone/>
            </a:pPr>
            <a:r>
              <a:rPr lang="en-US" sz="2400" dirty="0" smtClean="0">
                <a:solidFill>
                  <a:srgbClr val="4A4A45"/>
                </a:solidFill>
                <a:latin typeface="Times New Roman" pitchFamily="18" charset="0"/>
                <a:ea typeface="Lato Bold" pitchFamily="34" charset="-122"/>
                <a:cs typeface="Times New Roman" pitchFamily="18" charset="0"/>
              </a:rPr>
              <a:t>Availability</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883525" cy="2514600"/>
          </a:xfrm>
          <a:prstGeom prst="rect">
            <a:avLst/>
          </a:prstGeom>
        </p:spPr>
        <p:txBody>
          <a:bodyPr vert="horz" wrap="square" lIns="0" tIns="9525" rIns="0" bIns="0" rtlCol="0">
            <a:noAutofit/>
          </a:bodyPr>
          <a:lstStyle/>
          <a:p>
            <a:pPr marL="0" indent="0" algn="just">
              <a:lnSpc>
                <a:spcPts val="2500"/>
              </a:lnSpc>
              <a:buFont typeface="Arial" pitchFamily="34" charset="0"/>
              <a:buChar char="•"/>
            </a:pPr>
            <a:r>
              <a:rPr lang="en-US" sz="1600" dirty="0" smtClean="0">
                <a:solidFill>
                  <a:schemeClr val="tx1"/>
                </a:solidFill>
                <a:latin typeface="Times New Roman" pitchFamily="18" charset="0"/>
                <a:ea typeface="Lato" pitchFamily="34" charset="-122"/>
                <a:cs typeface="Times New Roman" pitchFamily="18" charset="0"/>
              </a:rPr>
              <a:t> The system continues to operate despite arbitrary network partitions or message loss between nodes. Network failures won't bring down the entire system. This is non-negotiable in distributed systems.</a:t>
            </a:r>
          </a:p>
          <a:p>
            <a:pPr marL="0" indent="0" algn="just">
              <a:lnSpc>
                <a:spcPts val="2500"/>
              </a:lnSpc>
              <a:buFont typeface="Arial" pitchFamily="34" charset="0"/>
              <a:buChar char="•"/>
            </a:pPr>
            <a:endParaRPr lang="en-US" sz="1600" dirty="0">
              <a:solidFill>
                <a:schemeClr val="tx1"/>
              </a:solidFill>
              <a:latin typeface="Times New Roman" pitchFamily="18" charset="0"/>
              <a:cs typeface="Times New Roman" pitchFamily="18" charset="0"/>
            </a:endParaRPr>
          </a:p>
          <a:p>
            <a:pPr algn="just">
              <a:lnSpc>
                <a:spcPts val="2500"/>
              </a:lnSpc>
              <a:buFont typeface="Arial" pitchFamily="34" charset="0"/>
              <a:buChar char="•"/>
            </a:pPr>
            <a:r>
              <a:rPr lang="en-US" sz="1600" b="1" dirty="0" smtClean="0">
                <a:solidFill>
                  <a:schemeClr val="tx1"/>
                </a:solidFill>
                <a:latin typeface="Times New Roman" pitchFamily="18" charset="0"/>
                <a:ea typeface="Lato" pitchFamily="34" charset="-122"/>
                <a:cs typeface="Times New Roman" pitchFamily="18" charset="0"/>
              </a:rPr>
              <a:t> Real-world example:</a:t>
            </a:r>
            <a:r>
              <a:rPr lang="en-US" sz="1600" dirty="0" smtClean="0">
                <a:solidFill>
                  <a:schemeClr val="tx1"/>
                </a:solidFill>
                <a:latin typeface="Times New Roman" pitchFamily="18" charset="0"/>
                <a:ea typeface="Lato" pitchFamily="34" charset="-122"/>
                <a:cs typeface="Times New Roman" pitchFamily="18" charset="0"/>
              </a:rPr>
              <a:t> If the connection between data </a:t>
            </a:r>
            <a:r>
              <a:rPr lang="en-US" sz="1600" dirty="0" err="1" smtClean="0">
                <a:solidFill>
                  <a:schemeClr val="tx1"/>
                </a:solidFill>
                <a:latin typeface="Times New Roman" pitchFamily="18" charset="0"/>
                <a:ea typeface="Lato" pitchFamily="34" charset="-122"/>
                <a:cs typeface="Times New Roman" pitchFamily="18" charset="0"/>
              </a:rPr>
              <a:t>centres</a:t>
            </a:r>
            <a:r>
              <a:rPr lang="en-US" sz="1600" dirty="0" smtClean="0">
                <a:solidFill>
                  <a:schemeClr val="tx1"/>
                </a:solidFill>
                <a:latin typeface="Times New Roman" pitchFamily="18" charset="0"/>
                <a:ea typeface="Lato" pitchFamily="34" charset="-122"/>
                <a:cs typeface="Times New Roman" pitchFamily="18" charset="0"/>
              </a:rPr>
              <a:t> in Mumbai and Bangalore breaks, both locations continue serving users independently until connectivity restores.</a:t>
            </a:r>
            <a:endParaRPr lang="en-US" sz="1600" dirty="0" smtClean="0">
              <a:solidFill>
                <a:schemeClr val="tx1"/>
              </a:solidFill>
              <a:latin typeface="Times New Roman" pitchFamily="18" charset="0"/>
              <a:cs typeface="Times New Roman" pitchFamily="18" charset="0"/>
            </a:endParaRPr>
          </a:p>
          <a:p>
            <a:pPr marL="0" indent="0" algn="just">
              <a:lnSpc>
                <a:spcPts val="2500"/>
              </a:lnSpc>
              <a:buFont typeface="Arial" pitchFamily="34" charset="0"/>
              <a:buChar char="•"/>
            </a:pPr>
            <a:endParaRPr lang="en-US" sz="1600" dirty="0">
              <a:solidFill>
                <a:schemeClr val="tx1"/>
              </a:solidFill>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marL="0" indent="0" algn="l">
              <a:lnSpc>
                <a:spcPts val="2900"/>
              </a:lnSpc>
              <a:buNone/>
            </a:pPr>
            <a:r>
              <a:rPr lang="en-US" sz="2400" dirty="0" smtClean="0">
                <a:solidFill>
                  <a:srgbClr val="4A4A45"/>
                </a:solidFill>
                <a:latin typeface="Times New Roman" pitchFamily="18" charset="0"/>
                <a:ea typeface="Lato Bold" pitchFamily="34" charset="-122"/>
                <a:cs typeface="Times New Roman" pitchFamily="18" charset="0"/>
              </a:rPr>
              <a:t>Partition Tolerance</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543799" cy="2971800"/>
          </a:xfrm>
          <a:prstGeom prst="rect">
            <a:avLst/>
          </a:prstGeom>
        </p:spPr>
        <p:txBody>
          <a:bodyPr vert="horz" wrap="square" lIns="0" tIns="9525" rIns="0" bIns="0" rtlCol="0">
            <a:noAutofit/>
          </a:bodyPr>
          <a:lstStyle/>
          <a:p>
            <a:pPr marL="0" indent="0" algn="l">
              <a:lnSpc>
                <a:spcPts val="2500"/>
              </a:lnSpc>
              <a:buNone/>
            </a:pPr>
            <a:r>
              <a:rPr lang="en-US" sz="1600" dirty="0" smtClean="0">
                <a:solidFill>
                  <a:schemeClr val="tx1"/>
                </a:solidFill>
                <a:latin typeface="Times New Roman" pitchFamily="18" charset="0"/>
                <a:ea typeface="Lato" pitchFamily="34" charset="-122"/>
                <a:cs typeface="Times New Roman" pitchFamily="18" charset="0"/>
              </a:rPr>
              <a:t>In distributed systems, network partitions are inevitable—cables break, routers fail, and data </a:t>
            </a:r>
            <a:r>
              <a:rPr lang="en-US" sz="1600" dirty="0" err="1" smtClean="0">
                <a:solidFill>
                  <a:schemeClr val="tx1"/>
                </a:solidFill>
                <a:latin typeface="Times New Roman" pitchFamily="18" charset="0"/>
                <a:ea typeface="Lato" pitchFamily="34" charset="-122"/>
                <a:cs typeface="Times New Roman" pitchFamily="18" charset="0"/>
              </a:rPr>
              <a:t>centres</a:t>
            </a:r>
            <a:r>
              <a:rPr lang="en-US" sz="1600" dirty="0" smtClean="0">
                <a:solidFill>
                  <a:schemeClr val="tx1"/>
                </a:solidFill>
                <a:latin typeface="Times New Roman" pitchFamily="18" charset="0"/>
                <a:ea typeface="Lato" pitchFamily="34" charset="-122"/>
                <a:cs typeface="Times New Roman" pitchFamily="18" charset="0"/>
              </a:rPr>
              <a:t> lose connectivity. Since partition tolerance is mandatory, you must choose between consistency and availability during partitions.</a:t>
            </a:r>
            <a:endParaRPr lang="en-US" sz="1600" dirty="0">
              <a:solidFill>
                <a:schemeClr val="tx1"/>
              </a:solidFill>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Autofit/>
          </a:bodyPr>
          <a:lstStyle>
            <a:lvl1pPr>
              <a:defRPr sz="3950" b="1" i="0">
                <a:solidFill>
                  <a:srgbClr val="1A1A1A"/>
                </a:solidFill>
                <a:latin typeface="Calibri"/>
                <a:ea typeface="+mj-ea"/>
                <a:cs typeface="Calibri"/>
              </a:defRPr>
            </a:lvl1pPr>
          </a:lstStyle>
          <a:p>
            <a:pPr marL="0" indent="0" algn="l">
              <a:lnSpc>
                <a:spcPts val="4550"/>
              </a:lnSpc>
              <a:buNone/>
            </a:pPr>
            <a:r>
              <a:rPr lang="en-US" sz="2400" dirty="0" smtClean="0">
                <a:solidFill>
                  <a:srgbClr val="282824"/>
                </a:solidFill>
                <a:latin typeface="Times New Roman" pitchFamily="18" charset="0"/>
                <a:ea typeface="Lato Bold" pitchFamily="34" charset="-122"/>
                <a:cs typeface="Times New Roman" pitchFamily="18" charset="0"/>
              </a:rPr>
              <a:t>CAP Trade-Offs(Con….)</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1506" name="AutoShape 2" descr="Homogeneous Distributed Database (Self Creation) | Download Scientific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848600" cy="3657600"/>
          </a:xfrm>
          <a:prstGeom prst="rect">
            <a:avLst/>
          </a:prstGeom>
        </p:spPr>
        <p:txBody>
          <a:bodyPr vert="horz" wrap="square" lIns="0" tIns="9525" rIns="0" bIns="0" rtlCol="0">
            <a:noAutofit/>
          </a:bodyPr>
          <a:lstStyle/>
          <a:p>
            <a:pPr marL="0" indent="0" algn="just">
              <a:lnSpc>
                <a:spcPts val="2500"/>
              </a:lnSpc>
              <a:buFont typeface="Arial" pitchFamily="34" charset="0"/>
              <a:buChar char="•"/>
            </a:pPr>
            <a:r>
              <a:rPr lang="en-US" sz="1600" dirty="0" smtClean="0">
                <a:solidFill>
                  <a:schemeClr val="tx1"/>
                </a:solidFill>
                <a:latin typeface="Times New Roman" pitchFamily="18" charset="0"/>
                <a:ea typeface="Lato" pitchFamily="34" charset="-122"/>
                <a:cs typeface="Times New Roman" pitchFamily="18" charset="0"/>
              </a:rPr>
              <a:t> </a:t>
            </a:r>
            <a:r>
              <a:rPr lang="en-US" sz="1600" dirty="0" err="1" smtClean="0">
                <a:solidFill>
                  <a:schemeClr val="tx1"/>
                </a:solidFill>
                <a:latin typeface="Times New Roman" pitchFamily="18" charset="0"/>
                <a:ea typeface="Lato" pitchFamily="34" charset="-122"/>
                <a:cs typeface="Times New Roman" pitchFamily="18" charset="0"/>
              </a:rPr>
              <a:t>Prioritise</a:t>
            </a:r>
            <a:r>
              <a:rPr lang="en-US" sz="1600" dirty="0" smtClean="0">
                <a:solidFill>
                  <a:schemeClr val="tx1"/>
                </a:solidFill>
                <a:latin typeface="Times New Roman" pitchFamily="18" charset="0"/>
                <a:ea typeface="Lato" pitchFamily="34" charset="-122"/>
                <a:cs typeface="Times New Roman" pitchFamily="18" charset="0"/>
              </a:rPr>
              <a:t> consistency and availability but cannot tolerate partitions. These systems work well in single-node or tightly coupled environments. </a:t>
            </a:r>
          </a:p>
          <a:p>
            <a:pPr marL="0" indent="0" algn="just">
              <a:lnSpc>
                <a:spcPts val="2500"/>
              </a:lnSpc>
              <a:buFont typeface="Arial" pitchFamily="34" charset="0"/>
              <a:buChar char="•"/>
            </a:pPr>
            <a:endParaRPr lang="en-US" sz="1600" b="1" dirty="0">
              <a:solidFill>
                <a:schemeClr val="tx1"/>
              </a:solidFill>
              <a:latin typeface="Times New Roman" pitchFamily="18" charset="0"/>
              <a:ea typeface="Lato" pitchFamily="34" charset="-122"/>
              <a:cs typeface="Times New Roman" pitchFamily="18" charset="0"/>
            </a:endParaRPr>
          </a:p>
          <a:p>
            <a:pPr marL="0" indent="0" algn="just">
              <a:lnSpc>
                <a:spcPts val="2500"/>
              </a:lnSpc>
              <a:buFont typeface="Arial" pitchFamily="34" charset="0"/>
              <a:buChar char="•"/>
            </a:pPr>
            <a:r>
              <a:rPr lang="en-US" sz="1600" b="1" dirty="0" smtClean="0">
                <a:solidFill>
                  <a:schemeClr val="tx1"/>
                </a:solidFill>
                <a:latin typeface="Times New Roman" pitchFamily="18" charset="0"/>
                <a:ea typeface="Lato" pitchFamily="34" charset="-122"/>
                <a:cs typeface="Times New Roman" pitchFamily="18" charset="0"/>
              </a:rPr>
              <a:t> Example:</a:t>
            </a:r>
            <a:r>
              <a:rPr lang="en-US" sz="1600" dirty="0" smtClean="0">
                <a:solidFill>
                  <a:schemeClr val="tx1"/>
                </a:solidFill>
                <a:latin typeface="Times New Roman" pitchFamily="18" charset="0"/>
                <a:ea typeface="Lato" pitchFamily="34" charset="-122"/>
                <a:cs typeface="Times New Roman" pitchFamily="18" charset="0"/>
              </a:rPr>
              <a:t> Traditional RDBMS in a single data centre. When the network splits, the system must stop to prevent inconsistencies.</a:t>
            </a:r>
            <a:endParaRPr lang="en-US" sz="1600" dirty="0">
              <a:solidFill>
                <a:schemeClr val="tx1"/>
              </a:solidFill>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Autofit/>
          </a:bodyPr>
          <a:lstStyle>
            <a:lvl1pPr>
              <a:defRPr sz="3950" b="1" i="0">
                <a:solidFill>
                  <a:srgbClr val="1A1A1A"/>
                </a:solidFill>
                <a:latin typeface="Calibri"/>
                <a:ea typeface="+mj-ea"/>
                <a:cs typeface="Calibri"/>
              </a:defRPr>
            </a:lvl1pPr>
          </a:lstStyle>
          <a:p>
            <a:pPr marL="0" indent="0" algn="l">
              <a:lnSpc>
                <a:spcPts val="2400"/>
              </a:lnSpc>
              <a:buNone/>
            </a:pPr>
            <a:r>
              <a:rPr lang="en-US" sz="2400" dirty="0" smtClean="0">
                <a:solidFill>
                  <a:schemeClr val="tx1"/>
                </a:solidFill>
                <a:latin typeface="Times New Roman" pitchFamily="18" charset="0"/>
                <a:ea typeface="Lato Bold" pitchFamily="34" charset="-122"/>
                <a:cs typeface="Times New Roman" pitchFamily="18" charset="0"/>
              </a:rPr>
              <a:t>CA Systems: Consistency + Availability</a:t>
            </a:r>
            <a:endParaRPr lang="en-US" sz="2400" dirty="0">
              <a:solidFill>
                <a:schemeClr val="tx1"/>
              </a:solidFill>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848600" cy="3657600"/>
          </a:xfrm>
          <a:prstGeom prst="rect">
            <a:avLst/>
          </a:prstGeom>
        </p:spPr>
        <p:txBody>
          <a:bodyPr vert="horz" wrap="square" lIns="0" tIns="9525" rIns="0" bIns="0" rtlCol="0">
            <a:noAutofit/>
          </a:bodyPr>
          <a:lstStyle/>
          <a:p>
            <a:pPr marL="0" indent="0" algn="l">
              <a:lnSpc>
                <a:spcPts val="2500"/>
              </a:lnSpc>
              <a:buFont typeface="Arial" pitchFamily="34" charset="0"/>
              <a:buChar char="•"/>
            </a:pPr>
            <a:r>
              <a:rPr lang="en-US" sz="1600" dirty="0" smtClean="0">
                <a:solidFill>
                  <a:schemeClr val="tx1"/>
                </a:solidFill>
                <a:latin typeface="Times New Roman" pitchFamily="18" charset="0"/>
                <a:ea typeface="Lato" pitchFamily="34" charset="-122"/>
                <a:cs typeface="Times New Roman" pitchFamily="18" charset="0"/>
              </a:rPr>
              <a:t> Maintain consistency even during network partitions, sacrificing availability. Some nodes may become unavailable to prevent inconsistent data. </a:t>
            </a:r>
          </a:p>
          <a:p>
            <a:pPr marL="0" indent="0" algn="l">
              <a:lnSpc>
                <a:spcPts val="2500"/>
              </a:lnSpc>
              <a:buFont typeface="Arial" pitchFamily="34" charset="0"/>
              <a:buChar char="•"/>
            </a:pPr>
            <a:endParaRPr lang="en-US" sz="1600" b="1" dirty="0">
              <a:solidFill>
                <a:schemeClr val="tx1"/>
              </a:solidFill>
              <a:latin typeface="Times New Roman" pitchFamily="18" charset="0"/>
              <a:ea typeface="Lato" pitchFamily="34" charset="-122"/>
              <a:cs typeface="Times New Roman" pitchFamily="18" charset="0"/>
            </a:endParaRPr>
          </a:p>
          <a:p>
            <a:pPr marL="0" indent="0" algn="l">
              <a:lnSpc>
                <a:spcPts val="2500"/>
              </a:lnSpc>
              <a:buFont typeface="Arial" pitchFamily="34" charset="0"/>
              <a:buChar char="•"/>
            </a:pPr>
            <a:r>
              <a:rPr lang="en-US" sz="1600" b="1" dirty="0" smtClean="0">
                <a:solidFill>
                  <a:schemeClr val="tx1"/>
                </a:solidFill>
                <a:latin typeface="Times New Roman" pitchFamily="18" charset="0"/>
                <a:ea typeface="Lato" pitchFamily="34" charset="-122"/>
                <a:cs typeface="Times New Roman" pitchFamily="18" charset="0"/>
              </a:rPr>
              <a:t> Examples:</a:t>
            </a:r>
            <a:r>
              <a:rPr lang="en-US" sz="1600" dirty="0" smtClean="0">
                <a:solidFill>
                  <a:schemeClr val="tx1"/>
                </a:solidFill>
                <a:latin typeface="Times New Roman" pitchFamily="18" charset="0"/>
                <a:ea typeface="Lato" pitchFamily="34" charset="-122"/>
                <a:cs typeface="Times New Roman" pitchFamily="18" charset="0"/>
              </a:rPr>
              <a:t> </a:t>
            </a:r>
            <a:r>
              <a:rPr lang="en-US" sz="1600" dirty="0" err="1" smtClean="0">
                <a:solidFill>
                  <a:schemeClr val="tx1"/>
                </a:solidFill>
                <a:latin typeface="Times New Roman" pitchFamily="18" charset="0"/>
                <a:ea typeface="Lato" pitchFamily="34" charset="-122"/>
                <a:cs typeface="Times New Roman" pitchFamily="18" charset="0"/>
              </a:rPr>
              <a:t>MongoDB</a:t>
            </a:r>
            <a:r>
              <a:rPr lang="en-US" sz="1600" dirty="0" smtClean="0">
                <a:solidFill>
                  <a:schemeClr val="tx1"/>
                </a:solidFill>
                <a:latin typeface="Times New Roman" pitchFamily="18" charset="0"/>
                <a:ea typeface="Lato" pitchFamily="34" charset="-122"/>
                <a:cs typeface="Times New Roman" pitchFamily="18" charset="0"/>
              </a:rPr>
              <a:t> (in certain configurations), </a:t>
            </a:r>
            <a:r>
              <a:rPr lang="en-US" sz="1600" dirty="0" err="1" smtClean="0">
                <a:solidFill>
                  <a:schemeClr val="tx1"/>
                </a:solidFill>
                <a:latin typeface="Times New Roman" pitchFamily="18" charset="0"/>
                <a:ea typeface="Lato" pitchFamily="34" charset="-122"/>
                <a:cs typeface="Times New Roman" pitchFamily="18" charset="0"/>
              </a:rPr>
              <a:t>HBase</a:t>
            </a:r>
            <a:r>
              <a:rPr lang="en-US" sz="1600" dirty="0" smtClean="0">
                <a:solidFill>
                  <a:schemeClr val="tx1"/>
                </a:solidFill>
                <a:latin typeface="Times New Roman" pitchFamily="18" charset="0"/>
                <a:ea typeface="Lato" pitchFamily="34" charset="-122"/>
                <a:cs typeface="Times New Roman" pitchFamily="18" charset="0"/>
              </a:rPr>
              <a:t>, </a:t>
            </a:r>
            <a:r>
              <a:rPr lang="en-US" sz="1600" dirty="0" err="1" smtClean="0">
                <a:solidFill>
                  <a:schemeClr val="tx1"/>
                </a:solidFill>
                <a:latin typeface="Times New Roman" pitchFamily="18" charset="0"/>
                <a:ea typeface="Lato" pitchFamily="34" charset="-122"/>
                <a:cs typeface="Times New Roman" pitchFamily="18" charset="0"/>
              </a:rPr>
              <a:t>Redis</a:t>
            </a:r>
            <a:r>
              <a:rPr lang="en-US" sz="1600" dirty="0" smtClean="0">
                <a:solidFill>
                  <a:schemeClr val="tx1"/>
                </a:solidFill>
                <a:latin typeface="Times New Roman" pitchFamily="18" charset="0"/>
                <a:ea typeface="Lato" pitchFamily="34" charset="-122"/>
                <a:cs typeface="Times New Roman" pitchFamily="18" charset="0"/>
              </a:rPr>
              <a:t> Cluster. Best for financial transactions where accuracy is critical.</a:t>
            </a:r>
            <a:endParaRPr lang="en-US" sz="1600" dirty="0">
              <a:solidFill>
                <a:schemeClr val="tx1"/>
              </a:solidFill>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Autofit/>
          </a:bodyPr>
          <a:lstStyle>
            <a:lvl1pPr>
              <a:defRPr sz="3950" b="1" i="0">
                <a:solidFill>
                  <a:srgbClr val="1A1A1A"/>
                </a:solidFill>
                <a:latin typeface="Calibri"/>
                <a:ea typeface="+mj-ea"/>
                <a:cs typeface="Calibri"/>
              </a:defRPr>
            </a:lvl1pPr>
          </a:lstStyle>
          <a:p>
            <a:pPr marL="0" indent="0" algn="l">
              <a:lnSpc>
                <a:spcPts val="2400"/>
              </a:lnSpc>
              <a:buNone/>
            </a:pPr>
            <a:r>
              <a:rPr lang="en-US" sz="2400" dirty="0" smtClean="0">
                <a:solidFill>
                  <a:srgbClr val="4A4A45"/>
                </a:solidFill>
                <a:latin typeface="Times New Roman" pitchFamily="18" charset="0"/>
                <a:ea typeface="Lato Bold" pitchFamily="34" charset="-122"/>
                <a:cs typeface="Times New Roman" pitchFamily="18" charset="0"/>
              </a:rPr>
              <a:t>CP Systems: Consistency + Partition Tolerance</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848600" cy="3657600"/>
          </a:xfrm>
          <a:prstGeom prst="rect">
            <a:avLst/>
          </a:prstGeom>
        </p:spPr>
        <p:txBody>
          <a:bodyPr vert="horz" wrap="square" lIns="0" tIns="9525" rIns="0" bIns="0" rtlCol="0">
            <a:noAutofit/>
          </a:bodyPr>
          <a:lstStyle/>
          <a:p>
            <a:pPr marL="0" indent="0" algn="l">
              <a:lnSpc>
                <a:spcPts val="2500"/>
              </a:lnSpc>
              <a:buFont typeface="Arial" pitchFamily="34" charset="0"/>
              <a:buChar char="•"/>
            </a:pPr>
            <a:r>
              <a:rPr lang="en-US" sz="1600" dirty="0" smtClean="0">
                <a:solidFill>
                  <a:schemeClr val="tx1"/>
                </a:solidFill>
                <a:latin typeface="Times New Roman" pitchFamily="18" charset="0"/>
                <a:ea typeface="Lato" pitchFamily="34" charset="-122"/>
                <a:cs typeface="Times New Roman" pitchFamily="18" charset="0"/>
              </a:rPr>
              <a:t> </a:t>
            </a:r>
            <a:r>
              <a:rPr lang="en-US" sz="1600" dirty="0" err="1" smtClean="0">
                <a:solidFill>
                  <a:schemeClr val="tx1"/>
                </a:solidFill>
                <a:latin typeface="Times New Roman" pitchFamily="18" charset="0"/>
                <a:ea typeface="Lato" pitchFamily="34" charset="-122"/>
                <a:cs typeface="Times New Roman" pitchFamily="18" charset="0"/>
              </a:rPr>
              <a:t>Prioritise</a:t>
            </a:r>
            <a:r>
              <a:rPr lang="en-US" sz="1600" dirty="0" smtClean="0">
                <a:solidFill>
                  <a:schemeClr val="tx1"/>
                </a:solidFill>
                <a:latin typeface="Times New Roman" pitchFamily="18" charset="0"/>
                <a:ea typeface="Lato" pitchFamily="34" charset="-122"/>
                <a:cs typeface="Times New Roman" pitchFamily="18" charset="0"/>
              </a:rPr>
              <a:t> availability during partitions, accepting eventual consistency. All nodes remain accessible but may serve stale data temporarily.</a:t>
            </a:r>
          </a:p>
          <a:p>
            <a:pPr marL="0" indent="0" algn="l">
              <a:lnSpc>
                <a:spcPts val="2500"/>
              </a:lnSpc>
              <a:buFont typeface="Arial" pitchFamily="34" charset="0"/>
              <a:buChar char="•"/>
            </a:pPr>
            <a:endParaRPr lang="en-US" sz="1600" dirty="0">
              <a:solidFill>
                <a:schemeClr val="tx1"/>
              </a:solidFill>
              <a:latin typeface="Times New Roman" pitchFamily="18" charset="0"/>
              <a:ea typeface="Lato" pitchFamily="34" charset="-122"/>
              <a:cs typeface="Times New Roman" pitchFamily="18" charset="0"/>
            </a:endParaRPr>
          </a:p>
          <a:p>
            <a:pPr marL="0" indent="0" algn="l">
              <a:lnSpc>
                <a:spcPts val="2500"/>
              </a:lnSpc>
              <a:buFont typeface="Arial" pitchFamily="34" charset="0"/>
              <a:buChar char="•"/>
            </a:pPr>
            <a:r>
              <a:rPr lang="en-US" sz="1600" dirty="0" smtClean="0">
                <a:solidFill>
                  <a:schemeClr val="tx1"/>
                </a:solidFill>
                <a:latin typeface="Times New Roman" pitchFamily="18" charset="0"/>
                <a:ea typeface="Lato" pitchFamily="34" charset="-122"/>
                <a:cs typeface="Times New Roman" pitchFamily="18" charset="0"/>
              </a:rPr>
              <a:t> </a:t>
            </a:r>
            <a:r>
              <a:rPr lang="en-US" sz="1600" b="1" dirty="0" smtClean="0">
                <a:solidFill>
                  <a:schemeClr val="tx1"/>
                </a:solidFill>
                <a:latin typeface="Times New Roman" pitchFamily="18" charset="0"/>
                <a:ea typeface="Lato" pitchFamily="34" charset="-122"/>
                <a:cs typeface="Times New Roman" pitchFamily="18" charset="0"/>
              </a:rPr>
              <a:t>Examples:</a:t>
            </a:r>
            <a:r>
              <a:rPr lang="en-US" sz="1600" dirty="0" smtClean="0">
                <a:solidFill>
                  <a:schemeClr val="tx1"/>
                </a:solidFill>
                <a:latin typeface="Times New Roman" pitchFamily="18" charset="0"/>
                <a:ea typeface="Lato" pitchFamily="34" charset="-122"/>
                <a:cs typeface="Times New Roman" pitchFamily="18" charset="0"/>
              </a:rPr>
              <a:t> Cassandra, </a:t>
            </a:r>
            <a:r>
              <a:rPr lang="en-US" sz="1600" dirty="0" err="1" smtClean="0">
                <a:solidFill>
                  <a:schemeClr val="tx1"/>
                </a:solidFill>
                <a:latin typeface="Times New Roman" pitchFamily="18" charset="0"/>
                <a:ea typeface="Lato" pitchFamily="34" charset="-122"/>
                <a:cs typeface="Times New Roman" pitchFamily="18" charset="0"/>
              </a:rPr>
              <a:t>DynamoDB</a:t>
            </a:r>
            <a:r>
              <a:rPr lang="en-US" sz="1600" dirty="0" smtClean="0">
                <a:solidFill>
                  <a:schemeClr val="tx1"/>
                </a:solidFill>
                <a:latin typeface="Times New Roman" pitchFamily="18" charset="0"/>
                <a:ea typeface="Lato" pitchFamily="34" charset="-122"/>
                <a:cs typeface="Times New Roman" pitchFamily="18" charset="0"/>
              </a:rPr>
              <a:t>, </a:t>
            </a:r>
            <a:r>
              <a:rPr lang="en-US" sz="1600" dirty="0" err="1" smtClean="0">
                <a:solidFill>
                  <a:schemeClr val="tx1"/>
                </a:solidFill>
                <a:latin typeface="Times New Roman" pitchFamily="18" charset="0"/>
                <a:ea typeface="Lato" pitchFamily="34" charset="-122"/>
                <a:cs typeface="Times New Roman" pitchFamily="18" charset="0"/>
              </a:rPr>
              <a:t>Couchbase</a:t>
            </a:r>
            <a:r>
              <a:rPr lang="en-US" sz="1600" dirty="0" smtClean="0">
                <a:solidFill>
                  <a:schemeClr val="tx1"/>
                </a:solidFill>
                <a:latin typeface="Times New Roman" pitchFamily="18" charset="0"/>
                <a:ea typeface="Lato" pitchFamily="34" charset="-122"/>
                <a:cs typeface="Times New Roman" pitchFamily="18" charset="0"/>
              </a:rPr>
              <a:t>. Ideal for social media feeds where slight delays are acceptable.</a:t>
            </a:r>
            <a:endParaRPr lang="en-US" sz="1600" dirty="0">
              <a:solidFill>
                <a:schemeClr val="tx1"/>
              </a:solidFill>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Autofit/>
          </a:bodyPr>
          <a:lstStyle>
            <a:lvl1pPr>
              <a:defRPr sz="3950" b="1" i="0">
                <a:solidFill>
                  <a:srgbClr val="1A1A1A"/>
                </a:solidFill>
                <a:latin typeface="Calibri"/>
                <a:ea typeface="+mj-ea"/>
                <a:cs typeface="Calibri"/>
              </a:defRPr>
            </a:lvl1pPr>
          </a:lstStyle>
          <a:p>
            <a:pPr marL="0" indent="0" algn="l">
              <a:lnSpc>
                <a:spcPts val="2400"/>
              </a:lnSpc>
              <a:buNone/>
            </a:pPr>
            <a:r>
              <a:rPr lang="en-US" sz="2400" dirty="0" smtClean="0">
                <a:solidFill>
                  <a:srgbClr val="4A4A45"/>
                </a:solidFill>
                <a:latin typeface="Times New Roman" pitchFamily="18" charset="0"/>
                <a:ea typeface="Lato Bold" pitchFamily="34" charset="-122"/>
                <a:cs typeface="Times New Roman" pitchFamily="18" charset="0"/>
              </a:rPr>
              <a:t>AP Systems: Availability + Partition Tolerance</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1999" y="285686"/>
            <a:ext cx="3616961" cy="382156"/>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panose="02020503050405090304" pitchFamily="18" charset="0"/>
                <a:cs typeface="Times New Roman" panose="02020503050405090304" pitchFamily="18" charset="0"/>
              </a:rPr>
              <a:t>Summary</a:t>
            </a:r>
            <a:r>
              <a:rPr sz="2400" spc="-25" dirty="0">
                <a:latin typeface="Times New Roman" panose="02020503050405090304" pitchFamily="18" charset="0"/>
                <a:cs typeface="Times New Roman" panose="02020503050405090304" pitchFamily="18" charset="0"/>
              </a:rPr>
              <a:t> </a:t>
            </a:r>
            <a:r>
              <a:rPr sz="2400" dirty="0">
                <a:latin typeface="Times New Roman" panose="02020503050405090304" pitchFamily="18" charset="0"/>
                <a:cs typeface="Times New Roman" panose="02020503050405090304" pitchFamily="18" charset="0"/>
              </a:rPr>
              <a:t>of</a:t>
            </a:r>
            <a:r>
              <a:rPr sz="2400" spc="-15" dirty="0">
                <a:latin typeface="Times New Roman" panose="02020503050405090304" pitchFamily="18" charset="0"/>
                <a:cs typeface="Times New Roman" panose="02020503050405090304" pitchFamily="18" charset="0"/>
              </a:rPr>
              <a:t> </a:t>
            </a:r>
            <a:r>
              <a:rPr sz="2400" dirty="0">
                <a:latin typeface="Times New Roman" panose="02020503050405090304" pitchFamily="18" charset="0"/>
                <a:cs typeface="Times New Roman" panose="02020503050405090304" pitchFamily="18" charset="0"/>
              </a:rPr>
              <a:t>the</a:t>
            </a:r>
            <a:r>
              <a:rPr sz="2400" spc="-15" dirty="0">
                <a:latin typeface="Times New Roman" panose="02020503050405090304" pitchFamily="18" charset="0"/>
                <a:cs typeface="Times New Roman" panose="02020503050405090304" pitchFamily="18" charset="0"/>
              </a:rPr>
              <a:t> </a:t>
            </a:r>
            <a:r>
              <a:rPr sz="2400" spc="-10" dirty="0">
                <a:latin typeface="Times New Roman" panose="02020503050405090304" pitchFamily="18" charset="0"/>
                <a:cs typeface="Times New Roman" panose="02020503050405090304" pitchFamily="18" charset="0"/>
              </a:rPr>
              <a:t>Lecture</a:t>
            </a:r>
            <a:endParaRPr sz="2400" dirty="0">
              <a:latin typeface="Times New Roman" panose="02020503050405090304" pitchFamily="18" charset="0"/>
              <a:cs typeface="Times New Roman" panose="02020503050405090304" pitchFamily="18" charset="0"/>
            </a:endParaRPr>
          </a:p>
        </p:txBody>
      </p:sp>
      <p:sp>
        <p:nvSpPr>
          <p:cNvPr id="4" name="object 4"/>
          <p:cNvSpPr txBox="1"/>
          <p:nvPr/>
        </p:nvSpPr>
        <p:spPr>
          <a:xfrm>
            <a:off x="762000" y="1135380"/>
            <a:ext cx="7790180" cy="3874770"/>
          </a:xfrm>
          <a:prstGeom prst="rect">
            <a:avLst/>
          </a:prstGeom>
        </p:spPr>
        <p:txBody>
          <a:bodyPr vert="horz" wrap="square" lIns="0" tIns="15875" rIns="0" bIns="0" rtlCol="0">
            <a:noAutofit/>
          </a:bodyPr>
          <a:lstStyle/>
          <a:p>
            <a:pPr algn="just">
              <a:buFont typeface="Arial" pitchFamily="34" charset="0"/>
              <a:buChar char="•"/>
            </a:pPr>
            <a:r>
              <a:rPr lang="en-US" sz="1600" b="1" dirty="0" smtClean="0">
                <a:latin typeface="Times New Roman" pitchFamily="18" charset="0"/>
                <a:cs typeface="Times New Roman" pitchFamily="18" charset="0"/>
              </a:rPr>
              <a:t> CAP Theorem Overview</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The CAP Theorem states that a distributed system can guarantee only two out of three properties at the same time: Consistency, Availability, and Partition Tolerance. In real-world distributed systems, network partitions are unavoidable, so systems must choose between consistency and availability.</a:t>
            </a:r>
          </a:p>
          <a:p>
            <a:pPr algn="just">
              <a:buFont typeface="Arial" pitchFamily="34" charset="0"/>
              <a:buChar char="•"/>
            </a:pPr>
            <a:endParaRPr lang="en-US" sz="1600" dirty="0" smtClean="0">
              <a:latin typeface="Times New Roman" pitchFamily="18" charset="0"/>
              <a:cs typeface="Times New Roman" pitchFamily="18" charset="0"/>
            </a:endParaRPr>
          </a:p>
          <a:p>
            <a:pPr algn="just">
              <a:buFont typeface="Arial" pitchFamily="34" charset="0"/>
              <a:buChar char="•"/>
            </a:pPr>
            <a:r>
              <a:rPr lang="en-US" sz="1600" b="1" dirty="0" smtClean="0">
                <a:latin typeface="Times New Roman" pitchFamily="18" charset="0"/>
                <a:cs typeface="Times New Roman" pitchFamily="18" charset="0"/>
              </a:rPr>
              <a:t> Meaning of Eventual Consistency</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Eventual consistency is a consistency model where all replicas of data do not update immediately after a write operation. Instead, the system guarantees that if no new updates occur, all replicas will eventually converge to the same value over time.</a:t>
            </a:r>
          </a:p>
          <a:p>
            <a:pPr algn="just">
              <a:buFont typeface="Arial" pitchFamily="34" charset="0"/>
              <a:buChar char="•"/>
            </a:pPr>
            <a:endParaRPr lang="en-US" sz="1600" dirty="0" smtClean="0">
              <a:latin typeface="Times New Roman" pitchFamily="18" charset="0"/>
              <a:cs typeface="Times New Roman" pitchFamily="18" charset="0"/>
            </a:endParaRPr>
          </a:p>
          <a:p>
            <a:pPr algn="just">
              <a:buFont typeface="Arial" pitchFamily="34" charset="0"/>
              <a:buChar char="•"/>
            </a:pPr>
            <a:r>
              <a:rPr lang="en-US" sz="1600" b="1" dirty="0" smtClean="0">
                <a:latin typeface="Times New Roman" pitchFamily="18" charset="0"/>
                <a:cs typeface="Times New Roman" pitchFamily="18" charset="0"/>
              </a:rPr>
              <a:t> Eventual Consistency in CAP Context</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Systems that follow eventual consistency usually choose Availability (A) and Partition Tolerance (P) over strong Consistency (C). During network partitions, the system remains available and continues to accept read and write requests, even if some nodes temporarily return outdated data.</a:t>
            </a:r>
            <a:endParaRPr lang="en-US" sz="1600"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2000" y="1276350"/>
            <a:ext cx="7630160" cy="2821940"/>
          </a:xfrm>
          <a:prstGeom prst="rect">
            <a:avLst/>
          </a:prstGeom>
        </p:spPr>
        <p:txBody>
          <a:bodyPr vert="horz" wrap="square" lIns="0" tIns="16510" rIns="0" bIns="0" rtlCol="0">
            <a:noAutofit/>
          </a:bodyPr>
          <a:lstStyle/>
          <a:p>
            <a:pPr marL="355600" indent="-342900">
              <a:lnSpc>
                <a:spcPts val="2290"/>
              </a:lnSpc>
              <a:spcBef>
                <a:spcPts val="130"/>
              </a:spcBef>
              <a:buClr>
                <a:srgbClr val="000000"/>
              </a:buClr>
              <a:buFont typeface="Arial MT"/>
              <a:buChar char="•"/>
              <a:tabLst>
                <a:tab pos="355600" algn="l"/>
              </a:tabLst>
            </a:pPr>
            <a:r>
              <a:rPr lang="en-US" sz="1600" dirty="0">
                <a:latin typeface="Times New Roman" pitchFamily="18" charset="0"/>
                <a:cs typeface="Times New Roman" pitchFamily="18" charset="0"/>
              </a:rPr>
              <a:t>Distributed Databases and Eventual Consistency</a:t>
            </a:r>
            <a:r>
              <a:rPr lang="en-US" sz="1600" dirty="0" smtClean="0">
                <a:latin typeface="Times New Roman" pitchFamily="18" charset="0"/>
                <a:cs typeface="Times New Roman" pitchFamily="18" charset="0"/>
              </a:rPr>
              <a:t> </a:t>
            </a:r>
          </a:p>
          <a:p>
            <a:pPr marL="355600" indent="-342900">
              <a:lnSpc>
                <a:spcPts val="2290"/>
              </a:lnSpc>
              <a:spcBef>
                <a:spcPts val="130"/>
              </a:spcBef>
              <a:buClr>
                <a:srgbClr val="000000"/>
              </a:buClr>
              <a:buFont typeface="Arial MT"/>
              <a:buChar char="•"/>
              <a:tabLst>
                <a:tab pos="355600" algn="l"/>
              </a:tabLst>
            </a:pPr>
            <a:r>
              <a:rPr lang="en-US" sz="1600" dirty="0" smtClean="0">
                <a:latin typeface="Times New Roman" pitchFamily="18" charset="0"/>
                <a:cs typeface="Times New Roman" pitchFamily="18" charset="0"/>
              </a:rPr>
              <a:t>Distributed </a:t>
            </a:r>
            <a:r>
              <a:rPr lang="en-US" sz="1600" dirty="0">
                <a:latin typeface="Times New Roman" pitchFamily="18" charset="0"/>
                <a:cs typeface="Times New Roman" pitchFamily="18" charset="0"/>
              </a:rPr>
              <a:t>Caching: Deep Dive into </a:t>
            </a:r>
            <a:r>
              <a:rPr lang="en-US" sz="1600" dirty="0" err="1">
                <a:latin typeface="Times New Roman" pitchFamily="18" charset="0"/>
                <a:cs typeface="Times New Roman" pitchFamily="18" charset="0"/>
              </a:rPr>
              <a:t>Redis</a:t>
            </a:r>
            <a:r>
              <a:rPr lang="en-US" sz="1600" dirty="0">
                <a:latin typeface="Times New Roman" pitchFamily="18" charset="0"/>
                <a:cs typeface="Times New Roman" pitchFamily="18" charset="0"/>
              </a:rPr>
              <a:t> and </a:t>
            </a:r>
            <a:r>
              <a:rPr lang="en-US" sz="1600" dirty="0" err="1">
                <a:latin typeface="Times New Roman" pitchFamily="18" charset="0"/>
                <a:cs typeface="Times New Roman" pitchFamily="18" charset="0"/>
              </a:rPr>
              <a:t>Memcached</a:t>
            </a:r>
            <a:r>
              <a:rPr lang="en-US" sz="1600" dirty="0" smtClean="0">
                <a:latin typeface="Times New Roman" pitchFamily="18" charset="0"/>
                <a:cs typeface="Times New Roman" pitchFamily="18" charset="0"/>
              </a:rPr>
              <a:t> </a:t>
            </a:r>
          </a:p>
          <a:p>
            <a:pPr marL="355600" indent="-342900">
              <a:lnSpc>
                <a:spcPts val="2290"/>
              </a:lnSpc>
              <a:spcBef>
                <a:spcPts val="130"/>
              </a:spcBef>
              <a:buClr>
                <a:srgbClr val="000000"/>
              </a:buClr>
              <a:buFont typeface="Arial MT"/>
              <a:buChar char="•"/>
              <a:tabLst>
                <a:tab pos="355600" algn="l"/>
              </a:tabLst>
            </a:pPr>
            <a:r>
              <a:rPr lang="en-US" sz="1600" dirty="0" smtClean="0">
                <a:latin typeface="Times New Roman" pitchFamily="18" charset="0"/>
                <a:cs typeface="Times New Roman" pitchFamily="18" charset="0"/>
              </a:rPr>
              <a:t>High </a:t>
            </a:r>
            <a:r>
              <a:rPr lang="en-US" sz="1600" dirty="0">
                <a:latin typeface="Times New Roman" pitchFamily="18" charset="0"/>
                <a:cs typeface="Times New Roman" pitchFamily="18" charset="0"/>
              </a:rPr>
              <a:t>Availability and Fault Tolerance Mechanisms</a:t>
            </a:r>
            <a:r>
              <a:rPr lang="en-US" sz="1600" dirty="0" smtClean="0">
                <a:latin typeface="Times New Roman" pitchFamily="18" charset="0"/>
                <a:cs typeface="Times New Roman" pitchFamily="18" charset="0"/>
              </a:rPr>
              <a:t> </a:t>
            </a:r>
          </a:p>
          <a:p>
            <a:pPr marL="355600" indent="-342900">
              <a:lnSpc>
                <a:spcPts val="2290"/>
              </a:lnSpc>
              <a:spcBef>
                <a:spcPts val="130"/>
              </a:spcBef>
              <a:buClr>
                <a:srgbClr val="000000"/>
              </a:buClr>
              <a:buFont typeface="Arial MT"/>
              <a:buChar char="•"/>
              <a:tabLst>
                <a:tab pos="355600" algn="l"/>
              </a:tabLst>
            </a:pPr>
            <a:r>
              <a:rPr lang="en-US" sz="1600" dirty="0" err="1" smtClean="0">
                <a:latin typeface="Times New Roman" pitchFamily="18" charset="0"/>
                <a:cs typeface="Times New Roman" pitchFamily="18" charset="0"/>
              </a:rPr>
              <a:t>Microservices</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vs. Monolithic Architecture Comparison</a:t>
            </a:r>
            <a:r>
              <a:rPr lang="en-US" sz="1600" dirty="0" smtClean="0">
                <a:latin typeface="Times New Roman" pitchFamily="18" charset="0"/>
                <a:cs typeface="Times New Roman" pitchFamily="18" charset="0"/>
              </a:rPr>
              <a:t> </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dirty="0">
                <a:latin typeface="Times New Roman" panose="02020503050405090304" pitchFamily="18" charset="0"/>
                <a:cs typeface="Times New Roman" panose="02020503050405090304" pitchFamily="18" charset="0"/>
                <a:sym typeface="+mn-ea"/>
              </a:rPr>
              <a:t>Next</a:t>
            </a:r>
            <a:r>
              <a:rPr sz="2400" spc="-65" dirty="0">
                <a:latin typeface="Times New Roman" panose="02020503050405090304" pitchFamily="18" charset="0"/>
                <a:cs typeface="Times New Roman" panose="02020503050405090304" pitchFamily="18" charset="0"/>
                <a:sym typeface="+mn-ea"/>
              </a:rPr>
              <a:t> </a:t>
            </a:r>
            <a:r>
              <a:rPr sz="2400" spc="-10" dirty="0">
                <a:latin typeface="Times New Roman" panose="02020503050405090304" pitchFamily="18" charset="0"/>
                <a:cs typeface="Times New Roman" panose="02020503050405090304" pitchFamily="18" charset="0"/>
                <a:sym typeface="+mn-ea"/>
              </a:rPr>
              <a:t>Lecture</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971550"/>
            <a:ext cx="7848600" cy="4038600"/>
          </a:xfrm>
          <a:prstGeom prst="rect">
            <a:avLst/>
          </a:prstGeom>
        </p:spPr>
        <p:txBody>
          <a:bodyPr vert="horz" wrap="square" lIns="0" tIns="12700" rIns="0" bIns="0" rtlCol="0">
            <a:noAutofit/>
          </a:bodyPr>
          <a:lstStyle/>
          <a:p>
            <a:pPr marL="342900" indent="-342900">
              <a:buFont typeface="+mj-lt"/>
              <a:buAutoNum type="arabicPeriod"/>
            </a:pPr>
            <a:r>
              <a:rPr lang="en-US" sz="1600" dirty="0" smtClean="0">
                <a:latin typeface="Times New Roman" pitchFamily="18" charset="0"/>
                <a:cs typeface="Times New Roman" pitchFamily="18" charset="0"/>
              </a:rPr>
              <a:t>What does the CAP theorem stand for?</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a) Consistency, Accuracy, Performance</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b) Consistency, Availability, Partition Tolerance</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c) Concurrency, Availability, Performance</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d) Consistency, Accessibility, Persistence</a:t>
            </a:r>
          </a:p>
          <a:p>
            <a:pPr marL="342900" indent="-342900">
              <a:buFont typeface="+mj-lt"/>
              <a:buAutoNum type="arabicPeriod"/>
            </a:pPr>
            <a:endParaRPr lang="en-US" sz="1600" dirty="0" smtClean="0">
              <a:latin typeface="Times New Roman" pitchFamily="18" charset="0"/>
              <a:cs typeface="Times New Roman" pitchFamily="18" charset="0"/>
            </a:endParaRPr>
          </a:p>
          <a:p>
            <a:pPr marL="342900" indent="-342900">
              <a:buFont typeface="+mj-lt"/>
              <a:buAutoNum type="arabicPeriod"/>
            </a:pPr>
            <a:r>
              <a:rPr lang="en-US" sz="1600" dirty="0" smtClean="0">
                <a:latin typeface="Times New Roman" pitchFamily="18" charset="0"/>
                <a:cs typeface="Times New Roman" pitchFamily="18" charset="0"/>
              </a:rPr>
              <a:t>Eventual consistency guarantees that:</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a) Data is always consistent</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b) Data is never consistent</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c) Data becomes consistent over time if no new updates occur</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d) Data is consistent only during failures</a:t>
            </a:r>
          </a:p>
          <a:p>
            <a:pPr marL="342900" indent="-342900">
              <a:buFont typeface="+mj-lt"/>
              <a:buAutoNum type="arabicPeriod"/>
            </a:pPr>
            <a:endParaRPr lang="en-US" sz="1600" dirty="0" smtClean="0">
              <a:latin typeface="Times New Roman" pitchFamily="18" charset="0"/>
              <a:cs typeface="Times New Roman" pitchFamily="18" charset="0"/>
            </a:endParaRPr>
          </a:p>
          <a:p>
            <a:pPr marL="342900" indent="-342900">
              <a:buFont typeface="+mj-lt"/>
              <a:buAutoNum type="arabicPeriod"/>
            </a:pPr>
            <a:r>
              <a:rPr lang="en-US" sz="1600" dirty="0" smtClean="0">
                <a:latin typeface="Times New Roman" pitchFamily="18" charset="0"/>
                <a:cs typeface="Times New Roman" pitchFamily="18" charset="0"/>
              </a:rPr>
              <a:t>Which CAP properties are chosen by eventually consistent systems?</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a) Consistency and Availability</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b) Consistency and Partition Tolerance</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c) Availability and Partition Tolerance</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d) Consistency only</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spc="-10" dirty="0" smtClean="0">
                <a:latin typeface="Times New Roman" panose="02020503050405090304" pitchFamily="18" charset="0"/>
                <a:cs typeface="Times New Roman" panose="02020503050405090304" pitchFamily="18" charset="0"/>
                <a:sym typeface="+mn-ea"/>
              </a:rPr>
              <a:t>Quiz</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4585"/>
            <a:ext cx="8001000" cy="3799205"/>
          </a:xfrm>
          <a:prstGeom prst="rect">
            <a:avLst/>
          </a:prstGeom>
        </p:spPr>
        <p:txBody>
          <a:bodyPr vert="horz" wrap="square" lIns="0" tIns="12700" rIns="0" bIns="0" rtlCol="0">
            <a:noAutofit/>
          </a:bodyPr>
          <a:lstStyle/>
          <a:p>
            <a:pPr marL="342900" indent="-342900">
              <a:buFont typeface="+mj-lt"/>
              <a:buAutoNum type="arabicPeriod"/>
            </a:pPr>
            <a:r>
              <a:rPr lang="en-US" sz="1600" b="1" dirty="0" smtClean="0">
                <a:latin typeface="Times New Roman" pitchFamily="18" charset="0"/>
                <a:cs typeface="Times New Roman" pitchFamily="18" charset="0"/>
              </a:rPr>
              <a:t>What is Eventual Consistency?</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Eventual consistency is a consistency model in which all replicas of data may not be updated immediately, but they will eventually become consistent if no new updates occur.</a:t>
            </a:r>
          </a:p>
          <a:p>
            <a:pPr marL="342900" indent="-342900">
              <a:buFont typeface="+mj-lt"/>
              <a:buAutoNum type="arabicPeriod"/>
            </a:pPr>
            <a:r>
              <a:rPr lang="en-US" sz="1600" b="1" dirty="0" smtClean="0">
                <a:latin typeface="Times New Roman" pitchFamily="18" charset="0"/>
                <a:cs typeface="Times New Roman" pitchFamily="18" charset="0"/>
              </a:rPr>
              <a:t>Why is Eventual Consistency used in distributed systems?</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It is used to improve availability, scalability, and performance, especially in systems spread across multiple nodes or geographic locations.</a:t>
            </a:r>
          </a:p>
          <a:p>
            <a:pPr marL="342900" indent="-342900">
              <a:buFont typeface="+mj-lt"/>
              <a:buAutoNum type="arabicPeriod"/>
            </a:pPr>
            <a:r>
              <a:rPr lang="en-US" sz="1600" b="1" dirty="0" smtClean="0">
                <a:latin typeface="Times New Roman" pitchFamily="18" charset="0"/>
                <a:cs typeface="Times New Roman" pitchFamily="18" charset="0"/>
              </a:rPr>
              <a:t>How does Eventual Consistency relate to the CAP Theorem?</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In the CAP theorem, systems using eventual consistency prioritize Availability and Partition Tolerance over strong Consistency.</a:t>
            </a:r>
          </a:p>
          <a:p>
            <a:pPr marL="342900" indent="-342900">
              <a:buFont typeface="+mj-lt"/>
              <a:buAutoNum type="arabicPeriod"/>
            </a:pPr>
            <a:r>
              <a:rPr lang="en-US" sz="1600" b="1" dirty="0" smtClean="0">
                <a:latin typeface="Times New Roman" pitchFamily="18" charset="0"/>
                <a:cs typeface="Times New Roman" pitchFamily="18" charset="0"/>
              </a:rPr>
              <a:t>What are the advantages of Eventual Consistency?</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Higher system availability, low latency, fault tolerance, and better scalability in large distributed systems.</a:t>
            </a:r>
          </a:p>
          <a:p>
            <a:pPr marL="342900" indent="-342900">
              <a:buFont typeface="+mj-lt"/>
              <a:buAutoNum type="arabicPeriod"/>
            </a:pPr>
            <a:r>
              <a:rPr lang="en-US" sz="1600" b="1" dirty="0" smtClean="0">
                <a:latin typeface="Times New Roman" pitchFamily="18" charset="0"/>
                <a:cs typeface="Times New Roman" pitchFamily="18" charset="0"/>
              </a:rPr>
              <a:t>What are the limitations of Eventual Consistency?</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Temporary data inconsistency and stale reads, making it unsuitable for applications requiring strict real-time accuracy such as banking transactions.</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spc="-10" dirty="0" smtClean="0">
                <a:latin typeface="Times New Roman" panose="02020503050405090304" pitchFamily="18" charset="0"/>
                <a:cs typeface="Times New Roman" panose="02020503050405090304" pitchFamily="18" charset="0"/>
                <a:sym typeface="+mn-ea"/>
              </a:rPr>
              <a:t>FAQ’s</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body" idx="1"/>
          </p:nvPr>
        </p:nvSpPr>
        <p:spPr>
          <a:xfrm>
            <a:off x="762000" y="1123950"/>
            <a:ext cx="7982585" cy="3582035"/>
          </a:xfrm>
          <a:prstGeom prst="rect">
            <a:avLst/>
          </a:prstGeom>
        </p:spPr>
        <p:txBody>
          <a:bodyPr vert="horz" wrap="square" lIns="0" tIns="15875" rIns="0" bIns="0" rtlCol="0">
            <a:noAutofit/>
          </a:bodyPr>
          <a:lstStyle/>
          <a:p>
            <a:pPr marL="12700">
              <a:lnSpc>
                <a:spcPct val="150000"/>
              </a:lnSpc>
              <a:spcBef>
                <a:spcPts val="125"/>
              </a:spcBef>
            </a:pPr>
            <a:r>
              <a:rPr lang="en-US" altLang="en-US" sz="1600" i="0" dirty="0">
                <a:solidFill>
                  <a:schemeClr val="tx1"/>
                </a:solidFill>
                <a:latin typeface="Times New Roman Bold" panose="02020503050405090304" charset="0"/>
                <a:cs typeface="Times New Roman Bold" panose="02020503050405090304" charset="0"/>
              </a:rPr>
              <a:t>Book Reference:</a:t>
            </a:r>
            <a:endParaRPr lang="en-US" altLang="en-US" sz="1600" b="0" i="0" dirty="0">
              <a:solidFill>
                <a:schemeClr val="tx1"/>
              </a:solidFill>
              <a:latin typeface="Times New Roman" panose="02020503050405090304" pitchFamily="18" charset="0"/>
              <a:cs typeface="Times New Roman" panose="02020503050405090304" pitchFamily="18" charset="0"/>
            </a:endParaRPr>
          </a:p>
          <a:p>
            <a:pPr algn="just">
              <a:buFont typeface="Arial" pitchFamily="34" charset="0"/>
              <a:buChar char="•"/>
            </a:pPr>
            <a:r>
              <a:rPr lang="en-US" sz="1600" b="0" i="0" dirty="0" smtClean="0">
                <a:solidFill>
                  <a:schemeClr val="tx1"/>
                </a:solidFill>
              </a:rPr>
              <a:t> </a:t>
            </a:r>
            <a:r>
              <a:rPr lang="en-US" sz="1600" b="0" i="0" dirty="0" err="1" smtClean="0">
                <a:solidFill>
                  <a:schemeClr val="tx1"/>
                </a:solidFill>
              </a:rPr>
              <a:t>Kleppmann</a:t>
            </a:r>
            <a:r>
              <a:rPr lang="en-US" sz="1600" b="0" i="0" dirty="0" smtClean="0">
                <a:solidFill>
                  <a:schemeClr val="tx1"/>
                </a:solidFill>
              </a:rPr>
              <a:t>, Martin</a:t>
            </a:r>
            <a:br>
              <a:rPr lang="en-US" sz="1600" b="0" i="0" dirty="0" smtClean="0">
                <a:solidFill>
                  <a:schemeClr val="tx1"/>
                </a:solidFill>
              </a:rPr>
            </a:br>
            <a:r>
              <a:rPr lang="en-US" sz="1600" b="0" i="0" dirty="0" smtClean="0">
                <a:solidFill>
                  <a:schemeClr val="tx1"/>
                </a:solidFill>
              </a:rPr>
              <a:t>Designing Data-Intensive Applications, O’Reilly Media, 2017.</a:t>
            </a:r>
          </a:p>
          <a:p>
            <a:pPr algn="just">
              <a:buFont typeface="Arial" pitchFamily="34" charset="0"/>
              <a:buChar char="•"/>
            </a:pPr>
            <a:r>
              <a:rPr lang="en-US" sz="1600" b="0" i="0" dirty="0" smtClean="0">
                <a:solidFill>
                  <a:schemeClr val="tx1"/>
                </a:solidFill>
              </a:rPr>
              <a:t> </a:t>
            </a:r>
            <a:r>
              <a:rPr lang="en-US" sz="1600" b="0" i="0" dirty="0" err="1" smtClean="0">
                <a:solidFill>
                  <a:schemeClr val="tx1"/>
                </a:solidFill>
              </a:rPr>
              <a:t>Tanenbaum</a:t>
            </a:r>
            <a:r>
              <a:rPr lang="en-US" sz="1600" b="0" i="0" dirty="0" smtClean="0">
                <a:solidFill>
                  <a:schemeClr val="tx1"/>
                </a:solidFill>
              </a:rPr>
              <a:t>, Andrew S., &amp; Van Steen, Maarten</a:t>
            </a:r>
            <a:br>
              <a:rPr lang="en-US" sz="1600" b="0" i="0" dirty="0" smtClean="0">
                <a:solidFill>
                  <a:schemeClr val="tx1"/>
                </a:solidFill>
              </a:rPr>
            </a:br>
            <a:r>
              <a:rPr lang="en-US" sz="1600" b="0" i="0" dirty="0" smtClean="0">
                <a:solidFill>
                  <a:schemeClr val="tx1"/>
                </a:solidFill>
              </a:rPr>
              <a:t>Distributed Systems: Principles and Paradigms, 2nd Edition, Pearson.</a:t>
            </a:r>
          </a:p>
          <a:p>
            <a:pPr marL="12700">
              <a:lnSpc>
                <a:spcPct val="150000"/>
              </a:lnSpc>
              <a:spcBef>
                <a:spcPts val="125"/>
              </a:spcBef>
            </a:pPr>
            <a:endParaRPr lang="en-US" altLang="en-US" sz="1600" i="0" dirty="0" smtClean="0">
              <a:solidFill>
                <a:schemeClr val="tx1"/>
              </a:solidFill>
              <a:latin typeface="Times New Roman Bold" panose="02020503050405090304" charset="0"/>
              <a:cs typeface="Times New Roman Bold" panose="02020503050405090304" charset="0"/>
            </a:endParaRPr>
          </a:p>
          <a:p>
            <a:pPr marL="12700">
              <a:lnSpc>
                <a:spcPct val="150000"/>
              </a:lnSpc>
              <a:spcBef>
                <a:spcPts val="125"/>
              </a:spcBef>
            </a:pPr>
            <a:r>
              <a:rPr lang="en-US" altLang="en-US" sz="1600" i="0" dirty="0" smtClean="0">
                <a:solidFill>
                  <a:schemeClr val="tx1"/>
                </a:solidFill>
                <a:latin typeface="Times New Roman Bold" panose="02020503050405090304" charset="0"/>
                <a:cs typeface="Times New Roman Bold" panose="02020503050405090304" charset="0"/>
              </a:rPr>
              <a:t>Tutorial </a:t>
            </a:r>
            <a:r>
              <a:rPr lang="en-US" altLang="en-US" sz="1600" i="0" dirty="0">
                <a:solidFill>
                  <a:schemeClr val="tx1"/>
                </a:solidFill>
                <a:latin typeface="Times New Roman Bold" panose="02020503050405090304" charset="0"/>
                <a:cs typeface="Times New Roman Bold" panose="02020503050405090304" charset="0"/>
              </a:rPr>
              <a:t>Link:</a:t>
            </a: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b="0" i="0" dirty="0" smtClean="0">
                <a:solidFill>
                  <a:schemeClr val="tx1"/>
                </a:solidFill>
                <a:latin typeface="Times New Roman" panose="02020503050405090304" pitchFamily="18" charset="0"/>
                <a:cs typeface="Times New Roman" panose="02020503050405090304" pitchFamily="18" charset="0"/>
              </a:rPr>
              <a:t>https://www.youtube.com/watch?v=BHqjEjzAicA&amp;t=22s </a:t>
            </a:r>
          </a:p>
          <a:p>
            <a:pPr marL="12700">
              <a:lnSpc>
                <a:spcPct val="150000"/>
              </a:lnSpc>
              <a:spcBef>
                <a:spcPts val="125"/>
              </a:spcBef>
            </a:pPr>
            <a:r>
              <a:rPr lang="en-US" altLang="en-US" sz="1600" i="0" dirty="0" smtClean="0">
                <a:solidFill>
                  <a:schemeClr val="tx1"/>
                </a:solidFill>
                <a:latin typeface="Times New Roman Bold" panose="02020503050405090304" charset="0"/>
                <a:cs typeface="Times New Roman Bold" panose="02020503050405090304" charset="0"/>
              </a:rPr>
              <a:t>Video </a:t>
            </a:r>
            <a:r>
              <a:rPr lang="en-US" altLang="en-US" sz="1600" i="0" dirty="0">
                <a:solidFill>
                  <a:schemeClr val="tx1"/>
                </a:solidFill>
                <a:latin typeface="Times New Roman Bold" panose="02020503050405090304" charset="0"/>
                <a:cs typeface="Times New Roman Bold" panose="02020503050405090304" charset="0"/>
              </a:rPr>
              <a:t>Link:</a:t>
            </a: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b="0" i="0" dirty="0" smtClean="0">
                <a:solidFill>
                  <a:schemeClr val="tx1"/>
                </a:solidFill>
                <a:latin typeface="Times New Roman" panose="02020503050405090304" pitchFamily="18" charset="0"/>
                <a:cs typeface="Times New Roman" panose="02020503050405090304" pitchFamily="18" charset="0"/>
              </a:rPr>
              <a:t>https://www.youtube.com/watch?v=8UryASGBiR4</a:t>
            </a:r>
            <a:endParaRPr lang="en-US" altLang="en-US" sz="1600" b="0" i="0" dirty="0">
              <a:solidFill>
                <a:schemeClr val="tx1"/>
              </a:solidFill>
              <a:latin typeface="Times New Roman" panose="02020503050405090304" pitchFamily="18" charset="0"/>
              <a:cs typeface="Times New Roman" panose="02020503050405090304"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dirty="0">
                <a:latin typeface="Times New Roman" panose="02020503050405090304" pitchFamily="18" charset="0"/>
                <a:cs typeface="Times New Roman" panose="02020503050405090304" pitchFamily="18" charset="0"/>
                <a:sym typeface="+mn-ea"/>
              </a:rPr>
              <a:t>References/</a:t>
            </a:r>
            <a:r>
              <a:rPr sz="2400" spc="-90" dirty="0">
                <a:latin typeface="Times New Roman" panose="02020503050405090304" pitchFamily="18" charset="0"/>
                <a:cs typeface="Times New Roman" panose="02020503050405090304" pitchFamily="18" charset="0"/>
                <a:sym typeface="+mn-ea"/>
              </a:rPr>
              <a:t> </a:t>
            </a:r>
            <a:r>
              <a:rPr sz="2400" dirty="0">
                <a:latin typeface="Times New Roman" panose="02020503050405090304" pitchFamily="18" charset="0"/>
                <a:cs typeface="Times New Roman" panose="02020503050405090304" pitchFamily="18" charset="0"/>
                <a:sym typeface="+mn-ea"/>
              </a:rPr>
              <a:t>Articles/</a:t>
            </a:r>
            <a:r>
              <a:rPr sz="2400" spc="-85" dirty="0">
                <a:latin typeface="Times New Roman" panose="02020503050405090304" pitchFamily="18" charset="0"/>
                <a:cs typeface="Times New Roman" panose="02020503050405090304" pitchFamily="18" charset="0"/>
                <a:sym typeface="+mn-ea"/>
              </a:rPr>
              <a:t> </a:t>
            </a:r>
            <a:r>
              <a:rPr sz="2400" spc="-10" dirty="0">
                <a:latin typeface="Times New Roman" panose="02020503050405090304" pitchFamily="18" charset="0"/>
                <a:cs typeface="Times New Roman" panose="02020503050405090304" pitchFamily="18" charset="0"/>
                <a:sym typeface="+mn-ea"/>
              </a:rPr>
              <a:t>Videos</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spc="-10" dirty="0">
                <a:latin typeface="Times New Roman" panose="02020503050405090304" pitchFamily="18" charset="0"/>
                <a:cs typeface="Times New Roman" panose="02020503050405090304" pitchFamily="18" charset="0"/>
                <a:sym typeface="+mn-ea"/>
              </a:rPr>
              <a:t>Class-Wise Feedback</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
        <p:nvSpPr>
          <p:cNvPr id="15362" name="AutoShape 2" descr="Homogeneous Distributed Database (Self Creation) | Download Scientific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7" name="Picture 6" descr="qr-code-bee-is.png"/>
          <p:cNvPicPr>
            <a:picLocks noChangeAspect="1"/>
          </p:cNvPicPr>
          <p:nvPr/>
        </p:nvPicPr>
        <p:blipFill>
          <a:blip r:embed="rId2" cstate="print"/>
          <a:stretch>
            <a:fillRect/>
          </a:stretch>
        </p:blipFill>
        <p:spPr>
          <a:xfrm>
            <a:off x="2496457" y="986972"/>
            <a:ext cx="3979636" cy="312601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547306" rIns="0" bIns="0" rtlCol="0">
            <a:spAutoFit/>
          </a:bodyPr>
          <a:lstStyle/>
          <a:p>
            <a:pPr marL="1548765">
              <a:lnSpc>
                <a:spcPct val="100000"/>
              </a:lnSpc>
              <a:spcBef>
                <a:spcPts val="90"/>
              </a:spcBef>
            </a:pPr>
            <a:r>
              <a:rPr spc="-819" dirty="0"/>
              <a:t>Thank</a:t>
            </a:r>
            <a:r>
              <a:rPr spc="-30" dirty="0"/>
              <a:t> </a:t>
            </a:r>
            <a:r>
              <a:rPr spc="-580" dirty="0"/>
              <a:t>You</a:t>
            </a:r>
          </a:p>
        </p:txBody>
      </p:sp>
      <p:sp>
        <p:nvSpPr>
          <p:cNvPr id="3" name="object 3"/>
          <p:cNvSpPr txBox="1"/>
          <p:nvPr/>
        </p:nvSpPr>
        <p:spPr>
          <a:xfrm>
            <a:off x="1759585" y="4324350"/>
            <a:ext cx="5624830" cy="323850"/>
          </a:xfrm>
          <a:prstGeom prst="rect">
            <a:avLst/>
          </a:prstGeom>
        </p:spPr>
        <p:txBody>
          <a:bodyPr vert="horz" wrap="square" lIns="0" tIns="16510" rIns="0" bIns="0" rtlCol="0">
            <a:spAutoFit/>
          </a:bodyPr>
          <a:lstStyle/>
          <a:p>
            <a:pPr marL="12700">
              <a:lnSpc>
                <a:spcPct val="100000"/>
              </a:lnSpc>
              <a:spcBef>
                <a:spcPts val="130"/>
              </a:spcBef>
            </a:pPr>
            <a:r>
              <a:rPr sz="2000" dirty="0">
                <a:latin typeface="Times New Roman" pitchFamily="18" charset="0"/>
                <a:cs typeface="Times New Roman" pitchFamily="18" charset="0"/>
              </a:rPr>
              <a:t>For</a:t>
            </a:r>
            <a:r>
              <a:rPr sz="2000" spc="-10" dirty="0">
                <a:latin typeface="Times New Roman" pitchFamily="18" charset="0"/>
                <a:cs typeface="Times New Roman" pitchFamily="18" charset="0"/>
              </a:rPr>
              <a:t> queries</a:t>
            </a:r>
            <a:r>
              <a:rPr lang="en-US" altLang="" sz="2000" spc="-10" dirty="0">
                <a:latin typeface="Times New Roman" pitchFamily="18" charset="0"/>
                <a:cs typeface="Times New Roman" pitchFamily="18" charset="0"/>
              </a:rPr>
              <a:t> </a:t>
            </a:r>
            <a:r>
              <a:rPr sz="2000" dirty="0">
                <a:latin typeface="Times New Roman" pitchFamily="18" charset="0"/>
                <a:cs typeface="Times New Roman" pitchFamily="18" charset="0"/>
              </a:rPr>
              <a:t>Email:</a:t>
            </a:r>
            <a:r>
              <a:rPr lang="en-US" altLang="" sz="2000" dirty="0">
                <a:latin typeface="Times New Roman" pitchFamily="18" charset="0"/>
                <a:cs typeface="Times New Roman" pitchFamily="18" charset="0"/>
              </a:rPr>
              <a:t> </a:t>
            </a:r>
            <a:r>
              <a:rPr lang="en-US" sz="2000" spc="-10" dirty="0" smtClean="0">
                <a:latin typeface="Times New Roman" pitchFamily="18" charset="0"/>
                <a:cs typeface="Times New Roman" pitchFamily="18" charset="0"/>
                <a:hlinkClick r:id="rId2"/>
              </a:rPr>
              <a:t>kamaljee</a:t>
            </a:r>
            <a:r>
              <a:rPr lang="en-US" sz="2000" u="sng" spc="-10" dirty="0" smtClean="0">
                <a:solidFill>
                  <a:srgbClr val="1C3678"/>
                </a:solidFill>
                <a:uFill>
                  <a:solidFill>
                    <a:srgbClr val="1C3678"/>
                  </a:solidFill>
                </a:uFill>
                <a:latin typeface="Times New Roman" pitchFamily="18" charset="0"/>
                <a:cs typeface="Times New Roman" pitchFamily="18" charset="0"/>
                <a:hlinkClick r:id="rId3"/>
              </a:rPr>
              <a:t>t</a:t>
            </a:r>
            <a:r>
              <a:rPr sz="2000" spc="-10" dirty="0" smtClean="0">
                <a:latin typeface="Times New Roman" pitchFamily="18" charset="0"/>
                <a:cs typeface="Times New Roman" pitchFamily="18" charset="0"/>
                <a:hlinkClick r:id="rId2"/>
              </a:rPr>
              <a:t>.e1</a:t>
            </a:r>
            <a:r>
              <a:rPr lang="en-US" sz="2000" spc="-10" dirty="0" smtClean="0">
                <a:latin typeface="Times New Roman" pitchFamily="18" charset="0"/>
                <a:cs typeface="Times New Roman" pitchFamily="18" charset="0"/>
                <a:hlinkClick r:id="rId2"/>
              </a:rPr>
              <a:t>9147</a:t>
            </a:r>
            <a:r>
              <a:rPr sz="2000" spc="-10" dirty="0" smtClean="0">
                <a:latin typeface="Times New Roman" pitchFamily="18" charset="0"/>
                <a:cs typeface="Times New Roman" pitchFamily="18" charset="0"/>
                <a:hlinkClick r:id="rId2"/>
              </a:rPr>
              <a:t>@cumail.in</a:t>
            </a:r>
            <a:endParaRPr sz="20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1136</TotalTime>
  <Words>887</Words>
  <Application>Microsoft Office PowerPoint</Application>
  <PresentationFormat>On-screen Show (16:9)</PresentationFormat>
  <Paragraphs>114</Paragraphs>
  <Slides>20</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2" baseType="lpstr">
      <vt:lpstr>Office Theme</vt:lpstr>
      <vt:lpstr>CorelDRAW</vt:lpstr>
      <vt:lpstr>Slide 1</vt:lpstr>
      <vt:lpstr>Slide 2</vt:lpstr>
      <vt:lpstr>Course Outcomes</vt:lpstr>
      <vt:lpstr>Unit-1 Syllabus</vt:lpstr>
      <vt:lpstr>Slide 5</vt:lpstr>
      <vt:lpstr>Slide 6</vt:lpstr>
      <vt:lpstr>    CAP Theorem Components </vt:lpstr>
      <vt:lpstr>Slide 8</vt:lpstr>
      <vt:lpstr>Slide 9</vt:lpstr>
      <vt:lpstr>Slide 10</vt:lpstr>
      <vt:lpstr>Slide 11</vt:lpstr>
      <vt:lpstr>Slide 12</vt:lpstr>
      <vt:lpstr>Slide 13</vt:lpstr>
      <vt:lpstr>Summary of the Lecture</vt:lpstr>
      <vt:lpstr>Slide 15</vt:lpstr>
      <vt:lpstr>Slide 16</vt:lpstr>
      <vt:lpstr>Slide 17</vt:lpstr>
      <vt:lpstr>Slide 18</vt:lpstr>
      <vt:lpstr>Slide 19</vt:lpstr>
      <vt:lpstr>Slide 20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APEX INSTITUTE OF TECHNOLOGY DEPARTMENT OF COMPUTER SCIENCE &amp; ENGINEERING</dc:title>
  <dc:creator>DELL-LATITUDE</dc:creator>
  <cp:lastModifiedBy>DELL-LATITUDE</cp:lastModifiedBy>
  <cp:revision>165</cp:revision>
  <dcterms:created xsi:type="dcterms:W3CDTF">2025-12-03T05:18:11Z</dcterms:created>
  <dcterms:modified xsi:type="dcterms:W3CDTF">2025-12-15T05:44:22Z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2025-11-29T05:30:00Z</vt:filetime>
  </property>
  <property fmtid="{D5CDD505-2E9C-101B-9397-08002B2CF9AE}" pid="3" name="LastSaved">
    <vt:filetime>2025-11-30T05:30:00Z</vt:filetime>
  </property>
  <property fmtid="{D5CDD505-2E9C-101B-9397-08002B2CF9AE}" pid="4" name="ICV">
    <vt:lpwstr>BE53AF1E6976AF6A8CBC2F69ADEE211E_42</vt:lpwstr>
  </property>
  <property fmtid="{D5CDD505-2E9C-101B-9397-08002B2CF9AE}" pid="5" name="KSOProductBuildVer">
    <vt:lpwstr>1033-12.1.23143.23143</vt:lpwstr>
  </property>
</Properties>
</file>