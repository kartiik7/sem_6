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9"/>
  </p:notesMasterIdLst>
  <p:handoutMasterIdLst>
    <p:handoutMasterId r:id="rId40"/>
  </p:handoutMasterIdLst>
  <p:sldIdLst>
    <p:sldId id="256" r:id="rId2"/>
    <p:sldId id="395" r:id="rId3"/>
    <p:sldId id="308" r:id="rId4"/>
    <p:sldId id="309" r:id="rId5"/>
    <p:sldId id="310" r:id="rId6"/>
    <p:sldId id="311" r:id="rId7"/>
    <p:sldId id="312" r:id="rId8"/>
    <p:sldId id="388" r:id="rId9"/>
    <p:sldId id="378" r:id="rId10"/>
    <p:sldId id="379" r:id="rId11"/>
    <p:sldId id="390" r:id="rId12"/>
    <p:sldId id="389" r:id="rId13"/>
    <p:sldId id="313" r:id="rId14"/>
    <p:sldId id="314" r:id="rId15"/>
    <p:sldId id="380" r:id="rId16"/>
    <p:sldId id="381" r:id="rId17"/>
    <p:sldId id="382" r:id="rId18"/>
    <p:sldId id="383" r:id="rId19"/>
    <p:sldId id="384" r:id="rId20"/>
    <p:sldId id="315" r:id="rId21"/>
    <p:sldId id="385" r:id="rId22"/>
    <p:sldId id="386" r:id="rId23"/>
    <p:sldId id="387" r:id="rId24"/>
    <p:sldId id="318" r:id="rId25"/>
    <p:sldId id="391" r:id="rId26"/>
    <p:sldId id="392" r:id="rId27"/>
    <p:sldId id="393" r:id="rId28"/>
    <p:sldId id="394" r:id="rId29"/>
    <p:sldId id="319" r:id="rId30"/>
    <p:sldId id="370" r:id="rId31"/>
    <p:sldId id="373" r:id="rId32"/>
    <p:sldId id="374" r:id="rId33"/>
    <p:sldId id="375" r:id="rId34"/>
    <p:sldId id="376" r:id="rId35"/>
    <p:sldId id="377" r:id="rId36"/>
    <p:sldId id="307" r:id="rId37"/>
    <p:sldId id="305" r:id="rId38"/>
  </p:sldIdLst>
  <p:sldSz cx="9144000" cy="5143500" type="screen16x9"/>
  <p:notesSz cx="6858000" cy="9144000"/>
  <p:embeddedFontLst>
    <p:embeddedFont>
      <p:font typeface="Cambria" panose="02040503050406030204" pitchFamily="18" charset="0"/>
      <p:regular r:id="rId41"/>
      <p:bold r:id="rId42"/>
      <p:italic r:id="rId43"/>
      <p:boldItalic r:id="rId44"/>
    </p:embeddedFont>
    <p:embeddedFont>
      <p:font typeface="Lato" panose="020F0502020204030203" pitchFamily="34" charset="0"/>
      <p:regular r:id="rId45"/>
      <p:bold r:id="rId46"/>
      <p:italic r:id="rId47"/>
      <p:boldItalic r:id="rId48"/>
    </p:embeddedFont>
    <p:embeddedFont>
      <p:font typeface="Vladimir Script" panose="03050402040407070305" pitchFamily="66" charset="0"/>
      <p:regular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0"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04" autoAdjust="0"/>
  </p:normalViewPr>
  <p:slideViewPr>
    <p:cSldViewPr snapToGrid="0">
      <p:cViewPr varScale="1">
        <p:scale>
          <a:sx n="88" d="100"/>
          <a:sy n="88" d="100"/>
        </p:scale>
        <p:origin x="588" y="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84"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font" Target="fonts/font5.fntdata"/><Relationship Id="rId5" Type="http://schemas.openxmlformats.org/officeDocument/2006/relationships/slide" Target="slides/slide4.xml"/><Relationship Id="rId82"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80"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9B809D-6ED6-587F-BB95-5957722B987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4F80FB5-5BC0-7B8E-8E12-B22202F8E8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62F495-7282-46A0-973C-B2C5688CF367}" type="datetimeFigureOut">
              <a:rPr lang="en-IN" smtClean="0"/>
              <a:t>02-12-2025</a:t>
            </a:fld>
            <a:endParaRPr lang="en-IN"/>
          </a:p>
        </p:txBody>
      </p:sp>
      <p:sp>
        <p:nvSpPr>
          <p:cNvPr id="4" name="Footer Placeholder 3">
            <a:extLst>
              <a:ext uri="{FF2B5EF4-FFF2-40B4-BE49-F238E27FC236}">
                <a16:creationId xmlns:a16="http://schemas.microsoft.com/office/drawing/2014/main" id="{621B4BEF-1062-CF90-94F5-0D84A30E08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7B9952C-A29B-EE9B-C695-68271854775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D9E412C-8FF0-451F-B78D-23681CAA499D}" type="slidenum">
              <a:rPr lang="en-IN" smtClean="0"/>
              <a:t>‹#›</a:t>
            </a:fld>
            <a:endParaRPr lang="en-IN"/>
          </a:p>
        </p:txBody>
      </p:sp>
    </p:spTree>
    <p:extLst>
      <p:ext uri="{BB962C8B-B14F-4D97-AF65-F5344CB8AC3E}">
        <p14:creationId xmlns:p14="http://schemas.microsoft.com/office/powerpoint/2010/main" val="400323505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4F22B2D-5F79-437B-A011-BBC47D7BB1D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65DE9DE-CAE0-65AA-61A3-2DA78D76F1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530DD55-91C2-3B5A-5142-0DACDB3C90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71817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14C13F4-FB1C-C20C-026B-CE5D32314A2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A6557A7-7A72-CF03-86A2-E7BE372A41A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3E7F3F2-ED29-5428-E7DD-EFE3B240A9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89313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B043034-63D9-A039-93E5-1764AB2793A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C57E03B-6D6D-B7F8-237E-E7CF90C06A9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1306E5B-8032-D26B-CD43-5AED70BC6F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7099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D894A85-83AF-7440-397E-527B54822C6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9C2093A-3BD4-9A88-C5E2-F7C31E7A08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6DECF4C-468D-CCE2-03E4-E19F9D8253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66495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68ED189-E8E3-7069-CB28-E59A2FA65CA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0A7FE95-7554-96B9-DA63-10263205F4B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F71D8EA-9D6E-4B29-D288-301D3C1747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95282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C5D3F77-AAFA-5556-31C4-0A822CCFA78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30D99F6-5168-8B6F-96D2-749B93A1680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4C03FB1-3FB1-6E95-FC8B-A6744FD53A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14743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0811162-2F7A-BCBF-5FB3-DFFC8081975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F3DC532-7C53-C1F3-D26B-14C740427E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1FC9CEC-DA24-B537-99C7-34308BE9F9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688088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BAF4B08-290C-0F27-33AC-450AF7D3684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727B146-2F29-7447-1B7D-97C75A6328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C43B578-E541-6051-C48A-F59F3C112E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6002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D2A05E5-F4E8-24E5-AE8A-4834BF04DB3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9A0CD80-8F1F-7902-A5BB-878DE24D393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074E26A-273B-E353-C4D8-B9FCDCE67D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649371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E234202-14BB-B839-EF25-FDCDFADAEC1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99BCBCD-FEDD-6752-2D4B-714B7A55EB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2F3E24E-DCA1-EF46-C278-60C9CBF9C2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423592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D719017-413C-E084-E2D7-E01DFE04D5A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84AA064-F1C3-5A91-F1FB-E84E642AA9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5E868B8-E61F-AC38-ECA5-FAE08C8F20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3925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A71CA10-A8A0-AE3F-7A69-F6C1AD4A68D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EA9CF14-88CE-71E9-7C0A-EAB3580F99A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B9520688-B581-66F7-D3ED-15425A59E3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00149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B0CD81C-C297-DD3B-F8A9-206B63B84A9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42CE503-222D-0BB6-9C66-549EE8DA9B1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1604B2C5-1887-6726-65D2-E9C9282749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154123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9469281-4B13-9F23-3D09-7DA52C89368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D6D548C-0547-295E-B0BA-44BF66BB1D3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9AAD0030-0EF8-4D12-8589-450C698CD7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709760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FC2070E-9C40-A1C5-CA41-247A75E7D00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5A84421-791C-3A2C-1AC3-E5DD7B9EE05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DF35EA49-67F4-1584-5ED8-A214A7866A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358924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78E6322-34C3-1C8F-C129-CC7647284AE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952F8FCE-C51D-0908-2410-E84895D3850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C1D7DE20-5A8C-15FE-4F04-8F6A1B04EC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413488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C29EAFB-F2C8-3A7E-1285-5A60F7579E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D8278E8-B911-8510-66C7-7650F8430A9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54A59292-B568-0F03-0639-E541EBEB27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920056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BCEADA1-306D-29DE-FFEB-B948C4D0788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303A60C-B9EC-23B8-1707-7492C0DF60D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97125187-3CAA-C151-D8DF-FE307BD523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40742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8EF9CD-ADE7-080A-80CB-F3C6C690C44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DF44719-AFB9-DBE7-178C-080B8C4BF12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83AC663F-07E8-6FC2-AD2A-8902DB1029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710023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7B58686-A6F2-E738-0D60-E8622B13B68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34F77DD-9AF0-BF1C-A2A6-E78C016D42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F660C74D-790E-DBF4-5233-662C1E6E2A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77249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F1174F3-D169-2229-D7BF-AD1E7F34B38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86441E5-AD6D-3A4E-81D2-5224C7BA0F1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79102638-FF2A-B813-5ABD-D57E37FFF6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086271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42F284B-55DB-24E9-C7E1-DEE3FFAFF83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0C9C9F7-4B00-582E-A21C-A2F7011ACB6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27DE979-176B-3854-F326-939BFB09A4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838517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DD4C1AC-886E-D587-DBA0-5EB9840EB68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1B27090-7D8B-6AD7-1D61-A7518B08DF9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7090B47-3D28-6E05-93D1-506213957C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567101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050F679-47C7-3DAD-503C-E8767A89E9F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147FD51-A203-09AB-9337-4585D4D44F5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2164A3D-D448-8A3B-576C-1629EC0314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546878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226AC53-92A4-720A-61B5-6A9371788F0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E42E72D-F877-31A2-58F8-220EBB531F2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0984D42-F63D-2032-41A4-990895392F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963378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4FC698A-9013-7972-DC1E-21BC4EDFA2C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CF01036-D1E7-3B45-7FD3-E9E21767ABC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DE37384-607B-5181-EBFB-75F6B3F3D5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41646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081EAF1-FF9E-0BC1-67A7-C01F7E71B9F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1299AE9-7DD6-B71B-93AB-124FAB53C3C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B7C7D0D-53E9-A92A-235D-44CEAA46FF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55034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F870998-5AD5-37EE-11F0-0057066D836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242F551-0BEA-B7AE-96ED-C0084DD1CB7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7173E983-D4BA-3F27-79A5-8F183F2B63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68916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FA77362-E813-B9D1-32D3-5E9C3D02398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EE8BD31-C77D-61D3-5FCD-173896A901F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411DAC1-C9A2-9CDC-559C-2193D54D16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71716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817DC0F-94B4-8791-4D78-14CFC851F20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28406BF-38F5-13DE-5BC5-EA4A3B07D4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80C7E46A-048B-8AB5-E0FF-1CC7DE1512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139994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2B56442-3C7C-962E-3BDA-37D85BE1FD7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B525C3B-8460-D113-DAF7-49D9569CAD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997AB6D-ABCC-1690-248D-DADEB28988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63032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D12E867-6D8B-518F-E142-893872952C9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F87AE17-BB90-EC3E-153F-D5445788DE6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47FBE7-93FC-2416-906D-E19A987BCA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719731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2EA5CA5-6785-8D65-5F10-0981FA005E2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AA2EA74-CD63-B572-D9EE-548ED51846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AFBCA2B-AD55-3BF9-7430-F09A1B4D4F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84010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18237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830392" y="1191256"/>
            <a:ext cx="745763" cy="45826"/>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2" name="Google Shape;22;p3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3" name="Google Shape;23;p3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514350" y="664368"/>
            <a:ext cx="8213400" cy="4494010"/>
          </a:xfrm>
          <a:prstGeom prst="rect">
            <a:avLst/>
          </a:prstGeom>
          <a:noFill/>
          <a:ln>
            <a:noFill/>
          </a:ln>
        </p:spPr>
        <p:txBody>
          <a:bodyPr spcFirstLastPara="1" wrap="square" lIns="91425" tIns="45700" rIns="91425" bIns="45700" anchor="t" anchorCtr="0">
            <a:spAutoFit/>
          </a:bodyPr>
          <a:lstStyle/>
          <a:p>
            <a:pPr lvl="0" algn="ctr">
              <a:lnSpc>
                <a:spcPct val="90000"/>
              </a:lnSpc>
              <a:buClr>
                <a:schemeClr val="dk1"/>
              </a:buClr>
              <a:buSzPts val="3200"/>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ENGINEERING</a:t>
            </a:r>
            <a:endParaRPr lang="en-US" sz="105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ctr">
              <a:lnSpc>
                <a:spcPct val="90000"/>
              </a:lnSpc>
              <a:spcBef>
                <a:spcPts val="1120"/>
              </a:spcBef>
              <a:buClr>
                <a:schemeClr val="dk1"/>
              </a:buClr>
              <a:buSzPts val="3200"/>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AIT-CSE (AIML)</a:t>
            </a:r>
          </a:p>
          <a:p>
            <a:pPr lvl="0" algn="ctr">
              <a:lnSpc>
                <a:spcPct val="90000"/>
              </a:lnSpc>
              <a:spcBef>
                <a:spcPts val="1120"/>
              </a:spcBef>
              <a:buClr>
                <a:schemeClr val="dk1"/>
              </a:buClr>
              <a:buSzPts val="2800"/>
            </a:pPr>
            <a:endPar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endParaRPr>
          </a:p>
          <a:p>
            <a:pPr lvl="0" algn="ctr">
              <a:lnSpc>
                <a:spcPct val="90000"/>
              </a:lnSpc>
              <a:spcBef>
                <a:spcPts val="1120"/>
              </a:spcBef>
              <a:buClr>
                <a:schemeClr val="dk1"/>
              </a:buClr>
              <a:buSzPts val="2800"/>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CS221: B.E. CSE (AIML)</a:t>
            </a:r>
          </a:p>
          <a:p>
            <a:pPr lvl="0" algn="ctr">
              <a:lnSpc>
                <a:spcPct val="90000"/>
              </a:lnSpc>
              <a:spcBef>
                <a:spcPts val="1120"/>
              </a:spcBef>
              <a:buClr>
                <a:schemeClr val="dk1"/>
              </a:buClr>
              <a:buSzPts val="2800"/>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5</a:t>
            </a:r>
            <a:r>
              <a:rPr lang="en-US" sz="2000" baseline="30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th</a:t>
            </a: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 Semester </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980"/>
              </a:spcBef>
              <a:spcAft>
                <a:spcPts val="0"/>
              </a:spcAft>
              <a:buClr>
                <a:schemeClr val="dk1"/>
              </a:buClr>
              <a:buSzPts val="2800"/>
              <a:buFont typeface="Arial"/>
              <a:buNone/>
            </a:pPr>
            <a:r>
              <a:rPr lang="en-US" sz="2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ADVANCED MACHINE LEARNING &amp; MATHEMATICAL MODELLING</a:t>
            </a:r>
            <a:endParaRPr sz="20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980"/>
              </a:spcBef>
              <a:spcAft>
                <a:spcPts val="0"/>
              </a:spcAft>
              <a:buClr>
                <a:schemeClr val="dk1"/>
              </a:buClr>
              <a:buSzPts val="2800"/>
              <a:buFont typeface="Arial"/>
              <a:buNone/>
            </a:pPr>
            <a:r>
              <a:rPr lang="en-US" sz="24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(23CSH-382)</a:t>
            </a:r>
            <a:endParaRPr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Unit No. 1                                 Chapter No. 1                     Lecture No. 3, 4 &amp; 5</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Topic : Fundamental </a:t>
            </a:r>
            <a:r>
              <a:rPr lang="en-IN" sz="1800" b="1" dirty="0">
                <a:latin typeface="Calibri" panose="020F0502020204030204" pitchFamily="34" charset="0"/>
                <a:ea typeface="Calibri" panose="020F0502020204030204" pitchFamily="34" charset="0"/>
                <a:cs typeface="Calibri" panose="020F0502020204030204" pitchFamily="34" charset="0"/>
              </a:rPr>
              <a:t>Terminologies</a:t>
            </a:r>
            <a:r>
              <a:rPr lang="en-US" sz="1800" b="1" dirty="0">
                <a:latin typeface="Calibri" panose="020F0502020204030204" pitchFamily="34" charset="0"/>
                <a:ea typeface="Calibri" panose="020F0502020204030204" pitchFamily="34" charset="0"/>
                <a:cs typeface="Calibri" panose="020F0502020204030204" pitchFamily="34" charset="0"/>
              </a:rPr>
              <a:t> for Regression</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Mr. Siddharth Kumar (E12853)                                          Assistant Professor</a:t>
            </a: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Even Semester Jan-May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2BF4C75-B6D5-0F71-7046-B3B05669B5D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a:t>
            </a:r>
          </a:p>
        </p:txBody>
      </p:sp>
      <p:sp>
        <p:nvSpPr>
          <p:cNvPr id="2" name="Title 1">
            <a:extLst>
              <a:ext uri="{FF2B5EF4-FFF2-40B4-BE49-F238E27FC236}">
                <a16:creationId xmlns:a16="http://schemas.microsoft.com/office/drawing/2014/main" id="{ECAE4A14-02B1-C18D-9874-FFC261FDEE0A}"/>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COURSE OBJECTIVES</a:t>
            </a:r>
          </a:p>
        </p:txBody>
      </p:sp>
      <p:sp>
        <p:nvSpPr>
          <p:cNvPr id="3" name="Rectangle 2">
            <a:extLst>
              <a:ext uri="{FF2B5EF4-FFF2-40B4-BE49-F238E27FC236}">
                <a16:creationId xmlns:a16="http://schemas.microsoft.com/office/drawing/2014/main" id="{0220D0D4-31AB-9369-35E4-0090B3DE8E31}"/>
              </a:ext>
            </a:extLst>
          </p:cNvPr>
          <p:cNvSpPr/>
          <p:nvPr/>
        </p:nvSpPr>
        <p:spPr>
          <a:xfrm>
            <a:off x="254001" y="892662"/>
            <a:ext cx="8639575" cy="4162934"/>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The course aims to:</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develop a strong mathematical foundation for regression-based predictive modelling using calculus, matrix algebra, and probability theory.</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provide an in-depth understanding of supervised classification algorithms including KNN, Support Vector Machines, and ensemble-based boosting approaches.</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equip learners to implement clustering and probabilistic reasoning models such as Spectral Clustering, Markov Chains, Bayesian Networks, and HMMs.</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cultivate the ability to design neural networks, implement multilayer perceptron, and optimize training using backpropagation and regularization strategies.</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expose students to advanced deep learning frameworks, feature abstraction hierarchies, and performance enhancement through hyper-parameter tuning &amp; dropout.</a:t>
            </a:r>
          </a:p>
        </p:txBody>
      </p:sp>
    </p:spTree>
    <p:extLst>
      <p:ext uri="{BB962C8B-B14F-4D97-AF65-F5344CB8AC3E}">
        <p14:creationId xmlns:p14="http://schemas.microsoft.com/office/powerpoint/2010/main" val="2622060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4A61545-6A4D-7017-B491-26E651BDFB5C}"/>
            </a:ext>
          </a:extLst>
        </p:cNvPr>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8EF9DA49-4951-E941-E241-14B3A2DD2F28}"/>
              </a:ext>
            </a:extLst>
          </p:cNvPr>
          <p:cNvGraphicFramePr>
            <a:graphicFrameLocks noGrp="1"/>
          </p:cNvGraphicFramePr>
          <p:nvPr>
            <p:extLst>
              <p:ext uri="{D42A27DB-BD31-4B8C-83A1-F6EECF244321}">
                <p14:modId xmlns:p14="http://schemas.microsoft.com/office/powerpoint/2010/main" val="684569464"/>
              </p:ext>
            </p:extLst>
          </p:nvPr>
        </p:nvGraphicFramePr>
        <p:xfrm>
          <a:off x="370114" y="1343576"/>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CO1</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Recall the foundational concepts, terminology, and mathematical principles underlying regression, classification and clustering approaches.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3" name="Table 12">
            <a:extLst>
              <a:ext uri="{FF2B5EF4-FFF2-40B4-BE49-F238E27FC236}">
                <a16:creationId xmlns:a16="http://schemas.microsoft.com/office/drawing/2014/main" id="{8AF2C682-CBF0-7E25-04B3-5860944E6A64}"/>
              </a:ext>
            </a:extLst>
          </p:cNvPr>
          <p:cNvGraphicFramePr>
            <a:graphicFrameLocks noGrp="1"/>
          </p:cNvGraphicFramePr>
          <p:nvPr>
            <p:extLst>
              <p:ext uri="{D42A27DB-BD31-4B8C-83A1-F6EECF244321}">
                <p14:modId xmlns:p14="http://schemas.microsoft.com/office/powerpoint/2010/main" val="3082222650"/>
              </p:ext>
            </p:extLst>
          </p:nvPr>
        </p:nvGraphicFramePr>
        <p:xfrm>
          <a:off x="370114" y="1982202"/>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CO2</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Illustrate the working mechanisms, characteristics, and theoretical concept of regression, clustering and classification techniques in machine learning.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3F9FA6A1-E183-6583-0A92-556DD6E08F84}"/>
              </a:ext>
            </a:extLst>
          </p:cNvPr>
          <p:cNvGraphicFramePr>
            <a:graphicFrameLocks noGrp="1"/>
          </p:cNvGraphicFramePr>
          <p:nvPr>
            <p:extLst>
              <p:ext uri="{D42A27DB-BD31-4B8C-83A1-F6EECF244321}">
                <p14:modId xmlns:p14="http://schemas.microsoft.com/office/powerpoint/2010/main" val="516881431"/>
              </p:ext>
            </p:extLst>
          </p:nvPr>
        </p:nvGraphicFramePr>
        <p:xfrm>
          <a:off x="370114" y="2613573"/>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CO3</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Apply appropriate regression, clustering and classification algorithms to solve real-world machine learning tasks while addressing performance constraints.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5" name="Table 14">
            <a:extLst>
              <a:ext uri="{FF2B5EF4-FFF2-40B4-BE49-F238E27FC236}">
                <a16:creationId xmlns:a16="http://schemas.microsoft.com/office/drawing/2014/main" id="{9E480C33-6C30-CAFC-63F4-B97B14E40ABA}"/>
              </a:ext>
            </a:extLst>
          </p:cNvPr>
          <p:cNvGraphicFramePr>
            <a:graphicFrameLocks noGrp="1"/>
          </p:cNvGraphicFramePr>
          <p:nvPr>
            <p:extLst>
              <p:ext uri="{D42A27DB-BD31-4B8C-83A1-F6EECF244321}">
                <p14:modId xmlns:p14="http://schemas.microsoft.com/office/powerpoint/2010/main" val="2737371272"/>
              </p:ext>
            </p:extLst>
          </p:nvPr>
        </p:nvGraphicFramePr>
        <p:xfrm>
          <a:off x="370114" y="3237687"/>
          <a:ext cx="8523462" cy="82296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CO4</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Analyze and evaluate machine learning models using performance parameters to identify the best-suited techniques for specific applications regression, clustering and classification algorithms.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6" name="Table 15">
            <a:extLst>
              <a:ext uri="{FF2B5EF4-FFF2-40B4-BE49-F238E27FC236}">
                <a16:creationId xmlns:a16="http://schemas.microsoft.com/office/drawing/2014/main" id="{0B770020-E808-C51E-98C3-E13DADE63EE9}"/>
              </a:ext>
            </a:extLst>
          </p:cNvPr>
          <p:cNvGraphicFramePr>
            <a:graphicFrameLocks noGrp="1"/>
          </p:cNvGraphicFramePr>
          <p:nvPr>
            <p:extLst>
              <p:ext uri="{D42A27DB-BD31-4B8C-83A1-F6EECF244321}">
                <p14:modId xmlns:p14="http://schemas.microsoft.com/office/powerpoint/2010/main" val="882298138"/>
              </p:ext>
            </p:extLst>
          </p:nvPr>
        </p:nvGraphicFramePr>
        <p:xfrm>
          <a:off x="370114" y="4137573"/>
          <a:ext cx="8523462" cy="82296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CO5</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Design and implement optimized machine learning solutions by integrating regression, clustering and classification models to solve complex predictive and decision-making problems.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7" name="TextBox 6">
            <a:extLst>
              <a:ext uri="{FF2B5EF4-FFF2-40B4-BE49-F238E27FC236}">
                <a16:creationId xmlns:a16="http://schemas.microsoft.com/office/drawing/2014/main" id="{C964D7DB-49E2-0809-DAE7-02B55DB97E82}"/>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a:t>
            </a:r>
          </a:p>
        </p:txBody>
      </p:sp>
      <p:sp>
        <p:nvSpPr>
          <p:cNvPr id="2" name="Title 1">
            <a:extLst>
              <a:ext uri="{FF2B5EF4-FFF2-40B4-BE49-F238E27FC236}">
                <a16:creationId xmlns:a16="http://schemas.microsoft.com/office/drawing/2014/main" id="{E1D54E92-E639-32C0-A586-5312C258AEC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COURSE OUTCOMES</a:t>
            </a:r>
          </a:p>
        </p:txBody>
      </p:sp>
      <p:sp>
        <p:nvSpPr>
          <p:cNvPr id="3" name="Rectangle 2">
            <a:extLst>
              <a:ext uri="{FF2B5EF4-FFF2-40B4-BE49-F238E27FC236}">
                <a16:creationId xmlns:a16="http://schemas.microsoft.com/office/drawing/2014/main" id="{58E5231A-4FC6-A6AC-94D4-178AF49865FC}"/>
              </a:ext>
            </a:extLst>
          </p:cNvPr>
          <p:cNvSpPr/>
          <p:nvPr/>
        </p:nvSpPr>
        <p:spPr>
          <a:xfrm>
            <a:off x="254001" y="910187"/>
            <a:ext cx="8639575" cy="464871"/>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On completion of this course, the students shall be able to:</a:t>
            </a:r>
          </a:p>
        </p:txBody>
      </p:sp>
      <p:pic>
        <p:nvPicPr>
          <p:cNvPr id="17" name="Graphic 16" descr="Chevron arrows with solid fill">
            <a:extLst>
              <a:ext uri="{FF2B5EF4-FFF2-40B4-BE49-F238E27FC236}">
                <a16:creationId xmlns:a16="http://schemas.microsoft.com/office/drawing/2014/main" id="{AF23AD74-45C8-B11F-E1A2-6C388C2AE5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a:off x="49828" y="1510650"/>
            <a:ext cx="346172" cy="216000"/>
          </a:xfrm>
          <a:prstGeom prst="rect">
            <a:avLst/>
          </a:prstGeom>
        </p:spPr>
      </p:pic>
    </p:spTree>
    <p:extLst>
      <p:ext uri="{BB962C8B-B14F-4D97-AF65-F5344CB8AC3E}">
        <p14:creationId xmlns:p14="http://schemas.microsoft.com/office/powerpoint/2010/main" val="1237911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ABA1C71-5597-1CAF-83DC-D1B0724D01D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D13D930-9507-CC43-84EB-91691F0190B3}"/>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sp>
        <p:nvSpPr>
          <p:cNvPr id="2" name="Title 1">
            <a:extLst>
              <a:ext uri="{FF2B5EF4-FFF2-40B4-BE49-F238E27FC236}">
                <a16:creationId xmlns:a16="http://schemas.microsoft.com/office/drawing/2014/main" id="{36F199A5-4917-785C-8A51-52FAF96C8446}"/>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Unit-I Syllabus</a:t>
            </a:r>
          </a:p>
        </p:txBody>
      </p:sp>
      <p:graphicFrame>
        <p:nvGraphicFramePr>
          <p:cNvPr id="4" name="Table 3">
            <a:extLst>
              <a:ext uri="{FF2B5EF4-FFF2-40B4-BE49-F238E27FC236}">
                <a16:creationId xmlns:a16="http://schemas.microsoft.com/office/drawing/2014/main" id="{A166E992-8616-65C5-081E-F77864CBB031}"/>
              </a:ext>
            </a:extLst>
          </p:cNvPr>
          <p:cNvGraphicFramePr>
            <a:graphicFrameLocks noGrp="1"/>
          </p:cNvGraphicFramePr>
          <p:nvPr>
            <p:extLst>
              <p:ext uri="{D42A27DB-BD31-4B8C-83A1-F6EECF244321}">
                <p14:modId xmlns:p14="http://schemas.microsoft.com/office/powerpoint/2010/main" val="1364968001"/>
              </p:ext>
            </p:extLst>
          </p:nvPr>
        </p:nvGraphicFramePr>
        <p:xfrm>
          <a:off x="229850" y="1141413"/>
          <a:ext cx="8663726" cy="3764415"/>
        </p:xfrm>
        <a:graphic>
          <a:graphicData uri="http://schemas.openxmlformats.org/drawingml/2006/table">
            <a:tbl>
              <a:tblPr>
                <a:tableStyleId>{97377635-EB9D-4884-B79A-0D259F93817B}</a:tableStyleId>
              </a:tblPr>
              <a:tblGrid>
                <a:gridCol w="1620721">
                  <a:extLst>
                    <a:ext uri="{9D8B030D-6E8A-4147-A177-3AD203B41FA5}">
                      <a16:colId xmlns:a16="http://schemas.microsoft.com/office/drawing/2014/main" val="1126371409"/>
                    </a:ext>
                  </a:extLst>
                </a:gridCol>
                <a:gridCol w="5239658">
                  <a:extLst>
                    <a:ext uri="{9D8B030D-6E8A-4147-A177-3AD203B41FA5}">
                      <a16:colId xmlns:a16="http://schemas.microsoft.com/office/drawing/2014/main" val="1782746869"/>
                    </a:ext>
                  </a:extLst>
                </a:gridCol>
                <a:gridCol w="1803347">
                  <a:extLst>
                    <a:ext uri="{9D8B030D-6E8A-4147-A177-3AD203B41FA5}">
                      <a16:colId xmlns:a16="http://schemas.microsoft.com/office/drawing/2014/main" val="3681176613"/>
                    </a:ext>
                  </a:extLst>
                </a:gridCol>
              </a:tblGrid>
              <a:tr h="727032">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Unit-1</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Regression</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Contact Hours: 15</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852659567"/>
                  </a:ext>
                </a:extLst>
              </a:tr>
              <a:tr h="1147097">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Regression </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l" fontAlgn="ctr">
                        <a:buNone/>
                      </a:pPr>
                      <a:r>
                        <a:rPr lang="en-US" sz="16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Linear and Polynomial Regression, Maxima and Minima of Function of One Variable, Rank, Eigen Values and Eigen Vectors, Positive &amp; Negative Definite/Semi-definite Matrices</a:t>
                      </a:r>
                      <a:endParaRPr lang="en-US"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2964525967"/>
                  </a:ext>
                </a:extLst>
              </a:tr>
              <a:tr h="1147097">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Error Estimation </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l" fontAlgn="ctr">
                        <a:buNone/>
                      </a:pPr>
                      <a:r>
                        <a:rPr lang="en-US" sz="16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Maxima and Minima of Function of Several Variables, Convexity of Errors Function, Building Simple Linear Regression Model by Solving Normal Equations, Gradient Descent, Stochastic &amp; Mini-batch Gradient Descent Algorithm</a:t>
                      </a:r>
                      <a:endParaRPr lang="en-US"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4128748859"/>
                  </a:ext>
                </a:extLst>
              </a:tr>
              <a:tr h="743189">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Probability Theory</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l" fontAlgn="ctr">
                        <a:buNone/>
                      </a:pPr>
                      <a:r>
                        <a:rPr lang="en-IN" sz="16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Discrete Probability Distributions, Continuous Probability Distributions, Normal Distribution and t-Distributions, RSE, R</a:t>
                      </a:r>
                      <a:r>
                        <a:rPr lang="en-IN" sz="1600" u="none" strike="noStrike" baseline="300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2</a:t>
                      </a:r>
                      <a:endParaRPr lang="en-IN"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1161209939"/>
                  </a:ext>
                </a:extLst>
              </a:tr>
            </a:tbl>
          </a:graphicData>
        </a:graphic>
      </p:graphicFrame>
    </p:spTree>
    <p:extLst>
      <p:ext uri="{BB962C8B-B14F-4D97-AF65-F5344CB8AC3E}">
        <p14:creationId xmlns:p14="http://schemas.microsoft.com/office/powerpoint/2010/main" val="105206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722E90B-B4A7-48D2-134C-7BE9400BCFE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8581164-F321-1B9B-5200-D60D63C15EEF}"/>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a:t>
            </a:r>
          </a:p>
        </p:txBody>
      </p:sp>
      <p:sp>
        <p:nvSpPr>
          <p:cNvPr id="2" name="Title 1">
            <a:extLst>
              <a:ext uri="{FF2B5EF4-FFF2-40B4-BE49-F238E27FC236}">
                <a16:creationId xmlns:a16="http://schemas.microsoft.com/office/drawing/2014/main" id="{7EAEDE0E-C752-EC85-96D1-82A2D2EF1B33}"/>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SUGGESTIVE READINGS</a:t>
            </a:r>
          </a:p>
        </p:txBody>
      </p:sp>
      <p:sp>
        <p:nvSpPr>
          <p:cNvPr id="3" name="Rectangle 2">
            <a:extLst>
              <a:ext uri="{FF2B5EF4-FFF2-40B4-BE49-F238E27FC236}">
                <a16:creationId xmlns:a16="http://schemas.microsoft.com/office/drawing/2014/main" id="{D8857202-6F71-EB21-98DA-0053464F2129}"/>
              </a:ext>
            </a:extLst>
          </p:cNvPr>
          <p:cNvSpPr/>
          <p:nvPr/>
        </p:nvSpPr>
        <p:spPr>
          <a:xfrm>
            <a:off x="145143" y="1026299"/>
            <a:ext cx="8748433" cy="464871"/>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Text Books / Reference Books:</a:t>
            </a:r>
          </a:p>
        </p:txBody>
      </p:sp>
      <p:graphicFrame>
        <p:nvGraphicFramePr>
          <p:cNvPr id="6" name="Table 5">
            <a:extLst>
              <a:ext uri="{FF2B5EF4-FFF2-40B4-BE49-F238E27FC236}">
                <a16:creationId xmlns:a16="http://schemas.microsoft.com/office/drawing/2014/main" id="{7477AE26-3BC7-08F1-986D-BD55F4C4E6F5}"/>
              </a:ext>
            </a:extLst>
          </p:cNvPr>
          <p:cNvGraphicFramePr>
            <a:graphicFrameLocks noGrp="1"/>
          </p:cNvGraphicFramePr>
          <p:nvPr>
            <p:extLst>
              <p:ext uri="{D42A27DB-BD31-4B8C-83A1-F6EECF244321}">
                <p14:modId xmlns:p14="http://schemas.microsoft.com/office/powerpoint/2010/main" val="809687966"/>
              </p:ext>
            </p:extLst>
          </p:nvPr>
        </p:nvGraphicFramePr>
        <p:xfrm>
          <a:off x="250425" y="1421421"/>
          <a:ext cx="8639574" cy="3711434"/>
        </p:xfrm>
        <a:graphic>
          <a:graphicData uri="http://schemas.openxmlformats.org/drawingml/2006/table">
            <a:tbl>
              <a:tblPr>
                <a:tableStyleId>{5C22544A-7EE6-4342-B048-85BDC9FD1C3A}</a:tableStyleId>
              </a:tblPr>
              <a:tblGrid>
                <a:gridCol w="8639574">
                  <a:extLst>
                    <a:ext uri="{9D8B030D-6E8A-4147-A177-3AD203B41FA5}">
                      <a16:colId xmlns:a16="http://schemas.microsoft.com/office/drawing/2014/main" val="2230290221"/>
                    </a:ext>
                  </a:extLst>
                </a:gridCol>
              </a:tblGrid>
              <a:tr h="224736">
                <a:tc>
                  <a:txBody>
                    <a:bodyPr/>
                    <a:lstStyle/>
                    <a:p>
                      <a:pPr algn="ctr" fontAlgn="ctr"/>
                      <a:r>
                        <a:rPr lang="en-IN" sz="1600" b="1" u="sng" dirty="0">
                          <a:solidFill>
                            <a:schemeClr val="bg2"/>
                          </a:solidFill>
                          <a:latin typeface="Calibri" panose="020F0502020204030204" pitchFamily="34" charset="0"/>
                          <a:ea typeface="Calibri" panose="020F0502020204030204" pitchFamily="34" charset="0"/>
                          <a:cs typeface="Calibri" panose="020F0502020204030204" pitchFamily="34" charset="0"/>
                        </a:rPr>
                        <a:t>TEXT BOOKS</a:t>
                      </a:r>
                    </a:p>
                    <a:p>
                      <a:pPr algn="ctr" fontAlgn="ctr"/>
                      <a:endParaRPr lang="en-IN" sz="800" b="1" u="sng"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43485506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T1: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Massaron</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L., &amp; Boschetti, A. (2016). Regression analysis with Python.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Packt</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Publishing Ltd.</a:t>
                      </a:r>
                    </a:p>
                  </a:txBody>
                  <a:tcPr marL="5684" marR="5684" marT="5684" marB="0" anchor="ctr">
                    <a:solidFill>
                      <a:schemeClr val="bg1"/>
                    </a:solidFill>
                  </a:tcPr>
                </a:tc>
                <a:extLst>
                  <a:ext uri="{0D108BD9-81ED-4DB2-BD59-A6C34878D82A}">
                    <a16:rowId xmlns:a16="http://schemas.microsoft.com/office/drawing/2014/main" val="124324700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T2: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Jajuga</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p>
                  </a:txBody>
                  <a:tcPr marL="5684" marR="5684" marT="5684" marB="0" anchor="ctr">
                    <a:solidFill>
                      <a:schemeClr val="bg1"/>
                    </a:solidFill>
                  </a:tcPr>
                </a:tc>
                <a:extLst>
                  <a:ext uri="{0D108BD9-81ED-4DB2-BD59-A6C34878D82A}">
                    <a16:rowId xmlns:a16="http://schemas.microsoft.com/office/drawing/2014/main" val="272486580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T3: </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Bishop, C. M., &amp; Bishop, H. (2023). Deep learning: Foundations and concepts. Springer Nature.</a:t>
                      </a:r>
                    </a:p>
                  </a:txBody>
                  <a:tcPr marL="5684" marR="5684" marT="5684" marB="0" anchor="ctr">
                    <a:solidFill>
                      <a:schemeClr val="bg1"/>
                    </a:solidFill>
                  </a:tcPr>
                </a:tc>
                <a:extLst>
                  <a:ext uri="{0D108BD9-81ED-4DB2-BD59-A6C34878D82A}">
                    <a16:rowId xmlns:a16="http://schemas.microsoft.com/office/drawing/2014/main" val="1593588325"/>
                  </a:ext>
                </a:extLst>
              </a:tr>
              <a:tr h="276998">
                <a:tc>
                  <a:txBody>
                    <a:bodyPr/>
                    <a:lstStyle/>
                    <a:p>
                      <a:pPr algn="just" fontAlgn="ctr"/>
                      <a:endPar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3980535516"/>
                  </a:ext>
                </a:extLst>
              </a:tr>
              <a:tr h="224736">
                <a:tc>
                  <a:txBody>
                    <a:bodyPr/>
                    <a:lstStyle/>
                    <a:p>
                      <a:pPr algn="ctr" fontAlgn="ctr"/>
                      <a:r>
                        <a:rPr lang="en-IN" sz="1600" b="1" u="sng" dirty="0">
                          <a:solidFill>
                            <a:schemeClr val="bg2"/>
                          </a:solidFill>
                          <a:latin typeface="Calibri" panose="020F0502020204030204" pitchFamily="34" charset="0"/>
                          <a:ea typeface="Calibri" panose="020F0502020204030204" pitchFamily="34" charset="0"/>
                          <a:cs typeface="Calibri" panose="020F0502020204030204" pitchFamily="34" charset="0"/>
                        </a:rPr>
                        <a:t>REFERENCE BOOKS</a:t>
                      </a:r>
                    </a:p>
                    <a:p>
                      <a:pPr algn="ctr" fontAlgn="ctr"/>
                      <a:endParaRPr lang="en-IN" sz="800" b="1" u="sng"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2291661051"/>
                  </a:ext>
                </a:extLst>
              </a:tr>
              <a:tr h="376622">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R1: </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Matloff, N. (2017). Statistical regression and classification: from linear models to machine learning. Chapman and Hall/CRC.</a:t>
                      </a:r>
                    </a:p>
                  </a:txBody>
                  <a:tcPr marL="5684" marR="5684" marT="5684" marB="0" anchor="ctr">
                    <a:solidFill>
                      <a:schemeClr val="bg1"/>
                    </a:solidFill>
                  </a:tcPr>
                </a:tc>
                <a:extLst>
                  <a:ext uri="{0D108BD9-81ED-4DB2-BD59-A6C34878D82A}">
                    <a16:rowId xmlns:a16="http://schemas.microsoft.com/office/drawing/2014/main" val="1123111606"/>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R2: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Jajuga</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p>
                  </a:txBody>
                  <a:tcPr marL="5684" marR="5684" marT="5684" marB="0" anchor="ctr">
                    <a:solidFill>
                      <a:schemeClr val="bg1"/>
                    </a:solidFill>
                  </a:tcPr>
                </a:tc>
                <a:extLst>
                  <a:ext uri="{0D108BD9-81ED-4DB2-BD59-A6C34878D82A}">
                    <a16:rowId xmlns:a16="http://schemas.microsoft.com/office/drawing/2014/main" val="337323854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R3: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Vishnoi</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V. K., Chauhan, N. R., &amp; Kumar, K. (2024). An introduction to deep learning.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Xoffencer</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publication.</a:t>
                      </a:r>
                    </a:p>
                  </a:txBody>
                  <a:tcPr marL="5684" marR="5684" marT="5684" marB="0" anchor="ctr">
                    <a:solidFill>
                      <a:schemeClr val="bg1"/>
                    </a:solidFill>
                  </a:tcPr>
                </a:tc>
                <a:extLst>
                  <a:ext uri="{0D108BD9-81ED-4DB2-BD59-A6C34878D82A}">
                    <a16:rowId xmlns:a16="http://schemas.microsoft.com/office/drawing/2014/main" val="766468309"/>
                  </a:ext>
                </a:extLst>
              </a:tr>
              <a:tr h="0">
                <a:tc>
                  <a:txBody>
                    <a:bodyPr/>
                    <a:lstStyle/>
                    <a:p>
                      <a:pPr algn="just" fontAlgn="ctr"/>
                      <a:endParaRPr lang="en-IN" sz="1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2254666440"/>
                  </a:ext>
                </a:extLst>
              </a:tr>
            </a:tbl>
          </a:graphicData>
        </a:graphic>
      </p:graphicFrame>
    </p:spTree>
    <p:extLst>
      <p:ext uri="{BB962C8B-B14F-4D97-AF65-F5344CB8AC3E}">
        <p14:creationId xmlns:p14="http://schemas.microsoft.com/office/powerpoint/2010/main" val="1686286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D2933D2-A694-4C02-9490-F8DF1D65E6E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AAB8138-C22D-D138-96A2-E61790B9550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5</a:t>
            </a:r>
          </a:p>
        </p:txBody>
      </p:sp>
      <p:sp>
        <p:nvSpPr>
          <p:cNvPr id="2" name="Title 1">
            <a:extLst>
              <a:ext uri="{FF2B5EF4-FFF2-40B4-BE49-F238E27FC236}">
                <a16:creationId xmlns:a16="http://schemas.microsoft.com/office/drawing/2014/main" id="{8FD457F1-73E5-C92E-69E7-B0F511A2510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Table of Contents</a:t>
            </a:r>
          </a:p>
        </p:txBody>
      </p:sp>
      <p:sp>
        <p:nvSpPr>
          <p:cNvPr id="3" name="Rectangle 2">
            <a:extLst>
              <a:ext uri="{FF2B5EF4-FFF2-40B4-BE49-F238E27FC236}">
                <a16:creationId xmlns:a16="http://schemas.microsoft.com/office/drawing/2014/main" id="{24A4B515-1583-F553-4D7C-021764E7BA41}"/>
              </a:ext>
            </a:extLst>
          </p:cNvPr>
          <p:cNvSpPr/>
          <p:nvPr/>
        </p:nvSpPr>
        <p:spPr>
          <a:xfrm>
            <a:off x="197783" y="1033556"/>
            <a:ext cx="8695793" cy="3699474"/>
          </a:xfrm>
          <a:prstGeom prst="rect">
            <a:avLst/>
          </a:prstGeom>
        </p:spPr>
        <p:txBody>
          <a:bodyPr wrap="square">
            <a:spAutoFit/>
          </a:bodyPr>
          <a:lstStyle/>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Maxima and Minima of Function of One Variable</a:t>
            </a:r>
          </a:p>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Rank</a:t>
            </a:r>
          </a:p>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Eigen Values and Eigen Vectors</a:t>
            </a:r>
          </a:p>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Positive &amp; Negative Definite</a:t>
            </a:r>
          </a:p>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Semi-Definite Matrices</a:t>
            </a:r>
          </a:p>
          <a:p>
            <a:pPr marL="285750" indent="-285750" algn="just">
              <a:lnSpc>
                <a:spcPct val="200000"/>
              </a:lnSpc>
              <a:buFont typeface="Times New Roman" panose="02020603050405020304" pitchFamily="18" charset="0"/>
              <a:buChar char="֍"/>
            </a:pPr>
            <a:endParaRPr lang="en-IN" sz="20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4736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34909B9-6679-B88A-741C-4D6D5F86F14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09B94D8-943E-B0BF-A653-233A369617DA}"/>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6</a:t>
            </a:r>
          </a:p>
        </p:txBody>
      </p:sp>
      <p:sp>
        <p:nvSpPr>
          <p:cNvPr id="2" name="Title 1">
            <a:extLst>
              <a:ext uri="{FF2B5EF4-FFF2-40B4-BE49-F238E27FC236}">
                <a16:creationId xmlns:a16="http://schemas.microsoft.com/office/drawing/2014/main" id="{DAFF8230-3BDF-FEDF-4508-298C8474C584}"/>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Maxima and Minima of Function of One Variable</a:t>
            </a:r>
          </a:p>
        </p:txBody>
      </p:sp>
      <p:sp>
        <p:nvSpPr>
          <p:cNvPr id="3" name="Rectangle 2">
            <a:extLst>
              <a:ext uri="{FF2B5EF4-FFF2-40B4-BE49-F238E27FC236}">
                <a16:creationId xmlns:a16="http://schemas.microsoft.com/office/drawing/2014/main" id="{C36F8375-605C-8925-3932-CAAD5D4BB49C}"/>
              </a:ext>
            </a:extLst>
          </p:cNvPr>
          <p:cNvSpPr/>
          <p:nvPr/>
        </p:nvSpPr>
        <p:spPr>
          <a:xfrm>
            <a:off x="254001" y="1026299"/>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Maxima and Minima refer to the highest and lowest points of a function's graph, respectively, within a given domain.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These points are also called turning points since the slope of the function (derivative) becomes zero at these positions.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Maximum: </a:t>
            </a:r>
            <a:r>
              <a:rPr lang="en-US" sz="1800" dirty="0">
                <a:latin typeface="Calibri" panose="020F0502020204030204" pitchFamily="34" charset="0"/>
                <a:ea typeface="Calibri" panose="020F0502020204030204" pitchFamily="34" charset="0"/>
                <a:cs typeface="Calibri" panose="020F0502020204030204" pitchFamily="34" charset="0"/>
              </a:rPr>
              <a:t>A point where the function's value is higher than that of all nearby points. It can be:</a:t>
            </a:r>
          </a:p>
          <a:p>
            <a:pPr marL="623888" lvl="0" indent="-342900" algn="just">
              <a:lnSpc>
                <a:spcPct val="150000"/>
              </a:lnSpc>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Local Maximum: </a:t>
            </a:r>
            <a:r>
              <a:rPr lang="en-US" sz="1800" dirty="0">
                <a:latin typeface="Calibri" panose="020F0502020204030204" pitchFamily="34" charset="0"/>
                <a:ea typeface="Calibri" panose="020F0502020204030204" pitchFamily="34" charset="0"/>
                <a:cs typeface="Calibri" panose="020F0502020204030204" pitchFamily="34" charset="0"/>
              </a:rPr>
              <a:t>The function value is higher than in its immediate neighborhood.</a:t>
            </a:r>
          </a:p>
          <a:p>
            <a:pPr marL="623888" lvl="0" indent="-342900" algn="just">
              <a:lnSpc>
                <a:spcPct val="150000"/>
              </a:lnSpc>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Global Maximum: </a:t>
            </a:r>
            <a:r>
              <a:rPr lang="en-US" sz="1800" dirty="0">
                <a:latin typeface="Calibri" panose="020F0502020204030204" pitchFamily="34" charset="0"/>
                <a:ea typeface="Calibri" panose="020F0502020204030204" pitchFamily="34" charset="0"/>
                <a:cs typeface="Calibri" panose="020F0502020204030204" pitchFamily="34" charset="0"/>
              </a:rPr>
              <a:t>The function value is higher than at any other point in the domain.</a:t>
            </a:r>
          </a:p>
        </p:txBody>
      </p:sp>
    </p:spTree>
    <p:extLst>
      <p:ext uri="{BB962C8B-B14F-4D97-AF65-F5344CB8AC3E}">
        <p14:creationId xmlns:p14="http://schemas.microsoft.com/office/powerpoint/2010/main" val="1648278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A25E99F-5308-27FB-6854-2B83866A5F1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66346FC-9E97-E15D-7B05-E34C90B84250}"/>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sp>
        <p:nvSpPr>
          <p:cNvPr id="2" name="Title 1">
            <a:extLst>
              <a:ext uri="{FF2B5EF4-FFF2-40B4-BE49-F238E27FC236}">
                <a16:creationId xmlns:a16="http://schemas.microsoft.com/office/drawing/2014/main" id="{154362E8-D627-D424-A12C-69E9FC87AB19}"/>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Maxima and Minima of Function of One Variable</a:t>
            </a:r>
          </a:p>
        </p:txBody>
      </p:sp>
      <p:pic>
        <p:nvPicPr>
          <p:cNvPr id="5" name="Picture 4">
            <a:extLst>
              <a:ext uri="{FF2B5EF4-FFF2-40B4-BE49-F238E27FC236}">
                <a16:creationId xmlns:a16="http://schemas.microsoft.com/office/drawing/2014/main" id="{C176DF2B-4765-5244-37F6-8C359DF7AA35}"/>
              </a:ext>
            </a:extLst>
          </p:cNvPr>
          <p:cNvPicPr>
            <a:picLocks noChangeAspect="1"/>
          </p:cNvPicPr>
          <p:nvPr/>
        </p:nvPicPr>
        <p:blipFill>
          <a:blip r:embed="rId3"/>
          <a:stretch>
            <a:fillRect/>
          </a:stretch>
        </p:blipFill>
        <p:spPr>
          <a:xfrm>
            <a:off x="761999" y="1088571"/>
            <a:ext cx="7847525" cy="3599543"/>
          </a:xfrm>
          <a:prstGeom prst="rect">
            <a:avLst/>
          </a:prstGeom>
        </p:spPr>
      </p:pic>
      <p:sp>
        <p:nvSpPr>
          <p:cNvPr id="6" name="TextBox 5">
            <a:extLst>
              <a:ext uri="{FF2B5EF4-FFF2-40B4-BE49-F238E27FC236}">
                <a16:creationId xmlns:a16="http://schemas.microsoft.com/office/drawing/2014/main" id="{695EEC8E-3F78-3422-1D01-39E462F573B0}"/>
              </a:ext>
            </a:extLst>
          </p:cNvPr>
          <p:cNvSpPr txBox="1"/>
          <p:nvPr/>
        </p:nvSpPr>
        <p:spPr>
          <a:xfrm>
            <a:off x="2242456" y="4688114"/>
            <a:ext cx="4644571"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 </a:t>
            </a:r>
            <a:r>
              <a:rPr lang="en-IN" b="1" dirty="0">
                <a:solidFill>
                  <a:schemeClr val="bg2"/>
                </a:solidFill>
                <a:latin typeface="Calibri" panose="020F0502020204030204" pitchFamily="34" charset="0"/>
                <a:ea typeface="Calibri" panose="020F0502020204030204" pitchFamily="34" charset="0"/>
                <a:cs typeface="Calibri" panose="020F0502020204030204" pitchFamily="34" charset="0"/>
              </a:rPr>
              <a:t>Maxima &amp; Minima</a:t>
            </a:r>
            <a:endParaRPr lang="en-IN" b="1" dirty="0"/>
          </a:p>
        </p:txBody>
      </p:sp>
    </p:spTree>
    <p:extLst>
      <p:ext uri="{BB962C8B-B14F-4D97-AF65-F5344CB8AC3E}">
        <p14:creationId xmlns:p14="http://schemas.microsoft.com/office/powerpoint/2010/main" val="4152956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7D5841D-B149-B77C-9B61-34F3A6F0FA0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7AE80CC-0202-103B-CDC7-47CC1813C18D}"/>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8</a:t>
            </a:r>
          </a:p>
        </p:txBody>
      </p:sp>
      <p:sp>
        <p:nvSpPr>
          <p:cNvPr id="2" name="Title 1">
            <a:extLst>
              <a:ext uri="{FF2B5EF4-FFF2-40B4-BE49-F238E27FC236}">
                <a16:creationId xmlns:a16="http://schemas.microsoft.com/office/drawing/2014/main" id="{80E95FEF-E0EA-D1FC-1170-23F64E98E408}"/>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Maxima and Minima of Function of One Variable</a:t>
            </a:r>
          </a:p>
        </p:txBody>
      </p:sp>
      <p:sp>
        <p:nvSpPr>
          <p:cNvPr id="3" name="Rectangle 2">
            <a:extLst>
              <a:ext uri="{FF2B5EF4-FFF2-40B4-BE49-F238E27FC236}">
                <a16:creationId xmlns:a16="http://schemas.microsoft.com/office/drawing/2014/main" id="{85B6B5AA-2753-38A6-CF99-083E9946D3EE}"/>
              </a:ext>
            </a:extLst>
          </p:cNvPr>
          <p:cNvSpPr/>
          <p:nvPr/>
        </p:nvSpPr>
        <p:spPr>
          <a:xfrm>
            <a:off x="254001" y="1026299"/>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Minimum: </a:t>
            </a:r>
            <a:r>
              <a:rPr lang="en-US" sz="1800" dirty="0">
                <a:latin typeface="Calibri" panose="020F0502020204030204" pitchFamily="34" charset="0"/>
                <a:ea typeface="Calibri" panose="020F0502020204030204" pitchFamily="34" charset="0"/>
                <a:cs typeface="Calibri" panose="020F0502020204030204" pitchFamily="34" charset="0"/>
              </a:rPr>
              <a:t>A point where the function's value is lower than that of all nearby points. It can be:</a:t>
            </a:r>
          </a:p>
          <a:p>
            <a:pPr marL="623888" lvl="0" indent="-342900" algn="just">
              <a:lnSpc>
                <a:spcPct val="150000"/>
              </a:lnSpc>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Local Minimum: </a:t>
            </a:r>
            <a:r>
              <a:rPr lang="en-US" sz="1800" dirty="0">
                <a:latin typeface="Calibri" panose="020F0502020204030204" pitchFamily="34" charset="0"/>
                <a:ea typeface="Calibri" panose="020F0502020204030204" pitchFamily="34" charset="0"/>
                <a:cs typeface="Calibri" panose="020F0502020204030204" pitchFamily="34" charset="0"/>
              </a:rPr>
              <a:t>The function value is lower than in its immediate neighborhood.</a:t>
            </a:r>
          </a:p>
          <a:p>
            <a:pPr marL="623888" lvl="0" indent="-342900" algn="just">
              <a:lnSpc>
                <a:spcPct val="150000"/>
              </a:lnSpc>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Global Minimum: </a:t>
            </a:r>
            <a:r>
              <a:rPr lang="en-US" sz="1800" dirty="0">
                <a:latin typeface="Calibri" panose="020F0502020204030204" pitchFamily="34" charset="0"/>
                <a:ea typeface="Calibri" panose="020F0502020204030204" pitchFamily="34" charset="0"/>
                <a:cs typeface="Calibri" panose="020F0502020204030204" pitchFamily="34" charset="0"/>
              </a:rPr>
              <a:t>The function value is the lowest among all points in the domain.</a:t>
            </a:r>
          </a:p>
          <a:p>
            <a:pPr marL="623888" lvl="0" indent="-342900" algn="just">
              <a:lnSpc>
                <a:spcPct val="150000"/>
              </a:lnSpc>
              <a:buFont typeface="+mj-lt"/>
              <a:buAutoNum type="arabicPeriod"/>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Mathematically, for a function f(x), a point x</a:t>
            </a:r>
            <a:r>
              <a:rPr lang="en-US" sz="1800" baseline="-25000" dirty="0">
                <a:latin typeface="Calibri" panose="020F0502020204030204" pitchFamily="34" charset="0"/>
                <a:ea typeface="Calibri" panose="020F0502020204030204" pitchFamily="34" charset="0"/>
                <a:cs typeface="Calibri" panose="020F0502020204030204" pitchFamily="34" charset="0"/>
              </a:rPr>
              <a:t>0</a:t>
            </a:r>
            <a:r>
              <a:rPr lang="en-US" sz="1800" dirty="0">
                <a:latin typeface="Calibri" panose="020F0502020204030204" pitchFamily="34" charset="0"/>
                <a:ea typeface="Calibri" panose="020F0502020204030204" pitchFamily="34" charset="0"/>
                <a:cs typeface="Calibri" panose="020F0502020204030204" pitchFamily="34" charset="0"/>
              </a:rPr>
              <a:t> is:</a:t>
            </a:r>
          </a:p>
          <a:p>
            <a:pPr algn="ctr">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A local maximum if f(x</a:t>
            </a:r>
            <a:r>
              <a:rPr lang="en-US" sz="1800" b="1" baseline="-25000" dirty="0">
                <a:latin typeface="Calibri" panose="020F0502020204030204" pitchFamily="34" charset="0"/>
                <a:ea typeface="Calibri" panose="020F0502020204030204" pitchFamily="34" charset="0"/>
                <a:cs typeface="Calibri" panose="020F0502020204030204" pitchFamily="34" charset="0"/>
              </a:rPr>
              <a:t>0</a:t>
            </a:r>
            <a:r>
              <a:rPr lang="en-US" sz="1800" b="1" dirty="0">
                <a:latin typeface="Calibri" panose="020F0502020204030204" pitchFamily="34" charset="0"/>
                <a:ea typeface="Calibri" panose="020F0502020204030204" pitchFamily="34" charset="0"/>
                <a:cs typeface="Calibri" panose="020F0502020204030204" pitchFamily="34" charset="0"/>
              </a:rPr>
              <a:t>) &gt; f(x) for all x near x</a:t>
            </a:r>
            <a:r>
              <a:rPr lang="en-US" sz="1800" b="1" baseline="-25000" dirty="0">
                <a:latin typeface="Calibri" panose="020F0502020204030204" pitchFamily="34" charset="0"/>
                <a:ea typeface="Calibri" panose="020F0502020204030204" pitchFamily="34" charset="0"/>
                <a:cs typeface="Calibri" panose="020F0502020204030204" pitchFamily="34" charset="0"/>
              </a:rPr>
              <a:t>0</a:t>
            </a:r>
            <a:r>
              <a:rPr lang="en-US" sz="1800" b="1" dirty="0">
                <a:latin typeface="Calibri" panose="020F0502020204030204" pitchFamily="34" charset="0"/>
                <a:ea typeface="Calibri" panose="020F0502020204030204" pitchFamily="34" charset="0"/>
                <a:cs typeface="Calibri" panose="020F0502020204030204" pitchFamily="34" charset="0"/>
              </a:rPr>
              <a:t>​.</a:t>
            </a:r>
          </a:p>
          <a:p>
            <a:pPr algn="ctr">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A local minimum if f(x</a:t>
            </a:r>
            <a:r>
              <a:rPr lang="en-US" sz="1800" b="1" baseline="-25000" dirty="0">
                <a:latin typeface="Calibri" panose="020F0502020204030204" pitchFamily="34" charset="0"/>
                <a:ea typeface="Calibri" panose="020F0502020204030204" pitchFamily="34" charset="0"/>
                <a:cs typeface="Calibri" panose="020F0502020204030204" pitchFamily="34" charset="0"/>
              </a:rPr>
              <a:t>0</a:t>
            </a:r>
            <a:r>
              <a:rPr lang="en-US" sz="1800" b="1" dirty="0">
                <a:latin typeface="Calibri" panose="020F0502020204030204" pitchFamily="34" charset="0"/>
                <a:ea typeface="Calibri" panose="020F0502020204030204" pitchFamily="34" charset="0"/>
                <a:cs typeface="Calibri" panose="020F0502020204030204" pitchFamily="34" charset="0"/>
              </a:rPr>
              <a:t>) &lt; f(x) for all x near x</a:t>
            </a:r>
            <a:r>
              <a:rPr lang="en-US" sz="1800" b="1" baseline="-25000" dirty="0">
                <a:latin typeface="Calibri" panose="020F0502020204030204" pitchFamily="34" charset="0"/>
                <a:ea typeface="Calibri" panose="020F0502020204030204" pitchFamily="34" charset="0"/>
                <a:cs typeface="Calibri" panose="020F0502020204030204" pitchFamily="34" charset="0"/>
              </a:rPr>
              <a:t>0</a:t>
            </a:r>
            <a:r>
              <a:rPr lang="en-US" sz="1800" b="1" dirty="0">
                <a:latin typeface="Calibri" panose="020F0502020204030204" pitchFamily="34" charset="0"/>
                <a:ea typeface="Calibri" panose="020F0502020204030204" pitchFamily="34" charset="0"/>
                <a:cs typeface="Calibri" panose="020F0502020204030204" pitchFamily="34" charset="0"/>
              </a:rPr>
              <a:t>​.</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5411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4591638-507F-033F-ECFA-ACA4D03A6B1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906C5AC-C38D-27BF-FDA7-6AD288247B5D}"/>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9</a:t>
            </a:r>
          </a:p>
        </p:txBody>
      </p:sp>
      <p:sp>
        <p:nvSpPr>
          <p:cNvPr id="2" name="Title 1">
            <a:extLst>
              <a:ext uri="{FF2B5EF4-FFF2-40B4-BE49-F238E27FC236}">
                <a16:creationId xmlns:a16="http://schemas.microsoft.com/office/drawing/2014/main" id="{BCD3154D-985F-44E8-F335-53C06D518D03}"/>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Maxima and Minima of Function of One Variable</a:t>
            </a:r>
          </a:p>
        </p:txBody>
      </p:sp>
      <p:sp>
        <p:nvSpPr>
          <p:cNvPr id="3" name="Rectangle 2">
            <a:extLst>
              <a:ext uri="{FF2B5EF4-FFF2-40B4-BE49-F238E27FC236}">
                <a16:creationId xmlns:a16="http://schemas.microsoft.com/office/drawing/2014/main" id="{BAB9C784-5BAB-FA67-1108-09A62236B6DB}"/>
              </a:ext>
            </a:extLst>
          </p:cNvPr>
          <p:cNvSpPr/>
          <p:nvPr/>
        </p:nvSpPr>
        <p:spPr>
          <a:xfrm>
            <a:off x="254001" y="1026299"/>
            <a:ext cx="8639575" cy="3787062"/>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Types of Maxima and Minima</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There are two types of maxima and minima. They are listed as follows:</a:t>
            </a:r>
          </a:p>
          <a:p>
            <a:pPr marL="623888" lvl="0" indent="-268288" algn="just">
              <a:lnSpc>
                <a:spcPct val="150000"/>
              </a:lnSpc>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Relative or Local Maxima and Minima</a:t>
            </a:r>
          </a:p>
          <a:p>
            <a:pPr marL="623888" lvl="0" indent="-268288" algn="just">
              <a:lnSpc>
                <a:spcPct val="150000"/>
              </a:lnSpc>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Absolute or Global Maxima and Minima</a:t>
            </a:r>
          </a:p>
          <a:p>
            <a:pPr marL="28575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Relative Maxima and Minima: </a:t>
            </a:r>
            <a:r>
              <a:rPr lang="en-US" sz="1800" dirty="0">
                <a:latin typeface="Calibri" panose="020F0502020204030204" pitchFamily="34" charset="0"/>
                <a:ea typeface="Calibri" panose="020F0502020204030204" pitchFamily="34" charset="0"/>
                <a:cs typeface="Calibri" panose="020F0502020204030204" pitchFamily="34" charset="0"/>
              </a:rPr>
              <a:t>The relative maxima and minima are the maximum and minimum values which is greater than or less than its neighbor.</a:t>
            </a:r>
          </a:p>
          <a:p>
            <a:pPr marL="28575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Relative or Local Maxima: </a:t>
            </a:r>
            <a:r>
              <a:rPr lang="en-US" sz="1800" dirty="0">
                <a:latin typeface="Calibri" panose="020F0502020204030204" pitchFamily="34" charset="0"/>
                <a:ea typeface="Calibri" panose="020F0502020204030204" pitchFamily="34" charset="0"/>
                <a:cs typeface="Calibri" panose="020F0502020204030204" pitchFamily="34" charset="0"/>
              </a:rPr>
              <a:t>A function f(x) is said to have a relative maximum at x = a if there exists a neighborhood (a - </a:t>
            </a:r>
            <a:r>
              <a:rPr lang="en-US" sz="1800" dirty="0" err="1">
                <a:latin typeface="Calibri" panose="020F0502020204030204" pitchFamily="34" charset="0"/>
                <a:ea typeface="Calibri" panose="020F0502020204030204" pitchFamily="34" charset="0"/>
                <a:cs typeface="Calibri" panose="020F0502020204030204" pitchFamily="34" charset="0"/>
              </a:rPr>
              <a:t>δa</a:t>
            </a:r>
            <a:r>
              <a:rPr lang="en-US" sz="1800" dirty="0">
                <a:latin typeface="Calibri" panose="020F0502020204030204" pitchFamily="34" charset="0"/>
                <a:ea typeface="Calibri" panose="020F0502020204030204" pitchFamily="34" charset="0"/>
                <a:cs typeface="Calibri" panose="020F0502020204030204" pitchFamily="34" charset="0"/>
              </a:rPr>
              <a:t>, a + </a:t>
            </a:r>
            <a:r>
              <a:rPr lang="en-US" sz="1800" dirty="0" err="1">
                <a:latin typeface="Calibri" panose="020F0502020204030204" pitchFamily="34" charset="0"/>
                <a:ea typeface="Calibri" panose="020F0502020204030204" pitchFamily="34" charset="0"/>
                <a:cs typeface="Calibri" panose="020F0502020204030204" pitchFamily="34" charset="0"/>
              </a:rPr>
              <a:t>δa</a:t>
            </a:r>
            <a:r>
              <a:rPr lang="en-US" sz="1800" dirty="0">
                <a:latin typeface="Calibri" panose="020F0502020204030204" pitchFamily="34" charset="0"/>
                <a:ea typeface="Calibri" panose="020F0502020204030204" pitchFamily="34" charset="0"/>
                <a:cs typeface="Calibri" panose="020F0502020204030204" pitchFamily="34" charset="0"/>
              </a:rPr>
              <a:t>) of a such that </a:t>
            </a:r>
          </a:p>
          <a:p>
            <a:pPr algn="ctr">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f(x) &lt; f(a) for all x ∈ (a-</a:t>
            </a:r>
            <a:r>
              <a:rPr lang="en-US" sz="1800" dirty="0" err="1">
                <a:latin typeface="Calibri" panose="020F0502020204030204" pitchFamily="34" charset="0"/>
                <a:ea typeface="Calibri" panose="020F0502020204030204" pitchFamily="34" charset="0"/>
                <a:cs typeface="Calibri" panose="020F0502020204030204" pitchFamily="34" charset="0"/>
              </a:rPr>
              <a:t>δa</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a+δa</a:t>
            </a:r>
            <a:r>
              <a:rPr lang="en-US" sz="1800" dirty="0">
                <a:latin typeface="Calibri" panose="020F0502020204030204" pitchFamily="34" charset="0"/>
                <a:ea typeface="Calibri" panose="020F0502020204030204" pitchFamily="34" charset="0"/>
                <a:cs typeface="Calibri" panose="020F0502020204030204" pitchFamily="34" charset="0"/>
              </a:rPr>
              <a:t>), x ≠ a.</a:t>
            </a:r>
          </a:p>
        </p:txBody>
      </p:sp>
    </p:spTree>
    <p:extLst>
      <p:ext uri="{BB962C8B-B14F-4D97-AF65-F5344CB8AC3E}">
        <p14:creationId xmlns:p14="http://schemas.microsoft.com/office/powerpoint/2010/main" val="626429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F1F4978-3940-665F-D91C-FB08E62B051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A77A662-FDF6-4DE4-13BE-2E79CACE799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10</a:t>
            </a:r>
          </a:p>
        </p:txBody>
      </p:sp>
      <p:sp>
        <p:nvSpPr>
          <p:cNvPr id="2" name="Title 1">
            <a:extLst>
              <a:ext uri="{FF2B5EF4-FFF2-40B4-BE49-F238E27FC236}">
                <a16:creationId xmlns:a16="http://schemas.microsoft.com/office/drawing/2014/main" id="{1FBAB200-3CB4-34B9-28A1-0A9635C176F7}"/>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Maxima and Minima of Function of One Variable</a:t>
            </a:r>
          </a:p>
        </p:txBody>
      </p:sp>
      <p:sp>
        <p:nvSpPr>
          <p:cNvPr id="3" name="Rectangle 2">
            <a:extLst>
              <a:ext uri="{FF2B5EF4-FFF2-40B4-BE49-F238E27FC236}">
                <a16:creationId xmlns:a16="http://schemas.microsoft.com/office/drawing/2014/main" id="{D58AE6E2-067F-E41A-8C6F-A0B2EA9282DB}"/>
              </a:ext>
            </a:extLst>
          </p:cNvPr>
          <p:cNvSpPr/>
          <p:nvPr/>
        </p:nvSpPr>
        <p:spPr>
          <a:xfrm>
            <a:off x="254001" y="1026299"/>
            <a:ext cx="8639575" cy="3788858"/>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Here, the point a is called the point of relative maxima of a function and f(a) is called as the relative maximum value. The relative maxima is also called as the local maxima of a function.</a:t>
            </a:r>
          </a:p>
          <a:p>
            <a:pPr marL="28575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Relative or Local Minima: </a:t>
            </a:r>
            <a:r>
              <a:rPr lang="en-US" sz="1800" dirty="0">
                <a:latin typeface="Calibri" panose="020F0502020204030204" pitchFamily="34" charset="0"/>
                <a:ea typeface="Calibri" panose="020F0502020204030204" pitchFamily="34" charset="0"/>
                <a:cs typeface="Calibri" panose="020F0502020204030204" pitchFamily="34" charset="0"/>
              </a:rPr>
              <a:t>A function f(x) is said to have a relative minimum at x = a if there exists a neighborhood (a-</a:t>
            </a:r>
            <a:r>
              <a:rPr lang="en-US" sz="1800" dirty="0" err="1">
                <a:latin typeface="Calibri" panose="020F0502020204030204" pitchFamily="34" charset="0"/>
                <a:ea typeface="Calibri" panose="020F0502020204030204" pitchFamily="34" charset="0"/>
                <a:cs typeface="Calibri" panose="020F0502020204030204" pitchFamily="34" charset="0"/>
              </a:rPr>
              <a:t>δa</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a+δa</a:t>
            </a:r>
            <a:r>
              <a:rPr lang="en-US" sz="1800" dirty="0">
                <a:latin typeface="Calibri" panose="020F0502020204030204" pitchFamily="34" charset="0"/>
                <a:ea typeface="Calibri" panose="020F0502020204030204" pitchFamily="34" charset="0"/>
                <a:cs typeface="Calibri" panose="020F0502020204030204" pitchFamily="34" charset="0"/>
              </a:rPr>
              <a:t>) of a such that </a:t>
            </a:r>
          </a:p>
          <a:p>
            <a:pPr algn="ctr">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f(x) &gt; f(a) for all x ∈ (a-</a:t>
            </a:r>
            <a:r>
              <a:rPr lang="en-US" sz="1800" dirty="0" err="1">
                <a:latin typeface="Calibri" panose="020F0502020204030204" pitchFamily="34" charset="0"/>
                <a:ea typeface="Calibri" panose="020F0502020204030204" pitchFamily="34" charset="0"/>
                <a:cs typeface="Calibri" panose="020F0502020204030204" pitchFamily="34" charset="0"/>
              </a:rPr>
              <a:t>δa</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a+δa</a:t>
            </a:r>
            <a:r>
              <a:rPr lang="en-US" sz="1800" dirty="0">
                <a:latin typeface="Calibri" panose="020F0502020204030204" pitchFamily="34" charset="0"/>
                <a:ea typeface="Calibri" panose="020F0502020204030204" pitchFamily="34" charset="0"/>
                <a:cs typeface="Calibri" panose="020F0502020204030204" pitchFamily="34" charset="0"/>
              </a:rPr>
              <a:t>), x ≠ a.</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Here, the point a is called the point of minima of a function and f(a) is called as the relative minimum value. </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relative minima is also called as the local minima of a function.</a:t>
            </a:r>
          </a:p>
        </p:txBody>
      </p:sp>
    </p:spTree>
    <p:extLst>
      <p:ext uri="{BB962C8B-B14F-4D97-AF65-F5344CB8AC3E}">
        <p14:creationId xmlns:p14="http://schemas.microsoft.com/office/powerpoint/2010/main" val="3160207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A493A0D-683B-9F96-15D3-3BE74535061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A03F5D4-5627-5E15-E5B9-E0EDC25423DF}"/>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11</a:t>
            </a:r>
          </a:p>
        </p:txBody>
      </p:sp>
      <p:sp>
        <p:nvSpPr>
          <p:cNvPr id="2" name="Title 1">
            <a:extLst>
              <a:ext uri="{FF2B5EF4-FFF2-40B4-BE49-F238E27FC236}">
                <a16:creationId xmlns:a16="http://schemas.microsoft.com/office/drawing/2014/main" id="{DC1CB362-14AA-A899-69B9-E9920F46996C}"/>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Maxima and Minima of Function of One Variable</a:t>
            </a:r>
          </a:p>
        </p:txBody>
      </p:sp>
      <p:sp>
        <p:nvSpPr>
          <p:cNvPr id="3" name="Rectangle 2">
            <a:extLst>
              <a:ext uri="{FF2B5EF4-FFF2-40B4-BE49-F238E27FC236}">
                <a16:creationId xmlns:a16="http://schemas.microsoft.com/office/drawing/2014/main" id="{FFDABCEF-84B0-4E01-2357-EACFC824788E}"/>
              </a:ext>
            </a:extLst>
          </p:cNvPr>
          <p:cNvSpPr/>
          <p:nvPr/>
        </p:nvSpPr>
        <p:spPr>
          <a:xfrm>
            <a:off x="254001" y="975500"/>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Absolute Maxima and Absolute Minima: </a:t>
            </a:r>
            <a:r>
              <a:rPr lang="en-US" sz="1800" dirty="0">
                <a:latin typeface="Calibri" panose="020F0502020204030204" pitchFamily="34" charset="0"/>
                <a:ea typeface="Calibri" panose="020F0502020204030204" pitchFamily="34" charset="0"/>
                <a:cs typeface="Calibri" panose="020F0502020204030204" pitchFamily="34" charset="0"/>
              </a:rPr>
              <a:t>It is the highest or the lowest value in the entire domain of the function.</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Absolute Maxima: </a:t>
            </a:r>
            <a:r>
              <a:rPr lang="en-US" sz="1800" dirty="0">
                <a:latin typeface="Calibri" panose="020F0502020204030204" pitchFamily="34" charset="0"/>
                <a:ea typeface="Calibri" panose="020F0502020204030204" pitchFamily="34" charset="0"/>
                <a:cs typeface="Calibri" panose="020F0502020204030204" pitchFamily="34" charset="0"/>
              </a:rPr>
              <a:t>A function f(x) with domain D is said to be absolute maximum at x = a where a ∈ D, if f(x) ≤ f(a) for all x ∈ D. The point a is called the point of absolute maxima of function and f(a) is called as the absolute maximum value. The absolute maxima is also called as the global maxima of a function.</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Absolute Minima: </a:t>
            </a:r>
            <a:r>
              <a:rPr lang="en-US" sz="1800" dirty="0">
                <a:latin typeface="Calibri" panose="020F0502020204030204" pitchFamily="34" charset="0"/>
                <a:ea typeface="Calibri" panose="020F0502020204030204" pitchFamily="34" charset="0"/>
                <a:cs typeface="Calibri" panose="020F0502020204030204" pitchFamily="34" charset="0"/>
              </a:rPr>
              <a:t>A function f(x) with domain D is said to be absolute maximum at x = a where a ∈ D , if f(x) ≥ f(a) for all x ∈ D. The point a is called the point of absolute maxima of function and f(a) is called as the absolute maximum value.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absolute maxima is also called as the global maxima of a function.</a:t>
            </a:r>
          </a:p>
        </p:txBody>
      </p:sp>
    </p:spTree>
    <p:extLst>
      <p:ext uri="{BB962C8B-B14F-4D97-AF65-F5344CB8AC3E}">
        <p14:creationId xmlns:p14="http://schemas.microsoft.com/office/powerpoint/2010/main" val="846290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2B5AE2F-CCD8-2425-76A1-141EC882071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CA4CEEB-0B88-49B2-3638-752DD53244B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12</a:t>
            </a:r>
          </a:p>
        </p:txBody>
      </p:sp>
      <p:sp>
        <p:nvSpPr>
          <p:cNvPr id="2" name="Title 1">
            <a:extLst>
              <a:ext uri="{FF2B5EF4-FFF2-40B4-BE49-F238E27FC236}">
                <a16:creationId xmlns:a16="http://schemas.microsoft.com/office/drawing/2014/main" id="{4A564A35-A323-8AB1-FB59-E8A14202FFDB}"/>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Rank in a Matrix</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3B9DFB73-AFA6-0AC5-DCFE-12F2F016950B}"/>
              </a:ext>
            </a:extLst>
          </p:cNvPr>
          <p:cNvSpPr/>
          <p:nvPr/>
        </p:nvSpPr>
        <p:spPr>
          <a:xfrm>
            <a:off x="254002" y="1026299"/>
            <a:ext cx="5406570"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Rank of a Matrix is the maximum number of linearly independent rows or columns in a matrix. It essentially determines the dimensionality of the vector space formed by the rows or columns of the matrix.</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It helps determine:</a:t>
            </a:r>
          </a:p>
          <a:p>
            <a:pPr marL="623888" lvl="0" indent="-363538"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If a system of linear equations has solutions.</a:t>
            </a:r>
          </a:p>
          <a:p>
            <a:pPr marL="623888" lvl="0" indent="-363538"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The "usefulness" of rows or columns contributes to the matrix's information.</a:t>
            </a:r>
          </a:p>
        </p:txBody>
      </p:sp>
      <p:pic>
        <p:nvPicPr>
          <p:cNvPr id="1026" name="Picture 2" descr="Rank-and-Nullity">
            <a:extLst>
              <a:ext uri="{FF2B5EF4-FFF2-40B4-BE49-F238E27FC236}">
                <a16:creationId xmlns:a16="http://schemas.microsoft.com/office/drawing/2014/main" id="{DAEB61A3-9262-98C6-4D94-DC1591787E9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38" t="7882" r="7167" b="7664"/>
          <a:stretch>
            <a:fillRect/>
          </a:stretch>
        </p:blipFill>
        <p:spPr bwMode="auto">
          <a:xfrm>
            <a:off x="5660572" y="1525771"/>
            <a:ext cx="3229426" cy="2591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4257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ECCB25A-19F0-673F-A7D9-5FD3575FD1C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C6FDFC1-C654-2073-3F8D-112389F46FDD}"/>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13</a:t>
            </a:r>
          </a:p>
        </p:txBody>
      </p:sp>
      <p:sp>
        <p:nvSpPr>
          <p:cNvPr id="2" name="Title 1">
            <a:extLst>
              <a:ext uri="{FF2B5EF4-FFF2-40B4-BE49-F238E27FC236}">
                <a16:creationId xmlns:a16="http://schemas.microsoft.com/office/drawing/2014/main" id="{4DDFEA78-F209-12A8-8333-8893B2ADE31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Rank in a Matrix</a:t>
            </a:r>
          </a:p>
        </p:txBody>
      </p:sp>
      <p:sp>
        <p:nvSpPr>
          <p:cNvPr id="3" name="Rectangle 2">
            <a:extLst>
              <a:ext uri="{FF2B5EF4-FFF2-40B4-BE49-F238E27FC236}">
                <a16:creationId xmlns:a16="http://schemas.microsoft.com/office/drawing/2014/main" id="{CC2555C6-A053-1A13-2736-E7F428C1860F}"/>
              </a:ext>
            </a:extLst>
          </p:cNvPr>
          <p:cNvSpPr/>
          <p:nvPr/>
        </p:nvSpPr>
        <p:spPr>
          <a:xfrm>
            <a:off x="254001" y="1026299"/>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rank of a matrix is denoted using ρ(A), where A is any matrix. Thus, the number of rows of a matrix is a limit on the rank of the matrix, which means the rank of the matrix cannot exceed the total number of rows in a matrix.</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If a matrix is of the order 3×3, then the maximum rank of a matrix can be 3.</a:t>
            </a:r>
          </a:p>
          <a:p>
            <a:pPr marL="268288"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Note: </a:t>
            </a:r>
            <a:r>
              <a:rPr lang="en-US" sz="1800" dirty="0">
                <a:latin typeface="Calibri" panose="020F0502020204030204" pitchFamily="34" charset="0"/>
                <a:ea typeface="Calibri" panose="020F0502020204030204" pitchFamily="34" charset="0"/>
                <a:cs typeface="Calibri" panose="020F0502020204030204" pitchFamily="34" charset="0"/>
              </a:rPr>
              <a:t>If a matrix has all rows with zero elements, then the rank of a matrix is to be zero.</a:t>
            </a:r>
          </a:p>
          <a:p>
            <a:pPr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Nullity of Matrix</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a given matrix, the number of vectors in the null space is called the nullity of the matrix, or it can also be defined as the dimension of the null space of the given matrix.</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Total columns in a matrix = Rank + Nullity</a:t>
            </a:r>
          </a:p>
        </p:txBody>
      </p:sp>
    </p:spTree>
    <p:extLst>
      <p:ext uri="{BB962C8B-B14F-4D97-AF65-F5344CB8AC3E}">
        <p14:creationId xmlns:p14="http://schemas.microsoft.com/office/powerpoint/2010/main" val="1092672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76D0495-F60B-8BA6-67DB-5B52B8612A0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446A114-A6DF-1C38-C383-BE3D47123313}"/>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14</a:t>
            </a:r>
          </a:p>
        </p:txBody>
      </p:sp>
      <p:sp>
        <p:nvSpPr>
          <p:cNvPr id="2" name="Title 1">
            <a:extLst>
              <a:ext uri="{FF2B5EF4-FFF2-40B4-BE49-F238E27FC236}">
                <a16:creationId xmlns:a16="http://schemas.microsoft.com/office/drawing/2014/main" id="{47A75732-F509-283E-B887-134D42D196FD}"/>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Rank in a Matrix</a:t>
            </a:r>
          </a:p>
        </p:txBody>
      </p:sp>
      <p:sp>
        <p:nvSpPr>
          <p:cNvPr id="3" name="Rectangle 2">
            <a:extLst>
              <a:ext uri="{FF2B5EF4-FFF2-40B4-BE49-F238E27FC236}">
                <a16:creationId xmlns:a16="http://schemas.microsoft.com/office/drawing/2014/main" id="{4770FB51-2418-A513-3438-4AB4165CB453}"/>
              </a:ext>
            </a:extLst>
          </p:cNvPr>
          <p:cNvSpPr/>
          <p:nvPr/>
        </p:nvSpPr>
        <p:spPr>
          <a:xfrm>
            <a:off x="254001" y="1026299"/>
            <a:ext cx="8639575" cy="3373359"/>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Finding Rank of a Matrix</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To find the rank of a matrix using the minor method, the following steps are followed:</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449263" lvl="0" indent="-180975"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Calculate the determinant of the matrix (say A). If det(A) ≠ 0, then the rank of matrix A = order of matrix A.</a:t>
            </a:r>
          </a:p>
          <a:p>
            <a:pPr marL="449263" lvl="0" indent="-180975" algn="just">
              <a:lnSpc>
                <a:spcPct val="150000"/>
              </a:lnSpc>
              <a:buFont typeface="Arial" panose="020B0604020202020204" pitchFamily="34" charset="0"/>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449263" lvl="0" indent="-180975"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If det(A) = 0, then the rank of the matrix is equal to the order of the maximum possible nonzero minor of the matrix.</a:t>
            </a:r>
          </a:p>
        </p:txBody>
      </p:sp>
    </p:spTree>
    <p:extLst>
      <p:ext uri="{BB962C8B-B14F-4D97-AF65-F5344CB8AC3E}">
        <p14:creationId xmlns:p14="http://schemas.microsoft.com/office/powerpoint/2010/main" val="1258678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05FA5A8-11AE-E668-4D93-6741C9BA267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3D70224-6C36-B5ED-941F-0D441CA4ACD2}"/>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15</a:t>
            </a:r>
          </a:p>
        </p:txBody>
      </p:sp>
      <p:sp>
        <p:nvSpPr>
          <p:cNvPr id="2" name="Title 1">
            <a:extLst>
              <a:ext uri="{FF2B5EF4-FFF2-40B4-BE49-F238E27FC236}">
                <a16:creationId xmlns:a16="http://schemas.microsoft.com/office/drawing/2014/main" id="{90C3A8FF-36EC-72D5-3D72-4B920710642C}"/>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Rank in a Matrix</a:t>
            </a:r>
          </a:p>
        </p:txBody>
      </p:sp>
      <p:sp>
        <p:nvSpPr>
          <p:cNvPr id="3" name="Rectangle 2">
            <a:extLst>
              <a:ext uri="{FF2B5EF4-FFF2-40B4-BE49-F238E27FC236}">
                <a16:creationId xmlns:a16="http://schemas.microsoft.com/office/drawing/2014/main" id="{E9D0BEAA-BD60-0873-C6AE-0D5261D3F258}"/>
              </a:ext>
            </a:extLst>
          </p:cNvPr>
          <p:cNvSpPr/>
          <p:nvPr/>
        </p:nvSpPr>
        <p:spPr>
          <a:xfrm>
            <a:off x="254001" y="1026299"/>
            <a:ext cx="8639575" cy="880369"/>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Example: </a:t>
            </a:r>
            <a:r>
              <a:rPr lang="en-US" sz="1800" dirty="0">
                <a:latin typeface="Calibri" panose="020F0502020204030204" pitchFamily="34" charset="0"/>
                <a:ea typeface="Calibri" panose="020F0502020204030204" pitchFamily="34" charset="0"/>
                <a:cs typeface="Calibri" panose="020F0502020204030204" pitchFamily="34" charset="0"/>
              </a:rPr>
              <a:t>Find the rank of a matrix</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C7D1FFB5-C37C-7D70-E639-2029A78ED771}"/>
              </a:ext>
            </a:extLst>
          </p:cNvPr>
          <p:cNvPicPr>
            <a:picLocks noChangeAspect="1"/>
          </p:cNvPicPr>
          <p:nvPr/>
        </p:nvPicPr>
        <p:blipFill>
          <a:blip r:embed="rId3"/>
          <a:stretch>
            <a:fillRect/>
          </a:stretch>
        </p:blipFill>
        <p:spPr>
          <a:xfrm>
            <a:off x="3957552" y="802067"/>
            <a:ext cx="1228896" cy="1057423"/>
          </a:xfrm>
          <a:prstGeom prst="rect">
            <a:avLst/>
          </a:prstGeom>
        </p:spPr>
      </p:pic>
      <p:pic>
        <p:nvPicPr>
          <p:cNvPr id="8" name="Picture 7">
            <a:extLst>
              <a:ext uri="{FF2B5EF4-FFF2-40B4-BE49-F238E27FC236}">
                <a16:creationId xmlns:a16="http://schemas.microsoft.com/office/drawing/2014/main" id="{A8C5DFE9-D19E-B3F6-1611-A9B137101E42}"/>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20000"/>
                    </a14:imgEffect>
                  </a14:imgLayer>
                </a14:imgProps>
              </a:ext>
            </a:extLst>
          </a:blip>
          <a:stretch>
            <a:fillRect/>
          </a:stretch>
        </p:blipFill>
        <p:spPr>
          <a:xfrm>
            <a:off x="2634342" y="1906668"/>
            <a:ext cx="4971143" cy="3086246"/>
          </a:xfrm>
          <a:prstGeom prst="rect">
            <a:avLst/>
          </a:prstGeom>
        </p:spPr>
      </p:pic>
    </p:spTree>
    <p:extLst>
      <p:ext uri="{BB962C8B-B14F-4D97-AF65-F5344CB8AC3E}">
        <p14:creationId xmlns:p14="http://schemas.microsoft.com/office/powerpoint/2010/main" val="1918944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7FAA384-F4F8-E7EE-9BF4-0E90AA430A2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65F7D01-E3C1-73AB-CC9A-3B7B45B397ED}"/>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16</a:t>
            </a:r>
          </a:p>
        </p:txBody>
      </p:sp>
      <p:sp>
        <p:nvSpPr>
          <p:cNvPr id="2" name="Title 1">
            <a:extLst>
              <a:ext uri="{FF2B5EF4-FFF2-40B4-BE49-F238E27FC236}">
                <a16:creationId xmlns:a16="http://schemas.microsoft.com/office/drawing/2014/main" id="{53FBE8DB-1484-DBAE-9D0F-5079C0FD0CB6}"/>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Rank in a Matrix</a:t>
            </a:r>
          </a:p>
        </p:txBody>
      </p:sp>
      <p:sp>
        <p:nvSpPr>
          <p:cNvPr id="3" name="Rectangle 2">
            <a:extLst>
              <a:ext uri="{FF2B5EF4-FFF2-40B4-BE49-F238E27FC236}">
                <a16:creationId xmlns:a16="http://schemas.microsoft.com/office/drawing/2014/main" id="{BE48BDC5-768B-F832-41B7-DA683E34BF12}"/>
              </a:ext>
            </a:extLst>
          </p:cNvPr>
          <p:cNvSpPr/>
          <p:nvPr/>
        </p:nvSpPr>
        <p:spPr>
          <a:xfrm>
            <a:off x="254001" y="1026299"/>
            <a:ext cx="8639575" cy="3788858"/>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Properties of Rank of a Matrix: </a:t>
            </a:r>
            <a:r>
              <a:rPr lang="en-US" sz="1800" dirty="0">
                <a:latin typeface="Calibri" panose="020F0502020204030204" pitchFamily="34" charset="0"/>
                <a:ea typeface="Calibri" panose="020F0502020204030204" pitchFamily="34" charset="0"/>
                <a:cs typeface="Calibri" panose="020F0502020204030204" pitchFamily="34" charset="0"/>
              </a:rPr>
              <a:t>The properties of the rank of a matrix are as follows:</a:t>
            </a:r>
          </a:p>
          <a:p>
            <a:pPr marL="285750"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rank of a matrix is equal to the order of the matrix if it is a non-singular matrix.</a:t>
            </a:r>
          </a:p>
          <a:p>
            <a:pPr marL="285750"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rank of a matrix is equal to the number of non-zero rows if it is in Echelon Form.</a:t>
            </a:r>
          </a:p>
          <a:p>
            <a:pPr marL="285750"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rank of a matrix is equal to the order of the identity matrix in it if it is in normal form.</a:t>
            </a:r>
          </a:p>
          <a:p>
            <a:pPr marL="285750"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Rank of matrix &lt; Order of matrix if it is a singular matrix.</a:t>
            </a:r>
          </a:p>
          <a:p>
            <a:pPr marL="285750"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Rank of matrix &lt; minimum {m, n} if it is a rectangular matrix of order m x n.</a:t>
            </a:r>
          </a:p>
          <a:p>
            <a:pPr marL="285750"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rank of the identity matrix is equal to the order of the identity matrix.</a:t>
            </a:r>
          </a:p>
          <a:p>
            <a:pPr marL="285750"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rank of a zero matrix or a null matrix is zero.</a:t>
            </a:r>
          </a:p>
        </p:txBody>
      </p:sp>
    </p:spTree>
    <p:extLst>
      <p:ext uri="{BB962C8B-B14F-4D97-AF65-F5344CB8AC3E}">
        <p14:creationId xmlns:p14="http://schemas.microsoft.com/office/powerpoint/2010/main" val="3807358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C576E8A-EB21-7075-4DCB-92E7A4C9E6D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B2BCEE5-AC3A-83AE-47A0-3DF6A2617050}"/>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17</a:t>
            </a:r>
          </a:p>
        </p:txBody>
      </p:sp>
      <p:sp>
        <p:nvSpPr>
          <p:cNvPr id="2" name="Title 1">
            <a:extLst>
              <a:ext uri="{FF2B5EF4-FFF2-40B4-BE49-F238E27FC236}">
                <a16:creationId xmlns:a16="http://schemas.microsoft.com/office/drawing/2014/main" id="{65C1DDC9-C396-BC72-9B80-25356A59012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Rank in a Matrix</a:t>
            </a:r>
          </a:p>
        </p:txBody>
      </p:sp>
      <p:sp>
        <p:nvSpPr>
          <p:cNvPr id="3" name="Rectangle 2">
            <a:extLst>
              <a:ext uri="{FF2B5EF4-FFF2-40B4-BE49-F238E27FC236}">
                <a16:creationId xmlns:a16="http://schemas.microsoft.com/office/drawing/2014/main" id="{EE433FB5-60EB-8BB9-61F7-CD6A81347DD9}"/>
              </a:ext>
            </a:extLst>
          </p:cNvPr>
          <p:cNvSpPr/>
          <p:nvPr/>
        </p:nvSpPr>
        <p:spPr>
          <a:xfrm>
            <a:off x="254001" y="968243"/>
            <a:ext cx="8639575" cy="4204356"/>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Use of Rank of a Matrix in Machine Learning</a:t>
            </a:r>
          </a:p>
          <a:p>
            <a:pPr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Checking linear independence of features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rank of the data matrix 𝑋 (rows = samples, columns = features) tells how many linearly independent features you actually have.</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If rank &lt; number of features → some features are linearly dependent (one feature can be written as a combination of others).</a:t>
            </a:r>
          </a:p>
          <a:p>
            <a:pPr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Uniqueness of regression solution</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linear regression, the normal equation is: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For (𝑋</a:t>
            </a:r>
            <a:r>
              <a:rPr lang="en-US" sz="1800" baseline="30000" dirty="0">
                <a:latin typeface="Calibri" panose="020F0502020204030204" pitchFamily="34" charset="0"/>
                <a:ea typeface="Calibri" panose="020F0502020204030204" pitchFamily="34" charset="0"/>
                <a:cs typeface="Calibri" panose="020F0502020204030204" pitchFamily="34" charset="0"/>
              </a:rPr>
              <a:t>𝑇</a:t>
            </a:r>
            <a:r>
              <a:rPr lang="en-US" sz="1800" dirty="0">
                <a:latin typeface="Calibri" panose="020F0502020204030204" pitchFamily="34" charset="0"/>
                <a:ea typeface="Calibri" panose="020F0502020204030204" pitchFamily="34" charset="0"/>
                <a:cs typeface="Calibri" panose="020F0502020204030204" pitchFamily="34" charset="0"/>
              </a:rPr>
              <a:t>𝑋 to be invertible, the matrix 𝑋X must have full column rank.</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If rank is not full → no unique solution</a:t>
            </a:r>
          </a:p>
        </p:txBody>
      </p:sp>
      <p:pic>
        <p:nvPicPr>
          <p:cNvPr id="5" name="Picture 4">
            <a:extLst>
              <a:ext uri="{FF2B5EF4-FFF2-40B4-BE49-F238E27FC236}">
                <a16:creationId xmlns:a16="http://schemas.microsoft.com/office/drawing/2014/main" id="{91AEF3A7-3ED0-BD89-9124-C5219940115B}"/>
              </a:ext>
            </a:extLst>
          </p:cNvPr>
          <p:cNvPicPr>
            <a:picLocks noChangeAspect="1"/>
          </p:cNvPicPr>
          <p:nvPr/>
        </p:nvPicPr>
        <p:blipFill>
          <a:blip r:embed="rId3"/>
          <a:stretch>
            <a:fillRect/>
          </a:stretch>
        </p:blipFill>
        <p:spPr>
          <a:xfrm>
            <a:off x="4823378" y="3999341"/>
            <a:ext cx="1819529" cy="352474"/>
          </a:xfrm>
          <a:prstGeom prst="rect">
            <a:avLst/>
          </a:prstGeom>
        </p:spPr>
      </p:pic>
    </p:spTree>
    <p:extLst>
      <p:ext uri="{BB962C8B-B14F-4D97-AF65-F5344CB8AC3E}">
        <p14:creationId xmlns:p14="http://schemas.microsoft.com/office/powerpoint/2010/main" val="73658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87F7887-A143-8855-92DC-F21F7D1BA4B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B964506-133B-D6DB-9172-0D744D6A9623}"/>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18</a:t>
            </a:r>
          </a:p>
        </p:txBody>
      </p:sp>
      <p:sp>
        <p:nvSpPr>
          <p:cNvPr id="2" name="Title 1">
            <a:extLst>
              <a:ext uri="{FF2B5EF4-FFF2-40B4-BE49-F238E27FC236}">
                <a16:creationId xmlns:a16="http://schemas.microsoft.com/office/drawing/2014/main" id="{9990EFD8-B26E-2BF6-0114-6D7A850A55DA}"/>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Rank in a Matrix</a:t>
            </a:r>
          </a:p>
        </p:txBody>
      </p:sp>
      <p:sp>
        <p:nvSpPr>
          <p:cNvPr id="3" name="Rectangle 2">
            <a:extLst>
              <a:ext uri="{FF2B5EF4-FFF2-40B4-BE49-F238E27FC236}">
                <a16:creationId xmlns:a16="http://schemas.microsoft.com/office/drawing/2014/main" id="{DF84EB79-4187-48BE-7094-F4B795A3C16B}"/>
              </a:ext>
            </a:extLst>
          </p:cNvPr>
          <p:cNvSpPr/>
          <p:nvPr/>
        </p:nvSpPr>
        <p:spPr>
          <a:xfrm>
            <a:off x="254001" y="968243"/>
            <a:ext cx="8639575" cy="3373359"/>
          </a:xfrm>
          <a:prstGeom prst="rect">
            <a:avLst/>
          </a:prstGeom>
        </p:spPr>
        <p:txBody>
          <a:bodyPr wrap="square">
            <a:spAutoFit/>
          </a:bodyPr>
          <a:lstStyle/>
          <a:p>
            <a:pPr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Detecting multicollinearity</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Low rank (or nearly low rank) indicates multicollinearity: features are highly correlated.</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This causes large variance in parameter estimates and poor generalization.</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Rank gives a mathematical way to detect such redundancy.</a:t>
            </a:r>
          </a:p>
          <a:p>
            <a:pPr algn="just">
              <a:lnSpc>
                <a:spcPct val="150000"/>
              </a:lnSpc>
            </a:pPr>
            <a:endParaRPr lang="en-US" sz="1800" b="1"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Data quality &amp; redundancy check</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Rank deficiency can indicate duplicate or redundant rows/columns in the dataset.</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Helps in data cleaning: removing perfectly correlated or duplicate features.</a:t>
            </a:r>
          </a:p>
        </p:txBody>
      </p:sp>
    </p:spTree>
    <p:extLst>
      <p:ext uri="{BB962C8B-B14F-4D97-AF65-F5344CB8AC3E}">
        <p14:creationId xmlns:p14="http://schemas.microsoft.com/office/powerpoint/2010/main" val="2255341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91456E3-87F6-AE6C-D78C-F6EFB6F680A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05EFFB6-2AC2-3DAE-96F3-FDF332BC11A4}"/>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19</a:t>
            </a:r>
          </a:p>
        </p:txBody>
      </p:sp>
      <p:sp>
        <p:nvSpPr>
          <p:cNvPr id="2" name="Title 1">
            <a:extLst>
              <a:ext uri="{FF2B5EF4-FFF2-40B4-BE49-F238E27FC236}">
                <a16:creationId xmlns:a16="http://schemas.microsoft.com/office/drawing/2014/main" id="{8A870181-9786-4A08-0072-404137E1774E}"/>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nl-NL" sz="4000" b="1" dirty="0">
                <a:latin typeface="Calibri" panose="020F0502020204030204" pitchFamily="34" charset="0"/>
                <a:ea typeface="Calibri" panose="020F0502020204030204" pitchFamily="34" charset="0"/>
                <a:cs typeface="Calibri" panose="020F0502020204030204" pitchFamily="34" charset="0"/>
              </a:rPr>
              <a:t>Eigen Values and Eigen Vectors</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FDB37D93-8B0F-D2CA-72A4-ED11F132FF64}"/>
              </a:ext>
            </a:extLst>
          </p:cNvPr>
          <p:cNvSpPr/>
          <p:nvPr/>
        </p:nvSpPr>
        <p:spPr>
          <a:xfrm>
            <a:off x="254001" y="917444"/>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Eigenvalues and eigenvectors are fundamental concepts in linear algebra, used in various applications such as matrix diagonalization, stability analysis, and data analysis (e.g., Principal Component Analysis).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They are associated with a square matrix and provide insights into its properties.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Eigenvalues: </a:t>
            </a:r>
            <a:r>
              <a:rPr lang="en-US" sz="1800" dirty="0">
                <a:latin typeface="Calibri" panose="020F0502020204030204" pitchFamily="34" charset="0"/>
                <a:ea typeface="Calibri" panose="020F0502020204030204" pitchFamily="34" charset="0"/>
                <a:cs typeface="Calibri" panose="020F0502020204030204" pitchFamily="34" charset="0"/>
              </a:rPr>
              <a:t>Eigenvalues are unique scalar values linked to a matrix or linear transformation. They indicate how much an eigenvector gets stretched or compressed during the transformation. The eigenvector's direction remains unchanged unless the eigenvalue is negative, in which case the direction is simply reversed.</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equation for eigenvalue is given by, </a:t>
            </a:r>
            <a:r>
              <a:rPr lang="en-US" sz="1800" b="1" dirty="0">
                <a:latin typeface="Calibri" panose="020F0502020204030204" pitchFamily="34" charset="0"/>
                <a:ea typeface="Calibri" panose="020F0502020204030204" pitchFamily="34" charset="0"/>
                <a:cs typeface="Calibri" panose="020F0502020204030204" pitchFamily="34" charset="0"/>
              </a:rPr>
              <a:t>Av = </a:t>
            </a:r>
            <a:r>
              <a:rPr lang="el-GR" sz="1800" b="1" dirty="0">
                <a:latin typeface="Calibri" panose="020F0502020204030204" pitchFamily="34" charset="0"/>
                <a:ea typeface="Calibri" panose="020F0502020204030204" pitchFamily="34" charset="0"/>
                <a:cs typeface="Calibri" panose="020F0502020204030204" pitchFamily="34" charset="0"/>
              </a:rPr>
              <a:t>λ</a:t>
            </a:r>
            <a:r>
              <a:rPr lang="en-US" sz="1800" b="1" dirty="0">
                <a:latin typeface="Calibri" panose="020F0502020204030204" pitchFamily="34" charset="0"/>
                <a:ea typeface="Calibri" panose="020F0502020204030204" pitchFamily="34" charset="0"/>
                <a:cs typeface="Calibri" panose="020F0502020204030204" pitchFamily="34" charset="0"/>
              </a:rPr>
              <a:t>v</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Where: A is the matrix, v is associated eigenvector and λ is scalar eigenvalue.</a:t>
            </a:r>
          </a:p>
        </p:txBody>
      </p:sp>
    </p:spTree>
    <p:extLst>
      <p:ext uri="{BB962C8B-B14F-4D97-AF65-F5344CB8AC3E}">
        <p14:creationId xmlns:p14="http://schemas.microsoft.com/office/powerpoint/2010/main" val="4176918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7F87E2D-5BA7-3E82-61EA-9CF1940D33B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8EB7EDE-5A87-6DE7-7A5E-AFAA01606962}"/>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20</a:t>
            </a:r>
          </a:p>
        </p:txBody>
      </p:sp>
      <p:sp>
        <p:nvSpPr>
          <p:cNvPr id="2" name="Title 1">
            <a:extLst>
              <a:ext uri="{FF2B5EF4-FFF2-40B4-BE49-F238E27FC236}">
                <a16:creationId xmlns:a16="http://schemas.microsoft.com/office/drawing/2014/main" id="{D7FA5C79-75EB-BA71-190F-A776A85A995A}"/>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nl-NL" sz="4000" b="1" dirty="0">
                <a:latin typeface="Calibri" panose="020F0502020204030204" pitchFamily="34" charset="0"/>
                <a:ea typeface="Calibri" panose="020F0502020204030204" pitchFamily="34" charset="0"/>
                <a:cs typeface="Calibri" panose="020F0502020204030204" pitchFamily="34" charset="0"/>
              </a:rPr>
              <a:t>Eigen Values and Eigen Vectors</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C10C86E4-4D16-9450-CC8C-55C6ACDA0628}"/>
              </a:ext>
            </a:extLst>
          </p:cNvPr>
          <p:cNvSpPr/>
          <p:nvPr/>
        </p:nvSpPr>
        <p:spPr>
          <a:xfrm>
            <a:off x="254001" y="917444"/>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Eigenvectors: </a:t>
            </a:r>
            <a:r>
              <a:rPr lang="en-US" sz="1800" dirty="0">
                <a:latin typeface="Calibri" panose="020F0502020204030204" pitchFamily="34" charset="0"/>
                <a:ea typeface="Calibri" panose="020F0502020204030204" pitchFamily="34" charset="0"/>
                <a:cs typeface="Calibri" panose="020F0502020204030204" pitchFamily="34" charset="0"/>
              </a:rPr>
              <a:t>Eigenvectors are non-zero vectors that, when multiplied by a matrix, only stretch or shrink without changing direction. The eigenvalue must be found first before the eigenvector. For any square matrix A of order n × n, the eigenvector is a column matrix of size n × 1. This is known as the right eigenvector, as matrix multiplication is not commutative.</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Alternatively, the left eigenvector can be found using the equation </a:t>
            </a:r>
            <a:r>
              <a:rPr lang="en-US" sz="1800" dirty="0" err="1">
                <a:latin typeface="Calibri" panose="020F0502020204030204" pitchFamily="34" charset="0"/>
                <a:ea typeface="Calibri" panose="020F0502020204030204" pitchFamily="34" charset="0"/>
                <a:cs typeface="Calibri" panose="020F0502020204030204" pitchFamily="34" charset="0"/>
              </a:rPr>
              <a:t>vA</a:t>
            </a:r>
            <a:r>
              <a:rPr lang="en-US" sz="1800" dirty="0">
                <a:latin typeface="Calibri" panose="020F0502020204030204" pitchFamily="34" charset="0"/>
                <a:ea typeface="Calibri" panose="020F0502020204030204" pitchFamily="34" charset="0"/>
                <a:cs typeface="Calibri" panose="020F0502020204030204" pitchFamily="34" charset="0"/>
              </a:rPr>
              <a:t>=</a:t>
            </a:r>
            <a:r>
              <a:rPr lang="en-US" sz="1800" dirty="0" err="1">
                <a:latin typeface="Calibri" panose="020F0502020204030204" pitchFamily="34" charset="0"/>
                <a:ea typeface="Calibri" panose="020F0502020204030204" pitchFamily="34" charset="0"/>
                <a:cs typeface="Calibri" panose="020F0502020204030204" pitchFamily="34" charset="0"/>
              </a:rPr>
              <a:t>λv</a:t>
            </a:r>
            <a:r>
              <a:rPr lang="en-US" sz="1800" dirty="0">
                <a:latin typeface="Calibri" panose="020F0502020204030204" pitchFamily="34" charset="0"/>
                <a:ea typeface="Calibri" panose="020F0502020204030204" pitchFamily="34" charset="0"/>
                <a:cs typeface="Calibri" panose="020F0502020204030204" pitchFamily="34" charset="0"/>
              </a:rPr>
              <a:t>, where v is a row matrix of size 1 × 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Eigenvector Equation: The Eigenvector equation is the equation that is used to find the eigenvector of any square matrix. The eigenvector equation is </a:t>
            </a:r>
            <a:r>
              <a:rPr lang="en-US" sz="1800" b="1" dirty="0">
                <a:latin typeface="Calibri" panose="020F0502020204030204" pitchFamily="34" charset="0"/>
                <a:ea typeface="Calibri" panose="020F0502020204030204" pitchFamily="34" charset="0"/>
                <a:cs typeface="Calibri" panose="020F0502020204030204" pitchFamily="34" charset="0"/>
              </a:rPr>
              <a:t>Av = </a:t>
            </a:r>
            <a:r>
              <a:rPr lang="el-GR" sz="1800" b="1" dirty="0">
                <a:latin typeface="Calibri" panose="020F0502020204030204" pitchFamily="34" charset="0"/>
                <a:ea typeface="Calibri" panose="020F0502020204030204" pitchFamily="34" charset="0"/>
                <a:cs typeface="Calibri" panose="020F0502020204030204" pitchFamily="34" charset="0"/>
              </a:rPr>
              <a:t>λ</a:t>
            </a:r>
            <a:r>
              <a:rPr lang="en-US" sz="1800" b="1" dirty="0">
                <a:latin typeface="Calibri" panose="020F0502020204030204" pitchFamily="34" charset="0"/>
                <a:ea typeface="Calibri" panose="020F0502020204030204" pitchFamily="34" charset="0"/>
                <a:cs typeface="Calibri" panose="020F0502020204030204" pitchFamily="34" charset="0"/>
              </a:rPr>
              <a:t>v</a:t>
            </a:r>
          </a:p>
        </p:txBody>
      </p:sp>
    </p:spTree>
    <p:extLst>
      <p:ext uri="{BB962C8B-B14F-4D97-AF65-F5344CB8AC3E}">
        <p14:creationId xmlns:p14="http://schemas.microsoft.com/office/powerpoint/2010/main" val="3790048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B6643FC-2746-693D-F5A6-1A3A38FE7E7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4D25866-AF5F-0DAD-F8E1-BA3954ACAC13}"/>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21</a:t>
            </a:r>
          </a:p>
        </p:txBody>
      </p:sp>
      <p:sp>
        <p:nvSpPr>
          <p:cNvPr id="2" name="Title 1">
            <a:extLst>
              <a:ext uri="{FF2B5EF4-FFF2-40B4-BE49-F238E27FC236}">
                <a16:creationId xmlns:a16="http://schemas.microsoft.com/office/drawing/2014/main" id="{138BD3AB-9187-6FD5-4322-028B4F3266BD}"/>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nl-NL" sz="4000" b="1" dirty="0">
                <a:latin typeface="Calibri" panose="020F0502020204030204" pitchFamily="34" charset="0"/>
                <a:ea typeface="Calibri" panose="020F0502020204030204" pitchFamily="34" charset="0"/>
                <a:cs typeface="Calibri" panose="020F0502020204030204" pitchFamily="34" charset="0"/>
              </a:rPr>
              <a:t>Eigen Values and Eigen Vectors</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123E3A33-8305-9FBC-8E8E-CCFCC475DA20}"/>
              </a:ext>
            </a:extLst>
          </p:cNvPr>
          <p:cNvSpPr/>
          <p:nvPr/>
        </p:nvSpPr>
        <p:spPr>
          <a:xfrm>
            <a:off x="254001" y="917444"/>
            <a:ext cx="8639575" cy="4204356"/>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How to Find an Eigenvector</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eigenvector of the following square matrix can be easily calculated using the steps below,</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Step 1: Find the eigenvalues of the matrix A, using the equation det |(A – </a:t>
            </a:r>
            <a:r>
              <a:rPr lang="en-US" sz="1800" dirty="0" err="1">
                <a:latin typeface="Calibri" panose="020F0502020204030204" pitchFamily="34" charset="0"/>
                <a:ea typeface="Calibri" panose="020F0502020204030204" pitchFamily="34" charset="0"/>
                <a:cs typeface="Calibri" panose="020F0502020204030204" pitchFamily="34" charset="0"/>
              </a:rPr>
              <a:t>λI</a:t>
            </a:r>
            <a:r>
              <a:rPr lang="en-US" sz="1800" dirty="0">
                <a:latin typeface="Calibri" panose="020F0502020204030204" pitchFamily="34" charset="0"/>
                <a:ea typeface="Calibri" panose="020F0502020204030204" pitchFamily="34" charset="0"/>
                <a:cs typeface="Calibri" panose="020F0502020204030204" pitchFamily="34" charset="0"/>
              </a:rPr>
              <a:t>| =0, where “I” is the identity matrix of order similar to matrix A</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Step 2: The value obtained in Step 1 are named as, λ1​,λ2​,λ3​….</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Step 3: Find the eigenvector (X) associated with the eigenvalue  λ1 using the equation, (A–λ1​I)X=0</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Step 4: Repeat step 3 to find the eigenvector associated with other remaining eigenvalues λ2​,λ3​….</a:t>
            </a:r>
          </a:p>
        </p:txBody>
      </p:sp>
    </p:spTree>
    <p:extLst>
      <p:ext uri="{BB962C8B-B14F-4D97-AF65-F5344CB8AC3E}">
        <p14:creationId xmlns:p14="http://schemas.microsoft.com/office/powerpoint/2010/main" val="2164262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A29C257-9BC6-A3DE-CC69-D3752FC2E9B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14BB1EC-8F41-9589-A069-385802F6B462}"/>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22</a:t>
            </a:r>
          </a:p>
        </p:txBody>
      </p:sp>
      <p:sp>
        <p:nvSpPr>
          <p:cNvPr id="2" name="Title 1">
            <a:extLst>
              <a:ext uri="{FF2B5EF4-FFF2-40B4-BE49-F238E27FC236}">
                <a16:creationId xmlns:a16="http://schemas.microsoft.com/office/drawing/2014/main" id="{9031526A-194A-11D9-BA54-159B13A9F84B}"/>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nl-NL" sz="4000" b="1" dirty="0">
                <a:latin typeface="Calibri" panose="020F0502020204030204" pitchFamily="34" charset="0"/>
                <a:ea typeface="Calibri" panose="020F0502020204030204" pitchFamily="34" charset="0"/>
                <a:cs typeface="Calibri" panose="020F0502020204030204" pitchFamily="34" charset="0"/>
              </a:rPr>
              <a:t>Eigen Values and Eigen Vectors</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8F1F9C09-66A5-4183-612F-17F7B56536CA}"/>
              </a:ext>
            </a:extLst>
          </p:cNvPr>
          <p:cNvSpPr/>
          <p:nvPr/>
        </p:nvSpPr>
        <p:spPr>
          <a:xfrm>
            <a:off x="254001" y="917444"/>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Eigenvalues and eigenvectors are fundamental concepts in linear algebra, used in various applications such as matrix diagonalization, stability analysis, and data analysis (e.g., Principal Component Analysis).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They are associated with a square matrix and provide insights into its properties.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Eigenvalues: Eigenvalues are unique scalar values linked to a matrix or linear transformation. They indicate how much an eigenvector gets stretched or compressed during the transformation. The eigenvector's direction remains unchanged unless the eigenvalue is negative, in which case the direction is simply reversed.</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equation for eigenvalue is given by, Av = </a:t>
            </a:r>
            <a:r>
              <a:rPr lang="el-GR" sz="1800" dirty="0">
                <a:latin typeface="Calibri" panose="020F0502020204030204" pitchFamily="34" charset="0"/>
                <a:ea typeface="Calibri" panose="020F0502020204030204" pitchFamily="34" charset="0"/>
                <a:cs typeface="Calibri" panose="020F0502020204030204" pitchFamily="34" charset="0"/>
              </a:rPr>
              <a:t>λ</a:t>
            </a:r>
            <a:r>
              <a:rPr lang="en-US" sz="1800" dirty="0">
                <a:latin typeface="Calibri" panose="020F0502020204030204" pitchFamily="34" charset="0"/>
                <a:ea typeface="Calibri" panose="020F0502020204030204" pitchFamily="34" charset="0"/>
                <a:cs typeface="Calibri" panose="020F0502020204030204" pitchFamily="34" charset="0"/>
              </a:rPr>
              <a:t>v</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Where: A is the matrix, v is associated eigenvector and λ is scalar eigenvalue.</a:t>
            </a:r>
          </a:p>
        </p:txBody>
      </p:sp>
    </p:spTree>
    <p:extLst>
      <p:ext uri="{BB962C8B-B14F-4D97-AF65-F5344CB8AC3E}">
        <p14:creationId xmlns:p14="http://schemas.microsoft.com/office/powerpoint/2010/main" val="1462569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742D597-8EBF-FD28-810F-8A8DB02174F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0A2A7A6-E842-2D7A-40D7-3470A39C5FA5}"/>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23</a:t>
            </a:r>
          </a:p>
        </p:txBody>
      </p:sp>
      <p:sp>
        <p:nvSpPr>
          <p:cNvPr id="2" name="Title 1">
            <a:extLst>
              <a:ext uri="{FF2B5EF4-FFF2-40B4-BE49-F238E27FC236}">
                <a16:creationId xmlns:a16="http://schemas.microsoft.com/office/drawing/2014/main" id="{570E4D86-FB94-24B2-7512-EF5A32D6BA04}"/>
              </a:ext>
            </a:extLst>
          </p:cNvPr>
          <p:cNvSpPr txBox="1">
            <a:spLocks/>
          </p:cNvSpPr>
          <p:nvPr/>
        </p:nvSpPr>
        <p:spPr>
          <a:xfrm>
            <a:off x="696686" y="65313"/>
            <a:ext cx="8055428" cy="806675"/>
          </a:xfrm>
          <a:prstGeom prst="rect">
            <a:avLst/>
          </a:prstGeom>
        </p:spPr>
        <p:txBody>
          <a:bodyPr>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it-IT" sz="4000" b="1" dirty="0">
                <a:latin typeface="Calibri" panose="020F0502020204030204" pitchFamily="34" charset="0"/>
                <a:ea typeface="Calibri" panose="020F0502020204030204" pitchFamily="34" charset="0"/>
                <a:cs typeface="Calibri" panose="020F0502020204030204" pitchFamily="34" charset="0"/>
              </a:rPr>
              <a:t>Positive &amp; Negative Definite/Semi-Definite Matrices</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545FAEC5-9CBD-C3B3-FB28-72FB49BE999B}"/>
              </a:ext>
            </a:extLst>
          </p:cNvPr>
          <p:cNvSpPr/>
          <p:nvPr/>
        </p:nvSpPr>
        <p:spPr>
          <a:xfrm>
            <a:off x="254001" y="939215"/>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Matrices are often analyzed based on how they transform vectors in quadratic forms.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For a square matrix A, consider the quadratic form:</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Based on the sign of Q(x), matrices are classified into definite or semi-definite.</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1. Positive Definite Matrix</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A square matrix A is positive definite (PD) if:</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6781EAC4-2A1A-A256-2F33-1E400695CBE0}"/>
              </a:ext>
            </a:extLst>
          </p:cNvPr>
          <p:cNvPicPr>
            <a:picLocks noChangeAspect="1"/>
          </p:cNvPicPr>
          <p:nvPr/>
        </p:nvPicPr>
        <p:blipFill>
          <a:blip r:embed="rId3"/>
          <a:stretch>
            <a:fillRect/>
          </a:stretch>
        </p:blipFill>
        <p:spPr>
          <a:xfrm>
            <a:off x="3395660" y="2006769"/>
            <a:ext cx="2657475" cy="504825"/>
          </a:xfrm>
          <a:prstGeom prst="rect">
            <a:avLst/>
          </a:prstGeom>
        </p:spPr>
      </p:pic>
      <p:pic>
        <p:nvPicPr>
          <p:cNvPr id="5" name="Picture 4">
            <a:extLst>
              <a:ext uri="{FF2B5EF4-FFF2-40B4-BE49-F238E27FC236}">
                <a16:creationId xmlns:a16="http://schemas.microsoft.com/office/drawing/2014/main" id="{7758C10B-BAEB-F708-7366-512853D1B1CC}"/>
              </a:ext>
            </a:extLst>
          </p:cNvPr>
          <p:cNvPicPr>
            <a:picLocks noChangeAspect="1"/>
          </p:cNvPicPr>
          <p:nvPr/>
        </p:nvPicPr>
        <p:blipFill>
          <a:blip r:embed="rId4"/>
          <a:stretch>
            <a:fillRect/>
          </a:stretch>
        </p:blipFill>
        <p:spPr>
          <a:xfrm>
            <a:off x="3719511" y="4083974"/>
            <a:ext cx="2009775" cy="457200"/>
          </a:xfrm>
          <a:prstGeom prst="rect">
            <a:avLst/>
          </a:prstGeom>
        </p:spPr>
      </p:pic>
    </p:spTree>
    <p:extLst>
      <p:ext uri="{BB962C8B-B14F-4D97-AF65-F5344CB8AC3E}">
        <p14:creationId xmlns:p14="http://schemas.microsoft.com/office/powerpoint/2010/main" val="978848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6A3ACD2-AF60-574E-30AA-C731E00173A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8DC2916-F487-5971-20C7-003966837243}"/>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24</a:t>
            </a:r>
          </a:p>
        </p:txBody>
      </p:sp>
      <p:sp>
        <p:nvSpPr>
          <p:cNvPr id="2" name="Title 1">
            <a:extLst>
              <a:ext uri="{FF2B5EF4-FFF2-40B4-BE49-F238E27FC236}">
                <a16:creationId xmlns:a16="http://schemas.microsoft.com/office/drawing/2014/main" id="{FE67D488-B10C-71A3-D113-0CF5E81D8721}"/>
              </a:ext>
            </a:extLst>
          </p:cNvPr>
          <p:cNvSpPr txBox="1">
            <a:spLocks/>
          </p:cNvSpPr>
          <p:nvPr/>
        </p:nvSpPr>
        <p:spPr>
          <a:xfrm>
            <a:off x="696686" y="65313"/>
            <a:ext cx="8055428" cy="806675"/>
          </a:xfrm>
          <a:prstGeom prst="rect">
            <a:avLst/>
          </a:prstGeom>
        </p:spPr>
        <p:txBody>
          <a:bodyPr>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it-IT" sz="4000" b="1" dirty="0">
                <a:latin typeface="Calibri" panose="020F0502020204030204" pitchFamily="34" charset="0"/>
                <a:ea typeface="Calibri" panose="020F0502020204030204" pitchFamily="34" charset="0"/>
                <a:cs typeface="Calibri" panose="020F0502020204030204" pitchFamily="34" charset="0"/>
              </a:rPr>
              <a:t>Positive &amp; Negative Definite/Semi-Definite Matrices</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FEF174F5-09A4-3A15-D2AB-694F9D2C37BE}"/>
              </a:ext>
            </a:extLst>
          </p:cNvPr>
          <p:cNvSpPr/>
          <p:nvPr/>
        </p:nvSpPr>
        <p:spPr>
          <a:xfrm>
            <a:off x="254001" y="939215"/>
            <a:ext cx="8639575" cy="2957861"/>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Properties</a:t>
            </a:r>
          </a:p>
          <a:p>
            <a:pPr marL="536575" lvl="0" indent="-180975"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All eigenvalues </a:t>
            </a:r>
            <a:r>
              <a:rPr lang="en-US" sz="1800" dirty="0" err="1">
                <a:latin typeface="Calibri" panose="020F0502020204030204" pitchFamily="34" charset="0"/>
                <a:ea typeface="Calibri" panose="020F0502020204030204" pitchFamily="34" charset="0"/>
                <a:cs typeface="Calibri" panose="020F0502020204030204" pitchFamily="34" charset="0"/>
              </a:rPr>
              <a:t>λi</a:t>
            </a:r>
            <a:r>
              <a:rPr lang="en-US" sz="1800" dirty="0">
                <a:latin typeface="Calibri" panose="020F0502020204030204" pitchFamily="34" charset="0"/>
                <a:ea typeface="Calibri" panose="020F0502020204030204" pitchFamily="34" charset="0"/>
                <a:cs typeface="Calibri" panose="020F0502020204030204" pitchFamily="34" charset="0"/>
              </a:rPr>
              <a:t> &gt; 0</a:t>
            </a:r>
          </a:p>
          <a:p>
            <a:pPr marL="536575" lvl="0" indent="-180975"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A must be symmetric A = AT</a:t>
            </a:r>
          </a:p>
          <a:p>
            <a:pPr marL="536575" lvl="0" indent="-180975"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Determinants of leading principal minors &gt; 0</a:t>
            </a:r>
          </a:p>
          <a:p>
            <a:pPr marL="536575" lvl="0" indent="-180975"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Quadratic form always yields a positive value</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Example</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BB88EFD3-0896-C12A-946D-1AFB1600F815}"/>
              </a:ext>
            </a:extLst>
          </p:cNvPr>
          <p:cNvPicPr>
            <a:picLocks noChangeAspect="1"/>
          </p:cNvPicPr>
          <p:nvPr/>
        </p:nvPicPr>
        <p:blipFill>
          <a:blip r:embed="rId3"/>
          <a:stretch>
            <a:fillRect/>
          </a:stretch>
        </p:blipFill>
        <p:spPr>
          <a:xfrm>
            <a:off x="2562225" y="3583303"/>
            <a:ext cx="4324350" cy="762000"/>
          </a:xfrm>
          <a:prstGeom prst="rect">
            <a:avLst/>
          </a:prstGeom>
        </p:spPr>
      </p:pic>
    </p:spTree>
    <p:extLst>
      <p:ext uri="{BB962C8B-B14F-4D97-AF65-F5344CB8AC3E}">
        <p14:creationId xmlns:p14="http://schemas.microsoft.com/office/powerpoint/2010/main" val="3775467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4388BB3-8A49-2698-05C9-0C89775784F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2E5A2DA-9A1B-2EBD-989A-6A1F9929ABC5}"/>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25</a:t>
            </a:r>
          </a:p>
        </p:txBody>
      </p:sp>
      <p:sp>
        <p:nvSpPr>
          <p:cNvPr id="2" name="Title 1">
            <a:extLst>
              <a:ext uri="{FF2B5EF4-FFF2-40B4-BE49-F238E27FC236}">
                <a16:creationId xmlns:a16="http://schemas.microsoft.com/office/drawing/2014/main" id="{6E1BE86F-7384-5DEF-FB25-0E7218097AD4}"/>
              </a:ext>
            </a:extLst>
          </p:cNvPr>
          <p:cNvSpPr txBox="1">
            <a:spLocks/>
          </p:cNvSpPr>
          <p:nvPr/>
        </p:nvSpPr>
        <p:spPr>
          <a:xfrm>
            <a:off x="696686" y="65313"/>
            <a:ext cx="8055428" cy="806675"/>
          </a:xfrm>
          <a:prstGeom prst="rect">
            <a:avLst/>
          </a:prstGeom>
        </p:spPr>
        <p:txBody>
          <a:bodyPr>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it-IT" sz="4000" b="1" dirty="0">
                <a:latin typeface="Calibri" panose="020F0502020204030204" pitchFamily="34" charset="0"/>
                <a:ea typeface="Calibri" panose="020F0502020204030204" pitchFamily="34" charset="0"/>
                <a:cs typeface="Calibri" panose="020F0502020204030204" pitchFamily="34" charset="0"/>
              </a:rPr>
              <a:t>Positive &amp; Negative Definite/Semi-Definite Matrices</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42102CE7-C61C-5C93-BF81-3B884E2A2D1C}"/>
              </a:ext>
            </a:extLst>
          </p:cNvPr>
          <p:cNvSpPr/>
          <p:nvPr/>
        </p:nvSpPr>
        <p:spPr>
          <a:xfrm>
            <a:off x="254001" y="939215"/>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2. Positive Semi-Definite Matrix (PSD)</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Matrix A is positive semi-definite if:</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 </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Properties</a:t>
            </a:r>
          </a:p>
          <a:p>
            <a:pPr marL="536575"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Eigenvalues </a:t>
            </a:r>
            <a:r>
              <a:rPr lang="el-GR" sz="1800" dirty="0">
                <a:latin typeface="Calibri" panose="020F0502020204030204" pitchFamily="34" charset="0"/>
                <a:ea typeface="Calibri" panose="020F0502020204030204" pitchFamily="34" charset="0"/>
                <a:cs typeface="Calibri" panose="020F0502020204030204" pitchFamily="34" charset="0"/>
              </a:rPr>
              <a:t>λ</a:t>
            </a:r>
            <a:r>
              <a:rPr lang="en-US" sz="1800" dirty="0">
                <a:latin typeface="Calibri" panose="020F0502020204030204" pitchFamily="34" charset="0"/>
                <a:ea typeface="Calibri" panose="020F0502020204030204" pitchFamily="34" charset="0"/>
                <a:cs typeface="Calibri" panose="020F0502020204030204" pitchFamily="34" charset="0"/>
              </a:rPr>
              <a:t>i ≥ 0</a:t>
            </a:r>
          </a:p>
          <a:p>
            <a:pPr marL="536575"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Symmetric in nature</a:t>
            </a:r>
          </a:p>
          <a:p>
            <a:pPr marL="536575"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Quadratic form never negative, but may be zero</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Example</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2017B5FF-7676-07ED-B9D0-340B23B910BA}"/>
              </a:ext>
            </a:extLst>
          </p:cNvPr>
          <p:cNvPicPr>
            <a:picLocks noChangeAspect="1"/>
          </p:cNvPicPr>
          <p:nvPr/>
        </p:nvPicPr>
        <p:blipFill>
          <a:blip r:embed="rId3"/>
          <a:stretch>
            <a:fillRect/>
          </a:stretch>
        </p:blipFill>
        <p:spPr>
          <a:xfrm>
            <a:off x="3537176" y="1873022"/>
            <a:ext cx="1895475" cy="352425"/>
          </a:xfrm>
          <a:prstGeom prst="rect">
            <a:avLst/>
          </a:prstGeom>
        </p:spPr>
      </p:pic>
      <p:pic>
        <p:nvPicPr>
          <p:cNvPr id="8" name="Picture 7">
            <a:extLst>
              <a:ext uri="{FF2B5EF4-FFF2-40B4-BE49-F238E27FC236}">
                <a16:creationId xmlns:a16="http://schemas.microsoft.com/office/drawing/2014/main" id="{1807B8A1-1BD0-893E-4163-6D278ABB1EE8}"/>
              </a:ext>
            </a:extLst>
          </p:cNvPr>
          <p:cNvPicPr>
            <a:picLocks noChangeAspect="1"/>
          </p:cNvPicPr>
          <p:nvPr/>
        </p:nvPicPr>
        <p:blipFill>
          <a:blip r:embed="rId4"/>
          <a:stretch>
            <a:fillRect/>
          </a:stretch>
        </p:blipFill>
        <p:spPr>
          <a:xfrm>
            <a:off x="2995612" y="4023223"/>
            <a:ext cx="3457575" cy="704850"/>
          </a:xfrm>
          <a:prstGeom prst="rect">
            <a:avLst/>
          </a:prstGeom>
        </p:spPr>
      </p:pic>
    </p:spTree>
    <p:extLst>
      <p:ext uri="{BB962C8B-B14F-4D97-AF65-F5344CB8AC3E}">
        <p14:creationId xmlns:p14="http://schemas.microsoft.com/office/powerpoint/2010/main" val="460786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B4AFCB1-C82F-C379-E13E-A5380CA0DC9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D43F690-0BED-4EFB-C460-2FBCE2A7C4BA}"/>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26</a:t>
            </a:r>
          </a:p>
        </p:txBody>
      </p:sp>
      <p:sp>
        <p:nvSpPr>
          <p:cNvPr id="2" name="Title 1">
            <a:extLst>
              <a:ext uri="{FF2B5EF4-FFF2-40B4-BE49-F238E27FC236}">
                <a16:creationId xmlns:a16="http://schemas.microsoft.com/office/drawing/2014/main" id="{BC8915B5-2A5C-2047-E08F-C4AC893E7A03}"/>
              </a:ext>
            </a:extLst>
          </p:cNvPr>
          <p:cNvSpPr txBox="1">
            <a:spLocks/>
          </p:cNvSpPr>
          <p:nvPr/>
        </p:nvSpPr>
        <p:spPr>
          <a:xfrm>
            <a:off x="696686" y="65313"/>
            <a:ext cx="8055428" cy="806675"/>
          </a:xfrm>
          <a:prstGeom prst="rect">
            <a:avLst/>
          </a:prstGeom>
        </p:spPr>
        <p:txBody>
          <a:bodyPr>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it-IT" sz="4000" b="1" dirty="0">
                <a:latin typeface="Calibri" panose="020F0502020204030204" pitchFamily="34" charset="0"/>
                <a:ea typeface="Calibri" panose="020F0502020204030204" pitchFamily="34" charset="0"/>
                <a:cs typeface="Calibri" panose="020F0502020204030204" pitchFamily="34" charset="0"/>
              </a:rPr>
              <a:t>Positive &amp; Negative Definite/Semi-Definite Matrices</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DFB688B8-163E-6A07-3D15-F42067F7908C}"/>
              </a:ext>
            </a:extLst>
          </p:cNvPr>
          <p:cNvSpPr/>
          <p:nvPr/>
        </p:nvSpPr>
        <p:spPr>
          <a:xfrm>
            <a:off x="254001" y="939215"/>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Negative Definite Matrix</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Matrix A is negative definite (ND) if:</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 </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Properties</a:t>
            </a:r>
          </a:p>
          <a:p>
            <a:pPr marL="536575" lvl="0" indent="-180975"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All eigenvalues </a:t>
            </a:r>
            <a:r>
              <a:rPr lang="en-US" sz="1800" dirty="0" err="1">
                <a:latin typeface="Calibri" panose="020F0502020204030204" pitchFamily="34" charset="0"/>
                <a:ea typeface="Calibri" panose="020F0502020204030204" pitchFamily="34" charset="0"/>
                <a:cs typeface="Calibri" panose="020F0502020204030204" pitchFamily="34" charset="0"/>
              </a:rPr>
              <a:t>λi</a:t>
            </a:r>
            <a:r>
              <a:rPr lang="en-US" sz="1800" dirty="0">
                <a:latin typeface="Calibri" panose="020F0502020204030204" pitchFamily="34" charset="0"/>
                <a:ea typeface="Calibri" panose="020F0502020204030204" pitchFamily="34" charset="0"/>
                <a:cs typeface="Calibri" panose="020F0502020204030204" pitchFamily="34" charset="0"/>
              </a:rPr>
              <a:t> &lt; 0</a:t>
            </a:r>
          </a:p>
          <a:p>
            <a:pPr marL="536575" lvl="0" indent="-180975"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Symmetric matrix</a:t>
            </a:r>
          </a:p>
          <a:p>
            <a:pPr marL="536575" lvl="0" indent="-180975"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Quadratic form always yields a negative value</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Example</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3D2D354B-68F5-C233-6B3A-759D16AB6EC9}"/>
              </a:ext>
            </a:extLst>
          </p:cNvPr>
          <p:cNvPicPr>
            <a:picLocks noChangeAspect="1"/>
          </p:cNvPicPr>
          <p:nvPr/>
        </p:nvPicPr>
        <p:blipFill>
          <a:blip r:embed="rId3"/>
          <a:stretch>
            <a:fillRect/>
          </a:stretch>
        </p:blipFill>
        <p:spPr>
          <a:xfrm>
            <a:off x="3738562" y="1868714"/>
            <a:ext cx="1971675" cy="419100"/>
          </a:xfrm>
          <a:prstGeom prst="rect">
            <a:avLst/>
          </a:prstGeom>
        </p:spPr>
      </p:pic>
      <p:pic>
        <p:nvPicPr>
          <p:cNvPr id="5" name="Picture 4">
            <a:extLst>
              <a:ext uri="{FF2B5EF4-FFF2-40B4-BE49-F238E27FC236}">
                <a16:creationId xmlns:a16="http://schemas.microsoft.com/office/drawing/2014/main" id="{3A72ECFC-4F5B-FAE3-29AF-0477C877E110}"/>
              </a:ext>
            </a:extLst>
          </p:cNvPr>
          <p:cNvPicPr>
            <a:picLocks noChangeAspect="1"/>
          </p:cNvPicPr>
          <p:nvPr/>
        </p:nvPicPr>
        <p:blipFill>
          <a:blip r:embed="rId4"/>
          <a:stretch>
            <a:fillRect/>
          </a:stretch>
        </p:blipFill>
        <p:spPr>
          <a:xfrm>
            <a:off x="2909434" y="4052350"/>
            <a:ext cx="4181475" cy="742950"/>
          </a:xfrm>
          <a:prstGeom prst="rect">
            <a:avLst/>
          </a:prstGeom>
        </p:spPr>
      </p:pic>
    </p:spTree>
    <p:extLst>
      <p:ext uri="{BB962C8B-B14F-4D97-AF65-F5344CB8AC3E}">
        <p14:creationId xmlns:p14="http://schemas.microsoft.com/office/powerpoint/2010/main" val="3816617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526B0E8-AB9E-8F03-26E0-B5B5EBEA4DF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9B6844F-3C0F-4ED9-FE81-610F41CEDCFB}"/>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27</a:t>
            </a:r>
          </a:p>
        </p:txBody>
      </p:sp>
      <p:sp>
        <p:nvSpPr>
          <p:cNvPr id="2" name="Title 1">
            <a:extLst>
              <a:ext uri="{FF2B5EF4-FFF2-40B4-BE49-F238E27FC236}">
                <a16:creationId xmlns:a16="http://schemas.microsoft.com/office/drawing/2014/main" id="{8EECB076-9B46-6BBF-9F2D-94105047CB4D}"/>
              </a:ext>
            </a:extLst>
          </p:cNvPr>
          <p:cNvSpPr txBox="1">
            <a:spLocks/>
          </p:cNvSpPr>
          <p:nvPr/>
        </p:nvSpPr>
        <p:spPr>
          <a:xfrm>
            <a:off x="696686" y="65313"/>
            <a:ext cx="8055428" cy="806675"/>
          </a:xfrm>
          <a:prstGeom prst="rect">
            <a:avLst/>
          </a:prstGeom>
        </p:spPr>
        <p:txBody>
          <a:bodyPr>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it-IT" sz="4000" b="1" dirty="0">
                <a:latin typeface="Calibri" panose="020F0502020204030204" pitchFamily="34" charset="0"/>
                <a:ea typeface="Calibri" panose="020F0502020204030204" pitchFamily="34" charset="0"/>
                <a:cs typeface="Calibri" panose="020F0502020204030204" pitchFamily="34" charset="0"/>
              </a:rPr>
              <a:t>Positive &amp; Negative Definite/Semi-Definite Matrices</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3CB27B73-AE25-4D10-8754-52669AD5BE35}"/>
              </a:ext>
            </a:extLst>
          </p:cNvPr>
          <p:cNvSpPr/>
          <p:nvPr/>
        </p:nvSpPr>
        <p:spPr>
          <a:xfrm>
            <a:off x="254001" y="939215"/>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4. Negative Semi-Definite Matrix (NSD)</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Matrix A is negative semi-definite if:</a:t>
            </a:r>
          </a:p>
          <a:p>
            <a:pPr marL="285750" lvl="0" indent="-285750" algn="just">
              <a:lnSpc>
                <a:spcPct val="150000"/>
              </a:lnSpc>
              <a:buFont typeface="Wingdings" panose="05000000000000000000" pitchFamily="2" charset="2"/>
              <a:buChar char="Ø"/>
            </a:pPr>
            <a:endParaRPr lang="en-US" sz="1800" b="1"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Properties</a:t>
            </a:r>
          </a:p>
          <a:p>
            <a:pPr marL="536575" lvl="0" indent="-180975"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Eigenvalues </a:t>
            </a:r>
            <a:r>
              <a:rPr lang="el-GR" sz="1800" dirty="0">
                <a:latin typeface="Calibri" panose="020F0502020204030204" pitchFamily="34" charset="0"/>
                <a:ea typeface="Calibri" panose="020F0502020204030204" pitchFamily="34" charset="0"/>
                <a:cs typeface="Calibri" panose="020F0502020204030204" pitchFamily="34" charset="0"/>
              </a:rPr>
              <a:t>λ</a:t>
            </a:r>
            <a:r>
              <a:rPr lang="en-US" sz="1800" dirty="0">
                <a:latin typeface="Calibri" panose="020F0502020204030204" pitchFamily="34" charset="0"/>
                <a:ea typeface="Calibri" panose="020F0502020204030204" pitchFamily="34" charset="0"/>
                <a:cs typeface="Calibri" panose="020F0502020204030204" pitchFamily="34" charset="0"/>
              </a:rPr>
              <a:t>i ≤ 0</a:t>
            </a:r>
          </a:p>
          <a:p>
            <a:pPr marL="536575" lvl="0" indent="-180975"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Quadratic form is always non-positive</a:t>
            </a:r>
          </a:p>
          <a:p>
            <a:pPr marL="536575" lvl="0" indent="-180975"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May become zero for some non-zero vector</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Example</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E051BB8C-F788-E56F-F114-B34306631238}"/>
              </a:ext>
            </a:extLst>
          </p:cNvPr>
          <p:cNvPicPr>
            <a:picLocks noChangeAspect="1"/>
          </p:cNvPicPr>
          <p:nvPr/>
        </p:nvPicPr>
        <p:blipFill>
          <a:blip r:embed="rId3"/>
          <a:stretch>
            <a:fillRect/>
          </a:stretch>
        </p:blipFill>
        <p:spPr>
          <a:xfrm>
            <a:off x="2914650" y="3919355"/>
            <a:ext cx="3619500" cy="847725"/>
          </a:xfrm>
          <a:prstGeom prst="rect">
            <a:avLst/>
          </a:prstGeom>
        </p:spPr>
      </p:pic>
      <p:pic>
        <p:nvPicPr>
          <p:cNvPr id="9" name="Picture 8">
            <a:extLst>
              <a:ext uri="{FF2B5EF4-FFF2-40B4-BE49-F238E27FC236}">
                <a16:creationId xmlns:a16="http://schemas.microsoft.com/office/drawing/2014/main" id="{E613EC8D-6955-091D-BBFA-AB7F81379AF4}"/>
              </a:ext>
            </a:extLst>
          </p:cNvPr>
          <p:cNvPicPr>
            <a:picLocks noChangeAspect="1"/>
          </p:cNvPicPr>
          <p:nvPr/>
        </p:nvPicPr>
        <p:blipFill>
          <a:blip r:embed="rId4"/>
          <a:stretch>
            <a:fillRect/>
          </a:stretch>
        </p:blipFill>
        <p:spPr>
          <a:xfrm>
            <a:off x="3709846" y="1900207"/>
            <a:ext cx="2029108" cy="428685"/>
          </a:xfrm>
          <a:prstGeom prst="rect">
            <a:avLst/>
          </a:prstGeom>
        </p:spPr>
      </p:pic>
    </p:spTree>
    <p:extLst>
      <p:ext uri="{BB962C8B-B14F-4D97-AF65-F5344CB8AC3E}">
        <p14:creationId xmlns:p14="http://schemas.microsoft.com/office/powerpoint/2010/main" val="2865435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33CF280-ADDE-CE32-8C29-B69C507E909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C194AF8-9DE4-C0A9-F64C-AB40794A3A08}"/>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28</a:t>
            </a:r>
          </a:p>
        </p:txBody>
      </p:sp>
      <p:sp>
        <p:nvSpPr>
          <p:cNvPr id="3" name="Rectangle 2">
            <a:extLst>
              <a:ext uri="{FF2B5EF4-FFF2-40B4-BE49-F238E27FC236}">
                <a16:creationId xmlns:a16="http://schemas.microsoft.com/office/drawing/2014/main" id="{42CFC72B-528B-BCEA-2B5B-7E6CE0773DBA}"/>
              </a:ext>
            </a:extLst>
          </p:cNvPr>
          <p:cNvSpPr/>
          <p:nvPr/>
        </p:nvSpPr>
        <p:spPr>
          <a:xfrm>
            <a:off x="254001" y="939215"/>
            <a:ext cx="8639575" cy="464871"/>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Quick Summary Table:</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4E322272-F6AB-ED07-85F7-0DEF236E5BF3}"/>
              </a:ext>
            </a:extLst>
          </p:cNvPr>
          <p:cNvSpPr txBox="1">
            <a:spLocks/>
          </p:cNvSpPr>
          <p:nvPr/>
        </p:nvSpPr>
        <p:spPr>
          <a:xfrm>
            <a:off x="696686" y="65313"/>
            <a:ext cx="8055428" cy="806675"/>
          </a:xfrm>
          <a:prstGeom prst="rect">
            <a:avLst/>
          </a:prstGeom>
        </p:spPr>
        <p:txBody>
          <a:bodyPr>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it-IT" sz="4000" b="1" dirty="0">
                <a:latin typeface="Calibri" panose="020F0502020204030204" pitchFamily="34" charset="0"/>
                <a:ea typeface="Calibri" panose="020F0502020204030204" pitchFamily="34" charset="0"/>
                <a:cs typeface="Calibri" panose="020F0502020204030204" pitchFamily="34" charset="0"/>
              </a:rPr>
              <a:t>Positive &amp; Negative Definite/Semi-Definite Matrices</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2159384D-702D-943A-22D9-582316D6EFA0}"/>
              </a:ext>
            </a:extLst>
          </p:cNvPr>
          <p:cNvPicPr>
            <a:picLocks noChangeAspect="1"/>
          </p:cNvPicPr>
          <p:nvPr/>
        </p:nvPicPr>
        <p:blipFill>
          <a:blip r:embed="rId3"/>
          <a:stretch>
            <a:fillRect/>
          </a:stretch>
        </p:blipFill>
        <p:spPr>
          <a:xfrm>
            <a:off x="696686" y="1471313"/>
            <a:ext cx="7912838" cy="2268102"/>
          </a:xfrm>
          <a:prstGeom prst="rect">
            <a:avLst/>
          </a:prstGeom>
        </p:spPr>
      </p:pic>
    </p:spTree>
    <p:extLst>
      <p:ext uri="{BB962C8B-B14F-4D97-AF65-F5344CB8AC3E}">
        <p14:creationId xmlns:p14="http://schemas.microsoft.com/office/powerpoint/2010/main" val="2155980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942DB27-E3BA-9739-00EA-45A212FA963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7A670B3-FE73-5182-DB8C-9ACC90F7DABD}"/>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29</a:t>
            </a:r>
          </a:p>
        </p:txBody>
      </p:sp>
      <p:sp>
        <p:nvSpPr>
          <p:cNvPr id="2" name="Title 1">
            <a:extLst>
              <a:ext uri="{FF2B5EF4-FFF2-40B4-BE49-F238E27FC236}">
                <a16:creationId xmlns:a16="http://schemas.microsoft.com/office/drawing/2014/main" id="{E84F97FA-EC63-EDD0-3F9E-9D6E079FC1F7}"/>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Applications of the Topic</a:t>
            </a:r>
          </a:p>
        </p:txBody>
      </p:sp>
      <p:sp>
        <p:nvSpPr>
          <p:cNvPr id="3" name="Rectangle 2">
            <a:extLst>
              <a:ext uri="{FF2B5EF4-FFF2-40B4-BE49-F238E27FC236}">
                <a16:creationId xmlns:a16="http://schemas.microsoft.com/office/drawing/2014/main" id="{AC4933E1-3A88-D50F-E6E4-1FB3E7A79734}"/>
              </a:ext>
            </a:extLst>
          </p:cNvPr>
          <p:cNvSpPr/>
          <p:nvPr/>
        </p:nvSpPr>
        <p:spPr>
          <a:xfrm>
            <a:off x="254001" y="939215"/>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Here are applications: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concepts of maxima and minima are widely applied in optimization problems such as minimizing loss functions in machine learning, curve fitting, economics, and engineering system tuning. </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Rank, eigenvalues, and eigenvectors are fundamental in areas like Principal Component Analysis (PCA), image compression, vibration analysis, Google PageRank, and stability analysis of linear systems. </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Positive and negative definite matrices are crucial in determining the nature of critical points during optimization and are used in quadratic programming, deep learning training, Hessian-based optimization, signal processing, and system control design. </a:t>
            </a:r>
          </a:p>
        </p:txBody>
      </p:sp>
    </p:spTree>
    <p:extLst>
      <p:ext uri="{BB962C8B-B14F-4D97-AF65-F5344CB8AC3E}">
        <p14:creationId xmlns:p14="http://schemas.microsoft.com/office/powerpoint/2010/main" val="57932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4F1C1FB-C899-5DBE-C42F-B1D10C95C32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CE59AD7-C1A8-1276-52A6-379528A20A2E}"/>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30</a:t>
            </a:r>
          </a:p>
        </p:txBody>
      </p:sp>
      <p:sp>
        <p:nvSpPr>
          <p:cNvPr id="2" name="Title 1">
            <a:extLst>
              <a:ext uri="{FF2B5EF4-FFF2-40B4-BE49-F238E27FC236}">
                <a16:creationId xmlns:a16="http://schemas.microsoft.com/office/drawing/2014/main" id="{65625B2D-5E70-705A-DA8E-AA76A0A61FA6}"/>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Summary of the Lecture</a:t>
            </a:r>
          </a:p>
        </p:txBody>
      </p:sp>
      <p:sp>
        <p:nvSpPr>
          <p:cNvPr id="3" name="Rectangle 2">
            <a:extLst>
              <a:ext uri="{FF2B5EF4-FFF2-40B4-BE49-F238E27FC236}">
                <a16:creationId xmlns:a16="http://schemas.microsoft.com/office/drawing/2014/main" id="{8EC0002B-FFFF-77E6-EC94-99CFC49F336E}"/>
              </a:ext>
            </a:extLst>
          </p:cNvPr>
          <p:cNvSpPr/>
          <p:nvPr/>
        </p:nvSpPr>
        <p:spPr>
          <a:xfrm>
            <a:off x="254001" y="939215"/>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this lecture, we discussed the Maxima and Minima of a function of one variable and how critical points can be identified using the first derivative while the second derivative test helps determine whether the point is a maximum or minimum.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We further studied the Rank, Eigenvalues and Eigenvectors of matrices where rank represents the number of linearly independent rows or columns, and eigenvalues with their corresponding eigenvectors describe how a matrix scales or transforms a vector concepts widely used in data reduction, stability analysis and machine learning.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Lastly, we covered Positive, Negative Definite and Semi-Definite matrices, which are classified based on the sign of the quadratic form </a:t>
            </a:r>
            <a:r>
              <a:rPr lang="en-US" sz="1800" dirty="0" err="1">
                <a:latin typeface="Calibri" panose="020F0502020204030204" pitchFamily="34" charset="0"/>
                <a:ea typeface="Calibri" panose="020F0502020204030204" pitchFamily="34" charset="0"/>
                <a:cs typeface="Calibri" panose="020F0502020204030204" pitchFamily="34" charset="0"/>
              </a:rPr>
              <a:t>x</a:t>
            </a:r>
            <a:r>
              <a:rPr lang="en-US" sz="1800" b="1" baseline="30000" dirty="0" err="1">
                <a:latin typeface="Calibri" panose="020F0502020204030204" pitchFamily="34" charset="0"/>
                <a:ea typeface="Calibri" panose="020F0502020204030204" pitchFamily="34" charset="0"/>
                <a:cs typeface="Calibri" panose="020F0502020204030204" pitchFamily="34" charset="0"/>
              </a:rPr>
              <a:t>T</a:t>
            </a:r>
            <a:r>
              <a:rPr lang="en-US" sz="1800" dirty="0" err="1">
                <a:latin typeface="Calibri" panose="020F0502020204030204" pitchFamily="34" charset="0"/>
                <a:ea typeface="Calibri" panose="020F0502020204030204" pitchFamily="34" charset="0"/>
                <a:cs typeface="Calibri" panose="020F0502020204030204" pitchFamily="34" charset="0"/>
              </a:rPr>
              <a:t>Ax</a:t>
            </a:r>
            <a:r>
              <a:rPr lang="en-US" sz="1800" dirty="0">
                <a:latin typeface="Calibri" panose="020F0502020204030204" pitchFamily="34" charset="0"/>
                <a:ea typeface="Calibri" panose="020F0502020204030204" pitchFamily="34" charset="0"/>
                <a:cs typeface="Calibri" panose="020F0502020204030204" pitchFamily="34" charset="0"/>
              </a:rPr>
              <a:t>, playing an important role in optimization as they help determine the nature of stationary points.</a:t>
            </a:r>
          </a:p>
        </p:txBody>
      </p:sp>
    </p:spTree>
    <p:extLst>
      <p:ext uri="{BB962C8B-B14F-4D97-AF65-F5344CB8AC3E}">
        <p14:creationId xmlns:p14="http://schemas.microsoft.com/office/powerpoint/2010/main" val="4214833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6E56EA3-16F5-E76E-14E4-37F3EB84294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8A45607-6A54-9997-9F78-69F2A1F673C9}"/>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31</a:t>
            </a:r>
          </a:p>
        </p:txBody>
      </p:sp>
      <p:sp>
        <p:nvSpPr>
          <p:cNvPr id="2" name="Title 1">
            <a:extLst>
              <a:ext uri="{FF2B5EF4-FFF2-40B4-BE49-F238E27FC236}">
                <a16:creationId xmlns:a16="http://schemas.microsoft.com/office/drawing/2014/main" id="{D86599D1-32E9-56EA-04F7-5C299DA2C714}"/>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Next Lecture</a:t>
            </a:r>
          </a:p>
        </p:txBody>
      </p:sp>
      <p:sp>
        <p:nvSpPr>
          <p:cNvPr id="3" name="Rectangle 2">
            <a:extLst>
              <a:ext uri="{FF2B5EF4-FFF2-40B4-BE49-F238E27FC236}">
                <a16:creationId xmlns:a16="http://schemas.microsoft.com/office/drawing/2014/main" id="{D118AC76-7B90-6FF0-0952-01F49F273CF9}"/>
              </a:ext>
            </a:extLst>
          </p:cNvPr>
          <p:cNvSpPr/>
          <p:nvPr/>
        </p:nvSpPr>
        <p:spPr>
          <a:xfrm>
            <a:off x="254001" y="939215"/>
            <a:ext cx="8639575" cy="2403863"/>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next lecture, we are going to cover:</a:t>
            </a:r>
          </a:p>
          <a:p>
            <a:pPr marL="285750" lvl="0" indent="-285750" algn="just">
              <a:lnSpc>
                <a:spcPct val="150000"/>
              </a:lnSpc>
              <a:buFont typeface="Wingdings" panose="05000000000000000000" pitchFamily="2" charset="2"/>
              <a:buChar char="Ø"/>
            </a:pPr>
            <a:endParaRPr lang="en-US" sz="1100" dirty="0">
              <a:latin typeface="Calibri" panose="020F0502020204030204" pitchFamily="34" charset="0"/>
              <a:ea typeface="Calibri" panose="020F0502020204030204" pitchFamily="34" charset="0"/>
              <a:cs typeface="Calibri" panose="020F0502020204030204" pitchFamily="34" charset="0"/>
            </a:endParaRPr>
          </a:p>
          <a:p>
            <a:pPr marL="536575" lvl="0" indent="-198438"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Maxima and Minima of Function of Several Variables</a:t>
            </a:r>
          </a:p>
          <a:p>
            <a:pPr marL="536575" lvl="0" indent="-198438"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Convexity of Errors Function</a:t>
            </a:r>
          </a:p>
          <a:p>
            <a:pPr marL="536575" lvl="0" indent="-198438"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Building Simple Linear Regression Model by Solving Normal Equations</a:t>
            </a:r>
          </a:p>
          <a:p>
            <a:pPr lvl="0" algn="just">
              <a:lnSpc>
                <a:spcPct val="150000"/>
              </a:lnSpc>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94356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E035788-6F59-DCF3-2897-BC56C4CEB92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89FB0CA-6899-88FD-503C-2C28AD374E5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32</a:t>
            </a:r>
          </a:p>
        </p:txBody>
      </p:sp>
      <p:sp>
        <p:nvSpPr>
          <p:cNvPr id="2" name="Title 1">
            <a:extLst>
              <a:ext uri="{FF2B5EF4-FFF2-40B4-BE49-F238E27FC236}">
                <a16:creationId xmlns:a16="http://schemas.microsoft.com/office/drawing/2014/main" id="{294DB9DE-E12E-9A84-B19B-87EFEE3B7869}"/>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Quiz/ FAQ’s</a:t>
            </a:r>
          </a:p>
        </p:txBody>
      </p:sp>
      <p:sp>
        <p:nvSpPr>
          <p:cNvPr id="3" name="Rectangle 2">
            <a:extLst>
              <a:ext uri="{FF2B5EF4-FFF2-40B4-BE49-F238E27FC236}">
                <a16:creationId xmlns:a16="http://schemas.microsoft.com/office/drawing/2014/main" id="{B0927368-5887-20F7-C08C-383823E01449}"/>
              </a:ext>
            </a:extLst>
          </p:cNvPr>
          <p:cNvSpPr/>
          <p:nvPr/>
        </p:nvSpPr>
        <p:spPr>
          <a:xfrm>
            <a:off x="252212" y="1156929"/>
            <a:ext cx="8639575" cy="3373359"/>
          </a:xfrm>
          <a:prstGeom prst="rect">
            <a:avLst/>
          </a:prstGeom>
        </p:spPr>
        <p:txBody>
          <a:bodyPr wrap="square">
            <a:spAutoFit/>
          </a:bodyPr>
          <a:lstStyle/>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Define critical point of a function.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What conditions must be satisfied for maxima or minima of a function?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State the first and second derivative test for extrema.</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What is the rank of a matrix? How is it determined?</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Define eigenvalue and eigenvector.</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What is meant by a positive definite matrix?</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How is a negative semi-definite matrix different from negative definite?</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Can a matrix have both positive and negative eigenvalues? Explain.</a:t>
            </a:r>
          </a:p>
        </p:txBody>
      </p:sp>
    </p:spTree>
    <p:extLst>
      <p:ext uri="{BB962C8B-B14F-4D97-AF65-F5344CB8AC3E}">
        <p14:creationId xmlns:p14="http://schemas.microsoft.com/office/powerpoint/2010/main" val="7353385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4C8FAA3-8A72-FCD2-A3A9-059A1C150C7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CEADB68-92EB-1164-3301-82219E06EE4F}"/>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33</a:t>
            </a:r>
          </a:p>
        </p:txBody>
      </p:sp>
      <p:sp>
        <p:nvSpPr>
          <p:cNvPr id="2" name="Title 1">
            <a:extLst>
              <a:ext uri="{FF2B5EF4-FFF2-40B4-BE49-F238E27FC236}">
                <a16:creationId xmlns:a16="http://schemas.microsoft.com/office/drawing/2014/main" id="{BD989C70-81BD-824C-D52A-A8BE3A38777E}"/>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References/ Articles/ Videos</a:t>
            </a:r>
          </a:p>
        </p:txBody>
      </p:sp>
      <p:graphicFrame>
        <p:nvGraphicFramePr>
          <p:cNvPr id="4" name="Table 3">
            <a:extLst>
              <a:ext uri="{FF2B5EF4-FFF2-40B4-BE49-F238E27FC236}">
                <a16:creationId xmlns:a16="http://schemas.microsoft.com/office/drawing/2014/main" id="{AC276061-E2FC-9825-D1CF-3706195FC13C}"/>
              </a:ext>
            </a:extLst>
          </p:cNvPr>
          <p:cNvGraphicFramePr>
            <a:graphicFrameLocks noGrp="1"/>
          </p:cNvGraphicFramePr>
          <p:nvPr>
            <p:extLst>
              <p:ext uri="{D42A27DB-BD31-4B8C-83A1-F6EECF244321}">
                <p14:modId xmlns:p14="http://schemas.microsoft.com/office/powerpoint/2010/main" val="2950123059"/>
              </p:ext>
            </p:extLst>
          </p:nvPr>
        </p:nvGraphicFramePr>
        <p:xfrm>
          <a:off x="311150" y="1167945"/>
          <a:ext cx="8521700" cy="3662338"/>
        </p:xfrm>
        <a:graphic>
          <a:graphicData uri="http://schemas.openxmlformats.org/drawingml/2006/table">
            <a:tbl>
              <a:tblPr>
                <a:tableStyleId>{97377635-EB9D-4884-B79A-0D259F93817B}</a:tableStyleId>
              </a:tblPr>
              <a:tblGrid>
                <a:gridCol w="617764">
                  <a:extLst>
                    <a:ext uri="{9D8B030D-6E8A-4147-A177-3AD203B41FA5}">
                      <a16:colId xmlns:a16="http://schemas.microsoft.com/office/drawing/2014/main" val="2462611782"/>
                    </a:ext>
                  </a:extLst>
                </a:gridCol>
                <a:gridCol w="7903936">
                  <a:extLst>
                    <a:ext uri="{9D8B030D-6E8A-4147-A177-3AD203B41FA5}">
                      <a16:colId xmlns:a16="http://schemas.microsoft.com/office/drawing/2014/main" val="3473227875"/>
                    </a:ext>
                  </a:extLst>
                </a:gridCol>
              </a:tblGrid>
              <a:tr h="341314">
                <a:tc gridSpan="2">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Text/ Reference Books</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730715912"/>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T1</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Massaron</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L., &amp; Boschetti, A. (2016). Regression analysis with Python. </a:t>
                      </a: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Packt</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Publishing Ltd.</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851104895"/>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T2</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Jajuga</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700643724"/>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T3</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Bishop, C. M., &amp; Bishop, H. (2023). Deep learning: Foundations and concepts. Springer Nature.</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4140295978"/>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R1</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Matloff, N. (2017). Statistical regression and classification: from linear models to machine learning. Chapman and Hall/CRC.</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45350956"/>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R2</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Jajuga</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992068614"/>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R3</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Vishnoi</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V. K., Chauhan, N. R., &amp; Kumar, K. (2024). An introduction to deep learning. </a:t>
                      </a: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Xoffencerpublication</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100232723"/>
                  </a:ext>
                </a:extLst>
              </a:tr>
            </a:tbl>
          </a:graphicData>
        </a:graphic>
      </p:graphicFrame>
    </p:spTree>
    <p:extLst>
      <p:ext uri="{BB962C8B-B14F-4D97-AF65-F5344CB8AC3E}">
        <p14:creationId xmlns:p14="http://schemas.microsoft.com/office/powerpoint/2010/main" val="15905816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2F170DA-4FB0-780A-165F-96871258C4A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16FD4E1-DE68-EDFC-57AF-3025781CAD0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34</a:t>
            </a:r>
          </a:p>
        </p:txBody>
      </p:sp>
      <p:sp>
        <p:nvSpPr>
          <p:cNvPr id="2" name="Title 1">
            <a:extLst>
              <a:ext uri="{FF2B5EF4-FFF2-40B4-BE49-F238E27FC236}">
                <a16:creationId xmlns:a16="http://schemas.microsoft.com/office/drawing/2014/main" id="{629AD58F-AFA5-005A-FEC5-E7F0E57D909C}"/>
              </a:ext>
            </a:extLst>
          </p:cNvPr>
          <p:cNvSpPr txBox="1">
            <a:spLocks/>
          </p:cNvSpPr>
          <p:nvPr/>
        </p:nvSpPr>
        <p:spPr>
          <a:xfrm>
            <a:off x="653144" y="65313"/>
            <a:ext cx="8040914" cy="806675"/>
          </a:xfrm>
          <a:prstGeom prst="rect">
            <a:avLst/>
          </a:prstGeom>
        </p:spPr>
        <p:txBody>
          <a:bodyPr>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sp>
        <p:nvSpPr>
          <p:cNvPr id="3" name="Rectangle 2">
            <a:extLst>
              <a:ext uri="{FF2B5EF4-FFF2-40B4-BE49-F238E27FC236}">
                <a16:creationId xmlns:a16="http://schemas.microsoft.com/office/drawing/2014/main" id="{54DF2A59-6EAD-B15A-4AA6-7257F44129B9}"/>
              </a:ext>
            </a:extLst>
          </p:cNvPr>
          <p:cNvSpPr/>
          <p:nvPr/>
        </p:nvSpPr>
        <p:spPr>
          <a:xfrm>
            <a:off x="254001" y="939215"/>
            <a:ext cx="8639575" cy="3681649"/>
          </a:xfrm>
          <a:prstGeom prst="rect">
            <a:avLst/>
          </a:prstGeom>
        </p:spPr>
        <p:txBody>
          <a:bodyPr wrap="square">
            <a:spAutoFit/>
          </a:bodyPr>
          <a:lstStyle/>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https://www.coursera.org/learn/ismdl?source=admin-share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https://www.coursera.org/learn/ismdl?source=admin-share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https://www.coursera.org/learn/ai-for-real-world-intelligence-systems?source=admin-share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https://www.coursera.org/learn/ai-for-real-world-intelligence-systems?source=admin-share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https://www.coursera.org/learn/deep-learning-applications-in-vision?source=admin-share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https://www.coursera.org/learn/deep-learning-applications-in-vision?source=admin-share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https://www.coursera.org/learn/ismdl?source=admin-share</a:t>
            </a:r>
          </a:p>
        </p:txBody>
      </p:sp>
    </p:spTree>
    <p:extLst>
      <p:ext uri="{BB962C8B-B14F-4D97-AF65-F5344CB8AC3E}">
        <p14:creationId xmlns:p14="http://schemas.microsoft.com/office/powerpoint/2010/main" val="42831198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0" y="4569812"/>
            <a:ext cx="9144000" cy="573688"/>
          </a:xfrm>
          <a:prstGeom prst="rect">
            <a:avLst/>
          </a:prstGeom>
          <a:noFill/>
          <a:ln>
            <a:noFill/>
          </a:ln>
        </p:spPr>
        <p:txBody>
          <a:bodyPr spcFirstLastPara="1" wrap="square" lIns="91425" tIns="45700" rIns="91425" bIns="45700" anchor="t" anchorCtr="0">
            <a:normAutofit/>
          </a:bodyPr>
          <a:lstStyle/>
          <a:p>
            <a:pPr marL="342900" indent="-342900" algn="just">
              <a:lnSpc>
                <a:spcPct val="100000"/>
              </a:lnSpc>
              <a:spcBef>
                <a:spcPts val="0"/>
              </a:spcBef>
              <a:buNone/>
            </a:pPr>
            <a:r>
              <a:rPr lang="en-US" sz="2600" b="0"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 	</a:t>
            </a:r>
            <a:r>
              <a:rPr lang="en-US" sz="2600" b="1"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Note: </a:t>
            </a:r>
            <a:r>
              <a:rPr lang="en-US" sz="2600" b="0"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Scan this QR code to provide anonymous feedback.</a:t>
            </a:r>
            <a:endParaRPr sz="2400" b="1" i="0" u="none" strike="noStrike" cap="none" dirty="0">
              <a:solidFill>
                <a:schemeClr val="bg2"/>
              </a:solidFill>
              <a:latin typeface="Times New Roman"/>
              <a:ea typeface="Times New Roman"/>
              <a:cs typeface="Times New Roman"/>
              <a:sym typeface="Times New Roman"/>
            </a:endParaRPr>
          </a:p>
        </p:txBody>
      </p:sp>
      <p:sp>
        <p:nvSpPr>
          <p:cNvPr id="6" name="TextBox 5"/>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35</a:t>
            </a:r>
          </a:p>
        </p:txBody>
      </p:sp>
      <p:pic>
        <p:nvPicPr>
          <p:cNvPr id="3" name="Picture 2">
            <a:extLst>
              <a:ext uri="{FF2B5EF4-FFF2-40B4-BE49-F238E27FC236}">
                <a16:creationId xmlns:a16="http://schemas.microsoft.com/office/drawing/2014/main" id="{638C0E15-F736-DB2F-B389-5746B3632B42}"/>
              </a:ext>
            </a:extLst>
          </p:cNvPr>
          <p:cNvPicPr>
            <a:picLocks noChangeAspect="1"/>
          </p:cNvPicPr>
          <p:nvPr/>
        </p:nvPicPr>
        <p:blipFill>
          <a:blip r:embed="rId3"/>
          <a:stretch>
            <a:fillRect/>
          </a:stretch>
        </p:blipFill>
        <p:spPr>
          <a:xfrm>
            <a:off x="2714172" y="684476"/>
            <a:ext cx="4354285" cy="3887549"/>
          </a:xfrm>
          <a:prstGeom prst="rect">
            <a:avLst/>
          </a:prstGeom>
        </p:spPr>
      </p:pic>
    </p:spTree>
    <p:extLst>
      <p:ext uri="{BB962C8B-B14F-4D97-AF65-F5344CB8AC3E}">
        <p14:creationId xmlns:p14="http://schemas.microsoft.com/office/powerpoint/2010/main" val="32179637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0" y="1669143"/>
            <a:ext cx="9144000" cy="1685036"/>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115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85500" y="3948192"/>
            <a:ext cx="4572000"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For queries</a:t>
            </a:r>
          </a:p>
          <a:p>
            <a:r>
              <a:rPr lang="en-US" sz="2000" b="1" dirty="0">
                <a:latin typeface="Calibri" panose="020F0502020204030204" pitchFamily="34" charset="0"/>
                <a:ea typeface="Calibri" panose="020F0502020204030204" pitchFamily="34" charset="0"/>
                <a:cs typeface="Calibri" panose="020F0502020204030204" pitchFamily="34" charset="0"/>
              </a:rPr>
              <a:t>Email: </a:t>
            </a:r>
            <a:r>
              <a:rPr lang="en-US" sz="2000" dirty="0">
                <a:latin typeface="Calibri" panose="020F0502020204030204" pitchFamily="34" charset="0"/>
                <a:ea typeface="Calibri" panose="020F0502020204030204" pitchFamily="34" charset="0"/>
                <a:cs typeface="Calibri" panose="020F0502020204030204" pitchFamily="34" charset="0"/>
              </a:rPr>
              <a:t>siddharth.e12853@cumail.in</a:t>
            </a:r>
          </a:p>
        </p:txBody>
      </p:sp>
      <p:sp>
        <p:nvSpPr>
          <p:cNvPr id="5" name="TextBox 4"/>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36</a:t>
            </a:r>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1088</TotalTime>
  <Words>3464</Words>
  <Application>Microsoft Office PowerPoint</Application>
  <PresentationFormat>On-screen Show (16:9)</PresentationFormat>
  <Paragraphs>298</Paragraphs>
  <Slides>37</Slides>
  <Notes>37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Times New Roman</vt:lpstr>
      <vt:lpstr>Cambria</vt:lpstr>
      <vt:lpstr>Calibri</vt:lpstr>
      <vt:lpstr>Vladimir Script</vt:lpstr>
      <vt:lpstr>Wingdings</vt:lpstr>
      <vt:lpstr>Arial</vt:lpstr>
      <vt:lpstr>Lato</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Siddharth Kumar</cp:lastModifiedBy>
  <cp:revision>229</cp:revision>
  <dcterms:modified xsi:type="dcterms:W3CDTF">2025-12-02T12:31:21Z</dcterms:modified>
</cp:coreProperties>
</file>