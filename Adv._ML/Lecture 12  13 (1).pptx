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2"/>
  </p:notesMasterIdLst>
  <p:handoutMasterIdLst>
    <p:handoutMasterId r:id="rId43"/>
  </p:handoutMasterIdLst>
  <p:sldIdLst>
    <p:sldId id="256" r:id="rId2"/>
    <p:sldId id="395" r:id="rId3"/>
    <p:sldId id="308" r:id="rId4"/>
    <p:sldId id="309" r:id="rId5"/>
    <p:sldId id="310" r:id="rId6"/>
    <p:sldId id="311" r:id="rId7"/>
    <p:sldId id="312" r:id="rId8"/>
    <p:sldId id="397" r:id="rId9"/>
    <p:sldId id="398" r:id="rId10"/>
    <p:sldId id="399" r:id="rId11"/>
    <p:sldId id="400" r:id="rId12"/>
    <p:sldId id="409" r:id="rId13"/>
    <p:sldId id="410" r:id="rId14"/>
    <p:sldId id="411" r:id="rId15"/>
    <p:sldId id="412" r:id="rId16"/>
    <p:sldId id="413" r:id="rId17"/>
    <p:sldId id="414" r:id="rId18"/>
    <p:sldId id="415" r:id="rId19"/>
    <p:sldId id="416" r:id="rId20"/>
    <p:sldId id="417" r:id="rId21"/>
    <p:sldId id="424" r:id="rId22"/>
    <p:sldId id="428" r:id="rId23"/>
    <p:sldId id="429" r:id="rId24"/>
    <p:sldId id="430" r:id="rId25"/>
    <p:sldId id="437" r:id="rId26"/>
    <p:sldId id="431" r:id="rId27"/>
    <p:sldId id="432" r:id="rId28"/>
    <p:sldId id="433" r:id="rId29"/>
    <p:sldId id="434" r:id="rId30"/>
    <p:sldId id="435" r:id="rId31"/>
    <p:sldId id="438" r:id="rId32"/>
    <p:sldId id="370" r:id="rId33"/>
    <p:sldId id="439" r:id="rId34"/>
    <p:sldId id="373" r:id="rId35"/>
    <p:sldId id="374" r:id="rId36"/>
    <p:sldId id="375" r:id="rId37"/>
    <p:sldId id="376" r:id="rId38"/>
    <p:sldId id="377" r:id="rId39"/>
    <p:sldId id="307" r:id="rId40"/>
    <p:sldId id="305" r:id="rId41"/>
  </p:sldIdLst>
  <p:sldSz cx="9144000" cy="5143500" type="screen16x9"/>
  <p:notesSz cx="6858000" cy="9144000"/>
  <p:embeddedFontLst>
    <p:embeddedFont>
      <p:font typeface="Cambria" panose="02040503050406030204" pitchFamily="18" charset="0"/>
      <p:regular r:id="rId44"/>
      <p:bold r:id="rId45"/>
      <p:italic r:id="rId46"/>
      <p:boldItalic r:id="rId47"/>
    </p:embeddedFont>
    <p:embeddedFont>
      <p:font typeface="Cambria Math" panose="02040503050406030204" pitchFamily="18" charset="0"/>
      <p:regular r:id="rId48"/>
    </p:embeddedFont>
    <p:embeddedFont>
      <p:font typeface="Lato" panose="020F0502020204030203" pitchFamily="34" charset="0"/>
      <p:regular r:id="rId49"/>
      <p:bold r:id="rId50"/>
      <p:italic r:id="rId51"/>
      <p:boldItalic r:id="rId52"/>
    </p:embeddedFont>
    <p:embeddedFont>
      <p:font typeface="Vladimir Script" panose="03050402040407070305" pitchFamily="66" charset="0"/>
      <p:regular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0"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04" autoAdjust="0"/>
  </p:normalViewPr>
  <p:slideViewPr>
    <p:cSldViewPr snapToGrid="0">
      <p:cViewPr varScale="1">
        <p:scale>
          <a:sx n="88" d="100"/>
          <a:sy n="88" d="100"/>
        </p:scale>
        <p:origin x="588" y="6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4.fntdata"/><Relationship Id="rId50" Type="http://schemas.openxmlformats.org/officeDocument/2006/relationships/font" Target="fonts/font7.fntdata"/><Relationship Id="rId84"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 Type="http://schemas.openxmlformats.org/officeDocument/2006/relationships/slide" Target="slides/slide4.xml"/><Relationship Id="rId82" Type="http://schemas.openxmlformats.org/officeDocument/2006/relationships/viewProps" Target="view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font" Target="fonts/font8.fntdata"/><Relationship Id="rId80"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8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9B809D-6ED6-587F-BB95-5957722B987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4F80FB5-5BC0-7B8E-8E12-B22202F8E8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62F495-7282-46A0-973C-B2C5688CF367}" type="datetimeFigureOut">
              <a:rPr lang="en-IN" smtClean="0"/>
              <a:t>02-12-2025</a:t>
            </a:fld>
            <a:endParaRPr lang="en-IN"/>
          </a:p>
        </p:txBody>
      </p:sp>
      <p:sp>
        <p:nvSpPr>
          <p:cNvPr id="4" name="Footer Placeholder 3">
            <a:extLst>
              <a:ext uri="{FF2B5EF4-FFF2-40B4-BE49-F238E27FC236}">
                <a16:creationId xmlns:a16="http://schemas.microsoft.com/office/drawing/2014/main" id="{621B4BEF-1062-CF90-94F5-0D84A30E08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7B9952C-A29B-EE9B-C695-68271854775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D9E412C-8FF0-451F-B78D-23681CAA499D}" type="slidenum">
              <a:rPr lang="en-IN" smtClean="0"/>
              <a:t>‹#›</a:t>
            </a:fld>
            <a:endParaRPr lang="en-IN"/>
          </a:p>
        </p:txBody>
      </p:sp>
    </p:spTree>
    <p:extLst>
      <p:ext uri="{BB962C8B-B14F-4D97-AF65-F5344CB8AC3E}">
        <p14:creationId xmlns:p14="http://schemas.microsoft.com/office/powerpoint/2010/main" val="400323505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4F22B2D-5F79-437B-A011-BBC47D7BB1D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65DE9DE-CAE0-65AA-61A3-2DA78D76F1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530DD55-91C2-3B5A-5142-0DACDB3C90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1817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14C13F4-FB1C-C20C-026B-CE5D32314A2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A6557A7-7A72-CF03-86A2-E7BE372A41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3E7F3F2-ED29-5428-E7DD-EFE3B240A9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89313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043034-63D9-A039-93E5-1764AB2793A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C57E03B-6D6D-B7F8-237E-E7CF90C06A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1306E5B-8032-D26B-CD43-5AED70BC6F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7099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D894A85-83AF-7440-397E-527B54822C6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9C2093A-3BD4-9A88-C5E2-F7C31E7A08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6DECF4C-468D-CCE2-03E4-E19F9D8253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66495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68ED189-E8E3-7069-CB28-E59A2FA65CA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0A7FE95-7554-96B9-DA63-10263205F4B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F71D8EA-9D6E-4B29-D288-301D3C1747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95282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F123E80-C81C-8FB5-13B4-8DAB0A316ED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A65BC3A-9103-3BDC-9C07-FC4B355533A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DAEFDFC-EBFB-7BB7-E1CE-C2A37FAE12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9587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647F1E6-319C-8E41-7EEA-56CEEAC08B7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9659420-44DC-D8F4-89D7-C083E912D51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7CF6E22-88AE-0766-7579-5FCA06C016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5362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603F94C-834D-0F8D-7245-0C1D3D4026C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441A267-1D3C-136E-4448-9E80E26F84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66889F2-30F9-F15B-10FC-0DD77A76B2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601627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2026449-2B97-AE1D-6774-CCAC4E62C2A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4893889-E583-EDF4-2623-B2F3E35934F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0C108E2-784D-2E7D-A062-F7A6F589F2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34086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EC359BB-C6B7-2ADE-622B-8A5C285761D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7F05E78-67E3-EC86-ACB6-761EEEA21D7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CC1FCA8-9C86-1763-5332-DF3225DE44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2844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1EF1F90-1104-5756-E150-B559DE91BF2E}"/>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5022C62-4E45-7A2F-1F8D-9B0AACDEEC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7EC94AA-E887-C384-D8B2-FD16E0BA9F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3424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16D9195-2A5C-157C-07C7-8913D8E560F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A3A3913-56FD-C854-0DD9-391FA6BAC8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A803EC2-76D6-9F1A-F55B-02CA2CE311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988473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359757B-90E2-EA86-A5FE-09169C1108C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86C55BB-3D17-4346-0CBA-C22009C0504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7AF89B1-2F85-666E-CF28-9E666FFADE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167621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02D81A4-114B-371B-A056-FF6071FD85B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63A0772-F12F-4E93-7E9E-0C9A361DBC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30482CA-A671-9CA8-E613-E05720399F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78278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D25A74C-7529-2700-8696-0C8B3D1A010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3AE28E70-78D0-9487-F69B-996D479830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4344CC1-0996-A02B-1237-4A154A79F0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631254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765BB41-E671-23EA-1C9C-3CD46E7DFB4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3926C30-50DD-9420-7E18-A28D2BA0424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55C4825-5846-A347-8546-F1461557A9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195329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45E3247-ADFE-0B4A-DD27-6C303A3F7E7E}"/>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CB754E8-2CC6-C728-ABF0-E41EBBF6486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1E79989C-DA47-C304-D823-36ADAB5371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300410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C197DD3-866B-0362-1D7E-CBDE1A1D5FD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9884C7F7-B6F2-E3BF-CC4D-21275A5B3C8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1D85A49-068F-28C1-86B7-8FEAC98323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338574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EDF8FB1-ABB3-9CA8-0E92-E58122427F3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D89AC6C-A966-DAB2-D1CC-AD0CBAB0730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3FBBD07-EFDB-E9F3-DCDF-85A7E21335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828172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449B30E-F044-6A76-E46D-439AFF51C4C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5A6DC3A-43DD-6A22-F6F4-85172212A22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3EC26B5-24A3-39B7-75BD-D9CF610A9C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678266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D6015DC-94C7-1880-AAC4-DB0C5F67CB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644C55A-AF72-4B32-FF24-B05D20EBF5E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A23D4D2-D694-5476-DA73-64AC7F8978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808740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C11E541-86D4-B4EF-F9DE-636354CA3E1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BB857AE-B3F0-FE0D-63C3-564A86F8B38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7E2A914-08BE-9BAF-3C89-68BCE0745C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5388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FE28166-773F-726E-DC35-3851B2E9797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20F0644-CD96-9DFE-CED7-AC7D62B6CD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6B3A45F-CD22-A705-69FC-990C0F9C26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713555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0E3ABF3-9E70-621C-F654-DF44AFBDB84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052A299-D6FE-4E5E-07F8-BFD0B155AF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45D6657-B67A-44F9-9331-F04AA1CD81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94222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1FB7287-85BE-EB99-AD65-14899AB597B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D3358FB-3674-FBB5-7754-71903188BE9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5CF1386-DC6A-D525-99EF-F00E82FC80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959412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2FA2CE8-2A24-AD96-2122-BB4580C7CA8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8FB7CF1-636D-7E27-2DD0-F1FE3950BE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CD30ADEB-2D8C-A2C1-EF16-0FAABFA39A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293611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A593B40-7ACA-7DAF-3098-4A97084379C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3322410-3A47-BEAF-8119-5D2B81B1184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71DA7E74-2641-AD03-A5ED-7316F12FE7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90046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0917EF8-C922-A173-3E6D-9BDD2A51E5F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7CD07A1-6046-EA08-6C79-7551BCA35D5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E98BB39-32AA-DD20-6529-49CF60E9E6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395204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1AE0C9E-4087-81BE-DFA0-3D461603070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90B646D6-619F-061D-AF3C-6E7C97A14E1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3915C15-3B68-B5E0-FE60-65D47F327B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93070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F870998-5AD5-37EE-11F0-0057066D836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242F551-0BEA-B7AE-96ED-C0084DD1CB7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7173E983-D4BA-3F27-79A5-8F183F2B63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68916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C524723-A6B1-8D85-DB78-ADC4DAB5480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FAD63A6-4A51-FC67-7469-4A0C521189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96B4BCE1-50A4-E5EC-9460-D1B5781055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314384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FA77362-E813-B9D1-32D3-5E9C3D02398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EE8BD31-C77D-61D3-5FCD-173896A901F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411DAC1-C9A2-9CDC-559C-2193D54D16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71716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817DC0F-94B4-8791-4D78-14CFC851F20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28406BF-38F5-13DE-5BC5-EA4A3B07D4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0C7E46A-048B-8AB5-E0FF-1CC7DE1512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39994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2B56442-3C7C-962E-3BDA-37D85BE1FD7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B525C3B-8460-D113-DAF7-49D9569CAD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997AB6D-ABCC-1690-248D-DADEB28988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63032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D12E867-6D8B-518F-E142-893872952C9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F87AE17-BB90-EC3E-153F-D5445788DE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47FBE7-93FC-2416-906D-E19A987BCA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719731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2EA5CA5-6785-8D65-5F10-0981FA005E2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AA2EA74-CD63-B572-D9EE-548ED51846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DAFBCA2B-AD55-3BF9-7430-F09A1B4D4F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84010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18237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10.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microsoft.com/office/2007/relationships/hdphoto" Target="../media/hdphoto3.wdp"/></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microsoft.com/office/2007/relationships/hdphoto" Target="../media/hdphoto4.wdp"/></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6.png"/><Relationship Id="rId5" Type="http://schemas.microsoft.com/office/2007/relationships/hdphoto" Target="../media/hdphoto5.wdp"/><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microsoft.com/office/2007/relationships/hdphoto" Target="../media/hdphoto7.wdp"/><Relationship Id="rId5" Type="http://schemas.openxmlformats.org/officeDocument/2006/relationships/image" Target="../media/image18.png"/><Relationship Id="rId4" Type="http://schemas.microsoft.com/office/2007/relationships/hdphoto" Target="../media/hdphoto6.wdp"/></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microsoft.com/office/2007/relationships/hdphoto" Target="../media/hdphoto9.wdp"/><Relationship Id="rId5" Type="http://schemas.openxmlformats.org/officeDocument/2006/relationships/image" Target="../media/image20.png"/><Relationship Id="rId4" Type="http://schemas.microsoft.com/office/2007/relationships/hdphoto" Target="../media/hdphoto8.wdp"/></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hyperlink" Target="https://youtu.be/xFss2H1Cq5w" TargetMode="External"/><Relationship Id="rId3" Type="http://schemas.openxmlformats.org/officeDocument/2006/relationships/hyperlink" Target="https://youtu.be/Qm9ynLpyIIw" TargetMode="External"/><Relationship Id="rId7" Type="http://schemas.openxmlformats.org/officeDocument/2006/relationships/hyperlink" Target="https://www.coursera.org/learn/ismdl?source=admin-share" TargetMode="External"/><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hyperlink" Target="https://www.coursera.org/learn/deep-learning-applications-in-vision?source=admin-share" TargetMode="External"/><Relationship Id="rId5" Type="http://schemas.openxmlformats.org/officeDocument/2006/relationships/hyperlink" Target="https://www.coursera.org/learn/ai-for-real-world-intelligence-systems?source=admin-share" TargetMode="External"/><Relationship Id="rId4" Type="http://schemas.openxmlformats.org/officeDocument/2006/relationships/hyperlink" Target="https://youtu.be/QxqxdQ_g2uw"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514350" y="664368"/>
            <a:ext cx="8213400" cy="4494010"/>
          </a:xfrm>
          <a:prstGeom prst="rect">
            <a:avLst/>
          </a:prstGeom>
          <a:noFill/>
          <a:ln>
            <a:noFill/>
          </a:ln>
        </p:spPr>
        <p:txBody>
          <a:bodyPr spcFirstLastPara="1" wrap="square" lIns="91425" tIns="45700" rIns="91425" bIns="45700" anchor="t" anchorCtr="0">
            <a:spAutoFit/>
          </a:bodyPr>
          <a:lstStyle/>
          <a:p>
            <a:pPr lvl="0" algn="ctr">
              <a:lnSpc>
                <a:spcPct val="90000"/>
              </a:lnSpc>
              <a:buClr>
                <a:schemeClr val="dk1"/>
              </a:buClr>
              <a:buSzPts val="3200"/>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ENGINEERING</a:t>
            </a:r>
            <a:endParaRPr lang="en-US" sz="105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1120"/>
              </a:spcBef>
              <a:buClr>
                <a:schemeClr val="dk1"/>
              </a:buClr>
              <a:buSzPts val="3200"/>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AIT-CSE (AIML)</a:t>
            </a:r>
          </a:p>
          <a:p>
            <a:pPr lvl="0" algn="ctr">
              <a:lnSpc>
                <a:spcPct val="90000"/>
              </a:lnSpc>
              <a:spcBef>
                <a:spcPts val="1120"/>
              </a:spcBef>
              <a:buClr>
                <a:schemeClr val="dk1"/>
              </a:buClr>
              <a:buSzPts val="2800"/>
            </a:pPr>
            <a:endPar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endParaRPr>
          </a:p>
          <a:p>
            <a:pPr lvl="0" algn="ctr">
              <a:lnSpc>
                <a:spcPct val="90000"/>
              </a:lnSpc>
              <a:spcBef>
                <a:spcPts val="1120"/>
              </a:spcBef>
              <a:buClr>
                <a:schemeClr val="dk1"/>
              </a:buClr>
              <a:buSzPts val="2800"/>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CS221: B.E. CSE (AIML)</a:t>
            </a:r>
          </a:p>
          <a:p>
            <a:pPr lvl="0" algn="ctr">
              <a:lnSpc>
                <a:spcPct val="90000"/>
              </a:lnSpc>
              <a:spcBef>
                <a:spcPts val="1120"/>
              </a:spcBef>
              <a:buClr>
                <a:schemeClr val="dk1"/>
              </a:buClr>
              <a:buSzPts val="2800"/>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5</a:t>
            </a:r>
            <a:r>
              <a:rPr lang="en-US" sz="2000"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th</a:t>
            </a: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 Semester </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980"/>
              </a:spcBef>
              <a:spcAft>
                <a:spcPts val="0"/>
              </a:spcAft>
              <a:buClr>
                <a:schemeClr val="dk1"/>
              </a:buClr>
              <a:buSzPts val="2800"/>
              <a:buFont typeface="Arial"/>
              <a:buNone/>
            </a:pPr>
            <a:r>
              <a:rPr lang="en-US" sz="2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ADVANCED MACHINE LEARNING &amp; MATHEMATICAL MODELLING</a:t>
            </a:r>
            <a:endParaRPr sz="2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980"/>
              </a:spcBef>
              <a:spcAft>
                <a:spcPts val="0"/>
              </a:spcAft>
              <a:buClr>
                <a:schemeClr val="dk1"/>
              </a:buClr>
              <a:buSzPts val="2800"/>
              <a:buFont typeface="Arial"/>
              <a:buNone/>
            </a:pPr>
            <a:r>
              <a:rPr lang="en-US" sz="24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(23CSH-382)</a:t>
            </a:r>
            <a:endParaRPr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 1                                 Chapter No. 1                     Lecture No. 12 &amp; 13</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Discrete Probability Distributions &amp; Continuous Probability Distributions</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Mr. Siddharth Kumar (E12853)                                          Assistant Professor</a:t>
            </a: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Even Semester Jan-May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2BF4C75-B6D5-0F71-7046-B3B05669B5D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
        <p:nvSpPr>
          <p:cNvPr id="2" name="Title 1">
            <a:extLst>
              <a:ext uri="{FF2B5EF4-FFF2-40B4-BE49-F238E27FC236}">
                <a16:creationId xmlns:a16="http://schemas.microsoft.com/office/drawing/2014/main" id="{ECAE4A14-02B1-C18D-9874-FFC261FDEE0A}"/>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COURSE OBJECTIVES</a:t>
            </a:r>
          </a:p>
        </p:txBody>
      </p:sp>
      <p:sp>
        <p:nvSpPr>
          <p:cNvPr id="3" name="Rectangle 2">
            <a:extLst>
              <a:ext uri="{FF2B5EF4-FFF2-40B4-BE49-F238E27FC236}">
                <a16:creationId xmlns:a16="http://schemas.microsoft.com/office/drawing/2014/main" id="{0220D0D4-31AB-9369-35E4-0090B3DE8E31}"/>
              </a:ext>
            </a:extLst>
          </p:cNvPr>
          <p:cNvSpPr/>
          <p:nvPr/>
        </p:nvSpPr>
        <p:spPr>
          <a:xfrm>
            <a:off x="254001" y="892662"/>
            <a:ext cx="8639575" cy="4162934"/>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The course aims to:</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develop a strong mathematical foundation for regression-based predictive modelling using calculus, matrix algebra, and probability theory.</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provide an in-depth understanding of supervised classification algorithms including KNN, Support Vector Machines, and ensemble-based boosting approaches.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equip learners to implement clustering and probabilistic reasoning models such as Spectral Clustering, Markov Chains, Bayesian Networks, and HMMs.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cultivate the ability to design neural networks, implement multilayer perceptron, and optimize training using backpropagation and regularization strategies.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expose students to advanced deep learning frameworks, feature abstraction hierarchies, and performance enhancement through hyper-parameter tuning &amp; dropout.</a:t>
            </a:r>
          </a:p>
        </p:txBody>
      </p:sp>
    </p:spTree>
    <p:extLst>
      <p:ext uri="{BB962C8B-B14F-4D97-AF65-F5344CB8AC3E}">
        <p14:creationId xmlns:p14="http://schemas.microsoft.com/office/powerpoint/2010/main" val="2622060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4A61545-6A4D-7017-B491-26E651BDFB5C}"/>
            </a:ext>
          </a:extLst>
        </p:cNvPr>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8EF9DA49-4951-E941-E241-14B3A2DD2F28}"/>
              </a:ext>
            </a:extLst>
          </p:cNvPr>
          <p:cNvGraphicFramePr>
            <a:graphicFrameLocks noGrp="1"/>
          </p:cNvGraphicFramePr>
          <p:nvPr>
            <p:extLst>
              <p:ext uri="{D42A27DB-BD31-4B8C-83A1-F6EECF244321}">
                <p14:modId xmlns:p14="http://schemas.microsoft.com/office/powerpoint/2010/main" val="685371465"/>
              </p:ext>
            </p:extLst>
          </p:nvPr>
        </p:nvGraphicFramePr>
        <p:xfrm>
          <a:off x="370114" y="1343576"/>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CO1</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Recall the foundational concepts, terminology, and mathematical principles underlying regression, classification and clustering approaches.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3" name="Table 12">
            <a:extLst>
              <a:ext uri="{FF2B5EF4-FFF2-40B4-BE49-F238E27FC236}">
                <a16:creationId xmlns:a16="http://schemas.microsoft.com/office/drawing/2014/main" id="{8AF2C682-CBF0-7E25-04B3-5860944E6A64}"/>
              </a:ext>
            </a:extLst>
          </p:cNvPr>
          <p:cNvGraphicFramePr>
            <a:graphicFrameLocks noGrp="1"/>
          </p:cNvGraphicFramePr>
          <p:nvPr>
            <p:extLst>
              <p:ext uri="{D42A27DB-BD31-4B8C-83A1-F6EECF244321}">
                <p14:modId xmlns:p14="http://schemas.microsoft.com/office/powerpoint/2010/main" val="1489895627"/>
              </p:ext>
            </p:extLst>
          </p:nvPr>
        </p:nvGraphicFramePr>
        <p:xfrm>
          <a:off x="370114" y="1982202"/>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CO2</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Illustrate the working mechanisms, characteristics, and theoretical concept of regression, clustering and classification techniques in machine learning.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3F9FA6A1-E183-6583-0A92-556DD6E08F84}"/>
              </a:ext>
            </a:extLst>
          </p:cNvPr>
          <p:cNvGraphicFramePr>
            <a:graphicFrameLocks noGrp="1"/>
          </p:cNvGraphicFramePr>
          <p:nvPr>
            <p:extLst>
              <p:ext uri="{D42A27DB-BD31-4B8C-83A1-F6EECF244321}">
                <p14:modId xmlns:p14="http://schemas.microsoft.com/office/powerpoint/2010/main" val="2485731555"/>
              </p:ext>
            </p:extLst>
          </p:nvPr>
        </p:nvGraphicFramePr>
        <p:xfrm>
          <a:off x="370114" y="2613573"/>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CO3</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Apply appropriate regression, clustering and classification algorithms to solve real-world machine learning tasks while addressing performance constraints.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5" name="Table 14">
            <a:extLst>
              <a:ext uri="{FF2B5EF4-FFF2-40B4-BE49-F238E27FC236}">
                <a16:creationId xmlns:a16="http://schemas.microsoft.com/office/drawing/2014/main" id="{9E480C33-6C30-CAFC-63F4-B97B14E40ABA}"/>
              </a:ext>
            </a:extLst>
          </p:cNvPr>
          <p:cNvGraphicFramePr>
            <a:graphicFrameLocks noGrp="1"/>
          </p:cNvGraphicFramePr>
          <p:nvPr>
            <p:extLst>
              <p:ext uri="{D42A27DB-BD31-4B8C-83A1-F6EECF244321}">
                <p14:modId xmlns:p14="http://schemas.microsoft.com/office/powerpoint/2010/main" val="2473521542"/>
              </p:ext>
            </p:extLst>
          </p:nvPr>
        </p:nvGraphicFramePr>
        <p:xfrm>
          <a:off x="370114" y="3237687"/>
          <a:ext cx="8523462" cy="82296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CO4</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Analyze and evaluate machine learning models using performance parameters to identify the best-suited techniques for specific applications regression, clustering and classification algorithms.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6" name="Table 15">
            <a:extLst>
              <a:ext uri="{FF2B5EF4-FFF2-40B4-BE49-F238E27FC236}">
                <a16:creationId xmlns:a16="http://schemas.microsoft.com/office/drawing/2014/main" id="{0B770020-E808-C51E-98C3-E13DADE63EE9}"/>
              </a:ext>
            </a:extLst>
          </p:cNvPr>
          <p:cNvGraphicFramePr>
            <a:graphicFrameLocks noGrp="1"/>
          </p:cNvGraphicFramePr>
          <p:nvPr>
            <p:extLst>
              <p:ext uri="{D42A27DB-BD31-4B8C-83A1-F6EECF244321}">
                <p14:modId xmlns:p14="http://schemas.microsoft.com/office/powerpoint/2010/main" val="4285902282"/>
              </p:ext>
            </p:extLst>
          </p:nvPr>
        </p:nvGraphicFramePr>
        <p:xfrm>
          <a:off x="370114" y="4137573"/>
          <a:ext cx="8523462" cy="82296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CO5</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Design and implement optimized machine learning solutions by integrating regression, clustering and classification models to solve complex predictive and decision-making problems.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7" name="TextBox 6">
            <a:extLst>
              <a:ext uri="{FF2B5EF4-FFF2-40B4-BE49-F238E27FC236}">
                <a16:creationId xmlns:a16="http://schemas.microsoft.com/office/drawing/2014/main" id="{C964D7DB-49E2-0809-DAE7-02B55DB97E8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
        <p:nvSpPr>
          <p:cNvPr id="2" name="Title 1">
            <a:extLst>
              <a:ext uri="{FF2B5EF4-FFF2-40B4-BE49-F238E27FC236}">
                <a16:creationId xmlns:a16="http://schemas.microsoft.com/office/drawing/2014/main" id="{E1D54E92-E639-32C0-A586-5312C258AEC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COURSE OUTCOMES</a:t>
            </a:r>
          </a:p>
        </p:txBody>
      </p:sp>
      <p:sp>
        <p:nvSpPr>
          <p:cNvPr id="3" name="Rectangle 2">
            <a:extLst>
              <a:ext uri="{FF2B5EF4-FFF2-40B4-BE49-F238E27FC236}">
                <a16:creationId xmlns:a16="http://schemas.microsoft.com/office/drawing/2014/main" id="{58E5231A-4FC6-A6AC-94D4-178AF49865FC}"/>
              </a:ext>
            </a:extLst>
          </p:cNvPr>
          <p:cNvSpPr/>
          <p:nvPr/>
        </p:nvSpPr>
        <p:spPr>
          <a:xfrm>
            <a:off x="254001" y="910187"/>
            <a:ext cx="8639575" cy="464871"/>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On completion of this course, the students shall be able to:</a:t>
            </a:r>
          </a:p>
        </p:txBody>
      </p:sp>
      <p:pic>
        <p:nvPicPr>
          <p:cNvPr id="17" name="Graphic 16" descr="Chevron arrows with solid fill">
            <a:extLst>
              <a:ext uri="{FF2B5EF4-FFF2-40B4-BE49-F238E27FC236}">
                <a16:creationId xmlns:a16="http://schemas.microsoft.com/office/drawing/2014/main" id="{AF23AD74-45C8-B11F-E1A2-6C388C2AE5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a:off x="49828" y="1510650"/>
            <a:ext cx="346172" cy="216000"/>
          </a:xfrm>
          <a:prstGeom prst="rect">
            <a:avLst/>
          </a:prstGeom>
        </p:spPr>
      </p:pic>
    </p:spTree>
    <p:extLst>
      <p:ext uri="{BB962C8B-B14F-4D97-AF65-F5344CB8AC3E}">
        <p14:creationId xmlns:p14="http://schemas.microsoft.com/office/powerpoint/2010/main" val="1237911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ABA1C71-5597-1CAF-83DC-D1B0724D01D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D13D930-9507-CC43-84EB-91691F0190B3}"/>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
        <p:nvSpPr>
          <p:cNvPr id="2" name="Title 1">
            <a:extLst>
              <a:ext uri="{FF2B5EF4-FFF2-40B4-BE49-F238E27FC236}">
                <a16:creationId xmlns:a16="http://schemas.microsoft.com/office/drawing/2014/main" id="{36F199A5-4917-785C-8A51-52FAF96C844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Unit-I Syllabus</a:t>
            </a:r>
          </a:p>
        </p:txBody>
      </p:sp>
      <p:graphicFrame>
        <p:nvGraphicFramePr>
          <p:cNvPr id="4" name="Table 3">
            <a:extLst>
              <a:ext uri="{FF2B5EF4-FFF2-40B4-BE49-F238E27FC236}">
                <a16:creationId xmlns:a16="http://schemas.microsoft.com/office/drawing/2014/main" id="{A166E992-8616-65C5-081E-F77864CBB031}"/>
              </a:ext>
            </a:extLst>
          </p:cNvPr>
          <p:cNvGraphicFramePr>
            <a:graphicFrameLocks noGrp="1"/>
          </p:cNvGraphicFramePr>
          <p:nvPr>
            <p:extLst>
              <p:ext uri="{D42A27DB-BD31-4B8C-83A1-F6EECF244321}">
                <p14:modId xmlns:p14="http://schemas.microsoft.com/office/powerpoint/2010/main" val="1364968001"/>
              </p:ext>
            </p:extLst>
          </p:nvPr>
        </p:nvGraphicFramePr>
        <p:xfrm>
          <a:off x="229850" y="1141413"/>
          <a:ext cx="8663726" cy="3764415"/>
        </p:xfrm>
        <a:graphic>
          <a:graphicData uri="http://schemas.openxmlformats.org/drawingml/2006/table">
            <a:tbl>
              <a:tblPr>
                <a:tableStyleId>{97377635-EB9D-4884-B79A-0D259F93817B}</a:tableStyleId>
              </a:tblPr>
              <a:tblGrid>
                <a:gridCol w="1620721">
                  <a:extLst>
                    <a:ext uri="{9D8B030D-6E8A-4147-A177-3AD203B41FA5}">
                      <a16:colId xmlns:a16="http://schemas.microsoft.com/office/drawing/2014/main" val="1126371409"/>
                    </a:ext>
                  </a:extLst>
                </a:gridCol>
                <a:gridCol w="5239658">
                  <a:extLst>
                    <a:ext uri="{9D8B030D-6E8A-4147-A177-3AD203B41FA5}">
                      <a16:colId xmlns:a16="http://schemas.microsoft.com/office/drawing/2014/main" val="1782746869"/>
                    </a:ext>
                  </a:extLst>
                </a:gridCol>
                <a:gridCol w="1803347">
                  <a:extLst>
                    <a:ext uri="{9D8B030D-6E8A-4147-A177-3AD203B41FA5}">
                      <a16:colId xmlns:a16="http://schemas.microsoft.com/office/drawing/2014/main" val="3681176613"/>
                    </a:ext>
                  </a:extLst>
                </a:gridCol>
              </a:tblGrid>
              <a:tr h="727032">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Unit-1</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Regression</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Contact Hours: 15</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852659567"/>
                  </a:ext>
                </a:extLst>
              </a:tr>
              <a:tr h="1147097">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Regression </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US"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Linear and Polynomial Regression, Maxima and Minima of Function of One Variable, Rank, Eigen Values and Eigen Vectors, Positive &amp; Negative Definite/Semi-definite Matrices</a:t>
                      </a:r>
                      <a:endParaRPr lang="en-US"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2964525967"/>
                  </a:ext>
                </a:extLst>
              </a:tr>
              <a:tr h="1147097">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Error Estimation </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US"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Maxima and Minima of Function of Several Variables, Convexity of Errors Function, Building Simple Linear Regression Model by Solving Normal Equations, Gradient Descent, Stochastic &amp; Mini-batch Gradient Descent Algorithm</a:t>
                      </a:r>
                      <a:endParaRPr lang="en-US"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4128748859"/>
                  </a:ext>
                </a:extLst>
              </a:tr>
              <a:tr h="743189">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Probability Theory</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IN"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Discrete Probability Distributions, Continuous Probability Distributions, Normal Distribution and t-Distributions, RSE, R</a:t>
                      </a:r>
                      <a:r>
                        <a:rPr lang="en-IN" sz="1600" u="none" strike="noStrike" baseline="300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2</a:t>
                      </a:r>
                      <a:endParaRPr lang="en-IN"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1161209939"/>
                  </a:ext>
                </a:extLst>
              </a:tr>
            </a:tbl>
          </a:graphicData>
        </a:graphic>
      </p:graphicFrame>
    </p:spTree>
    <p:extLst>
      <p:ext uri="{BB962C8B-B14F-4D97-AF65-F5344CB8AC3E}">
        <p14:creationId xmlns:p14="http://schemas.microsoft.com/office/powerpoint/2010/main" val="105206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722E90B-B4A7-48D2-134C-7BE9400BCFE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8581164-F321-1B9B-5200-D60D63C15EEF}"/>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a:t>
            </a:r>
          </a:p>
        </p:txBody>
      </p:sp>
      <p:sp>
        <p:nvSpPr>
          <p:cNvPr id="2" name="Title 1">
            <a:extLst>
              <a:ext uri="{FF2B5EF4-FFF2-40B4-BE49-F238E27FC236}">
                <a16:creationId xmlns:a16="http://schemas.microsoft.com/office/drawing/2014/main" id="{7EAEDE0E-C752-EC85-96D1-82A2D2EF1B33}"/>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SUGGESTIVE READINGS</a:t>
            </a:r>
          </a:p>
        </p:txBody>
      </p:sp>
      <p:sp>
        <p:nvSpPr>
          <p:cNvPr id="3" name="Rectangle 2">
            <a:extLst>
              <a:ext uri="{FF2B5EF4-FFF2-40B4-BE49-F238E27FC236}">
                <a16:creationId xmlns:a16="http://schemas.microsoft.com/office/drawing/2014/main" id="{D8857202-6F71-EB21-98DA-0053464F2129}"/>
              </a:ext>
            </a:extLst>
          </p:cNvPr>
          <p:cNvSpPr/>
          <p:nvPr/>
        </p:nvSpPr>
        <p:spPr>
          <a:xfrm>
            <a:off x="145143" y="1026299"/>
            <a:ext cx="8748433" cy="464871"/>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Text Books / Reference Books:</a:t>
            </a:r>
          </a:p>
        </p:txBody>
      </p:sp>
      <p:graphicFrame>
        <p:nvGraphicFramePr>
          <p:cNvPr id="6" name="Table 5">
            <a:extLst>
              <a:ext uri="{FF2B5EF4-FFF2-40B4-BE49-F238E27FC236}">
                <a16:creationId xmlns:a16="http://schemas.microsoft.com/office/drawing/2014/main" id="{7477AE26-3BC7-08F1-986D-BD55F4C4E6F5}"/>
              </a:ext>
            </a:extLst>
          </p:cNvPr>
          <p:cNvGraphicFramePr>
            <a:graphicFrameLocks noGrp="1"/>
          </p:cNvGraphicFramePr>
          <p:nvPr>
            <p:extLst>
              <p:ext uri="{D42A27DB-BD31-4B8C-83A1-F6EECF244321}">
                <p14:modId xmlns:p14="http://schemas.microsoft.com/office/powerpoint/2010/main" val="3442977342"/>
              </p:ext>
            </p:extLst>
          </p:nvPr>
        </p:nvGraphicFramePr>
        <p:xfrm>
          <a:off x="250425" y="1421421"/>
          <a:ext cx="8639574" cy="3711434"/>
        </p:xfrm>
        <a:graphic>
          <a:graphicData uri="http://schemas.openxmlformats.org/drawingml/2006/table">
            <a:tbl>
              <a:tblPr>
                <a:tableStyleId>{5C22544A-7EE6-4342-B048-85BDC9FD1C3A}</a:tableStyleId>
              </a:tblPr>
              <a:tblGrid>
                <a:gridCol w="8639574">
                  <a:extLst>
                    <a:ext uri="{9D8B030D-6E8A-4147-A177-3AD203B41FA5}">
                      <a16:colId xmlns:a16="http://schemas.microsoft.com/office/drawing/2014/main" val="2230290221"/>
                    </a:ext>
                  </a:extLst>
                </a:gridCol>
              </a:tblGrid>
              <a:tr h="224736">
                <a:tc>
                  <a:txBody>
                    <a:bodyPr/>
                    <a:lstStyle/>
                    <a:p>
                      <a:pPr algn="ctr" fontAlgn="ctr"/>
                      <a:r>
                        <a:rPr lang="en-IN" sz="1600" b="1" u="sng" dirty="0">
                          <a:solidFill>
                            <a:schemeClr val="bg2"/>
                          </a:solidFill>
                          <a:latin typeface="Calibri" panose="020F0502020204030204" pitchFamily="34" charset="0"/>
                          <a:ea typeface="Calibri" panose="020F0502020204030204" pitchFamily="34" charset="0"/>
                          <a:cs typeface="Calibri" panose="020F0502020204030204" pitchFamily="34" charset="0"/>
                        </a:rPr>
                        <a:t>TEXT BOOKS</a:t>
                      </a:r>
                    </a:p>
                    <a:p>
                      <a:pPr algn="ctr" fontAlgn="ctr"/>
                      <a:endParaRPr lang="en-IN" sz="800" b="1" u="sng"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43485506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T1: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Massaron</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L., &amp; Boschetti, A. (2016). Regression analysis with Python.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Packt</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Publishing Ltd.</a:t>
                      </a:r>
                    </a:p>
                  </a:txBody>
                  <a:tcPr marL="5684" marR="5684" marT="5684" marB="0" anchor="ctr">
                    <a:solidFill>
                      <a:schemeClr val="bg1"/>
                    </a:solidFill>
                  </a:tcPr>
                </a:tc>
                <a:extLst>
                  <a:ext uri="{0D108BD9-81ED-4DB2-BD59-A6C34878D82A}">
                    <a16:rowId xmlns:a16="http://schemas.microsoft.com/office/drawing/2014/main" val="124324700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T2: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Jajuga</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p>
                  </a:txBody>
                  <a:tcPr marL="5684" marR="5684" marT="5684" marB="0" anchor="ctr">
                    <a:solidFill>
                      <a:schemeClr val="bg1"/>
                    </a:solidFill>
                  </a:tcPr>
                </a:tc>
                <a:extLst>
                  <a:ext uri="{0D108BD9-81ED-4DB2-BD59-A6C34878D82A}">
                    <a16:rowId xmlns:a16="http://schemas.microsoft.com/office/drawing/2014/main" val="272486580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T3: </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Bishop, C. M., &amp; Bishop, H. (2023). Deep learning: Foundations and concepts. Springer Nature.</a:t>
                      </a:r>
                    </a:p>
                  </a:txBody>
                  <a:tcPr marL="5684" marR="5684" marT="5684" marB="0" anchor="ctr">
                    <a:solidFill>
                      <a:schemeClr val="bg1"/>
                    </a:solidFill>
                  </a:tcPr>
                </a:tc>
                <a:extLst>
                  <a:ext uri="{0D108BD9-81ED-4DB2-BD59-A6C34878D82A}">
                    <a16:rowId xmlns:a16="http://schemas.microsoft.com/office/drawing/2014/main" val="1593588325"/>
                  </a:ext>
                </a:extLst>
              </a:tr>
              <a:tr h="276998">
                <a:tc>
                  <a:txBody>
                    <a:bodyPr/>
                    <a:lstStyle/>
                    <a:p>
                      <a:pPr algn="just" fontAlgn="ctr"/>
                      <a:endPar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3980535516"/>
                  </a:ext>
                </a:extLst>
              </a:tr>
              <a:tr h="224736">
                <a:tc>
                  <a:txBody>
                    <a:bodyPr/>
                    <a:lstStyle/>
                    <a:p>
                      <a:pPr algn="ctr" fontAlgn="ctr"/>
                      <a:r>
                        <a:rPr lang="en-IN" sz="1600" b="1" u="sng" dirty="0">
                          <a:solidFill>
                            <a:schemeClr val="bg2"/>
                          </a:solidFill>
                          <a:latin typeface="Calibri" panose="020F0502020204030204" pitchFamily="34" charset="0"/>
                          <a:ea typeface="Calibri" panose="020F0502020204030204" pitchFamily="34" charset="0"/>
                          <a:cs typeface="Calibri" panose="020F0502020204030204" pitchFamily="34" charset="0"/>
                        </a:rPr>
                        <a:t>REFERENCE BOOKS</a:t>
                      </a:r>
                    </a:p>
                    <a:p>
                      <a:pPr algn="ctr" fontAlgn="ctr"/>
                      <a:endParaRPr lang="en-IN" sz="800" b="1" u="sng"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2291661051"/>
                  </a:ext>
                </a:extLst>
              </a:tr>
              <a:tr h="376622">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R1: </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Matloff, N. (2017). Statistical regression and classification: from linear models to machine learning. Chapman and Hall/CRC.</a:t>
                      </a:r>
                    </a:p>
                  </a:txBody>
                  <a:tcPr marL="5684" marR="5684" marT="5684" marB="0" anchor="ctr">
                    <a:solidFill>
                      <a:schemeClr val="bg1"/>
                    </a:solidFill>
                  </a:tcPr>
                </a:tc>
                <a:extLst>
                  <a:ext uri="{0D108BD9-81ED-4DB2-BD59-A6C34878D82A}">
                    <a16:rowId xmlns:a16="http://schemas.microsoft.com/office/drawing/2014/main" val="1123111606"/>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R2: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Jajuga</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p>
                  </a:txBody>
                  <a:tcPr marL="5684" marR="5684" marT="5684" marB="0" anchor="ctr">
                    <a:solidFill>
                      <a:schemeClr val="bg1"/>
                    </a:solidFill>
                  </a:tcPr>
                </a:tc>
                <a:extLst>
                  <a:ext uri="{0D108BD9-81ED-4DB2-BD59-A6C34878D82A}">
                    <a16:rowId xmlns:a16="http://schemas.microsoft.com/office/drawing/2014/main" val="337323854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R3: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Vishnoi</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V. K., Chauhan, N. R., &amp; Kumar, K. (2024). An introduction to deep learning.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Xoffencer</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publication.</a:t>
                      </a:r>
                    </a:p>
                  </a:txBody>
                  <a:tcPr marL="5684" marR="5684" marT="5684" marB="0" anchor="ctr">
                    <a:solidFill>
                      <a:schemeClr val="bg1"/>
                    </a:solidFill>
                  </a:tcPr>
                </a:tc>
                <a:extLst>
                  <a:ext uri="{0D108BD9-81ED-4DB2-BD59-A6C34878D82A}">
                    <a16:rowId xmlns:a16="http://schemas.microsoft.com/office/drawing/2014/main" val="766468309"/>
                  </a:ext>
                </a:extLst>
              </a:tr>
              <a:tr h="0">
                <a:tc>
                  <a:txBody>
                    <a:bodyPr/>
                    <a:lstStyle/>
                    <a:p>
                      <a:pPr algn="just" fontAlgn="ctr"/>
                      <a:endParaRPr lang="en-IN" sz="1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2254666440"/>
                  </a:ext>
                </a:extLst>
              </a:tr>
            </a:tbl>
          </a:graphicData>
        </a:graphic>
      </p:graphicFrame>
    </p:spTree>
    <p:extLst>
      <p:ext uri="{BB962C8B-B14F-4D97-AF65-F5344CB8AC3E}">
        <p14:creationId xmlns:p14="http://schemas.microsoft.com/office/powerpoint/2010/main" val="1686286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D2933D2-A694-4C02-9490-F8DF1D65E6E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AAB8138-C22D-D138-96A2-E61790B9550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5</a:t>
            </a:r>
          </a:p>
        </p:txBody>
      </p:sp>
      <p:sp>
        <p:nvSpPr>
          <p:cNvPr id="2" name="Title 1">
            <a:extLst>
              <a:ext uri="{FF2B5EF4-FFF2-40B4-BE49-F238E27FC236}">
                <a16:creationId xmlns:a16="http://schemas.microsoft.com/office/drawing/2014/main" id="{8FD457F1-73E5-C92E-69E7-B0F511A2510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Table of Contents</a:t>
            </a:r>
          </a:p>
        </p:txBody>
      </p:sp>
      <p:sp>
        <p:nvSpPr>
          <p:cNvPr id="3" name="Rectangle 2">
            <a:extLst>
              <a:ext uri="{FF2B5EF4-FFF2-40B4-BE49-F238E27FC236}">
                <a16:creationId xmlns:a16="http://schemas.microsoft.com/office/drawing/2014/main" id="{24A4B515-1583-F553-4D7C-021764E7BA41}"/>
              </a:ext>
            </a:extLst>
          </p:cNvPr>
          <p:cNvSpPr/>
          <p:nvPr/>
        </p:nvSpPr>
        <p:spPr>
          <a:xfrm>
            <a:off x="197783" y="1033556"/>
            <a:ext cx="8695793" cy="3699474"/>
          </a:xfrm>
          <a:prstGeom prst="rect">
            <a:avLst/>
          </a:prstGeom>
        </p:spPr>
        <p:txBody>
          <a:bodyPr wrap="square">
            <a:spAutoFit/>
          </a:bodyPr>
          <a:lstStyle/>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Probability Distributions</a:t>
            </a:r>
          </a:p>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Discrete Probability Distributions</a:t>
            </a:r>
          </a:p>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Types of Discrete Probability Distributions</a:t>
            </a:r>
          </a:p>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Continuous Probability Distributions</a:t>
            </a:r>
          </a:p>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Types of Continuous Probability Distributions</a:t>
            </a:r>
          </a:p>
          <a:p>
            <a:pPr marL="285750" indent="-285750" algn="just">
              <a:lnSpc>
                <a:spcPct val="200000"/>
              </a:lnSpc>
              <a:buFont typeface="Times New Roman" panose="02020603050405020304" pitchFamily="18" charset="0"/>
              <a:buChar char="֍"/>
            </a:pPr>
            <a:endParaRPr lang="en-IN" sz="20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4736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34909B9-6679-B88A-741C-4D6D5F86F14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09B94D8-943E-B0BF-A653-233A369617DA}"/>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6</a:t>
            </a:r>
          </a:p>
        </p:txBody>
      </p:sp>
      <p:sp>
        <p:nvSpPr>
          <p:cNvPr id="2" name="Title 1">
            <a:extLst>
              <a:ext uri="{FF2B5EF4-FFF2-40B4-BE49-F238E27FC236}">
                <a16:creationId xmlns:a16="http://schemas.microsoft.com/office/drawing/2014/main" id="{DAFF8230-3BDF-FEDF-4508-298C8474C584}"/>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Probability Distributions</a:t>
            </a:r>
          </a:p>
        </p:txBody>
      </p:sp>
      <p:sp>
        <p:nvSpPr>
          <p:cNvPr id="3" name="Rectangle 2">
            <a:extLst>
              <a:ext uri="{FF2B5EF4-FFF2-40B4-BE49-F238E27FC236}">
                <a16:creationId xmlns:a16="http://schemas.microsoft.com/office/drawing/2014/main" id="{C36F8375-605C-8925-3932-CAAD5D4BB49C}"/>
              </a:ext>
            </a:extLst>
          </p:cNvPr>
          <p:cNvSpPr/>
          <p:nvPr/>
        </p:nvSpPr>
        <p:spPr>
          <a:xfrm>
            <a:off x="254001" y="975500"/>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A probability distribution is a mathematical function that assigns the probabilities of different outcomes to the possible values of a random variable.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It provides a way of modeling the likelihood of each outcome in a random experiment.</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While a Frequency Distribution shows how often outcomes occur in a sample or dataset, a probability distribution assigns probabilities to outcomes abstractly, theoretically, regardless of any specific dataset.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These probabilities represent the likelihood of each outcome occurring.</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Properties of a probability distribution include:</a:t>
            </a:r>
          </a:p>
          <a:p>
            <a:pPr marL="449263" lvl="0" indent="-19843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probability of each outcome is greater than or equal to zero.</a:t>
            </a:r>
          </a:p>
          <a:p>
            <a:pPr marL="449263" lvl="0" indent="-19843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sum of the probabilities of all possible outcomes equals 1.</a:t>
            </a:r>
          </a:p>
        </p:txBody>
      </p:sp>
    </p:spTree>
    <p:extLst>
      <p:ext uri="{BB962C8B-B14F-4D97-AF65-F5344CB8AC3E}">
        <p14:creationId xmlns:p14="http://schemas.microsoft.com/office/powerpoint/2010/main" val="164827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DF0C5FD-7051-2B5A-FD69-DF8AF25B6E9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E72C4B2-8B29-59BB-222A-79EBD20F392C}"/>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2" name="Title 1">
            <a:extLst>
              <a:ext uri="{FF2B5EF4-FFF2-40B4-BE49-F238E27FC236}">
                <a16:creationId xmlns:a16="http://schemas.microsoft.com/office/drawing/2014/main" id="{09107141-D0F2-A0C9-30B0-7B43E98272EF}"/>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Probability Distributions</a:t>
            </a:r>
          </a:p>
        </p:txBody>
      </p:sp>
      <p:sp>
        <p:nvSpPr>
          <p:cNvPr id="3" name="Rectangle 2">
            <a:extLst>
              <a:ext uri="{FF2B5EF4-FFF2-40B4-BE49-F238E27FC236}">
                <a16:creationId xmlns:a16="http://schemas.microsoft.com/office/drawing/2014/main" id="{69BF7076-2240-1CF2-3A2F-8577BAC26AD5}"/>
              </a:ext>
            </a:extLst>
          </p:cNvPr>
          <p:cNvSpPr/>
          <p:nvPr/>
        </p:nvSpPr>
        <p:spPr>
          <a:xfrm>
            <a:off x="254002" y="1026299"/>
            <a:ext cx="2718538" cy="1295868"/>
          </a:xfrm>
          <a:prstGeom prst="rect">
            <a:avLst/>
          </a:prstGeom>
        </p:spPr>
        <p:txBody>
          <a:bodyPr wrap="square">
            <a:spAutoFit/>
          </a:bodyPr>
          <a:lstStyle/>
          <a:p>
            <a:pPr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Common types of probability distributions include:</a:t>
            </a:r>
          </a:p>
        </p:txBody>
      </p:sp>
      <p:pic>
        <p:nvPicPr>
          <p:cNvPr id="5" name="Picture 4">
            <a:extLst>
              <a:ext uri="{FF2B5EF4-FFF2-40B4-BE49-F238E27FC236}">
                <a16:creationId xmlns:a16="http://schemas.microsoft.com/office/drawing/2014/main" id="{3D767331-EDC0-2454-5722-CBB13F4247AC}"/>
              </a:ext>
            </a:extLst>
          </p:cNvPr>
          <p:cNvPicPr>
            <a:picLocks noChangeAspect="1"/>
          </p:cNvPicPr>
          <p:nvPr/>
        </p:nvPicPr>
        <p:blipFill>
          <a:blip r:embed="rId3"/>
          <a:stretch>
            <a:fillRect/>
          </a:stretch>
        </p:blipFill>
        <p:spPr>
          <a:xfrm>
            <a:off x="2972540" y="1175656"/>
            <a:ext cx="5917458" cy="3628573"/>
          </a:xfrm>
          <a:prstGeom prst="rect">
            <a:avLst/>
          </a:prstGeom>
        </p:spPr>
      </p:pic>
      <p:sp>
        <p:nvSpPr>
          <p:cNvPr id="6" name="TextBox 5">
            <a:extLst>
              <a:ext uri="{FF2B5EF4-FFF2-40B4-BE49-F238E27FC236}">
                <a16:creationId xmlns:a16="http://schemas.microsoft.com/office/drawing/2014/main" id="{6B76E93F-A6D9-DA47-FE41-5CCDD881620F}"/>
              </a:ext>
            </a:extLst>
          </p:cNvPr>
          <p:cNvSpPr txBox="1"/>
          <p:nvPr/>
        </p:nvSpPr>
        <p:spPr>
          <a:xfrm>
            <a:off x="3860799" y="4770410"/>
            <a:ext cx="4644571"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 </a:t>
            </a:r>
            <a:r>
              <a:rPr lang="en-IN" b="1" dirty="0">
                <a:solidFill>
                  <a:schemeClr val="bg2"/>
                </a:solidFill>
                <a:latin typeface="Calibri" panose="020F0502020204030204" pitchFamily="34" charset="0"/>
                <a:ea typeface="Calibri" panose="020F0502020204030204" pitchFamily="34" charset="0"/>
                <a:cs typeface="Calibri" panose="020F0502020204030204" pitchFamily="34" charset="0"/>
              </a:rPr>
              <a:t>Types of probability distributions </a:t>
            </a:r>
            <a:endParaRPr lang="en-IN" b="1" dirty="0"/>
          </a:p>
        </p:txBody>
      </p:sp>
    </p:spTree>
    <p:extLst>
      <p:ext uri="{BB962C8B-B14F-4D97-AF65-F5344CB8AC3E}">
        <p14:creationId xmlns:p14="http://schemas.microsoft.com/office/powerpoint/2010/main" val="2219471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00EE439-E09C-4C92-6366-48B831D845D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27A49BF-7FD4-60B7-C0A1-3B5B2E715CB3}"/>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8</a:t>
            </a:r>
          </a:p>
        </p:txBody>
      </p:sp>
      <p:sp>
        <p:nvSpPr>
          <p:cNvPr id="2" name="Title 1">
            <a:extLst>
              <a:ext uri="{FF2B5EF4-FFF2-40B4-BE49-F238E27FC236}">
                <a16:creationId xmlns:a16="http://schemas.microsoft.com/office/drawing/2014/main" id="{CC117AF7-67AA-C743-03E1-8BEDC68EFE59}"/>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Probability Distributions</a:t>
            </a:r>
          </a:p>
        </p:txBody>
      </p:sp>
      <p:sp>
        <p:nvSpPr>
          <p:cNvPr id="3" name="Rectangle 2">
            <a:extLst>
              <a:ext uri="{FF2B5EF4-FFF2-40B4-BE49-F238E27FC236}">
                <a16:creationId xmlns:a16="http://schemas.microsoft.com/office/drawing/2014/main" id="{8EA6FF20-F453-20D0-681D-1DD0A2491E40}"/>
              </a:ext>
            </a:extLst>
          </p:cNvPr>
          <p:cNvSpPr/>
          <p:nvPr/>
        </p:nvSpPr>
        <p:spPr>
          <a:xfrm>
            <a:off x="254001" y="968243"/>
            <a:ext cx="8639575" cy="2542363"/>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Probability Distribution of a Random Variable</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Now the question comes, how to describe the behavior of a random variable?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Suppose that our Random Variable only takes finite values, like x</a:t>
            </a:r>
            <a:r>
              <a:rPr lang="en-US" sz="1800" baseline="-25000" dirty="0">
                <a:latin typeface="Calibri" panose="020F0502020204030204" pitchFamily="34" charset="0"/>
                <a:ea typeface="Calibri" panose="020F0502020204030204" pitchFamily="34" charset="0"/>
                <a:cs typeface="Calibri" panose="020F0502020204030204" pitchFamily="34" charset="0"/>
              </a:rPr>
              <a:t>1</a:t>
            </a:r>
            <a:r>
              <a:rPr lang="en-US" sz="1800" dirty="0">
                <a:latin typeface="Calibri" panose="020F0502020204030204" pitchFamily="34" charset="0"/>
                <a:ea typeface="Calibri" panose="020F0502020204030204" pitchFamily="34" charset="0"/>
                <a:cs typeface="Calibri" panose="020F0502020204030204" pitchFamily="34" charset="0"/>
              </a:rPr>
              <a:t>, x</a:t>
            </a:r>
            <a:r>
              <a:rPr lang="en-US" sz="1800" baseline="-25000" dirty="0">
                <a:latin typeface="Calibri" panose="020F0502020204030204" pitchFamily="34" charset="0"/>
                <a:ea typeface="Calibri" panose="020F0502020204030204" pitchFamily="34" charset="0"/>
                <a:cs typeface="Calibri" panose="020F0502020204030204" pitchFamily="34" charset="0"/>
              </a:rPr>
              <a:t>2</a:t>
            </a:r>
            <a:r>
              <a:rPr lang="en-US" sz="1800" dirty="0">
                <a:latin typeface="Calibri" panose="020F0502020204030204" pitchFamily="34" charset="0"/>
                <a:ea typeface="Calibri" panose="020F0502020204030204" pitchFamily="34" charset="0"/>
                <a:cs typeface="Calibri" panose="020F0502020204030204" pitchFamily="34" charset="0"/>
              </a:rPr>
              <a:t>, x</a:t>
            </a:r>
            <a:r>
              <a:rPr lang="en-US" sz="1800" baseline="-25000" dirty="0">
                <a:latin typeface="Calibri" panose="020F0502020204030204" pitchFamily="34" charset="0"/>
                <a:ea typeface="Calibri" panose="020F0502020204030204" pitchFamily="34" charset="0"/>
                <a:cs typeface="Calibri" panose="020F0502020204030204" pitchFamily="34" charset="0"/>
              </a:rPr>
              <a:t>3</a:t>
            </a:r>
            <a:r>
              <a:rPr lang="en-US" sz="1800" dirty="0">
                <a:latin typeface="Calibri" panose="020F0502020204030204" pitchFamily="34" charset="0"/>
                <a:ea typeface="Calibri" panose="020F0502020204030204" pitchFamily="34" charset="0"/>
                <a:cs typeface="Calibri" panose="020F0502020204030204" pitchFamily="34" charset="0"/>
              </a:rPr>
              <a:t>,..., and </a:t>
            </a:r>
            <a:r>
              <a:rPr lang="en-US" sz="1800" dirty="0" err="1">
                <a:latin typeface="Calibri" panose="020F0502020204030204" pitchFamily="34" charset="0"/>
                <a:ea typeface="Calibri" panose="020F0502020204030204" pitchFamily="34" charset="0"/>
                <a:cs typeface="Calibri" panose="020F0502020204030204" pitchFamily="34" charset="0"/>
              </a:rPr>
              <a:t>x</a:t>
            </a:r>
            <a:r>
              <a:rPr lang="en-US" sz="1800" baseline="-25000" dirty="0" err="1">
                <a:latin typeface="Calibri" panose="020F0502020204030204" pitchFamily="34" charset="0"/>
                <a:ea typeface="Calibri" panose="020F0502020204030204" pitchFamily="34" charset="0"/>
                <a:cs typeface="Calibri" panose="020F0502020204030204" pitchFamily="34" charset="0"/>
              </a:rPr>
              <a:t>n</a:t>
            </a:r>
            <a:r>
              <a:rPr lang="en-US" sz="1800" dirty="0">
                <a:latin typeface="Calibri" panose="020F0502020204030204" pitchFamily="34" charset="0"/>
                <a:ea typeface="Calibri" panose="020F0502020204030204" pitchFamily="34" charset="0"/>
                <a:cs typeface="Calibri" panose="020F0502020204030204" pitchFamily="34" charset="0"/>
              </a:rPr>
              <a:t>. i.e., the range of X is the set of n values is {x</a:t>
            </a:r>
            <a:r>
              <a:rPr lang="en-US" sz="1800" baseline="-25000" dirty="0">
                <a:latin typeface="Calibri" panose="020F0502020204030204" pitchFamily="34" charset="0"/>
                <a:ea typeface="Calibri" panose="020F0502020204030204" pitchFamily="34" charset="0"/>
                <a:cs typeface="Calibri" panose="020F0502020204030204" pitchFamily="34" charset="0"/>
              </a:rPr>
              <a:t>1</a:t>
            </a:r>
            <a:r>
              <a:rPr lang="en-US" sz="1800" dirty="0">
                <a:latin typeface="Calibri" panose="020F0502020204030204" pitchFamily="34" charset="0"/>
                <a:ea typeface="Calibri" panose="020F0502020204030204" pitchFamily="34" charset="0"/>
                <a:cs typeface="Calibri" panose="020F0502020204030204" pitchFamily="34" charset="0"/>
              </a:rPr>
              <a:t>, x</a:t>
            </a:r>
            <a:r>
              <a:rPr lang="en-US" sz="1800" baseline="-25000" dirty="0">
                <a:latin typeface="Calibri" panose="020F0502020204030204" pitchFamily="34" charset="0"/>
                <a:ea typeface="Calibri" panose="020F0502020204030204" pitchFamily="34" charset="0"/>
                <a:cs typeface="Calibri" panose="020F0502020204030204" pitchFamily="34" charset="0"/>
              </a:rPr>
              <a:t>2</a:t>
            </a:r>
            <a:r>
              <a:rPr lang="en-US" sz="1800" dirty="0">
                <a:latin typeface="Calibri" panose="020F0502020204030204" pitchFamily="34" charset="0"/>
                <a:ea typeface="Calibri" panose="020F0502020204030204" pitchFamily="34" charset="0"/>
                <a:cs typeface="Calibri" panose="020F0502020204030204" pitchFamily="34" charset="0"/>
              </a:rPr>
              <a:t>, x</a:t>
            </a:r>
            <a:r>
              <a:rPr lang="en-US" sz="1800" baseline="-25000" dirty="0">
                <a:latin typeface="Calibri" panose="020F0502020204030204" pitchFamily="34" charset="0"/>
                <a:ea typeface="Calibri" panose="020F0502020204030204" pitchFamily="34" charset="0"/>
                <a:cs typeface="Calibri" panose="020F0502020204030204" pitchFamily="34" charset="0"/>
              </a:rPr>
              <a:t>3</a:t>
            </a:r>
            <a:r>
              <a:rPr lang="en-US" sz="1800" dirty="0">
                <a:latin typeface="Calibri" panose="020F0502020204030204" pitchFamily="34" charset="0"/>
                <a:ea typeface="Calibri" panose="020F0502020204030204" pitchFamily="34" charset="0"/>
                <a:cs typeface="Calibri" panose="020F0502020204030204" pitchFamily="34" charset="0"/>
              </a:rPr>
              <a:t>,..., and </a:t>
            </a:r>
            <a:r>
              <a:rPr lang="en-US" sz="1800" dirty="0" err="1">
                <a:latin typeface="Calibri" panose="020F0502020204030204" pitchFamily="34" charset="0"/>
                <a:ea typeface="Calibri" panose="020F0502020204030204" pitchFamily="34" charset="0"/>
                <a:cs typeface="Calibri" panose="020F0502020204030204" pitchFamily="34" charset="0"/>
              </a:rPr>
              <a:t>x</a:t>
            </a:r>
            <a:r>
              <a:rPr lang="en-US" sz="1800" baseline="-25000" dirty="0" err="1">
                <a:latin typeface="Calibri" panose="020F0502020204030204" pitchFamily="34" charset="0"/>
                <a:ea typeface="Calibri" panose="020F0502020204030204" pitchFamily="34" charset="0"/>
                <a:cs typeface="Calibri" panose="020F0502020204030204" pitchFamily="34" charset="0"/>
              </a:rPr>
              <a:t>n</a:t>
            </a:r>
            <a:r>
              <a:rPr lang="en-US" sz="1800" dirty="0">
                <a:latin typeface="Calibri" panose="020F0502020204030204" pitchFamily="34" charset="0"/>
                <a:ea typeface="Calibri" panose="020F0502020204030204" pitchFamily="34" charset="0"/>
                <a:cs typeface="Calibri" panose="020F0502020204030204" pitchFamily="34" charset="0"/>
              </a:rPr>
              <a:t>}.</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behavior of X is completely described by giving probabilities for all the values of the random variable X.</a:t>
            </a:r>
          </a:p>
        </p:txBody>
      </p:sp>
      <p:graphicFrame>
        <p:nvGraphicFramePr>
          <p:cNvPr id="4" name="Table 3">
            <a:extLst>
              <a:ext uri="{FF2B5EF4-FFF2-40B4-BE49-F238E27FC236}">
                <a16:creationId xmlns:a16="http://schemas.microsoft.com/office/drawing/2014/main" id="{950A140C-F28B-6236-430D-4467760AD417}"/>
              </a:ext>
            </a:extLst>
          </p:cNvPr>
          <p:cNvGraphicFramePr>
            <a:graphicFrameLocks noGrp="1"/>
          </p:cNvGraphicFramePr>
          <p:nvPr>
            <p:extLst>
              <p:ext uri="{D42A27DB-BD31-4B8C-83A1-F6EECF244321}">
                <p14:modId xmlns:p14="http://schemas.microsoft.com/office/powerpoint/2010/main" val="1093158664"/>
              </p:ext>
            </p:extLst>
          </p:nvPr>
        </p:nvGraphicFramePr>
        <p:xfrm>
          <a:off x="6291942" y="3074217"/>
          <a:ext cx="2459608" cy="1860641"/>
        </p:xfrm>
        <a:graphic>
          <a:graphicData uri="http://schemas.openxmlformats.org/drawingml/2006/table">
            <a:tbl>
              <a:tblPr/>
              <a:tblGrid>
                <a:gridCol w="1229804">
                  <a:extLst>
                    <a:ext uri="{9D8B030D-6E8A-4147-A177-3AD203B41FA5}">
                      <a16:colId xmlns:a16="http://schemas.microsoft.com/office/drawing/2014/main" val="2012322818"/>
                    </a:ext>
                  </a:extLst>
                </a:gridCol>
                <a:gridCol w="1229804">
                  <a:extLst>
                    <a:ext uri="{9D8B030D-6E8A-4147-A177-3AD203B41FA5}">
                      <a16:colId xmlns:a16="http://schemas.microsoft.com/office/drawing/2014/main" val="3677604776"/>
                    </a:ext>
                  </a:extLst>
                </a:gridCol>
              </a:tblGrid>
              <a:tr h="438182">
                <a:tc>
                  <a:txBody>
                    <a:bodyPr/>
                    <a:lstStyle/>
                    <a:p>
                      <a:pPr algn="ctr" fontAlgn="base">
                        <a:buNone/>
                      </a:pPr>
                      <a:r>
                        <a:rPr lang="en-IN" sz="1800" b="1">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Event</a:t>
                      </a:r>
                    </a:p>
                  </a:txBody>
                  <a:tcPr marL="38100" marR="38100" marT="63500" marB="635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F9F9"/>
                    </a:solidFill>
                  </a:tcPr>
                </a:tc>
                <a:tc>
                  <a:txBody>
                    <a:bodyPr/>
                    <a:lstStyle/>
                    <a:p>
                      <a:pPr algn="ctr" fontAlgn="base">
                        <a:buNone/>
                      </a:pPr>
                      <a:r>
                        <a:rPr lang="en-IN" sz="1800" b="1"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Probability</a:t>
                      </a:r>
                    </a:p>
                  </a:txBody>
                  <a:tcPr marL="63500" marR="63500" marT="63500" marB="635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F9F9"/>
                    </a:solidFill>
                  </a:tcPr>
                </a:tc>
                <a:extLst>
                  <a:ext uri="{0D108BD9-81ED-4DB2-BD59-A6C34878D82A}">
                    <a16:rowId xmlns:a16="http://schemas.microsoft.com/office/drawing/2014/main" val="339427843"/>
                  </a:ext>
                </a:extLst>
              </a:tr>
              <a:tr h="474153">
                <a:tc>
                  <a:txBody>
                    <a:bodyPr/>
                    <a:lstStyle/>
                    <a:p>
                      <a:pPr algn="ctr" fontAlgn="ctr">
                        <a:buNone/>
                      </a:pPr>
                      <a:r>
                        <a:rPr lang="en-IN" sz="1800" b="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x</a:t>
                      </a:r>
                      <a:r>
                        <a:rPr lang="en-IN" sz="1800" b="0" baseline="-250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1</a:t>
                      </a:r>
                      <a:endParaRPr lang="en-IN" sz="1800" b="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IN" sz="1800" b="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P(X = x</a:t>
                      </a:r>
                      <a:r>
                        <a:rPr lang="en-IN" sz="1800" b="0" baseline="-250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1</a:t>
                      </a:r>
                      <a:r>
                        <a:rPr lang="en-IN" sz="1800" b="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a:t>
                      </a:r>
                    </a:p>
                  </a:txBody>
                  <a:tcPr marL="63500" marR="63500" marT="88900" marB="889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extLst>
                  <a:ext uri="{0D108BD9-81ED-4DB2-BD59-A6C34878D82A}">
                    <a16:rowId xmlns:a16="http://schemas.microsoft.com/office/drawing/2014/main" val="3627643891"/>
                  </a:ext>
                </a:extLst>
              </a:tr>
              <a:tr h="474153">
                <a:tc>
                  <a:txBody>
                    <a:bodyPr/>
                    <a:lstStyle/>
                    <a:p>
                      <a:pPr algn="ctr" fontAlgn="ctr">
                        <a:buNone/>
                      </a:pPr>
                      <a:r>
                        <a:rPr lang="en-IN" sz="1800" b="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x</a:t>
                      </a:r>
                      <a:r>
                        <a:rPr lang="en-IN" sz="1800" b="0" baseline="-250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2</a:t>
                      </a:r>
                      <a:endParaRPr lang="en-IN" sz="1800" b="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IN" sz="1800" b="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P(X = x</a:t>
                      </a:r>
                      <a:r>
                        <a:rPr lang="en-IN" sz="1800" b="0" baseline="-250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2</a:t>
                      </a:r>
                      <a:r>
                        <a:rPr lang="en-IN" sz="1800" b="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a:t>
                      </a:r>
                    </a:p>
                  </a:txBody>
                  <a:tcPr marL="63500" marR="63500" marT="88900" marB="889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extLst>
                  <a:ext uri="{0D108BD9-81ED-4DB2-BD59-A6C34878D82A}">
                    <a16:rowId xmlns:a16="http://schemas.microsoft.com/office/drawing/2014/main" val="3469548185"/>
                  </a:ext>
                </a:extLst>
              </a:tr>
              <a:tr h="474153">
                <a:tc>
                  <a:txBody>
                    <a:bodyPr/>
                    <a:lstStyle/>
                    <a:p>
                      <a:pPr algn="ctr" fontAlgn="ctr">
                        <a:buNone/>
                      </a:pPr>
                      <a:r>
                        <a:rPr lang="en-IN" sz="1800" b="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x</a:t>
                      </a:r>
                      <a:r>
                        <a:rPr lang="en-IN" sz="1800" b="0" baseline="-250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3</a:t>
                      </a:r>
                      <a:endParaRPr lang="en-IN" sz="1800" b="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IN" sz="1800" b="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P(X = x</a:t>
                      </a:r>
                      <a:r>
                        <a:rPr lang="en-IN" sz="1800" b="0" baseline="-2500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3</a:t>
                      </a:r>
                      <a:r>
                        <a:rPr lang="en-IN" sz="1800" b="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a:t>
                      </a:r>
                    </a:p>
                  </a:txBody>
                  <a:tcPr marL="63500" marR="63500" marT="88900" marB="889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extLst>
                  <a:ext uri="{0D108BD9-81ED-4DB2-BD59-A6C34878D82A}">
                    <a16:rowId xmlns:a16="http://schemas.microsoft.com/office/drawing/2014/main" val="1952605892"/>
                  </a:ext>
                </a:extLst>
              </a:tr>
            </a:tbl>
          </a:graphicData>
        </a:graphic>
      </p:graphicFrame>
      <p:sp>
        <p:nvSpPr>
          <p:cNvPr id="5" name="Rectangle 4">
            <a:extLst>
              <a:ext uri="{FF2B5EF4-FFF2-40B4-BE49-F238E27FC236}">
                <a16:creationId xmlns:a16="http://schemas.microsoft.com/office/drawing/2014/main" id="{31CDB564-8BEC-BED3-87AE-CBA2265BDF2A}"/>
              </a:ext>
            </a:extLst>
          </p:cNvPr>
          <p:cNvSpPr/>
          <p:nvPr/>
        </p:nvSpPr>
        <p:spPr>
          <a:xfrm>
            <a:off x="252213" y="3370358"/>
            <a:ext cx="6039730" cy="129586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Probability Function of a discrete random variable X is the function p(x) satisfying.</a:t>
            </a:r>
          </a:p>
          <a:p>
            <a:pPr lvl="0" algn="ctr">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P(x) = P(X = x)</a:t>
            </a:r>
          </a:p>
        </p:txBody>
      </p:sp>
    </p:spTree>
    <p:extLst>
      <p:ext uri="{BB962C8B-B14F-4D97-AF65-F5344CB8AC3E}">
        <p14:creationId xmlns:p14="http://schemas.microsoft.com/office/powerpoint/2010/main" val="166213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A042823-00BD-AF48-8E34-11E23D752D6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4F10614-D596-451A-7D8E-712664629446}"/>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9</a:t>
            </a:r>
          </a:p>
        </p:txBody>
      </p:sp>
      <p:sp>
        <p:nvSpPr>
          <p:cNvPr id="2" name="Title 1">
            <a:extLst>
              <a:ext uri="{FF2B5EF4-FFF2-40B4-BE49-F238E27FC236}">
                <a16:creationId xmlns:a16="http://schemas.microsoft.com/office/drawing/2014/main" id="{C6B1DFB1-CE3A-788F-AB00-B48CC5A8643D}"/>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Probability Distributions</a:t>
            </a:r>
          </a:p>
        </p:txBody>
      </p:sp>
      <p:sp>
        <p:nvSpPr>
          <p:cNvPr id="3" name="Rectangle 2">
            <a:extLst>
              <a:ext uri="{FF2B5EF4-FFF2-40B4-BE49-F238E27FC236}">
                <a16:creationId xmlns:a16="http://schemas.microsoft.com/office/drawing/2014/main" id="{4608DB8B-9959-DE99-E7B8-459B78F8B632}"/>
              </a:ext>
            </a:extLst>
          </p:cNvPr>
          <p:cNvSpPr/>
          <p:nvPr/>
        </p:nvSpPr>
        <p:spPr>
          <a:xfrm>
            <a:off x="254001" y="931958"/>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A probability distribution is a function that assigns probabilities to all possible outcomes of a random variable, showing the likelihood of each event.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It is used in statistics for modeling random phenomena and can be either discrete, which applies to outcomes that can be counted (like the number of heads in coin flips), or continuous, which applies to outcomes that can take any value within a range (like a person's height). </a:t>
            </a:r>
          </a:p>
          <a:p>
            <a:pPr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Types of Probability Distributions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There are two types of Probability Distributions: </a:t>
            </a:r>
          </a:p>
          <a:p>
            <a:pPr marL="536575" lvl="0" indent="-268288" algn="just">
              <a:lnSpc>
                <a:spcPct val="150000"/>
              </a:lnSpc>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Discrete Probability Distributions for Discrete Variables</a:t>
            </a:r>
          </a:p>
          <a:p>
            <a:pPr marL="536575" lvl="0" indent="-268288" algn="just">
              <a:lnSpc>
                <a:spcPct val="150000"/>
              </a:lnSpc>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Continuous Probability Distribution for Continuous Variables</a:t>
            </a:r>
          </a:p>
        </p:txBody>
      </p:sp>
    </p:spTree>
    <p:extLst>
      <p:ext uri="{BB962C8B-B14F-4D97-AF65-F5344CB8AC3E}">
        <p14:creationId xmlns:p14="http://schemas.microsoft.com/office/powerpoint/2010/main" val="1855554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3E647E5-C571-B14B-0885-9890606D120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F5ADFB2-3325-5EBB-E20B-B217A029CE4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10</a:t>
            </a:r>
          </a:p>
        </p:txBody>
      </p:sp>
      <p:sp>
        <p:nvSpPr>
          <p:cNvPr id="2" name="Title 1">
            <a:extLst>
              <a:ext uri="{FF2B5EF4-FFF2-40B4-BE49-F238E27FC236}">
                <a16:creationId xmlns:a16="http://schemas.microsoft.com/office/drawing/2014/main" id="{4A1E5A0F-FD85-961E-19A1-57D2D0DEDC01}"/>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Discrete Probability Distributions</a:t>
            </a:r>
          </a:p>
        </p:txBody>
      </p:sp>
      <p:sp>
        <p:nvSpPr>
          <p:cNvPr id="3" name="Rectangle 2">
            <a:extLst>
              <a:ext uri="{FF2B5EF4-FFF2-40B4-BE49-F238E27FC236}">
                <a16:creationId xmlns:a16="http://schemas.microsoft.com/office/drawing/2014/main" id="{0CF09B02-4858-64C1-3976-85660DAA6BCE}"/>
              </a:ext>
            </a:extLst>
          </p:cNvPr>
          <p:cNvSpPr/>
          <p:nvPr/>
        </p:nvSpPr>
        <p:spPr>
          <a:xfrm>
            <a:off x="254001" y="953729"/>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Discrete Probability Functions applies to discrete random variables, which take countable values (e.g., 0, 1, 2, …).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These distributions assign probabilities to individual outcomes. It includes distributions such as Bernoulli, Binomial, and Poisson, which are used to model outcomes that can be counted, as explained below:</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A discrete probability distribution describes the likelihood of each possible outcome for a discrete random variable. A discrete random variable is a variable that can take on a countable number of distinct values, typically whole numbers.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simpler terms, it’s a way to assign a probability to each value that the variable can have, showing how likely each outcome is.</a:t>
            </a:r>
          </a:p>
        </p:txBody>
      </p:sp>
    </p:spTree>
    <p:extLst>
      <p:ext uri="{BB962C8B-B14F-4D97-AF65-F5344CB8AC3E}">
        <p14:creationId xmlns:p14="http://schemas.microsoft.com/office/powerpoint/2010/main" val="1231231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FC81CF4-0097-E620-FFE4-BDA7C5AD709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23B966A-C800-BA1F-325C-DD182E68430C}"/>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11</a:t>
            </a:r>
          </a:p>
        </p:txBody>
      </p:sp>
      <p:sp>
        <p:nvSpPr>
          <p:cNvPr id="2" name="Title 1">
            <a:extLst>
              <a:ext uri="{FF2B5EF4-FFF2-40B4-BE49-F238E27FC236}">
                <a16:creationId xmlns:a16="http://schemas.microsoft.com/office/drawing/2014/main" id="{39533282-5958-FB71-2D76-1E7C867DDDEE}"/>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Discrete Probability Distributions</a:t>
            </a:r>
          </a:p>
        </p:txBody>
      </p:sp>
      <p:sp>
        <p:nvSpPr>
          <p:cNvPr id="3" name="Rectangle 2">
            <a:extLst>
              <a:ext uri="{FF2B5EF4-FFF2-40B4-BE49-F238E27FC236}">
                <a16:creationId xmlns:a16="http://schemas.microsoft.com/office/drawing/2014/main" id="{90F3FA00-219A-5FF3-AD49-0C7F3C228D7C}"/>
              </a:ext>
            </a:extLst>
          </p:cNvPr>
          <p:cNvSpPr/>
          <p:nvPr/>
        </p:nvSpPr>
        <p:spPr>
          <a:xfrm>
            <a:off x="254001" y="953729"/>
            <a:ext cx="8639575" cy="337335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common examples of discrete probability distributions include Bernoulli, Binomial, Poisson, and Geometric distributions.</a:t>
            </a:r>
          </a:p>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Conditions for the discrete probability distribution are:</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probability of a discrete random variable lies between 0 and 1: 0 ≤ P (X = x) ≤ 1</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Sum of Probabilities is always equal to 1: ∑ P (X =x) = 1</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Example: </a:t>
            </a:r>
            <a:r>
              <a:rPr lang="en-US" sz="1800" dirty="0">
                <a:latin typeface="Calibri" panose="020F0502020204030204" pitchFamily="34" charset="0"/>
                <a:ea typeface="Calibri" panose="020F0502020204030204" pitchFamily="34" charset="0"/>
                <a:cs typeface="Calibri" panose="020F0502020204030204" pitchFamily="34" charset="0"/>
              </a:rPr>
              <a:t>Let two coins be tossed; then the probability of getting a tail is an example of a discrete probability distribution. The sample space for the given event is {HH, HT, TH, TT}, and let X be the number of tails. </a:t>
            </a:r>
          </a:p>
        </p:txBody>
      </p:sp>
      <p:sp>
        <p:nvSpPr>
          <p:cNvPr id="4" name="Rectangle 3">
            <a:extLst>
              <a:ext uri="{FF2B5EF4-FFF2-40B4-BE49-F238E27FC236}">
                <a16:creationId xmlns:a16="http://schemas.microsoft.com/office/drawing/2014/main" id="{9868F17A-055D-3145-68F8-6711532C0C7D}"/>
              </a:ext>
            </a:extLst>
          </p:cNvPr>
          <p:cNvSpPr/>
          <p:nvPr/>
        </p:nvSpPr>
        <p:spPr>
          <a:xfrm>
            <a:off x="259470" y="4132717"/>
            <a:ext cx="5553501" cy="88036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Then, the discrete probability distribution table is given by:</a:t>
            </a:r>
          </a:p>
        </p:txBody>
      </p:sp>
      <p:pic>
        <p:nvPicPr>
          <p:cNvPr id="6" name="Picture 5">
            <a:extLst>
              <a:ext uri="{FF2B5EF4-FFF2-40B4-BE49-F238E27FC236}">
                <a16:creationId xmlns:a16="http://schemas.microsoft.com/office/drawing/2014/main" id="{C23D4003-E75C-8331-683C-AEF27066A21B}"/>
              </a:ext>
            </a:extLst>
          </p:cNvPr>
          <p:cNvPicPr>
            <a:picLocks noChangeAspect="1"/>
          </p:cNvPicPr>
          <p:nvPr/>
        </p:nvPicPr>
        <p:blipFill>
          <a:blip r:embed="rId3"/>
          <a:stretch>
            <a:fillRect/>
          </a:stretch>
        </p:blipFill>
        <p:spPr>
          <a:xfrm>
            <a:off x="5979886" y="3911590"/>
            <a:ext cx="2910114" cy="1043440"/>
          </a:xfrm>
          <a:prstGeom prst="rect">
            <a:avLst/>
          </a:prstGeom>
        </p:spPr>
      </p:pic>
    </p:spTree>
    <p:extLst>
      <p:ext uri="{BB962C8B-B14F-4D97-AF65-F5344CB8AC3E}">
        <p14:creationId xmlns:p14="http://schemas.microsoft.com/office/powerpoint/2010/main" val="1542824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C21BE20-8B40-EFF4-D20C-0E31C66D063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5824E2A-B12D-D284-68AB-66FC4DF8F44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12</a:t>
            </a:r>
          </a:p>
        </p:txBody>
      </p:sp>
      <p:sp>
        <p:nvSpPr>
          <p:cNvPr id="2" name="Title 1">
            <a:extLst>
              <a:ext uri="{FF2B5EF4-FFF2-40B4-BE49-F238E27FC236}">
                <a16:creationId xmlns:a16="http://schemas.microsoft.com/office/drawing/2014/main" id="{ADA2A03D-C085-9413-A5A4-6182D6031EBF}"/>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Discrete Probability Distributions</a:t>
            </a:r>
          </a:p>
        </p:txBody>
      </p:sp>
      <p:sp>
        <p:nvSpPr>
          <p:cNvPr id="3" name="Rectangle 2">
            <a:extLst>
              <a:ext uri="{FF2B5EF4-FFF2-40B4-BE49-F238E27FC236}">
                <a16:creationId xmlns:a16="http://schemas.microsoft.com/office/drawing/2014/main" id="{EDF76BDF-2970-0D06-E8DF-09225C2FD43C}"/>
              </a:ext>
            </a:extLst>
          </p:cNvPr>
          <p:cNvSpPr/>
          <p:nvPr/>
        </p:nvSpPr>
        <p:spPr>
          <a:xfrm>
            <a:off x="254001" y="953729"/>
            <a:ext cx="8639575" cy="4204356"/>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Discrete Probability Distribution Formulas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different formulas for the discrete probability distribution, like the probability mass function, the cumulative distribution function, and the mean and variance, are given below.</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PMF of Discrete Probability Distribution: </a:t>
            </a:r>
            <a:r>
              <a:rPr lang="en-US" sz="1800" dirty="0">
                <a:latin typeface="Calibri" panose="020F0502020204030204" pitchFamily="34" charset="0"/>
                <a:ea typeface="Calibri" panose="020F0502020204030204" pitchFamily="34" charset="0"/>
                <a:cs typeface="Calibri" panose="020F0502020204030204" pitchFamily="34" charset="0"/>
              </a:rPr>
              <a:t>Probability Mass Function (PMF) of a discrete random variable X is the value completely equal to x. The PMF i.e., probability mass function of a discrete probability distribution is given by:</a:t>
            </a:r>
          </a:p>
          <a:p>
            <a:pPr lvl="0" algn="ctr">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f(x) = P (X = x)</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Example: </a:t>
            </a:r>
            <a:r>
              <a:rPr lang="en-US" sz="1800" dirty="0">
                <a:latin typeface="Calibri" panose="020F0502020204030204" pitchFamily="34" charset="0"/>
                <a:ea typeface="Calibri" panose="020F0502020204030204" pitchFamily="34" charset="0"/>
                <a:cs typeface="Calibri" panose="020F0502020204030204" pitchFamily="34" charset="0"/>
              </a:rPr>
              <a:t>A discrete random variable X as the number of heads obtained when tossing two fair coins.</a:t>
            </a:r>
          </a:p>
        </p:txBody>
      </p:sp>
    </p:spTree>
    <p:extLst>
      <p:ext uri="{BB962C8B-B14F-4D97-AF65-F5344CB8AC3E}">
        <p14:creationId xmlns:p14="http://schemas.microsoft.com/office/powerpoint/2010/main" val="1343241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E167D44-33DE-3CC4-FEC0-5D50D5A2AC5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89F7BF3-839B-554B-F7FB-C83F7F831E7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13</a:t>
            </a:r>
          </a:p>
        </p:txBody>
      </p:sp>
      <p:sp>
        <p:nvSpPr>
          <p:cNvPr id="2" name="Title 1">
            <a:extLst>
              <a:ext uri="{FF2B5EF4-FFF2-40B4-BE49-F238E27FC236}">
                <a16:creationId xmlns:a16="http://schemas.microsoft.com/office/drawing/2014/main" id="{5BBB0E86-D7DD-9150-5AAE-FA75D83A66FC}"/>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Discrete Probability Distributions</a:t>
            </a:r>
          </a:p>
        </p:txBody>
      </p:sp>
      <p:sp>
        <p:nvSpPr>
          <p:cNvPr id="3" name="Rectangle 2">
            <a:extLst>
              <a:ext uri="{FF2B5EF4-FFF2-40B4-BE49-F238E27FC236}">
                <a16:creationId xmlns:a16="http://schemas.microsoft.com/office/drawing/2014/main" id="{77098AA1-597E-CDC0-3AB7-4AAA8346ECA4}"/>
              </a:ext>
            </a:extLst>
          </p:cNvPr>
          <p:cNvSpPr/>
          <p:nvPr/>
        </p:nvSpPr>
        <p:spPr>
          <a:xfrm>
            <a:off x="254001" y="953729"/>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A discrete random variable X as the number of heads obtained when tossing two fair coins.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Possible Outcomes:</a:t>
            </a:r>
          </a:p>
          <a:p>
            <a:pPr marL="536575" lvl="0" indent="-26828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HH → 2 heads</a:t>
            </a:r>
          </a:p>
          <a:p>
            <a:pPr marL="536575" lvl="0" indent="-26828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HT, TH → 1 head</a:t>
            </a:r>
          </a:p>
          <a:p>
            <a:pPr marL="536575" lvl="0" indent="-26828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TT → 0 heads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Then PMFs are given as: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Properties of PMF:</a:t>
            </a:r>
          </a:p>
          <a:p>
            <a:pPr marL="536575"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sum of all probabilities must always equal 1. i.e. </a:t>
            </a:r>
            <a:r>
              <a:rPr lang="en-IN" sz="1800" b="1" dirty="0">
                <a:latin typeface="Calibri" panose="020F0502020204030204" pitchFamily="34" charset="0"/>
                <a:ea typeface="Calibri" panose="020F0502020204030204" pitchFamily="34" charset="0"/>
                <a:cs typeface="Calibri" panose="020F0502020204030204" pitchFamily="34" charset="0"/>
              </a:rPr>
              <a:t>∑</a:t>
            </a:r>
            <a:r>
              <a:rPr lang="en-IN" sz="1800" b="1" i="1" dirty="0">
                <a:latin typeface="Calibri" panose="020F0502020204030204" pitchFamily="34" charset="0"/>
                <a:ea typeface="Calibri" panose="020F0502020204030204" pitchFamily="34" charset="0"/>
                <a:cs typeface="Calibri" panose="020F0502020204030204" pitchFamily="34" charset="0"/>
              </a:rPr>
              <a:t>P</a:t>
            </a:r>
            <a:r>
              <a:rPr lang="en-IN" sz="1800" b="1" dirty="0">
                <a:latin typeface="Calibri" panose="020F0502020204030204" pitchFamily="34" charset="0"/>
                <a:ea typeface="Calibri" panose="020F0502020204030204" pitchFamily="34" charset="0"/>
                <a:cs typeface="Calibri" panose="020F0502020204030204" pitchFamily="34" charset="0"/>
              </a:rPr>
              <a:t>(</a:t>
            </a:r>
            <a:r>
              <a:rPr lang="en-IN" sz="1800" b="1" i="1" dirty="0">
                <a:latin typeface="Calibri" panose="020F0502020204030204" pitchFamily="34" charset="0"/>
                <a:ea typeface="Calibri" panose="020F0502020204030204" pitchFamily="34" charset="0"/>
                <a:cs typeface="Calibri" panose="020F0502020204030204" pitchFamily="34" charset="0"/>
              </a:rPr>
              <a:t>X</a:t>
            </a:r>
            <a:r>
              <a:rPr lang="en-IN" sz="1800" b="1" dirty="0">
                <a:latin typeface="Calibri" panose="020F0502020204030204" pitchFamily="34" charset="0"/>
                <a:ea typeface="Calibri" panose="020F0502020204030204" pitchFamily="34" charset="0"/>
                <a:cs typeface="Calibri" panose="020F0502020204030204" pitchFamily="34" charset="0"/>
              </a:rPr>
              <a:t>=</a:t>
            </a:r>
            <a:r>
              <a:rPr lang="en-IN" sz="1800" b="1" i="1" dirty="0">
                <a:latin typeface="Calibri" panose="020F0502020204030204" pitchFamily="34" charset="0"/>
                <a:ea typeface="Calibri" panose="020F0502020204030204" pitchFamily="34" charset="0"/>
                <a:cs typeface="Calibri" panose="020F0502020204030204" pitchFamily="34" charset="0"/>
              </a:rPr>
              <a:t>x</a:t>
            </a:r>
            <a:r>
              <a:rPr lang="en-IN" sz="1800" b="1" dirty="0">
                <a:latin typeface="Calibri" panose="020F0502020204030204" pitchFamily="34" charset="0"/>
                <a:ea typeface="Calibri" panose="020F0502020204030204" pitchFamily="34" charset="0"/>
                <a:cs typeface="Calibri" panose="020F0502020204030204" pitchFamily="34" charset="0"/>
              </a:rPr>
              <a:t>)=1</a:t>
            </a:r>
            <a:endParaRPr lang="en-US" sz="1800" b="1" dirty="0">
              <a:latin typeface="Calibri" panose="020F0502020204030204" pitchFamily="34" charset="0"/>
              <a:ea typeface="Calibri" panose="020F0502020204030204" pitchFamily="34" charset="0"/>
              <a:cs typeface="Calibri" panose="020F0502020204030204" pitchFamily="34" charset="0"/>
            </a:endParaRPr>
          </a:p>
          <a:p>
            <a:pPr marL="536575" indent="-285750" algn="just">
              <a:lnSpc>
                <a:spcPct val="150000"/>
              </a:lnSpc>
              <a:buFont typeface="Arial" panose="020B0604020202020204" pitchFamily="34" charset="0"/>
              <a:buChar char="•"/>
            </a:pPr>
            <a:r>
              <a:rPr lang="en-IN" sz="1800" b="1" dirty="0">
                <a:latin typeface="Calibri" panose="020F0502020204030204" pitchFamily="34" charset="0"/>
                <a:ea typeface="Calibri" panose="020F0502020204030204" pitchFamily="34" charset="0"/>
                <a:cs typeface="Calibri" panose="020F0502020204030204" pitchFamily="34" charset="0"/>
              </a:rPr>
              <a:t>P(X = x) ≥ 0</a:t>
            </a:r>
          </a:p>
        </p:txBody>
      </p:sp>
      <p:pic>
        <p:nvPicPr>
          <p:cNvPr id="5" name="Picture 4">
            <a:extLst>
              <a:ext uri="{FF2B5EF4-FFF2-40B4-BE49-F238E27FC236}">
                <a16:creationId xmlns:a16="http://schemas.microsoft.com/office/drawing/2014/main" id="{86709EDC-C327-6376-C270-E49D56D6AAF5}"/>
              </a:ext>
            </a:extLst>
          </p:cNvPr>
          <p:cNvPicPr>
            <a:picLocks noChangeAspect="1"/>
          </p:cNvPicPr>
          <p:nvPr/>
        </p:nvPicPr>
        <p:blipFill>
          <a:blip r:embed="rId3"/>
          <a:stretch>
            <a:fillRect/>
          </a:stretch>
        </p:blipFill>
        <p:spPr>
          <a:xfrm>
            <a:off x="3962401" y="1437689"/>
            <a:ext cx="4927598" cy="2957861"/>
          </a:xfrm>
          <a:prstGeom prst="rect">
            <a:avLst/>
          </a:prstGeom>
        </p:spPr>
      </p:pic>
      <p:cxnSp>
        <p:nvCxnSpPr>
          <p:cNvPr id="8" name="Straight Arrow Connector 7">
            <a:extLst>
              <a:ext uri="{FF2B5EF4-FFF2-40B4-BE49-F238E27FC236}">
                <a16:creationId xmlns:a16="http://schemas.microsoft.com/office/drawing/2014/main" id="{FDCD4212-7A63-3F53-24AA-6DEE21BD1719}"/>
              </a:ext>
            </a:extLst>
          </p:cNvPr>
          <p:cNvCxnSpPr/>
          <p:nvPr/>
        </p:nvCxnSpPr>
        <p:spPr>
          <a:xfrm flipV="1">
            <a:off x="2931886" y="2859314"/>
            <a:ext cx="1030515" cy="8781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6488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CE3507A-9DC2-F884-AB7E-AC714BA3FC3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9098CEC-7E4E-0471-4CE1-CC98649DB298}"/>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14</a:t>
            </a:r>
          </a:p>
        </p:txBody>
      </p:sp>
      <p:sp>
        <p:nvSpPr>
          <p:cNvPr id="2" name="Title 1">
            <a:extLst>
              <a:ext uri="{FF2B5EF4-FFF2-40B4-BE49-F238E27FC236}">
                <a16:creationId xmlns:a16="http://schemas.microsoft.com/office/drawing/2014/main" id="{689DB23F-B3B0-4CEC-4985-0E1B581DBC31}"/>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Discrete Probability Distributions</a:t>
            </a:r>
          </a:p>
        </p:txBody>
      </p:sp>
      <p:sp>
        <p:nvSpPr>
          <p:cNvPr id="3" name="Rectangle 2">
            <a:extLst>
              <a:ext uri="{FF2B5EF4-FFF2-40B4-BE49-F238E27FC236}">
                <a16:creationId xmlns:a16="http://schemas.microsoft.com/office/drawing/2014/main" id="{4F07A64B-BA47-AA32-A23E-8A70C5C408AC}"/>
              </a:ext>
            </a:extLst>
          </p:cNvPr>
          <p:cNvSpPr/>
          <p:nvPr/>
        </p:nvSpPr>
        <p:spPr>
          <a:xfrm>
            <a:off x="254001" y="953729"/>
            <a:ext cx="8639575" cy="3788858"/>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Cumulative Distribution Function (CDF) of Discrete Probability Distribution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CDF of a discrete random variable X is less than or equal to value x. The CDF i.e., cumulative distribution function of discrete probability distribution is given by:</a:t>
            </a:r>
          </a:p>
          <a:p>
            <a:pPr lvl="0" algn="ctr">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f(x) = P (X ≤ x)</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Example: </a:t>
            </a:r>
            <a:r>
              <a:rPr lang="en-US" sz="1800" dirty="0">
                <a:latin typeface="Calibri" panose="020F0502020204030204" pitchFamily="34" charset="0"/>
                <a:ea typeface="Calibri" panose="020F0502020204030204" pitchFamily="34" charset="0"/>
                <a:cs typeface="Calibri" panose="020F0502020204030204" pitchFamily="34" charset="0"/>
              </a:rPr>
              <a:t>A random variable X as the outcome of rolling a fair 4-sided die. To find </a:t>
            </a:r>
            <a:r>
              <a:rPr lang="en-IN" sz="1800" i="1" dirty="0">
                <a:latin typeface="Calibri" panose="020F0502020204030204" pitchFamily="34" charset="0"/>
                <a:ea typeface="Calibri" panose="020F0502020204030204" pitchFamily="34" charset="0"/>
                <a:cs typeface="Calibri" panose="020F0502020204030204" pitchFamily="34" charset="0"/>
              </a:rPr>
              <a:t>P</a:t>
            </a:r>
            <a:r>
              <a:rPr lang="en-IN" sz="1800" dirty="0">
                <a:latin typeface="Calibri" panose="020F0502020204030204" pitchFamily="34" charset="0"/>
                <a:ea typeface="Calibri" panose="020F0502020204030204" pitchFamily="34" charset="0"/>
                <a:cs typeface="Calibri" panose="020F0502020204030204" pitchFamily="34" charset="0"/>
              </a:rPr>
              <a:t>(1&lt;</a:t>
            </a:r>
            <a:r>
              <a:rPr lang="en-IN" sz="1800" i="1" dirty="0">
                <a:latin typeface="Calibri" panose="020F0502020204030204" pitchFamily="34" charset="0"/>
                <a:ea typeface="Calibri" panose="020F0502020204030204" pitchFamily="34" charset="0"/>
                <a:cs typeface="Calibri" panose="020F0502020204030204" pitchFamily="34" charset="0"/>
              </a:rPr>
              <a:t>X</a:t>
            </a:r>
            <a:r>
              <a:rPr lang="en-IN" sz="1800" dirty="0">
                <a:latin typeface="Calibri" panose="020F0502020204030204" pitchFamily="34" charset="0"/>
                <a:ea typeface="Calibri" panose="020F0502020204030204" pitchFamily="34" charset="0"/>
                <a:cs typeface="Calibri" panose="020F0502020204030204" pitchFamily="34" charset="0"/>
              </a:rPr>
              <a:t>≤3)</a:t>
            </a:r>
            <a:r>
              <a:rPr lang="en-IN" sz="1800" i="1" dirty="0">
                <a:latin typeface="Calibri" panose="020F0502020204030204" pitchFamily="34" charset="0"/>
                <a:ea typeface="Calibri" panose="020F0502020204030204" pitchFamily="34" charset="0"/>
                <a:cs typeface="Calibri" panose="020F0502020204030204" pitchFamily="34" charset="0"/>
              </a:rPr>
              <a:t>:</a:t>
            </a:r>
          </a:p>
          <a:p>
            <a:pPr marL="285750" lvl="0" indent="-285750" algn="just">
              <a:lnSpc>
                <a:spcPct val="150000"/>
              </a:lnSpc>
              <a:buFont typeface="Wingdings" panose="05000000000000000000" pitchFamily="2" charset="2"/>
              <a:buChar char="Ø"/>
            </a:pPr>
            <a:endParaRPr lang="en-IN" sz="1800" b="1" i="1" dirty="0">
              <a:latin typeface="Calibri" panose="020F0502020204030204" pitchFamily="34" charset="0"/>
              <a:ea typeface="Calibri" panose="020F0502020204030204" pitchFamily="34" charset="0"/>
              <a:cs typeface="Calibri" panose="020F0502020204030204" pitchFamily="34" charset="0"/>
            </a:endParaRPr>
          </a:p>
          <a:p>
            <a:pPr lvl="0" algn="just">
              <a:lnSpc>
                <a:spcPct val="150000"/>
              </a:lnSpc>
            </a:pPr>
            <a:r>
              <a:rPr lang="en-IN" sz="1800" b="1" i="1" dirty="0">
                <a:latin typeface="Calibri" panose="020F0502020204030204" pitchFamily="34" charset="0"/>
                <a:ea typeface="Calibri" panose="020F0502020204030204" pitchFamily="34" charset="0"/>
                <a:cs typeface="Calibri" panose="020F0502020204030204" pitchFamily="34" charset="0"/>
              </a:rPr>
              <a:t>                    P</a:t>
            </a:r>
            <a:r>
              <a:rPr lang="en-IN" sz="1800" b="1" dirty="0">
                <a:latin typeface="Calibri" panose="020F0502020204030204" pitchFamily="34" charset="0"/>
                <a:ea typeface="Calibri" panose="020F0502020204030204" pitchFamily="34" charset="0"/>
                <a:cs typeface="Calibri" panose="020F0502020204030204" pitchFamily="34" charset="0"/>
              </a:rPr>
              <a:t>(1&lt;</a:t>
            </a:r>
            <a:r>
              <a:rPr lang="en-IN" sz="1800" b="1" i="1" dirty="0">
                <a:latin typeface="Calibri" panose="020F0502020204030204" pitchFamily="34" charset="0"/>
                <a:ea typeface="Calibri" panose="020F0502020204030204" pitchFamily="34" charset="0"/>
                <a:cs typeface="Calibri" panose="020F0502020204030204" pitchFamily="34" charset="0"/>
              </a:rPr>
              <a:t>X</a:t>
            </a:r>
            <a:r>
              <a:rPr lang="en-IN" sz="1800" b="1" dirty="0">
                <a:latin typeface="Calibri" panose="020F0502020204030204" pitchFamily="34" charset="0"/>
                <a:ea typeface="Calibri" panose="020F0502020204030204" pitchFamily="34" charset="0"/>
                <a:cs typeface="Calibri" panose="020F0502020204030204" pitchFamily="34" charset="0"/>
              </a:rPr>
              <a:t>≤3) = </a:t>
            </a:r>
            <a:r>
              <a:rPr lang="en-IN" sz="1800" b="1" i="1" dirty="0">
                <a:latin typeface="Calibri" panose="020F0502020204030204" pitchFamily="34" charset="0"/>
                <a:ea typeface="Calibri" panose="020F0502020204030204" pitchFamily="34" charset="0"/>
                <a:cs typeface="Calibri" panose="020F0502020204030204" pitchFamily="34" charset="0"/>
              </a:rPr>
              <a:t>F</a:t>
            </a:r>
            <a:r>
              <a:rPr lang="en-IN" sz="1800" b="1" dirty="0">
                <a:latin typeface="Calibri" panose="020F0502020204030204" pitchFamily="34" charset="0"/>
                <a:ea typeface="Calibri" panose="020F0502020204030204" pitchFamily="34" charset="0"/>
                <a:cs typeface="Calibri" panose="020F0502020204030204" pitchFamily="34" charset="0"/>
              </a:rPr>
              <a:t>(3)−</a:t>
            </a:r>
            <a:r>
              <a:rPr lang="en-IN" sz="1800" b="1" i="1" dirty="0">
                <a:latin typeface="Calibri" panose="020F0502020204030204" pitchFamily="34" charset="0"/>
                <a:ea typeface="Calibri" panose="020F0502020204030204" pitchFamily="34" charset="0"/>
                <a:cs typeface="Calibri" panose="020F0502020204030204" pitchFamily="34" charset="0"/>
              </a:rPr>
              <a:t>F</a:t>
            </a:r>
            <a:r>
              <a:rPr lang="en-IN" sz="1800" b="1" dirty="0">
                <a:latin typeface="Calibri" panose="020F0502020204030204" pitchFamily="34" charset="0"/>
                <a:ea typeface="Calibri" panose="020F0502020204030204" pitchFamily="34" charset="0"/>
                <a:cs typeface="Calibri" panose="020F0502020204030204" pitchFamily="34" charset="0"/>
              </a:rPr>
              <a:t>(1) = 0.7−0.2 = 0.5</a:t>
            </a:r>
            <a:endParaRPr lang="en-IN" sz="1800" b="1" i="1"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40D9F120-8851-D215-014F-D4318AA9B540}"/>
              </a:ext>
            </a:extLst>
          </p:cNvPr>
          <p:cNvGraphicFramePr>
            <a:graphicFrameLocks noGrp="1"/>
          </p:cNvGraphicFramePr>
          <p:nvPr>
            <p:extLst>
              <p:ext uri="{D42A27DB-BD31-4B8C-83A1-F6EECF244321}">
                <p14:modId xmlns:p14="http://schemas.microsoft.com/office/powerpoint/2010/main" val="3508238410"/>
              </p:ext>
            </p:extLst>
          </p:nvPr>
        </p:nvGraphicFramePr>
        <p:xfrm>
          <a:off x="5566228" y="3006180"/>
          <a:ext cx="3243943" cy="2057400"/>
        </p:xfrm>
        <a:graphic>
          <a:graphicData uri="http://schemas.openxmlformats.org/drawingml/2006/table">
            <a:tbl>
              <a:tblPr/>
              <a:tblGrid>
                <a:gridCol w="667658">
                  <a:extLst>
                    <a:ext uri="{9D8B030D-6E8A-4147-A177-3AD203B41FA5}">
                      <a16:colId xmlns:a16="http://schemas.microsoft.com/office/drawing/2014/main" val="2817432789"/>
                    </a:ext>
                  </a:extLst>
                </a:gridCol>
                <a:gridCol w="965200">
                  <a:extLst>
                    <a:ext uri="{9D8B030D-6E8A-4147-A177-3AD203B41FA5}">
                      <a16:colId xmlns:a16="http://schemas.microsoft.com/office/drawing/2014/main" val="3270947704"/>
                    </a:ext>
                  </a:extLst>
                </a:gridCol>
                <a:gridCol w="1611085">
                  <a:extLst>
                    <a:ext uri="{9D8B030D-6E8A-4147-A177-3AD203B41FA5}">
                      <a16:colId xmlns:a16="http://schemas.microsoft.com/office/drawing/2014/main" val="80044882"/>
                    </a:ext>
                  </a:extLst>
                </a:gridCol>
              </a:tblGrid>
              <a:tr h="319919">
                <a:tc>
                  <a:txBody>
                    <a:bodyPr/>
                    <a:lstStyle/>
                    <a:p>
                      <a:pPr algn="ctr" rtl="0" fontAlgn="base">
                        <a:spcAft>
                          <a:spcPts val="750"/>
                        </a:spcAft>
                        <a:buNone/>
                      </a:pPr>
                      <a:r>
                        <a:rPr lang="en-IN" sz="16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X</a:t>
                      </a:r>
                    </a:p>
                  </a:txBody>
                  <a:tcPr marL="38100" marR="38100" marT="63500" marB="635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F9F9"/>
                    </a:solidFill>
                  </a:tcPr>
                </a:tc>
                <a:tc>
                  <a:txBody>
                    <a:bodyPr/>
                    <a:lstStyle/>
                    <a:p>
                      <a:pPr algn="ctr" rtl="0" fontAlgn="base">
                        <a:spcAft>
                          <a:spcPts val="750"/>
                        </a:spcAft>
                        <a:buNone/>
                      </a:pPr>
                      <a:r>
                        <a:rPr lang="en-IN" sz="1600" b="1">
                          <a:solidFill>
                            <a:schemeClr val="bg2"/>
                          </a:solidFill>
                          <a:effectLst/>
                          <a:latin typeface="Calibri" panose="020F0502020204030204" pitchFamily="34" charset="0"/>
                          <a:ea typeface="Calibri" panose="020F0502020204030204" pitchFamily="34" charset="0"/>
                          <a:cs typeface="Calibri" panose="020F0502020204030204" pitchFamily="34" charset="0"/>
                        </a:rPr>
                        <a:t>PMF</a:t>
                      </a:r>
                    </a:p>
                  </a:txBody>
                  <a:tcPr marL="63500" marR="63500" marT="63500" marB="635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F9F9"/>
                    </a:solidFill>
                  </a:tcPr>
                </a:tc>
                <a:tc>
                  <a:txBody>
                    <a:bodyPr/>
                    <a:lstStyle/>
                    <a:p>
                      <a:pPr algn="ctr" rtl="0" fontAlgn="base">
                        <a:spcAft>
                          <a:spcPts val="750"/>
                        </a:spcAft>
                        <a:buNone/>
                      </a:pPr>
                      <a:r>
                        <a:rPr lang="en-IN" sz="1600" b="1">
                          <a:solidFill>
                            <a:schemeClr val="bg2"/>
                          </a:solidFill>
                          <a:effectLst/>
                          <a:latin typeface="Calibri" panose="020F0502020204030204" pitchFamily="34" charset="0"/>
                          <a:ea typeface="Calibri" panose="020F0502020204030204" pitchFamily="34" charset="0"/>
                          <a:cs typeface="Calibri" panose="020F0502020204030204" pitchFamily="34" charset="0"/>
                        </a:rPr>
                        <a:t>CDF</a:t>
                      </a:r>
                    </a:p>
                  </a:txBody>
                  <a:tcPr marL="63500" marR="63500" marT="63500" marB="635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F9F9"/>
                    </a:solidFill>
                  </a:tcPr>
                </a:tc>
                <a:extLst>
                  <a:ext uri="{0D108BD9-81ED-4DB2-BD59-A6C34878D82A}">
                    <a16:rowId xmlns:a16="http://schemas.microsoft.com/office/drawing/2014/main" val="865346234"/>
                  </a:ext>
                </a:extLst>
              </a:tr>
              <a:tr h="299184">
                <a:tc>
                  <a:txBody>
                    <a:bodyPr/>
                    <a:lstStyle/>
                    <a:p>
                      <a:pPr algn="ctr" fontAlgn="base">
                        <a:spcAft>
                          <a:spcPts val="750"/>
                        </a:spcAft>
                        <a:buNone/>
                      </a:pPr>
                      <a:r>
                        <a:rPr lang="en-IN" sz="1600" b="1">
                          <a:solidFill>
                            <a:schemeClr val="bg2"/>
                          </a:solidFill>
                          <a:effectLst/>
                          <a:latin typeface="Calibri" panose="020F0502020204030204" pitchFamily="34" charset="0"/>
                          <a:ea typeface="Calibri" panose="020F0502020204030204" pitchFamily="34" charset="0"/>
                          <a:cs typeface="Calibri" panose="020F0502020204030204" pitchFamily="34" charset="0"/>
                        </a:rPr>
                        <a:t>1</a:t>
                      </a:r>
                    </a:p>
                  </a:txBody>
                  <a:tcPr marL="38100" marR="38100" marT="12859" marB="12859"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F9F9"/>
                    </a:solidFill>
                  </a:tcPr>
                </a:tc>
                <a:tc>
                  <a:txBody>
                    <a:bodyPr/>
                    <a:lstStyle/>
                    <a:p>
                      <a:pPr algn="ctr" fontAlgn="base">
                        <a:spcAft>
                          <a:spcPts val="750"/>
                        </a:spcAft>
                        <a:buNone/>
                      </a:pPr>
                      <a:r>
                        <a:rPr lang="en-IN" sz="1600" b="0">
                          <a:solidFill>
                            <a:schemeClr val="bg2"/>
                          </a:solidFill>
                          <a:effectLst/>
                          <a:latin typeface="Calibri" panose="020F0502020204030204" pitchFamily="34" charset="0"/>
                          <a:ea typeface="Calibri" panose="020F0502020204030204" pitchFamily="34" charset="0"/>
                          <a:cs typeface="Calibri" panose="020F0502020204030204" pitchFamily="34" charset="0"/>
                        </a:rPr>
                        <a:t>0.2</a:t>
                      </a:r>
                    </a:p>
                  </a:txBody>
                  <a:tcPr marL="63500" marR="63500" marT="88900" marB="889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base">
                        <a:spcAft>
                          <a:spcPts val="750"/>
                        </a:spcAft>
                        <a:buNone/>
                      </a:pPr>
                      <a:r>
                        <a:rPr lang="en-IN" sz="1600" b="0">
                          <a:solidFill>
                            <a:schemeClr val="bg2"/>
                          </a:solidFill>
                          <a:effectLst/>
                          <a:latin typeface="Calibri" panose="020F0502020204030204" pitchFamily="34" charset="0"/>
                          <a:ea typeface="Calibri" panose="020F0502020204030204" pitchFamily="34" charset="0"/>
                          <a:cs typeface="Calibri" panose="020F0502020204030204" pitchFamily="34" charset="0"/>
                        </a:rPr>
                        <a:t>0.2</a:t>
                      </a:r>
                    </a:p>
                  </a:txBody>
                  <a:tcPr marL="63500" marR="63500" marT="88900" marB="889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extLst>
                  <a:ext uri="{0D108BD9-81ED-4DB2-BD59-A6C34878D82A}">
                    <a16:rowId xmlns:a16="http://schemas.microsoft.com/office/drawing/2014/main" val="740687503"/>
                  </a:ext>
                </a:extLst>
              </a:tr>
              <a:tr h="360415">
                <a:tc>
                  <a:txBody>
                    <a:bodyPr/>
                    <a:lstStyle/>
                    <a:p>
                      <a:pPr algn="ctr" fontAlgn="base">
                        <a:spcAft>
                          <a:spcPts val="750"/>
                        </a:spcAft>
                        <a:buNone/>
                      </a:pPr>
                      <a:r>
                        <a:rPr lang="en-IN" sz="1600" b="1">
                          <a:solidFill>
                            <a:schemeClr val="bg2"/>
                          </a:solidFill>
                          <a:effectLst/>
                          <a:latin typeface="Calibri" panose="020F0502020204030204" pitchFamily="34" charset="0"/>
                          <a:ea typeface="Calibri" panose="020F0502020204030204" pitchFamily="34" charset="0"/>
                          <a:cs typeface="Calibri" panose="020F0502020204030204" pitchFamily="34" charset="0"/>
                        </a:rPr>
                        <a:t>2</a:t>
                      </a:r>
                    </a:p>
                  </a:txBody>
                  <a:tcPr marL="38100" marR="38100" marT="12859" marB="12859"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F9F9"/>
                    </a:solidFill>
                  </a:tcPr>
                </a:tc>
                <a:tc>
                  <a:txBody>
                    <a:bodyPr/>
                    <a:lstStyle/>
                    <a:p>
                      <a:pPr algn="ctr" fontAlgn="base">
                        <a:spcAft>
                          <a:spcPts val="750"/>
                        </a:spcAft>
                        <a:buNone/>
                      </a:pPr>
                      <a:r>
                        <a:rPr lang="en-IN" sz="1600" b="0">
                          <a:solidFill>
                            <a:schemeClr val="bg2"/>
                          </a:solidFill>
                          <a:effectLst/>
                          <a:latin typeface="Calibri" panose="020F0502020204030204" pitchFamily="34" charset="0"/>
                          <a:ea typeface="Calibri" panose="020F0502020204030204" pitchFamily="34" charset="0"/>
                          <a:cs typeface="Calibri" panose="020F0502020204030204" pitchFamily="34" charset="0"/>
                        </a:rPr>
                        <a:t>0.3</a:t>
                      </a:r>
                    </a:p>
                  </a:txBody>
                  <a:tcPr marL="63500" marR="63500" marT="88900" marB="889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ase">
                        <a:spcAft>
                          <a:spcPts val="750"/>
                        </a:spcAft>
                        <a:buNone/>
                      </a:pPr>
                      <a:r>
                        <a:rPr lang="en-IN" sz="1600" b="0">
                          <a:solidFill>
                            <a:schemeClr val="bg2"/>
                          </a:solidFill>
                          <a:effectLst/>
                          <a:latin typeface="Calibri" panose="020F0502020204030204" pitchFamily="34" charset="0"/>
                          <a:ea typeface="Calibri" panose="020F0502020204030204" pitchFamily="34" charset="0"/>
                          <a:cs typeface="Calibri" panose="020F0502020204030204" pitchFamily="34" charset="0"/>
                        </a:rPr>
                        <a:t>0.2+0.3 = 0.5</a:t>
                      </a:r>
                    </a:p>
                  </a:txBody>
                  <a:tcPr marL="63500" marR="63500" marT="88900" marB="889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177988895"/>
                  </a:ext>
                </a:extLst>
              </a:tr>
              <a:tr h="360415">
                <a:tc>
                  <a:txBody>
                    <a:bodyPr/>
                    <a:lstStyle/>
                    <a:p>
                      <a:pPr algn="ctr" fontAlgn="base">
                        <a:spcAft>
                          <a:spcPts val="750"/>
                        </a:spcAft>
                        <a:buNone/>
                      </a:pPr>
                      <a:r>
                        <a:rPr lang="en-IN" sz="1600" b="1">
                          <a:solidFill>
                            <a:schemeClr val="bg2"/>
                          </a:solidFill>
                          <a:effectLst/>
                          <a:latin typeface="Calibri" panose="020F0502020204030204" pitchFamily="34" charset="0"/>
                          <a:ea typeface="Calibri" panose="020F0502020204030204" pitchFamily="34" charset="0"/>
                          <a:cs typeface="Calibri" panose="020F0502020204030204" pitchFamily="34" charset="0"/>
                        </a:rPr>
                        <a:t>3</a:t>
                      </a:r>
                    </a:p>
                  </a:txBody>
                  <a:tcPr marL="38100" marR="38100" marT="12859" marB="12859"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F9F9"/>
                    </a:solidFill>
                  </a:tcPr>
                </a:tc>
                <a:tc>
                  <a:txBody>
                    <a:bodyPr/>
                    <a:lstStyle/>
                    <a:p>
                      <a:pPr algn="ctr" fontAlgn="base">
                        <a:spcAft>
                          <a:spcPts val="750"/>
                        </a:spcAft>
                        <a:buNone/>
                      </a:pPr>
                      <a:r>
                        <a:rPr lang="en-IN" sz="1600" b="0">
                          <a:solidFill>
                            <a:schemeClr val="bg2"/>
                          </a:solidFill>
                          <a:effectLst/>
                          <a:latin typeface="Calibri" panose="020F0502020204030204" pitchFamily="34" charset="0"/>
                          <a:ea typeface="Calibri" panose="020F0502020204030204" pitchFamily="34" charset="0"/>
                          <a:cs typeface="Calibri" panose="020F0502020204030204" pitchFamily="34" charset="0"/>
                        </a:rPr>
                        <a:t>0.2</a:t>
                      </a:r>
                    </a:p>
                  </a:txBody>
                  <a:tcPr marL="63500" marR="63500" marT="88900" marB="889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base">
                        <a:spcAft>
                          <a:spcPts val="750"/>
                        </a:spcAft>
                        <a:buNone/>
                      </a:pPr>
                      <a:r>
                        <a:rPr lang="en-IN" sz="1600" b="0">
                          <a:solidFill>
                            <a:schemeClr val="bg2"/>
                          </a:solidFill>
                          <a:effectLst/>
                          <a:latin typeface="Calibri" panose="020F0502020204030204" pitchFamily="34" charset="0"/>
                          <a:ea typeface="Calibri" panose="020F0502020204030204" pitchFamily="34" charset="0"/>
                          <a:cs typeface="Calibri" panose="020F0502020204030204" pitchFamily="34" charset="0"/>
                        </a:rPr>
                        <a:t>0.5+0.2 = 0.7</a:t>
                      </a:r>
                    </a:p>
                  </a:txBody>
                  <a:tcPr marL="63500" marR="63500" marT="88900" marB="889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extLst>
                  <a:ext uri="{0D108BD9-81ED-4DB2-BD59-A6C34878D82A}">
                    <a16:rowId xmlns:a16="http://schemas.microsoft.com/office/drawing/2014/main" val="402666901"/>
                  </a:ext>
                </a:extLst>
              </a:tr>
              <a:tr h="360415">
                <a:tc>
                  <a:txBody>
                    <a:bodyPr/>
                    <a:lstStyle/>
                    <a:p>
                      <a:pPr algn="ctr" fontAlgn="base">
                        <a:spcAft>
                          <a:spcPts val="750"/>
                        </a:spcAft>
                        <a:buNone/>
                      </a:pPr>
                      <a:r>
                        <a:rPr lang="en-IN" sz="1600" b="1">
                          <a:solidFill>
                            <a:schemeClr val="bg2"/>
                          </a:solidFill>
                          <a:effectLst/>
                          <a:latin typeface="Calibri" panose="020F0502020204030204" pitchFamily="34" charset="0"/>
                          <a:ea typeface="Calibri" panose="020F0502020204030204" pitchFamily="34" charset="0"/>
                          <a:cs typeface="Calibri" panose="020F0502020204030204" pitchFamily="34" charset="0"/>
                        </a:rPr>
                        <a:t>4</a:t>
                      </a:r>
                    </a:p>
                  </a:txBody>
                  <a:tcPr marL="38100" marR="38100" marT="12859" marB="12859"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F9F9"/>
                    </a:solidFill>
                  </a:tcPr>
                </a:tc>
                <a:tc>
                  <a:txBody>
                    <a:bodyPr/>
                    <a:lstStyle/>
                    <a:p>
                      <a:pPr algn="ctr" fontAlgn="base">
                        <a:spcAft>
                          <a:spcPts val="750"/>
                        </a:spcAft>
                        <a:buNone/>
                      </a:pPr>
                      <a:r>
                        <a:rPr lang="en-IN" sz="1600" b="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0.3</a:t>
                      </a:r>
                    </a:p>
                  </a:txBody>
                  <a:tcPr marL="63500" marR="63500" marT="88900" marB="889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ase">
                        <a:spcAft>
                          <a:spcPts val="750"/>
                        </a:spcAft>
                        <a:buNone/>
                      </a:pPr>
                      <a:r>
                        <a:rPr lang="en-IN" sz="1600" b="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0.7+0.3 = 1</a:t>
                      </a:r>
                    </a:p>
                  </a:txBody>
                  <a:tcPr marL="63500" marR="63500" marT="88900" marB="889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470308900"/>
                  </a:ext>
                </a:extLst>
              </a:tr>
            </a:tbl>
          </a:graphicData>
        </a:graphic>
      </p:graphicFrame>
    </p:spTree>
    <p:extLst>
      <p:ext uri="{BB962C8B-B14F-4D97-AF65-F5344CB8AC3E}">
        <p14:creationId xmlns:p14="http://schemas.microsoft.com/office/powerpoint/2010/main" val="1186484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D233C22-8D37-3DF7-B68A-F475F876FA3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3F6DE7C-A83B-B1BC-7D6C-BCBF47CEF70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15</a:t>
            </a:r>
          </a:p>
        </p:txBody>
      </p:sp>
      <p:sp>
        <p:nvSpPr>
          <p:cNvPr id="2" name="Title 1">
            <a:extLst>
              <a:ext uri="{FF2B5EF4-FFF2-40B4-BE49-F238E27FC236}">
                <a16:creationId xmlns:a16="http://schemas.microsoft.com/office/drawing/2014/main" id="{20DACED9-6BD8-A30F-8342-7B8AE3B04B1B}"/>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Discrete Probability Distributions</a:t>
            </a:r>
          </a:p>
        </p:txBody>
      </p:sp>
      <p:sp>
        <p:nvSpPr>
          <p:cNvPr id="3" name="Rectangle 2">
            <a:extLst>
              <a:ext uri="{FF2B5EF4-FFF2-40B4-BE49-F238E27FC236}">
                <a16:creationId xmlns:a16="http://schemas.microsoft.com/office/drawing/2014/main" id="{AC736EAB-4FDE-D444-4FE8-52405D92FB6E}"/>
              </a:ext>
            </a:extLst>
          </p:cNvPr>
          <p:cNvSpPr/>
          <p:nvPr/>
        </p:nvSpPr>
        <p:spPr>
          <a:xfrm>
            <a:off x="254001" y="953729"/>
            <a:ext cx="8639575" cy="3754233"/>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How to Find Discrete Probability Function</a:t>
            </a:r>
          </a:p>
          <a:p>
            <a:pPr marL="285750" lvl="0" indent="-285750" algn="just">
              <a:lnSpc>
                <a:spcPct val="20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Steps to find the discrete probability function are given below:</a:t>
            </a:r>
          </a:p>
          <a:p>
            <a:pPr marL="285750" lvl="0" indent="-285750" algn="just">
              <a:lnSpc>
                <a:spcPct val="20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Step 1: First determine the sample space of the given event.</a:t>
            </a:r>
          </a:p>
          <a:p>
            <a:pPr marL="285750" lvl="0" indent="-285750" algn="just">
              <a:lnSpc>
                <a:spcPct val="20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Step 2: Define random variable X as the event for which the probability to be found.</a:t>
            </a:r>
          </a:p>
          <a:p>
            <a:pPr marL="285750" lvl="0" indent="-285750" algn="just">
              <a:lnSpc>
                <a:spcPct val="20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Step 3: Consider the possible values of x and find the probabilities for each value.</a:t>
            </a:r>
          </a:p>
          <a:p>
            <a:pPr marL="285750" lvl="0" indent="-285750" algn="just">
              <a:lnSpc>
                <a:spcPct val="20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Step 4: Write all the values of x and their respective probabilities in tabular form to get the discrete probability distribution.</a:t>
            </a:r>
          </a:p>
        </p:txBody>
      </p:sp>
    </p:spTree>
    <p:extLst>
      <p:ext uri="{BB962C8B-B14F-4D97-AF65-F5344CB8AC3E}">
        <p14:creationId xmlns:p14="http://schemas.microsoft.com/office/powerpoint/2010/main" val="2564518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20D93E4-4DA7-A1DD-FAE3-8EC508202C9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07B0140-A48D-87EF-BB91-DD4522A6E89E}"/>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16</a:t>
            </a:r>
          </a:p>
        </p:txBody>
      </p:sp>
      <p:sp>
        <p:nvSpPr>
          <p:cNvPr id="2" name="Title 1">
            <a:extLst>
              <a:ext uri="{FF2B5EF4-FFF2-40B4-BE49-F238E27FC236}">
                <a16:creationId xmlns:a16="http://schemas.microsoft.com/office/drawing/2014/main" id="{EA8A1E09-FE85-D952-F917-2101ABF59678}"/>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Discrete Probability Distributions</a:t>
            </a:r>
          </a:p>
        </p:txBody>
      </p:sp>
      <p:sp>
        <p:nvSpPr>
          <p:cNvPr id="3" name="Rectangle 2">
            <a:extLst>
              <a:ext uri="{FF2B5EF4-FFF2-40B4-BE49-F238E27FC236}">
                <a16:creationId xmlns:a16="http://schemas.microsoft.com/office/drawing/2014/main" id="{C9752959-8EFB-CEF7-9407-F40FA22E847A}"/>
              </a:ext>
            </a:extLst>
          </p:cNvPr>
          <p:cNvSpPr/>
          <p:nvPr/>
        </p:nvSpPr>
        <p:spPr>
          <a:xfrm>
            <a:off x="254001" y="953729"/>
            <a:ext cx="8639575" cy="4204356"/>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Types of Discrete Probability Distribution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different types of discrete probability distribution are listed below.</a:t>
            </a:r>
          </a:p>
          <a:p>
            <a:pPr marL="536575" lvl="0" indent="-180975" algn="just">
              <a:lnSpc>
                <a:spcPct val="150000"/>
              </a:lnSpc>
              <a:buFont typeface="Arial" panose="020B0604020202020204" pitchFamily="34" charset="0"/>
              <a:buChar char="•"/>
            </a:pPr>
            <a:r>
              <a:rPr lang="en-US" sz="1800" b="1" i="1" dirty="0">
                <a:latin typeface="Calibri" panose="020F0502020204030204" pitchFamily="34" charset="0"/>
                <a:ea typeface="Calibri" panose="020F0502020204030204" pitchFamily="34" charset="0"/>
                <a:cs typeface="Calibri" panose="020F0502020204030204" pitchFamily="34" charset="0"/>
              </a:rPr>
              <a:t>Bernoulli Distribution</a:t>
            </a:r>
          </a:p>
          <a:p>
            <a:pPr marL="536575" lvl="0" indent="-180975" algn="just">
              <a:lnSpc>
                <a:spcPct val="150000"/>
              </a:lnSpc>
              <a:buFont typeface="Arial" panose="020B0604020202020204" pitchFamily="34" charset="0"/>
              <a:buChar char="•"/>
            </a:pPr>
            <a:r>
              <a:rPr lang="en-US" sz="1800" b="1" i="1" dirty="0">
                <a:latin typeface="Calibri" panose="020F0502020204030204" pitchFamily="34" charset="0"/>
                <a:ea typeface="Calibri" panose="020F0502020204030204" pitchFamily="34" charset="0"/>
                <a:cs typeface="Calibri" panose="020F0502020204030204" pitchFamily="34" charset="0"/>
              </a:rPr>
              <a:t>Binomial Distribution</a:t>
            </a:r>
          </a:p>
          <a:p>
            <a:pPr marL="536575" lvl="0" indent="-180975" algn="just">
              <a:lnSpc>
                <a:spcPct val="150000"/>
              </a:lnSpc>
              <a:buFont typeface="Arial" panose="020B0604020202020204" pitchFamily="34" charset="0"/>
              <a:buChar char="•"/>
            </a:pPr>
            <a:r>
              <a:rPr lang="en-US" sz="1800" b="1" i="1" dirty="0">
                <a:latin typeface="Calibri" panose="020F0502020204030204" pitchFamily="34" charset="0"/>
                <a:ea typeface="Calibri" panose="020F0502020204030204" pitchFamily="34" charset="0"/>
                <a:cs typeface="Calibri" panose="020F0502020204030204" pitchFamily="34" charset="0"/>
              </a:rPr>
              <a:t>Poisson Distribution</a:t>
            </a:r>
          </a:p>
          <a:p>
            <a:pPr marL="536575" lvl="0" indent="-180975" algn="just">
              <a:lnSpc>
                <a:spcPct val="150000"/>
              </a:lnSpc>
              <a:buFont typeface="Arial" panose="020B0604020202020204" pitchFamily="34" charset="0"/>
              <a:buChar char="•"/>
            </a:pPr>
            <a:r>
              <a:rPr lang="en-US" sz="1800" b="1" i="1" dirty="0">
                <a:latin typeface="Calibri" panose="020F0502020204030204" pitchFamily="34" charset="0"/>
                <a:ea typeface="Calibri" panose="020F0502020204030204" pitchFamily="34" charset="0"/>
                <a:cs typeface="Calibri" panose="020F0502020204030204" pitchFamily="34" charset="0"/>
              </a:rPr>
              <a:t>Geometric Distribution</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Bernoulli Distribution: </a:t>
            </a:r>
            <a:r>
              <a:rPr lang="en-US" sz="1800" dirty="0">
                <a:latin typeface="Calibri" panose="020F0502020204030204" pitchFamily="34" charset="0"/>
                <a:ea typeface="Calibri" panose="020F0502020204030204" pitchFamily="34" charset="0"/>
                <a:cs typeface="Calibri" panose="020F0502020204030204" pitchFamily="34" charset="0"/>
              </a:rPr>
              <a:t>A discrete probability distribution with the probability of success p if the value of random variable is 1 and the probability of failure 1-p if the value of random variable is zero is called the Bernoulli distribution. The probability mass function of the Bernoulli distribution is given by:</a:t>
            </a:r>
          </a:p>
        </p:txBody>
      </p:sp>
      <p:pic>
        <p:nvPicPr>
          <p:cNvPr id="5" name="Picture 4">
            <a:extLst>
              <a:ext uri="{FF2B5EF4-FFF2-40B4-BE49-F238E27FC236}">
                <a16:creationId xmlns:a16="http://schemas.microsoft.com/office/drawing/2014/main" id="{3095D247-02E8-4BB1-3731-DD697FD7C0EF}"/>
              </a:ext>
            </a:extLst>
          </p:cNvPr>
          <p:cNvPicPr>
            <a:picLocks noChangeAspect="1"/>
          </p:cNvPicPr>
          <p:nvPr/>
        </p:nvPicPr>
        <p:blipFill>
          <a:blip r:embed="rId3"/>
          <a:stretch>
            <a:fillRect/>
          </a:stretch>
        </p:blipFill>
        <p:spPr>
          <a:xfrm>
            <a:off x="5167086" y="4719888"/>
            <a:ext cx="1531259" cy="416355"/>
          </a:xfrm>
          <a:prstGeom prst="rect">
            <a:avLst/>
          </a:prstGeom>
        </p:spPr>
      </p:pic>
    </p:spTree>
    <p:extLst>
      <p:ext uri="{BB962C8B-B14F-4D97-AF65-F5344CB8AC3E}">
        <p14:creationId xmlns:p14="http://schemas.microsoft.com/office/powerpoint/2010/main" val="3680980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1C5A046-B062-4FAA-3477-94FF08AA48D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E6CB75C-C1A7-0C78-0E7F-C315A8DF31F4}"/>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17</a:t>
            </a:r>
          </a:p>
        </p:txBody>
      </p:sp>
      <p:sp>
        <p:nvSpPr>
          <p:cNvPr id="2" name="Title 1">
            <a:extLst>
              <a:ext uri="{FF2B5EF4-FFF2-40B4-BE49-F238E27FC236}">
                <a16:creationId xmlns:a16="http://schemas.microsoft.com/office/drawing/2014/main" id="{6FA37C25-A8EC-1915-B4AB-42145AF0865D}"/>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Discrete Probability Distributions</a:t>
            </a:r>
          </a:p>
        </p:txBody>
      </p:sp>
      <p:sp>
        <p:nvSpPr>
          <p:cNvPr id="3" name="Rectangle 2">
            <a:extLst>
              <a:ext uri="{FF2B5EF4-FFF2-40B4-BE49-F238E27FC236}">
                <a16:creationId xmlns:a16="http://schemas.microsoft.com/office/drawing/2014/main" id="{218169DA-7412-A1AC-9B8D-F2858C8781B3}"/>
              </a:ext>
            </a:extLst>
          </p:cNvPr>
          <p:cNvSpPr/>
          <p:nvPr/>
        </p:nvSpPr>
        <p:spPr>
          <a:xfrm>
            <a:off x="254001" y="953729"/>
            <a:ext cx="8639575" cy="337335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Binomial Distribution: </a:t>
            </a:r>
            <a:r>
              <a:rPr lang="en-US" sz="1800" dirty="0">
                <a:latin typeface="Calibri" panose="020F0502020204030204" pitchFamily="34" charset="0"/>
                <a:ea typeface="Calibri" panose="020F0502020204030204" pitchFamily="34" charset="0"/>
                <a:cs typeface="Calibri" panose="020F0502020204030204" pitchFamily="34" charset="0"/>
              </a:rPr>
              <a:t>A discrete probability distribution that includes the number of trials n, probability of success and probability of failure is called as Binomial distribution. The probability mass function of the Binomial distribution is given by:</a:t>
            </a:r>
          </a:p>
          <a:p>
            <a:pPr marL="285750" lvl="0" indent="-285750" algn="just">
              <a:lnSpc>
                <a:spcPct val="150000"/>
              </a:lnSpc>
              <a:buFont typeface="Wingdings" panose="05000000000000000000" pitchFamily="2" charset="2"/>
              <a:buChar char="Ø"/>
            </a:pPr>
            <a:endParaRPr lang="en-US" sz="1800" b="1"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endParaRPr lang="en-US" sz="1800" b="1"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Poisson Distribution: </a:t>
            </a:r>
            <a:r>
              <a:rPr lang="en-US" sz="1800" dirty="0">
                <a:latin typeface="Calibri" panose="020F0502020204030204" pitchFamily="34" charset="0"/>
                <a:ea typeface="Calibri" panose="020F0502020204030204" pitchFamily="34" charset="0"/>
                <a:cs typeface="Calibri" panose="020F0502020204030204" pitchFamily="34" charset="0"/>
              </a:rPr>
              <a:t>A discrete probability distribution that gives the number of events occurred at a specific time period with the help of its mean is called as the Poisson distribution. The probability mass function of Poisson distribution is given by:</a:t>
            </a:r>
          </a:p>
        </p:txBody>
      </p:sp>
      <p:pic>
        <p:nvPicPr>
          <p:cNvPr id="5" name="Picture 4">
            <a:extLst>
              <a:ext uri="{FF2B5EF4-FFF2-40B4-BE49-F238E27FC236}">
                <a16:creationId xmlns:a16="http://schemas.microsoft.com/office/drawing/2014/main" id="{FE17EC0F-65DD-7AC3-FE97-1A7811E2239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20000"/>
                    </a14:imgEffect>
                  </a14:imgLayer>
                </a14:imgProps>
              </a:ext>
            </a:extLst>
          </a:blip>
          <a:stretch>
            <a:fillRect/>
          </a:stretch>
        </p:blipFill>
        <p:spPr>
          <a:xfrm>
            <a:off x="3085892" y="2460071"/>
            <a:ext cx="2972215" cy="409632"/>
          </a:xfrm>
          <a:prstGeom prst="rect">
            <a:avLst/>
          </a:prstGeom>
        </p:spPr>
      </p:pic>
      <p:pic>
        <p:nvPicPr>
          <p:cNvPr id="8" name="Picture 7">
            <a:extLst>
              <a:ext uri="{FF2B5EF4-FFF2-40B4-BE49-F238E27FC236}">
                <a16:creationId xmlns:a16="http://schemas.microsoft.com/office/drawing/2014/main" id="{85C7FF94-0432-6623-966F-E97307FED407}"/>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contrast="20000"/>
                    </a14:imgEffect>
                  </a14:imgLayer>
                </a14:imgProps>
              </a:ext>
            </a:extLst>
          </a:blip>
          <a:stretch>
            <a:fillRect/>
          </a:stretch>
        </p:blipFill>
        <p:spPr>
          <a:xfrm>
            <a:off x="3247840" y="4399729"/>
            <a:ext cx="2648320" cy="353698"/>
          </a:xfrm>
          <a:prstGeom prst="rect">
            <a:avLst/>
          </a:prstGeom>
        </p:spPr>
      </p:pic>
    </p:spTree>
    <p:extLst>
      <p:ext uri="{BB962C8B-B14F-4D97-AF65-F5344CB8AC3E}">
        <p14:creationId xmlns:p14="http://schemas.microsoft.com/office/powerpoint/2010/main" val="2349030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095231D-FF73-3694-3324-DC7E95B34E7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194F3EA-3CDD-034A-0F7E-225D99994BE0}"/>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18</a:t>
            </a:r>
          </a:p>
        </p:txBody>
      </p:sp>
      <p:sp>
        <p:nvSpPr>
          <p:cNvPr id="2" name="Title 1">
            <a:extLst>
              <a:ext uri="{FF2B5EF4-FFF2-40B4-BE49-F238E27FC236}">
                <a16:creationId xmlns:a16="http://schemas.microsoft.com/office/drawing/2014/main" id="{12C18045-7CF7-3243-5C97-6C63D04B5D3B}"/>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Discrete Probability Distributions</a:t>
            </a:r>
          </a:p>
        </p:txBody>
      </p:sp>
      <p:sp>
        <p:nvSpPr>
          <p:cNvPr id="3" name="Rectangle 2">
            <a:extLst>
              <a:ext uri="{FF2B5EF4-FFF2-40B4-BE49-F238E27FC236}">
                <a16:creationId xmlns:a16="http://schemas.microsoft.com/office/drawing/2014/main" id="{A4F85276-AF47-D89D-EADB-DDA82112EC99}"/>
              </a:ext>
            </a:extLst>
          </p:cNvPr>
          <p:cNvSpPr/>
          <p:nvPr/>
        </p:nvSpPr>
        <p:spPr>
          <a:xfrm>
            <a:off x="254001" y="953729"/>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Geometric Distribution: </a:t>
            </a:r>
            <a:r>
              <a:rPr lang="en-US" sz="1800" dirty="0">
                <a:latin typeface="Calibri" panose="020F0502020204030204" pitchFamily="34" charset="0"/>
                <a:ea typeface="Calibri" panose="020F0502020204030204" pitchFamily="34" charset="0"/>
                <a:cs typeface="Calibri" panose="020F0502020204030204" pitchFamily="34" charset="0"/>
              </a:rPr>
              <a:t>A discrete probability distribution that includes the successive failure probability until the success probability is encountered is called as Geometric distribution. The probability mass function of the geometric distribution is given by:</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Application of Discrete Probability Distribution in Computer Science</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1. Randomized Algorithms</a:t>
            </a:r>
          </a:p>
          <a:p>
            <a:pPr marL="623888" lvl="0" indent="-182563"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Algorithms that use random numbers to make decisions during execution.</a:t>
            </a:r>
          </a:p>
          <a:p>
            <a:pPr marL="623888" lvl="0" indent="-182563"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Discrete Distribution is used in Uniform distribution for selecting random pivots.</a:t>
            </a:r>
          </a:p>
          <a:p>
            <a:pPr marL="623888" lvl="0" indent="-182563"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Use: Quicksort, randomly selecting a pivot (uniformly from array indices) helps avoid worst-case O(n²) scenarios.</a:t>
            </a:r>
          </a:p>
        </p:txBody>
      </p:sp>
      <p:pic>
        <p:nvPicPr>
          <p:cNvPr id="5" name="Picture 4">
            <a:extLst>
              <a:ext uri="{FF2B5EF4-FFF2-40B4-BE49-F238E27FC236}">
                <a16:creationId xmlns:a16="http://schemas.microsoft.com/office/drawing/2014/main" id="{A81B1590-921E-D2B2-8D27-204D2F5DD124}"/>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3409788" y="2297774"/>
            <a:ext cx="2324424" cy="381053"/>
          </a:xfrm>
          <a:prstGeom prst="rect">
            <a:avLst/>
          </a:prstGeom>
        </p:spPr>
      </p:pic>
    </p:spTree>
    <p:extLst>
      <p:ext uri="{BB962C8B-B14F-4D97-AF65-F5344CB8AC3E}">
        <p14:creationId xmlns:p14="http://schemas.microsoft.com/office/powerpoint/2010/main" val="2522447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08233B0-3D0D-43E7-C80F-E22DD6AEED3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EE0147D-8EFC-98BC-CD7C-21D22E6BC50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19</a:t>
            </a:r>
          </a:p>
        </p:txBody>
      </p:sp>
      <p:sp>
        <p:nvSpPr>
          <p:cNvPr id="2" name="Title 1">
            <a:extLst>
              <a:ext uri="{FF2B5EF4-FFF2-40B4-BE49-F238E27FC236}">
                <a16:creationId xmlns:a16="http://schemas.microsoft.com/office/drawing/2014/main" id="{1FE9423B-6E81-162F-1393-F4A18708EBE2}"/>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Discrete Probability Distributions</a:t>
            </a:r>
          </a:p>
        </p:txBody>
      </p:sp>
      <p:sp>
        <p:nvSpPr>
          <p:cNvPr id="3" name="Rectangle 2">
            <a:extLst>
              <a:ext uri="{FF2B5EF4-FFF2-40B4-BE49-F238E27FC236}">
                <a16:creationId xmlns:a16="http://schemas.microsoft.com/office/drawing/2014/main" id="{C583C24F-E1CC-0BAC-A83F-5B32A154BD61}"/>
              </a:ext>
            </a:extLst>
          </p:cNvPr>
          <p:cNvSpPr/>
          <p:nvPr/>
        </p:nvSpPr>
        <p:spPr>
          <a:xfrm>
            <a:off x="254001" y="953729"/>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2. Packet Loss Modeling (Bernoulli/Binomial)</a:t>
            </a:r>
          </a:p>
          <a:p>
            <a:pPr marL="62388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Modeling whether individual network packets are successfully transmitted.</a:t>
            </a:r>
          </a:p>
          <a:p>
            <a:pPr marL="62388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Discrete Distribution application is in Bernoulli for single packet loss (success/failure) and Binomial for total lost packets in n transmissions.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3. Naive Bayes Classifiers (discrete feature modeling)</a:t>
            </a:r>
          </a:p>
          <a:p>
            <a:pPr marL="62388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Probabilistic classifier based on Bayes' theorem with feature independence assumption.</a:t>
            </a:r>
          </a:p>
          <a:p>
            <a:pPr marL="62388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Discrete Distribution is used to find word counts in text (Multinomial distribution) and Bernoulli for binary features.</a:t>
            </a:r>
          </a:p>
        </p:txBody>
      </p:sp>
    </p:spTree>
    <p:extLst>
      <p:ext uri="{BB962C8B-B14F-4D97-AF65-F5344CB8AC3E}">
        <p14:creationId xmlns:p14="http://schemas.microsoft.com/office/powerpoint/2010/main" val="3857009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486160A-2B5E-DD8F-A675-DBEE87F3137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819BBCC-CDFF-847F-3052-52927083B66C}"/>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20</a:t>
            </a:r>
          </a:p>
        </p:txBody>
      </p:sp>
      <p:sp>
        <p:nvSpPr>
          <p:cNvPr id="2" name="Title 1">
            <a:extLst>
              <a:ext uri="{FF2B5EF4-FFF2-40B4-BE49-F238E27FC236}">
                <a16:creationId xmlns:a16="http://schemas.microsoft.com/office/drawing/2014/main" id="{3FD7B0C1-92FE-2A93-2BD3-0DB1B1A7C3E9}"/>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Continuous Probability Distributions</a:t>
            </a:r>
          </a:p>
        </p:txBody>
      </p:sp>
      <p:sp>
        <p:nvSpPr>
          <p:cNvPr id="3" name="Rectangle 2">
            <a:extLst>
              <a:ext uri="{FF2B5EF4-FFF2-40B4-BE49-F238E27FC236}">
                <a16:creationId xmlns:a16="http://schemas.microsoft.com/office/drawing/2014/main" id="{D719340C-4AF6-BF65-3537-8E47C67C07DF}"/>
              </a:ext>
            </a:extLst>
          </p:cNvPr>
          <p:cNvSpPr/>
          <p:nvPr/>
        </p:nvSpPr>
        <p:spPr>
          <a:xfrm>
            <a:off x="254001" y="953729"/>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machine learning, we often face uncertainty in our data. Continuous probability distributions help us understand this uncertainty by showing how likely different values are to occur.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Whether predicting prices or classifying images, these distributions let us make smarter, more reliable predictions by accounting for the randomness in the real world.</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Continuous probability distributions is a probability distribution is a mathematical function that describes the likelihood of different outcomes for a random variable.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It is a probability distributions that apply to continuous random variables.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It describes events that can take on any value within a specific range, like the height of a person or the amount of time it takes to complete a task.</a:t>
            </a:r>
          </a:p>
        </p:txBody>
      </p:sp>
    </p:spTree>
    <p:extLst>
      <p:ext uri="{BB962C8B-B14F-4D97-AF65-F5344CB8AC3E}">
        <p14:creationId xmlns:p14="http://schemas.microsoft.com/office/powerpoint/2010/main" val="236863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993CC2E-19C1-16FE-CE0F-EF99A546EF2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2C875AD-11B7-353C-BAD7-F30095109D80}"/>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21</a:t>
            </a:r>
          </a:p>
        </p:txBody>
      </p:sp>
      <p:sp>
        <p:nvSpPr>
          <p:cNvPr id="2" name="Title 1">
            <a:extLst>
              <a:ext uri="{FF2B5EF4-FFF2-40B4-BE49-F238E27FC236}">
                <a16:creationId xmlns:a16="http://schemas.microsoft.com/office/drawing/2014/main" id="{0516468B-A76A-B405-B0A8-7C53291ED34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Continuous Probability Distributions</a:t>
            </a:r>
          </a:p>
        </p:txBody>
      </p:sp>
      <p:sp>
        <p:nvSpPr>
          <p:cNvPr id="3" name="Rectangle 2">
            <a:extLst>
              <a:ext uri="{FF2B5EF4-FFF2-40B4-BE49-F238E27FC236}">
                <a16:creationId xmlns:a16="http://schemas.microsoft.com/office/drawing/2014/main" id="{5D5226D1-324D-B4E5-FF59-6CE36FA82B00}"/>
              </a:ext>
            </a:extLst>
          </p:cNvPr>
          <p:cNvSpPr/>
          <p:nvPr/>
        </p:nvSpPr>
        <p:spPr>
          <a:xfrm>
            <a:off x="254001" y="953729"/>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continuous probability distributions, two key functions describe the likelihood of a variable taking on specific values: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1. Probability Density Function (PDF): </a:t>
            </a:r>
            <a:r>
              <a:rPr lang="en-US" sz="1800" dirty="0">
                <a:latin typeface="Calibri" panose="020F0502020204030204" pitchFamily="34" charset="0"/>
                <a:ea typeface="Calibri" panose="020F0502020204030204" pitchFamily="34" charset="0"/>
                <a:cs typeface="Calibri" panose="020F0502020204030204" pitchFamily="34" charset="0"/>
              </a:rPr>
              <a:t>The probability density function gives the probability density at a specific point or interval for a continuous random variable. It indicates how likely the variable is to fall within a small interval around a particular value.</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height of the PDF curve at any point represents the probability density at that value.</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Higher density implies a higher probability of the variable taking on values around that point.</a:t>
            </a:r>
          </a:p>
        </p:txBody>
      </p:sp>
    </p:spTree>
    <p:extLst>
      <p:ext uri="{BB962C8B-B14F-4D97-AF65-F5344CB8AC3E}">
        <p14:creationId xmlns:p14="http://schemas.microsoft.com/office/powerpoint/2010/main" val="474951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AA7CB93-D62C-0FC6-CF75-0039770C72F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C21F5D4-23B3-83D5-B527-19E66B9653DC}"/>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22</a:t>
            </a:r>
          </a:p>
        </p:txBody>
      </p:sp>
      <p:sp>
        <p:nvSpPr>
          <p:cNvPr id="2" name="Title 1">
            <a:extLst>
              <a:ext uri="{FF2B5EF4-FFF2-40B4-BE49-F238E27FC236}">
                <a16:creationId xmlns:a16="http://schemas.microsoft.com/office/drawing/2014/main" id="{CDF68421-800A-F5BA-52E5-EA18BBC9D232}"/>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Continuous Probability Distributions</a:t>
            </a:r>
          </a:p>
        </p:txBody>
      </p:sp>
      <p:sp>
        <p:nvSpPr>
          <p:cNvPr id="3" name="Rectangle 2">
            <a:extLst>
              <a:ext uri="{FF2B5EF4-FFF2-40B4-BE49-F238E27FC236}">
                <a16:creationId xmlns:a16="http://schemas.microsoft.com/office/drawing/2014/main" id="{A06628CB-97EE-2A12-76D9-A0BE8F3AC7CC}"/>
              </a:ext>
            </a:extLst>
          </p:cNvPr>
          <p:cNvSpPr/>
          <p:nvPr/>
        </p:nvSpPr>
        <p:spPr>
          <a:xfrm>
            <a:off x="254001" y="953729"/>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2. Cumulative Distribution Function (CDF): </a:t>
            </a:r>
            <a:r>
              <a:rPr lang="en-US" sz="1800" dirty="0">
                <a:latin typeface="Calibri" panose="020F0502020204030204" pitchFamily="34" charset="0"/>
                <a:ea typeface="Calibri" panose="020F0502020204030204" pitchFamily="34" charset="0"/>
                <a:cs typeface="Calibri" panose="020F0502020204030204" pitchFamily="34" charset="0"/>
              </a:rPr>
              <a:t>The Cumulative Distribution Function gives the probability that a random variable is less than or equal to a specific value.</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It provides a cumulative view of the probability distribution, starting at 0 and increasing to 1 as the value of the random variable increases.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CDF starts at 0 for the smallest possible value of the random variable (since there is no probability below this value) and approaches 1 as the value approaches infinity (since the probability of the variable being less than or equal to infinity is 1).</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Note: </a:t>
            </a:r>
            <a:r>
              <a:rPr lang="en-US" sz="1800" dirty="0">
                <a:latin typeface="Calibri" panose="020F0502020204030204" pitchFamily="34" charset="0"/>
                <a:ea typeface="Calibri" panose="020F0502020204030204" pitchFamily="34" charset="0"/>
                <a:cs typeface="Calibri" panose="020F0502020204030204" pitchFamily="34" charset="0"/>
              </a:rPr>
              <a:t>CDF is the integral of the PDF and the PDF is the derivative of the CDF.</a:t>
            </a:r>
          </a:p>
        </p:txBody>
      </p:sp>
    </p:spTree>
    <p:extLst>
      <p:ext uri="{BB962C8B-B14F-4D97-AF65-F5344CB8AC3E}">
        <p14:creationId xmlns:p14="http://schemas.microsoft.com/office/powerpoint/2010/main" val="3507364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3ABB5AA-EFA6-8BBE-45CE-91B88DF84FD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C8D7D73-CB92-B481-7F44-F453600D7A3A}"/>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23</a:t>
            </a:r>
          </a:p>
        </p:txBody>
      </p:sp>
      <p:sp>
        <p:nvSpPr>
          <p:cNvPr id="2" name="Title 1">
            <a:extLst>
              <a:ext uri="{FF2B5EF4-FFF2-40B4-BE49-F238E27FC236}">
                <a16:creationId xmlns:a16="http://schemas.microsoft.com/office/drawing/2014/main" id="{C7B727B3-88C4-39C8-44C5-4CEF5B7BC799}"/>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Continuous Probability Distributions</a:t>
            </a:r>
          </a:p>
        </p:txBody>
      </p:sp>
      <p:sp>
        <p:nvSpPr>
          <p:cNvPr id="3" name="Rectangle 2">
            <a:extLst>
              <a:ext uri="{FF2B5EF4-FFF2-40B4-BE49-F238E27FC236}">
                <a16:creationId xmlns:a16="http://schemas.microsoft.com/office/drawing/2014/main" id="{DB098985-17A9-C111-CE26-E65D10D616C9}"/>
              </a:ext>
            </a:extLst>
          </p:cNvPr>
          <p:cNvSpPr/>
          <p:nvPr/>
        </p:nvSpPr>
        <p:spPr>
          <a:xfrm>
            <a:off x="254001" y="953729"/>
            <a:ext cx="8639575" cy="4204356"/>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Importance of Continuous Probability Distribution</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Modeling Uncertainty: </a:t>
            </a:r>
            <a:r>
              <a:rPr lang="en-US" sz="1800" dirty="0">
                <a:latin typeface="Calibri" panose="020F0502020204030204" pitchFamily="34" charset="0"/>
                <a:ea typeface="Calibri" panose="020F0502020204030204" pitchFamily="34" charset="0"/>
                <a:cs typeface="Calibri" panose="020F0502020204030204" pitchFamily="34" charset="0"/>
              </a:rPr>
              <a:t>They help represent uncertainty in predictions, allowing probabilistic outputs instead of fixed values.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Gaussian Distribution: </a:t>
            </a:r>
            <a:r>
              <a:rPr lang="en-US" sz="1800" dirty="0">
                <a:latin typeface="Calibri" panose="020F0502020204030204" pitchFamily="34" charset="0"/>
                <a:ea typeface="Calibri" panose="020F0502020204030204" pitchFamily="34" charset="0"/>
                <a:cs typeface="Calibri" panose="020F0502020204030204" pitchFamily="34" charset="0"/>
              </a:rPr>
              <a:t>Widely used in models like regression and Bayesian networks for error modeling and assumption of normality.</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Maximum Likelihood Estimation (MLE): </a:t>
            </a:r>
            <a:r>
              <a:rPr lang="en-US" sz="1800" dirty="0">
                <a:latin typeface="Calibri" panose="020F0502020204030204" pitchFamily="34" charset="0"/>
                <a:ea typeface="Calibri" panose="020F0502020204030204" pitchFamily="34" charset="0"/>
                <a:cs typeface="Calibri" panose="020F0502020204030204" pitchFamily="34" charset="0"/>
              </a:rPr>
              <a:t>Lots of algorithms rely on continuous distributions to estimate model parameters that maximize the likelihood of observed data.</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Bayesian Inference: </a:t>
            </a:r>
            <a:r>
              <a:rPr lang="en-US" sz="1800" dirty="0">
                <a:latin typeface="Calibri" panose="020F0502020204030204" pitchFamily="34" charset="0"/>
                <a:ea typeface="Calibri" panose="020F0502020204030204" pitchFamily="34" charset="0"/>
                <a:cs typeface="Calibri" panose="020F0502020204030204" pitchFamily="34" charset="0"/>
              </a:rPr>
              <a:t>Continuous distributions are essential in Bayesian models to update beliefs about parameters based on new data.</a:t>
            </a:r>
          </a:p>
        </p:txBody>
      </p:sp>
    </p:spTree>
    <p:extLst>
      <p:ext uri="{BB962C8B-B14F-4D97-AF65-F5344CB8AC3E}">
        <p14:creationId xmlns:p14="http://schemas.microsoft.com/office/powerpoint/2010/main" val="1991166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E89BFAA-B572-8A88-6136-1EB83009E30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39554DD-7539-845F-4D37-45EB4E04F1B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24</a:t>
            </a:r>
          </a:p>
        </p:txBody>
      </p:sp>
      <p:sp>
        <p:nvSpPr>
          <p:cNvPr id="2" name="Title 1">
            <a:extLst>
              <a:ext uri="{FF2B5EF4-FFF2-40B4-BE49-F238E27FC236}">
                <a16:creationId xmlns:a16="http://schemas.microsoft.com/office/drawing/2014/main" id="{4A9F79D7-6371-71C4-4E6E-1D13BEC68103}"/>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Continuous Probability Distributions</a:t>
            </a:r>
          </a:p>
        </p:txBody>
      </p:sp>
      <p:sp>
        <p:nvSpPr>
          <p:cNvPr id="3" name="Rectangle 2">
            <a:extLst>
              <a:ext uri="{FF2B5EF4-FFF2-40B4-BE49-F238E27FC236}">
                <a16:creationId xmlns:a16="http://schemas.microsoft.com/office/drawing/2014/main" id="{44ACD66A-B225-2B43-0E03-69053A22BF39}"/>
              </a:ext>
            </a:extLst>
          </p:cNvPr>
          <p:cNvSpPr/>
          <p:nvPr/>
        </p:nvSpPr>
        <p:spPr>
          <a:xfrm>
            <a:off x="254001" y="953729"/>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Generative Models: </a:t>
            </a:r>
            <a:r>
              <a:rPr lang="en-US" sz="1800" dirty="0">
                <a:latin typeface="Calibri" panose="020F0502020204030204" pitchFamily="34" charset="0"/>
                <a:ea typeface="Calibri" panose="020F0502020204030204" pitchFamily="34" charset="0"/>
                <a:cs typeface="Calibri" panose="020F0502020204030204" pitchFamily="34" charset="0"/>
              </a:rPr>
              <a:t>Models like Gaussian Mixture Models and Variational Autoencoders use continuous distributions to learn and generate data.</a:t>
            </a:r>
          </a:p>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Types of Continuous Probability Distributions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1. Normal Distribution (Bell Curve) or Gaussian Distribution: </a:t>
            </a:r>
            <a:r>
              <a:rPr lang="en-US" sz="1800" dirty="0">
                <a:latin typeface="Calibri" panose="020F0502020204030204" pitchFamily="34" charset="0"/>
                <a:ea typeface="Calibri" panose="020F0502020204030204" pitchFamily="34" charset="0"/>
                <a:cs typeface="Calibri" panose="020F0502020204030204" pitchFamily="34" charset="0"/>
              </a:rPr>
              <a:t>The Gaussian Distribution is a bell-shaped, symmetrical basic continuous probability distribution. Two factors define it:</a:t>
            </a:r>
          </a:p>
          <a:p>
            <a:pPr marL="71913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standard deviation (σ), which indicates the distribution's spread or dispersion,</a:t>
            </a:r>
          </a:p>
          <a:p>
            <a:pPr marL="71913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mean (μ), which establishes the distribution.</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For a random variable x, it is expressed as,</a:t>
            </a:r>
          </a:p>
        </p:txBody>
      </p:sp>
      <p:pic>
        <p:nvPicPr>
          <p:cNvPr id="5" name="Picture 4">
            <a:extLst>
              <a:ext uri="{FF2B5EF4-FFF2-40B4-BE49-F238E27FC236}">
                <a16:creationId xmlns:a16="http://schemas.microsoft.com/office/drawing/2014/main" id="{A1233D88-374F-EF0E-4EDC-04D23E721680}"/>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4746171" y="4325257"/>
            <a:ext cx="3863353" cy="704610"/>
          </a:xfrm>
          <a:prstGeom prst="rect">
            <a:avLst/>
          </a:prstGeom>
        </p:spPr>
      </p:pic>
    </p:spTree>
    <p:extLst>
      <p:ext uri="{BB962C8B-B14F-4D97-AF65-F5344CB8AC3E}">
        <p14:creationId xmlns:p14="http://schemas.microsoft.com/office/powerpoint/2010/main" val="3875312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308051C-3DB5-3A2A-DB1A-60AE06F046D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472FF66-39DD-0E65-25FD-6439580A756D}"/>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25</a:t>
            </a:r>
          </a:p>
        </p:txBody>
      </p:sp>
      <p:sp>
        <p:nvSpPr>
          <p:cNvPr id="2" name="Title 1">
            <a:extLst>
              <a:ext uri="{FF2B5EF4-FFF2-40B4-BE49-F238E27FC236}">
                <a16:creationId xmlns:a16="http://schemas.microsoft.com/office/drawing/2014/main" id="{637354B7-604E-1142-85BE-09485981838C}"/>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Continuous Probability Distributions</a:t>
            </a:r>
          </a:p>
        </p:txBody>
      </p:sp>
      <p:sp>
        <p:nvSpPr>
          <p:cNvPr id="3" name="Rectangle 2">
            <a:extLst>
              <a:ext uri="{FF2B5EF4-FFF2-40B4-BE49-F238E27FC236}">
                <a16:creationId xmlns:a16="http://schemas.microsoft.com/office/drawing/2014/main" id="{A4B71D9D-74BE-F93D-7206-294B96920A37}"/>
              </a:ext>
            </a:extLst>
          </p:cNvPr>
          <p:cNvSpPr/>
          <p:nvPr/>
        </p:nvSpPr>
        <p:spPr>
          <a:xfrm>
            <a:off x="254002" y="953729"/>
            <a:ext cx="3447142"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Note: </a:t>
            </a:r>
            <a:r>
              <a:rPr lang="en-US" sz="1800" dirty="0">
                <a:latin typeface="Calibri" panose="020F0502020204030204" pitchFamily="34" charset="0"/>
                <a:ea typeface="Calibri" panose="020F0502020204030204" pitchFamily="34" charset="0"/>
                <a:cs typeface="Calibri" panose="020F0502020204030204" pitchFamily="34" charset="0"/>
              </a:rPr>
              <a:t>The shape of the Normal Distribution is such that about 68% of the values fall within one standard deviation of the mean (μ ± σ), about 95% fall within two standard deviations (μ ± 2σ) and about 99.7% fall within three standard deviations (μ ± 3σ).</a:t>
            </a:r>
          </a:p>
        </p:txBody>
      </p:sp>
      <p:pic>
        <p:nvPicPr>
          <p:cNvPr id="5" name="Picture 4">
            <a:extLst>
              <a:ext uri="{FF2B5EF4-FFF2-40B4-BE49-F238E27FC236}">
                <a16:creationId xmlns:a16="http://schemas.microsoft.com/office/drawing/2014/main" id="{9B4956DC-50AD-3369-2D53-E1F411A469E4}"/>
              </a:ext>
            </a:extLst>
          </p:cNvPr>
          <p:cNvPicPr>
            <a:picLocks noChangeAspect="1"/>
          </p:cNvPicPr>
          <p:nvPr/>
        </p:nvPicPr>
        <p:blipFill>
          <a:blip r:embed="rId3"/>
          <a:stretch>
            <a:fillRect/>
          </a:stretch>
        </p:blipFill>
        <p:spPr>
          <a:xfrm>
            <a:off x="3701143" y="1117599"/>
            <a:ext cx="5188855" cy="3643087"/>
          </a:xfrm>
          <a:prstGeom prst="rect">
            <a:avLst/>
          </a:prstGeom>
        </p:spPr>
      </p:pic>
      <p:sp>
        <p:nvSpPr>
          <p:cNvPr id="6" name="TextBox 5">
            <a:extLst>
              <a:ext uri="{FF2B5EF4-FFF2-40B4-BE49-F238E27FC236}">
                <a16:creationId xmlns:a16="http://schemas.microsoft.com/office/drawing/2014/main" id="{B98D638A-1244-E987-925C-34ED8E2F2ACB}"/>
              </a:ext>
            </a:extLst>
          </p:cNvPr>
          <p:cNvSpPr txBox="1"/>
          <p:nvPr/>
        </p:nvSpPr>
        <p:spPr>
          <a:xfrm>
            <a:off x="3860799" y="4770410"/>
            <a:ext cx="4644571"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Figure-2: Normal Distribution (Bell Curve)</a:t>
            </a:r>
            <a:endParaRPr lang="en-IN" b="1" dirty="0"/>
          </a:p>
        </p:txBody>
      </p:sp>
    </p:spTree>
    <p:extLst>
      <p:ext uri="{BB962C8B-B14F-4D97-AF65-F5344CB8AC3E}">
        <p14:creationId xmlns:p14="http://schemas.microsoft.com/office/powerpoint/2010/main" val="1953695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36942AB-CD5B-FD9E-3B1E-C00B44254EE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ED9D14E-1571-6A29-DA92-FC8CD73F124B}"/>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26</a:t>
            </a:r>
          </a:p>
        </p:txBody>
      </p:sp>
      <p:sp>
        <p:nvSpPr>
          <p:cNvPr id="2" name="Title 1">
            <a:extLst>
              <a:ext uri="{FF2B5EF4-FFF2-40B4-BE49-F238E27FC236}">
                <a16:creationId xmlns:a16="http://schemas.microsoft.com/office/drawing/2014/main" id="{AF9D134E-3702-D549-3A7E-BAFC9FD8803A}"/>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Continuous Probability Distributions</a:t>
            </a:r>
          </a:p>
        </p:txBody>
      </p:sp>
      <p:sp>
        <p:nvSpPr>
          <p:cNvPr id="3" name="Rectangle 2">
            <a:extLst>
              <a:ext uri="{FF2B5EF4-FFF2-40B4-BE49-F238E27FC236}">
                <a16:creationId xmlns:a16="http://schemas.microsoft.com/office/drawing/2014/main" id="{F301E81D-48C3-2B0D-DC31-6CE25CBD0A3C}"/>
              </a:ext>
            </a:extLst>
          </p:cNvPr>
          <p:cNvSpPr/>
          <p:nvPr/>
        </p:nvSpPr>
        <p:spPr>
          <a:xfrm>
            <a:off x="254001" y="953729"/>
            <a:ext cx="8639575" cy="2957861"/>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2. Uniform Distribution: </a:t>
            </a:r>
            <a:r>
              <a:rPr lang="en-US" sz="1800" dirty="0">
                <a:latin typeface="Calibri" panose="020F0502020204030204" pitchFamily="34" charset="0"/>
                <a:ea typeface="Calibri" panose="020F0502020204030204" pitchFamily="34" charset="0"/>
                <a:cs typeface="Calibri" panose="020F0502020204030204" pitchFamily="34" charset="0"/>
              </a:rPr>
              <a:t>The Uniform Distribution is a continuous probability distribution where all values within a specified range are equally likely to occur.</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Parameters: </a:t>
            </a:r>
            <a:r>
              <a:rPr lang="en-US" sz="1800" dirty="0">
                <a:latin typeface="Calibri" panose="020F0502020204030204" pitchFamily="34" charset="0"/>
                <a:ea typeface="Calibri" panose="020F0502020204030204" pitchFamily="34" charset="0"/>
                <a:cs typeface="Calibri" panose="020F0502020204030204" pitchFamily="34" charset="0"/>
              </a:rPr>
              <a:t>Lower bound (a) and upper bound (b).</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mean of a uniform distribution is </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It is expressed as: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1EA5FC9-721D-F720-B55B-915EA696EBF7}"/>
                  </a:ext>
                </a:extLst>
              </p:cNvPr>
              <p:cNvSpPr txBox="1"/>
              <p:nvPr/>
            </p:nvSpPr>
            <p:spPr>
              <a:xfrm>
                <a:off x="709535" y="2599760"/>
                <a:ext cx="4572000" cy="5570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b="1" i="1" smtClean="0">
                          <a:latin typeface="Cambria Math" panose="02040503050406030204" pitchFamily="18" charset="0"/>
                        </a:rPr>
                        <m:t>𝝁</m:t>
                      </m:r>
                      <m:r>
                        <a:rPr lang="en-IN" b="1" i="0">
                          <a:latin typeface="Cambria Math" panose="02040503050406030204" pitchFamily="18" charset="0"/>
                        </a:rPr>
                        <m:t>=</m:t>
                      </m:r>
                      <m:f>
                        <m:fPr>
                          <m:ctrlPr>
                            <a:rPr lang="en-IN" b="1" i="1">
                              <a:latin typeface="Cambria Math" panose="02040503050406030204" pitchFamily="18" charset="0"/>
                            </a:rPr>
                          </m:ctrlPr>
                        </m:fPr>
                        <m:num>
                          <m:r>
                            <a:rPr lang="en-IN" b="1" i="1">
                              <a:latin typeface="Cambria Math" panose="02040503050406030204" pitchFamily="18" charset="0"/>
                            </a:rPr>
                            <m:t>𝒂</m:t>
                          </m:r>
                          <m:r>
                            <a:rPr lang="en-IN" b="1" i="0">
                              <a:latin typeface="Cambria Math" panose="02040503050406030204" pitchFamily="18" charset="0"/>
                            </a:rPr>
                            <m:t>+</m:t>
                          </m:r>
                          <m:r>
                            <a:rPr lang="en-IN" b="1" i="1">
                              <a:latin typeface="Cambria Math" panose="02040503050406030204" pitchFamily="18" charset="0"/>
                            </a:rPr>
                            <m:t>𝒃</m:t>
                          </m:r>
                        </m:num>
                        <m:den>
                          <m:r>
                            <a:rPr lang="en-IN" b="1" i="0">
                              <a:latin typeface="Cambria Math" panose="02040503050406030204" pitchFamily="18" charset="0"/>
                            </a:rPr>
                            <m:t>𝟐</m:t>
                          </m:r>
                        </m:den>
                      </m:f>
                      <m:sSup>
                        <m:sSupPr>
                          <m:ctrlPr>
                            <a:rPr lang="en-IN" b="1" i="1">
                              <a:latin typeface="Cambria Math" panose="02040503050406030204" pitchFamily="18" charset="0"/>
                            </a:rPr>
                          </m:ctrlPr>
                        </m:sSupPr>
                        <m:e>
                          <m:r>
                            <a:rPr lang="en-IN" b="1" i="0" smtClean="0">
                              <a:latin typeface="Cambria Math" panose="02040503050406030204" pitchFamily="18" charset="0"/>
                            </a:rPr>
                            <m:t>     </m:t>
                          </m:r>
                          <m:r>
                            <a:rPr lang="en-IN" b="1" i="0" smtClean="0">
                              <a:latin typeface="Cambria Math" panose="02040503050406030204" pitchFamily="18" charset="0"/>
                            </a:rPr>
                            <m:t>𝐚𝐧𝐝</m:t>
                          </m:r>
                          <m:r>
                            <a:rPr lang="en-IN" b="1" i="0" smtClean="0">
                              <a:latin typeface="Cambria Math" panose="02040503050406030204" pitchFamily="18" charset="0"/>
                            </a:rPr>
                            <m:t> </m:t>
                          </m:r>
                          <m:r>
                            <a:rPr lang="en-IN" b="1" i="0" smtClean="0">
                              <a:latin typeface="Cambria Math" panose="02040503050406030204" pitchFamily="18" charset="0"/>
                            </a:rPr>
                            <m:t>𝐭𝐡𝐞</m:t>
                          </m:r>
                          <m:r>
                            <a:rPr lang="en-IN" b="1" i="0" smtClean="0">
                              <a:latin typeface="Cambria Math" panose="02040503050406030204" pitchFamily="18" charset="0"/>
                            </a:rPr>
                            <m:t> </m:t>
                          </m:r>
                          <m:r>
                            <a:rPr lang="en-IN" b="1" i="0">
                              <a:latin typeface="Cambria Math" panose="02040503050406030204" pitchFamily="18" charset="0"/>
                            </a:rPr>
                            <m:t>𝐯𝐚𝐫𝐢𝐚𝐧𝐜𝐞</m:t>
                          </m:r>
                          <m:r>
                            <a:rPr lang="en-IN" b="1" i="0">
                              <a:latin typeface="Cambria Math" panose="02040503050406030204" pitchFamily="18" charset="0"/>
                            </a:rPr>
                            <m:t> </m:t>
                          </m:r>
                          <m:r>
                            <a:rPr lang="en-IN" b="1" i="0">
                              <a:latin typeface="Cambria Math" panose="02040503050406030204" pitchFamily="18" charset="0"/>
                            </a:rPr>
                            <m:t>𝐢𝐬</m:t>
                          </m:r>
                          <m:r>
                            <a:rPr lang="en-IN" b="1" i="1" smtClean="0">
                              <a:latin typeface="Cambria Math" panose="02040503050406030204" pitchFamily="18" charset="0"/>
                            </a:rPr>
                            <m:t>        </m:t>
                          </m:r>
                          <m:r>
                            <a:rPr lang="en-IN" b="1" i="1">
                              <a:latin typeface="Cambria Math" panose="02040503050406030204" pitchFamily="18" charset="0"/>
                            </a:rPr>
                            <m:t>𝝈</m:t>
                          </m:r>
                        </m:e>
                        <m:sup>
                          <m:r>
                            <a:rPr lang="en-IN" b="1" i="0">
                              <a:latin typeface="Cambria Math" panose="02040503050406030204" pitchFamily="18" charset="0"/>
                            </a:rPr>
                            <m:t>𝟐</m:t>
                          </m:r>
                        </m:sup>
                      </m:sSup>
                      <m:r>
                        <a:rPr lang="en-IN" b="1" i="0">
                          <a:latin typeface="Cambria Math" panose="02040503050406030204" pitchFamily="18" charset="0"/>
                        </a:rPr>
                        <m:t>=</m:t>
                      </m:r>
                      <m:f>
                        <m:fPr>
                          <m:ctrlPr>
                            <a:rPr lang="en-IN" b="1" i="1">
                              <a:latin typeface="Cambria Math" panose="02040503050406030204" pitchFamily="18" charset="0"/>
                            </a:rPr>
                          </m:ctrlPr>
                        </m:fPr>
                        <m:num>
                          <m:sSup>
                            <m:sSupPr>
                              <m:ctrlPr>
                                <a:rPr lang="en-IN" b="1" i="1" smtClean="0">
                                  <a:latin typeface="Cambria Math" panose="02040503050406030204" pitchFamily="18" charset="0"/>
                                </a:rPr>
                              </m:ctrlPr>
                            </m:sSupPr>
                            <m:e>
                              <m:d>
                                <m:dPr>
                                  <m:endChr m:val=""/>
                                  <m:ctrlPr>
                                    <a:rPr lang="en-IN" b="1" i="1">
                                      <a:latin typeface="Cambria Math" panose="02040503050406030204" pitchFamily="18" charset="0"/>
                                    </a:rPr>
                                  </m:ctrlPr>
                                </m:dPr>
                                <m:e>
                                  <m:r>
                                    <a:rPr lang="en-IN" b="1" i="1">
                                      <a:latin typeface="Cambria Math" panose="02040503050406030204" pitchFamily="18" charset="0"/>
                                    </a:rPr>
                                    <m:t>𝒃</m:t>
                                  </m:r>
                                  <m:r>
                                    <a:rPr lang="en-IN" b="1">
                                      <a:latin typeface="Cambria Math" panose="02040503050406030204" pitchFamily="18" charset="0"/>
                                    </a:rPr>
                                    <m:t>−</m:t>
                                  </m:r>
                                  <m:r>
                                    <a:rPr lang="en-IN" b="1" i="1">
                                      <a:latin typeface="Cambria Math" panose="02040503050406030204" pitchFamily="18" charset="0"/>
                                    </a:rPr>
                                    <m:t>𝒂</m:t>
                                  </m:r>
                                  <m:r>
                                    <a:rPr lang="en-IN" b="1" i="1">
                                      <a:latin typeface="Cambria Math" panose="02040503050406030204" pitchFamily="18" charset="0"/>
                                    </a:rPr>
                                    <m:t>)</m:t>
                                  </m:r>
                                </m:e>
                              </m:d>
                            </m:e>
                            <m:sup>
                              <m:r>
                                <a:rPr lang="en-IN" b="1" i="1" smtClean="0">
                                  <a:latin typeface="Cambria Math" panose="02040503050406030204" pitchFamily="18" charset="0"/>
                                </a:rPr>
                                <m:t>𝟐</m:t>
                              </m:r>
                            </m:sup>
                          </m:sSup>
                        </m:num>
                        <m:den>
                          <m:r>
                            <a:rPr lang="en-IN" b="1" i="0">
                              <a:latin typeface="Cambria Math" panose="02040503050406030204" pitchFamily="18" charset="0"/>
                            </a:rPr>
                            <m:t>𝟏𝟐</m:t>
                          </m:r>
                        </m:den>
                      </m:f>
                    </m:oMath>
                  </m:oMathPara>
                </a14:m>
                <a:endParaRPr lang="en-IN" b="1" dirty="0"/>
              </a:p>
            </p:txBody>
          </p:sp>
        </mc:Choice>
        <mc:Fallback xmlns="">
          <p:sp>
            <p:nvSpPr>
              <p:cNvPr id="5" name="TextBox 4">
                <a:extLst>
                  <a:ext uri="{FF2B5EF4-FFF2-40B4-BE49-F238E27FC236}">
                    <a16:creationId xmlns:a16="http://schemas.microsoft.com/office/drawing/2014/main" id="{11EA5FC9-721D-F720-B55B-915EA696EBF7}"/>
                  </a:ext>
                </a:extLst>
              </p:cNvPr>
              <p:cNvSpPr txBox="1">
                <a:spLocks noRot="1" noChangeAspect="1" noMove="1" noResize="1" noEditPoints="1" noAdjustHandles="1" noChangeArrowheads="1" noChangeShapeType="1" noTextEdit="1"/>
              </p:cNvSpPr>
              <p:nvPr/>
            </p:nvSpPr>
            <p:spPr>
              <a:xfrm>
                <a:off x="709535" y="2599760"/>
                <a:ext cx="4572000" cy="557076"/>
              </a:xfrm>
              <a:prstGeom prst="rect">
                <a:avLst/>
              </a:prstGeom>
              <a:blipFill>
                <a:blip r:embed="rId3"/>
                <a:stretch>
                  <a:fillRect/>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C1B4E808-AAEC-A518-E28B-40A70C162EF3}"/>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709535" y="3978242"/>
            <a:ext cx="3689955" cy="557077"/>
          </a:xfrm>
          <a:prstGeom prst="rect">
            <a:avLst/>
          </a:prstGeom>
        </p:spPr>
      </p:pic>
      <p:pic>
        <p:nvPicPr>
          <p:cNvPr id="10" name="Picture 9">
            <a:extLst>
              <a:ext uri="{FF2B5EF4-FFF2-40B4-BE49-F238E27FC236}">
                <a16:creationId xmlns:a16="http://schemas.microsoft.com/office/drawing/2014/main" id="{56966395-95FF-B7E7-3240-E328C402FED8}"/>
              </a:ext>
            </a:extLst>
          </p:cNvPr>
          <p:cNvPicPr>
            <a:picLocks noChangeAspect="1"/>
          </p:cNvPicPr>
          <p:nvPr/>
        </p:nvPicPr>
        <p:blipFill>
          <a:blip r:embed="rId6"/>
          <a:srcRect l="3744" t="1868"/>
          <a:stretch>
            <a:fillRect/>
          </a:stretch>
        </p:blipFill>
        <p:spPr>
          <a:xfrm>
            <a:off x="5281535" y="2300514"/>
            <a:ext cx="3545474" cy="2380344"/>
          </a:xfrm>
          <a:prstGeom prst="rect">
            <a:avLst/>
          </a:prstGeom>
        </p:spPr>
      </p:pic>
      <p:sp>
        <p:nvSpPr>
          <p:cNvPr id="11" name="TextBox 10">
            <a:extLst>
              <a:ext uri="{FF2B5EF4-FFF2-40B4-BE49-F238E27FC236}">
                <a16:creationId xmlns:a16="http://schemas.microsoft.com/office/drawing/2014/main" id="{A62D30B3-B469-4C74-F81B-49D8DA3B7000}"/>
              </a:ext>
            </a:extLst>
          </p:cNvPr>
          <p:cNvSpPr txBox="1"/>
          <p:nvPr/>
        </p:nvSpPr>
        <p:spPr>
          <a:xfrm>
            <a:off x="5423408" y="4680858"/>
            <a:ext cx="3403601"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Figure-3: Uniform Distribution</a:t>
            </a:r>
            <a:endParaRPr lang="en-IN" b="1" dirty="0"/>
          </a:p>
        </p:txBody>
      </p:sp>
    </p:spTree>
    <p:extLst>
      <p:ext uri="{BB962C8B-B14F-4D97-AF65-F5344CB8AC3E}">
        <p14:creationId xmlns:p14="http://schemas.microsoft.com/office/powerpoint/2010/main" val="2194117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4440327-7D63-60DC-76DC-22EFB8D689D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BB12420-49BE-5EFD-BB55-EFC1A2DFA2CA}"/>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27</a:t>
            </a:r>
          </a:p>
        </p:txBody>
      </p:sp>
      <p:sp>
        <p:nvSpPr>
          <p:cNvPr id="2" name="Title 1">
            <a:extLst>
              <a:ext uri="{FF2B5EF4-FFF2-40B4-BE49-F238E27FC236}">
                <a16:creationId xmlns:a16="http://schemas.microsoft.com/office/drawing/2014/main" id="{11539FDA-BCC5-024A-3DE9-B78F9FDC8CB7}"/>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Continuous Probability Distributions</a:t>
            </a:r>
          </a:p>
        </p:txBody>
      </p:sp>
      <p:sp>
        <p:nvSpPr>
          <p:cNvPr id="3" name="Rectangle 2">
            <a:extLst>
              <a:ext uri="{FF2B5EF4-FFF2-40B4-BE49-F238E27FC236}">
                <a16:creationId xmlns:a16="http://schemas.microsoft.com/office/drawing/2014/main" id="{EB985886-6DA7-0556-C05A-4F24AC547A7A}"/>
              </a:ext>
            </a:extLst>
          </p:cNvPr>
          <p:cNvSpPr/>
          <p:nvPr/>
        </p:nvSpPr>
        <p:spPr>
          <a:xfrm>
            <a:off x="254001" y="953729"/>
            <a:ext cx="8639575" cy="337335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3. Exponential Distribution: </a:t>
            </a:r>
            <a:r>
              <a:rPr lang="en-US" sz="1800" dirty="0">
                <a:latin typeface="Calibri" panose="020F0502020204030204" pitchFamily="34" charset="0"/>
                <a:ea typeface="Calibri" panose="020F0502020204030204" pitchFamily="34" charset="0"/>
                <a:cs typeface="Calibri" panose="020F0502020204030204" pitchFamily="34" charset="0"/>
              </a:rPr>
              <a:t>The exponential distribution is a continuous probability distribution that represents the duration between occurrences in a Poisson process, which occurs continuously and independently at a constant average rate.</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719138" lvl="0" indent="-269875"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Parameter: Rate parameter (λ).</a:t>
            </a:r>
          </a:p>
          <a:p>
            <a:pPr marL="719138" lvl="0" indent="-269875"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mean of the exponential distribution is 1/λ and the variance is 1/λ</a:t>
            </a:r>
            <a:r>
              <a:rPr lang="en-US" sz="1800" baseline="30000" dirty="0">
                <a:latin typeface="Calibri" panose="020F0502020204030204" pitchFamily="34" charset="0"/>
                <a:ea typeface="Calibri" panose="020F0502020204030204" pitchFamily="34" charset="0"/>
                <a:cs typeface="Calibri" panose="020F0502020204030204" pitchFamily="34" charset="0"/>
              </a:rPr>
              <a:t>2</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For a random variable x, it is expressed as</a:t>
            </a:r>
          </a:p>
        </p:txBody>
      </p:sp>
      <p:pic>
        <p:nvPicPr>
          <p:cNvPr id="5" name="Picture 4">
            <a:extLst>
              <a:ext uri="{FF2B5EF4-FFF2-40B4-BE49-F238E27FC236}">
                <a16:creationId xmlns:a16="http://schemas.microsoft.com/office/drawing/2014/main" id="{17BD0106-2B40-2A4F-F5FE-E91E320AACEE}"/>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1161143" y="4387003"/>
            <a:ext cx="3139864" cy="402095"/>
          </a:xfrm>
          <a:prstGeom prst="rect">
            <a:avLst/>
          </a:prstGeom>
        </p:spPr>
      </p:pic>
      <p:pic>
        <p:nvPicPr>
          <p:cNvPr id="8" name="Picture 7">
            <a:extLst>
              <a:ext uri="{FF2B5EF4-FFF2-40B4-BE49-F238E27FC236}">
                <a16:creationId xmlns:a16="http://schemas.microsoft.com/office/drawing/2014/main" id="{33A593A0-D085-8A5B-48BF-B4C60A881318}"/>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contrast="40000"/>
                    </a14:imgEffect>
                  </a14:imgLayer>
                </a14:imgProps>
              </a:ext>
            </a:extLst>
          </a:blip>
          <a:srcRect l="1743" t="1672"/>
          <a:stretch>
            <a:fillRect/>
          </a:stretch>
        </p:blipFill>
        <p:spPr>
          <a:xfrm>
            <a:off x="4940994" y="2306651"/>
            <a:ext cx="4040819" cy="2542363"/>
          </a:xfrm>
          <a:prstGeom prst="rect">
            <a:avLst/>
          </a:prstGeom>
        </p:spPr>
      </p:pic>
      <p:sp>
        <p:nvSpPr>
          <p:cNvPr id="9" name="TextBox 8">
            <a:extLst>
              <a:ext uri="{FF2B5EF4-FFF2-40B4-BE49-F238E27FC236}">
                <a16:creationId xmlns:a16="http://schemas.microsoft.com/office/drawing/2014/main" id="{3038A35B-2779-D17A-BDAB-E6BC892174E0}"/>
              </a:ext>
            </a:extLst>
          </p:cNvPr>
          <p:cNvSpPr txBox="1"/>
          <p:nvPr/>
        </p:nvSpPr>
        <p:spPr>
          <a:xfrm>
            <a:off x="5423408" y="4767942"/>
            <a:ext cx="3403601"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Figure-4: </a:t>
            </a:r>
            <a:r>
              <a:rPr lang="en-IN" b="1" dirty="0">
                <a:solidFill>
                  <a:schemeClr val="bg2"/>
                </a:solidFill>
                <a:latin typeface="Calibri" panose="020F0502020204030204" pitchFamily="34" charset="0"/>
                <a:ea typeface="Calibri" panose="020F0502020204030204" pitchFamily="34" charset="0"/>
                <a:cs typeface="Calibri" panose="020F0502020204030204" pitchFamily="34" charset="0"/>
              </a:rPr>
              <a:t>Exponential</a:t>
            </a: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 Distribution</a:t>
            </a:r>
            <a:endParaRPr lang="en-IN" b="1" dirty="0"/>
          </a:p>
        </p:txBody>
      </p:sp>
    </p:spTree>
    <p:extLst>
      <p:ext uri="{BB962C8B-B14F-4D97-AF65-F5344CB8AC3E}">
        <p14:creationId xmlns:p14="http://schemas.microsoft.com/office/powerpoint/2010/main" val="358658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238D7CE-3696-69FA-16BE-33FDEB12B49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6A86CDE-C8AA-0CA2-3B57-4CA842F35A1E}"/>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28</a:t>
            </a:r>
          </a:p>
        </p:txBody>
      </p:sp>
      <p:sp>
        <p:nvSpPr>
          <p:cNvPr id="2" name="Title 1">
            <a:extLst>
              <a:ext uri="{FF2B5EF4-FFF2-40B4-BE49-F238E27FC236}">
                <a16:creationId xmlns:a16="http://schemas.microsoft.com/office/drawing/2014/main" id="{ABFE4340-58F8-AEB6-278C-AA670C587D19}"/>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Continuous Probability Distributions</a:t>
            </a:r>
          </a:p>
        </p:txBody>
      </p:sp>
      <p:sp>
        <p:nvSpPr>
          <p:cNvPr id="3" name="Rectangle 2">
            <a:extLst>
              <a:ext uri="{FF2B5EF4-FFF2-40B4-BE49-F238E27FC236}">
                <a16:creationId xmlns:a16="http://schemas.microsoft.com/office/drawing/2014/main" id="{9EF095A7-1BB7-F0A6-9428-C128DF0570FE}"/>
              </a:ext>
            </a:extLst>
          </p:cNvPr>
          <p:cNvSpPr/>
          <p:nvPr/>
        </p:nvSpPr>
        <p:spPr>
          <a:xfrm>
            <a:off x="254001" y="953729"/>
            <a:ext cx="8639575" cy="337335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4. Chi-Squared Distribution: </a:t>
            </a:r>
            <a:r>
              <a:rPr lang="en-US" sz="1800" dirty="0">
                <a:latin typeface="Calibri" panose="020F0502020204030204" pitchFamily="34" charset="0"/>
                <a:ea typeface="Calibri" panose="020F0502020204030204" pitchFamily="34" charset="0"/>
                <a:cs typeface="Calibri" panose="020F0502020204030204" pitchFamily="34" charset="0"/>
              </a:rPr>
              <a:t>The Chi-Squared Distribution is a continuous probability distribution that arises in statistics, particularly in hypothesis testing and confidence interval estimation.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It is characterized by a single parameter, often denoted as k ,which represents the degrees of freedom.</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mean of the Chi-Squared Distribution</a:t>
            </a:r>
          </a:p>
          <a:p>
            <a:pPr marL="268288"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 is k and the variance is 2k.</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For a random variable x, it is expressed as</a:t>
            </a:r>
          </a:p>
        </p:txBody>
      </p:sp>
      <p:pic>
        <p:nvPicPr>
          <p:cNvPr id="5" name="Picture 4">
            <a:extLst>
              <a:ext uri="{FF2B5EF4-FFF2-40B4-BE49-F238E27FC236}">
                <a16:creationId xmlns:a16="http://schemas.microsoft.com/office/drawing/2014/main" id="{DBD87799-DA94-C488-9896-0B36EAA65FE4}"/>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1037634" y="4323908"/>
            <a:ext cx="3381966" cy="554379"/>
          </a:xfrm>
          <a:prstGeom prst="rect">
            <a:avLst/>
          </a:prstGeom>
        </p:spPr>
      </p:pic>
      <p:pic>
        <p:nvPicPr>
          <p:cNvPr id="3074" name="Picture 2" descr="Lightbox">
            <a:extLst>
              <a:ext uri="{FF2B5EF4-FFF2-40B4-BE49-F238E27FC236}">
                <a16:creationId xmlns:a16="http://schemas.microsoft.com/office/drawing/2014/main" id="{6AC9F79F-0998-1D9B-CD3C-1B1B18280F28}"/>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rcRect l="15333" t="5387" r="17238" b="9310"/>
          <a:stretch>
            <a:fillRect/>
          </a:stretch>
        </p:blipFill>
        <p:spPr bwMode="auto">
          <a:xfrm>
            <a:off x="4637314" y="2708045"/>
            <a:ext cx="4252685" cy="206715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C8601D5-E13C-EB16-F9A4-59729A847E0E}"/>
              </a:ext>
            </a:extLst>
          </p:cNvPr>
          <p:cNvSpPr txBox="1"/>
          <p:nvPr/>
        </p:nvSpPr>
        <p:spPr>
          <a:xfrm>
            <a:off x="5423408" y="4767942"/>
            <a:ext cx="3403601"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Figure-5: </a:t>
            </a:r>
            <a:r>
              <a:rPr lang="en-IN" b="1" dirty="0">
                <a:solidFill>
                  <a:schemeClr val="bg2"/>
                </a:solidFill>
                <a:latin typeface="Calibri" panose="020F0502020204030204" pitchFamily="34" charset="0"/>
                <a:ea typeface="Calibri" panose="020F0502020204030204" pitchFamily="34" charset="0"/>
                <a:cs typeface="Calibri" panose="020F0502020204030204" pitchFamily="34" charset="0"/>
              </a:rPr>
              <a:t>Chi-Squared</a:t>
            </a: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 Distribution</a:t>
            </a:r>
            <a:endParaRPr lang="en-IN" b="1" dirty="0"/>
          </a:p>
        </p:txBody>
      </p:sp>
    </p:spTree>
    <p:extLst>
      <p:ext uri="{BB962C8B-B14F-4D97-AF65-F5344CB8AC3E}">
        <p14:creationId xmlns:p14="http://schemas.microsoft.com/office/powerpoint/2010/main" val="3769019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07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5BA1178-25BA-57AC-B2E7-F937D1CA4D8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5A104C4-E3D5-D939-E2B1-CE7DB300D43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29</a:t>
            </a:r>
          </a:p>
        </p:txBody>
      </p:sp>
      <p:sp>
        <p:nvSpPr>
          <p:cNvPr id="2" name="Title 1">
            <a:extLst>
              <a:ext uri="{FF2B5EF4-FFF2-40B4-BE49-F238E27FC236}">
                <a16:creationId xmlns:a16="http://schemas.microsoft.com/office/drawing/2014/main" id="{11413822-CF6A-BF3D-1426-247914F6D42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Continuous Probability Distributions</a:t>
            </a:r>
          </a:p>
        </p:txBody>
      </p:sp>
      <p:sp>
        <p:nvSpPr>
          <p:cNvPr id="3" name="Rectangle 2">
            <a:extLst>
              <a:ext uri="{FF2B5EF4-FFF2-40B4-BE49-F238E27FC236}">
                <a16:creationId xmlns:a16="http://schemas.microsoft.com/office/drawing/2014/main" id="{378BA0E2-C076-1940-5DC2-5A70F7D6AB40}"/>
              </a:ext>
            </a:extLst>
          </p:cNvPr>
          <p:cNvSpPr/>
          <p:nvPr/>
        </p:nvSpPr>
        <p:spPr>
          <a:xfrm>
            <a:off x="254001" y="953729"/>
            <a:ext cx="8639575" cy="464871"/>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Discrete vs Continuous Distribution:</a:t>
            </a:r>
          </a:p>
        </p:txBody>
      </p:sp>
      <p:graphicFrame>
        <p:nvGraphicFramePr>
          <p:cNvPr id="5" name="Table 4">
            <a:extLst>
              <a:ext uri="{FF2B5EF4-FFF2-40B4-BE49-F238E27FC236}">
                <a16:creationId xmlns:a16="http://schemas.microsoft.com/office/drawing/2014/main" id="{69CC562C-5032-97B5-F4AD-19C90CC45D0C}"/>
              </a:ext>
            </a:extLst>
          </p:cNvPr>
          <p:cNvGraphicFramePr>
            <a:graphicFrameLocks noGrp="1"/>
          </p:cNvGraphicFramePr>
          <p:nvPr>
            <p:extLst>
              <p:ext uri="{D42A27DB-BD31-4B8C-83A1-F6EECF244321}">
                <p14:modId xmlns:p14="http://schemas.microsoft.com/office/powerpoint/2010/main" val="3060535633"/>
              </p:ext>
            </p:extLst>
          </p:nvPr>
        </p:nvGraphicFramePr>
        <p:xfrm>
          <a:off x="333829" y="1418921"/>
          <a:ext cx="8559748" cy="3526622"/>
        </p:xfrm>
        <a:graphic>
          <a:graphicData uri="http://schemas.openxmlformats.org/drawingml/2006/table">
            <a:tbl>
              <a:tblPr firstRow="1" firstCol="1" bandRow="1">
                <a:tableStyleId>{2D5ABB26-0587-4C30-8999-92F81FD0307C}</a:tableStyleId>
              </a:tblPr>
              <a:tblGrid>
                <a:gridCol w="4279874">
                  <a:extLst>
                    <a:ext uri="{9D8B030D-6E8A-4147-A177-3AD203B41FA5}">
                      <a16:colId xmlns:a16="http://schemas.microsoft.com/office/drawing/2014/main" val="2083947081"/>
                    </a:ext>
                  </a:extLst>
                </a:gridCol>
                <a:gridCol w="4279874">
                  <a:extLst>
                    <a:ext uri="{9D8B030D-6E8A-4147-A177-3AD203B41FA5}">
                      <a16:colId xmlns:a16="http://schemas.microsoft.com/office/drawing/2014/main" val="650437284"/>
                    </a:ext>
                  </a:extLst>
                </a:gridCol>
              </a:tblGrid>
              <a:tr h="300658">
                <a:tc>
                  <a:txBody>
                    <a:bodyPr/>
                    <a:lstStyle/>
                    <a:p>
                      <a:pPr algn="ctr">
                        <a:lnSpc>
                          <a:spcPct val="115000"/>
                        </a:lnSpc>
                        <a:spcAft>
                          <a:spcPts val="800"/>
                        </a:spcAft>
                        <a:buNone/>
                      </a:pPr>
                      <a:r>
                        <a:rPr lang="en-IN" sz="1600" b="1" kern="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Discrete Distribution</a:t>
                      </a:r>
                      <a:endParaRPr lang="en-IN" sz="1600" b="1" kern="1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lnSpc>
                          <a:spcPct val="115000"/>
                        </a:lnSpc>
                        <a:spcAft>
                          <a:spcPts val="800"/>
                        </a:spcAft>
                        <a:buNone/>
                      </a:pPr>
                      <a:r>
                        <a:rPr lang="en-IN" sz="1600" b="1" kern="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Continuous Distribution</a:t>
                      </a:r>
                      <a:endParaRPr lang="en-IN" sz="1600" b="1" kern="10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272442583"/>
                  </a:ext>
                </a:extLst>
              </a:tr>
              <a:tr h="593620">
                <a:tc>
                  <a:txBody>
                    <a:bodyPr/>
                    <a:lstStyle/>
                    <a:p>
                      <a:pPr algn="just">
                        <a:lnSpc>
                          <a:spcPct val="115000"/>
                        </a:lnSpc>
                        <a:spcAft>
                          <a:spcPts val="800"/>
                        </a:spcAft>
                        <a:buNone/>
                      </a:pPr>
                      <a:r>
                        <a:rPr lang="en-IN" sz="1600" kern="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Random variable can only take on a finite or countable number of values</a:t>
                      </a:r>
                      <a:endParaRPr lang="en-IN" sz="1600" kern="10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ct val="115000"/>
                        </a:lnSpc>
                        <a:spcAft>
                          <a:spcPts val="800"/>
                        </a:spcAft>
                        <a:buNone/>
                      </a:pPr>
                      <a:r>
                        <a:rPr lang="en-IN" sz="1600" kern="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Random variable can take on any value within a certain range or interval</a:t>
                      </a:r>
                      <a:endParaRPr lang="en-IN" sz="1600" kern="1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605541419"/>
                  </a:ext>
                </a:extLst>
              </a:tr>
              <a:tr h="593620">
                <a:tc>
                  <a:txBody>
                    <a:bodyPr/>
                    <a:lstStyle/>
                    <a:p>
                      <a:pPr algn="just">
                        <a:lnSpc>
                          <a:spcPct val="115000"/>
                        </a:lnSpc>
                        <a:spcAft>
                          <a:spcPts val="800"/>
                        </a:spcAft>
                        <a:buNone/>
                      </a:pPr>
                      <a:r>
                        <a:rPr lang="en-IN" sz="1600" kern="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Probability function assigns probabilities to each possible outcome</a:t>
                      </a:r>
                      <a:endParaRPr lang="en-IN" sz="1600" kern="1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ct val="115000"/>
                        </a:lnSpc>
                        <a:spcAft>
                          <a:spcPts val="800"/>
                        </a:spcAft>
                        <a:buNone/>
                      </a:pPr>
                      <a:r>
                        <a:rPr lang="en-IN" sz="1600" kern="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Probability function assigns probabilities to each possible value within a range or interval</a:t>
                      </a:r>
                      <a:endParaRPr lang="en-IN" sz="1600" kern="1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93895712"/>
                  </a:ext>
                </a:extLst>
              </a:tr>
              <a:tr h="593620">
                <a:tc>
                  <a:txBody>
                    <a:bodyPr/>
                    <a:lstStyle/>
                    <a:p>
                      <a:pPr algn="just">
                        <a:lnSpc>
                          <a:spcPct val="115000"/>
                        </a:lnSpc>
                        <a:spcAft>
                          <a:spcPts val="800"/>
                        </a:spcAft>
                        <a:buNone/>
                      </a:pPr>
                      <a:r>
                        <a:rPr lang="en-IN" sz="1600" kern="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Examples: binomial distribution, Poisson distribution, geometric distribution</a:t>
                      </a:r>
                      <a:endParaRPr lang="en-IN" sz="1600" kern="1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ct val="115000"/>
                        </a:lnSpc>
                        <a:spcAft>
                          <a:spcPts val="800"/>
                        </a:spcAft>
                        <a:buNone/>
                      </a:pPr>
                      <a:r>
                        <a:rPr lang="en-IN" sz="1600" kern="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Examples: normal distribution, exponential distribution, beta distribution</a:t>
                      </a:r>
                      <a:endParaRPr lang="en-IN" sz="1600" kern="1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331236006"/>
                  </a:ext>
                </a:extLst>
              </a:tr>
              <a:tr h="593620">
                <a:tc>
                  <a:txBody>
                    <a:bodyPr/>
                    <a:lstStyle/>
                    <a:p>
                      <a:pPr algn="just">
                        <a:lnSpc>
                          <a:spcPct val="115000"/>
                        </a:lnSpc>
                        <a:spcAft>
                          <a:spcPts val="800"/>
                        </a:spcAft>
                        <a:buNone/>
                      </a:pPr>
                      <a:r>
                        <a:rPr lang="en-IN" sz="1600" kern="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Used to model events with discrete outcomes, such as number of successes in a fixed number of trials</a:t>
                      </a:r>
                      <a:endParaRPr lang="en-IN" sz="1600" kern="10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ct val="115000"/>
                        </a:lnSpc>
                        <a:spcAft>
                          <a:spcPts val="800"/>
                        </a:spcAft>
                        <a:buNone/>
                      </a:pPr>
                      <a:r>
                        <a:rPr lang="en-IN" sz="1600" kern="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Used to model events with continuous outcomes, such as the height of individuals in a population</a:t>
                      </a:r>
                      <a:endParaRPr lang="en-IN" sz="1600" kern="1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975106706"/>
                  </a:ext>
                </a:extLst>
              </a:tr>
              <a:tr h="300658">
                <a:tc>
                  <a:txBody>
                    <a:bodyPr/>
                    <a:lstStyle/>
                    <a:p>
                      <a:pPr algn="just">
                        <a:lnSpc>
                          <a:spcPct val="115000"/>
                        </a:lnSpc>
                        <a:spcAft>
                          <a:spcPts val="800"/>
                        </a:spcAft>
                        <a:buNone/>
                      </a:pPr>
                      <a:r>
                        <a:rPr lang="en-IN" sz="1600" kern="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Probability of any single outcome is non-zero</a:t>
                      </a:r>
                      <a:endParaRPr lang="en-IN" sz="1600" kern="1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ct val="115000"/>
                        </a:lnSpc>
                        <a:spcAft>
                          <a:spcPts val="800"/>
                        </a:spcAft>
                        <a:buNone/>
                      </a:pPr>
                      <a:r>
                        <a:rPr lang="en-IN" sz="1600" kern="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Probability of any single value is zero</a:t>
                      </a:r>
                      <a:endParaRPr lang="en-IN" sz="1600" kern="1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847943861"/>
                  </a:ext>
                </a:extLst>
              </a:tr>
              <a:tr h="300658">
                <a:tc>
                  <a:txBody>
                    <a:bodyPr/>
                    <a:lstStyle/>
                    <a:p>
                      <a:pPr algn="just">
                        <a:lnSpc>
                          <a:spcPct val="115000"/>
                        </a:lnSpc>
                        <a:spcAft>
                          <a:spcPts val="800"/>
                        </a:spcAft>
                        <a:buNone/>
                      </a:pPr>
                      <a:r>
                        <a:rPr lang="en-IN" sz="1600" kern="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Cumulative distribution function is stepwise</a:t>
                      </a:r>
                      <a:endParaRPr lang="en-IN" sz="1600" kern="1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ct val="115000"/>
                        </a:lnSpc>
                        <a:spcAft>
                          <a:spcPts val="800"/>
                        </a:spcAft>
                        <a:buNone/>
                      </a:pPr>
                      <a:r>
                        <a:rPr lang="en-IN" sz="1600" kern="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Cumulative distribution function is continuous</a:t>
                      </a:r>
                      <a:endParaRPr lang="en-IN" sz="1600" kern="10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948292789"/>
                  </a:ext>
                </a:extLst>
              </a:tr>
            </a:tbl>
          </a:graphicData>
        </a:graphic>
      </p:graphicFrame>
    </p:spTree>
    <p:extLst>
      <p:ext uri="{BB962C8B-B14F-4D97-AF65-F5344CB8AC3E}">
        <p14:creationId xmlns:p14="http://schemas.microsoft.com/office/powerpoint/2010/main" val="2966901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E416DDD-CC26-E81E-9AE5-BA750C3A0EB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A31D20C-0B80-1141-86D8-10EA18025CD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30</a:t>
            </a:r>
          </a:p>
        </p:txBody>
      </p:sp>
      <p:sp>
        <p:nvSpPr>
          <p:cNvPr id="2" name="Title 1">
            <a:extLst>
              <a:ext uri="{FF2B5EF4-FFF2-40B4-BE49-F238E27FC236}">
                <a16:creationId xmlns:a16="http://schemas.microsoft.com/office/drawing/2014/main" id="{5ADA4A15-186E-A7B6-D2DD-C6B85215E364}"/>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Continuous Probability Distributions</a:t>
            </a:r>
          </a:p>
        </p:txBody>
      </p:sp>
      <p:sp>
        <p:nvSpPr>
          <p:cNvPr id="3" name="Rectangle 2">
            <a:extLst>
              <a:ext uri="{FF2B5EF4-FFF2-40B4-BE49-F238E27FC236}">
                <a16:creationId xmlns:a16="http://schemas.microsoft.com/office/drawing/2014/main" id="{EC720CDB-ED3F-3E73-B3D0-CDEE93BCAD1D}"/>
              </a:ext>
            </a:extLst>
          </p:cNvPr>
          <p:cNvSpPr/>
          <p:nvPr/>
        </p:nvSpPr>
        <p:spPr>
          <a:xfrm>
            <a:off x="254001" y="953729"/>
            <a:ext cx="8639575" cy="3788858"/>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Applications of Continuous Probability Distribution in Computer Science</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Modeling Uncertainty: </a:t>
            </a:r>
            <a:r>
              <a:rPr lang="en-US" sz="1800" dirty="0">
                <a:latin typeface="Calibri" panose="020F0502020204030204" pitchFamily="34" charset="0"/>
                <a:ea typeface="Calibri" panose="020F0502020204030204" pitchFamily="34" charset="0"/>
                <a:cs typeface="Calibri" panose="020F0502020204030204" pitchFamily="34" charset="0"/>
              </a:rPr>
              <a:t>They help represent uncertainty in predictions, allowing probabilistic outputs instead of fixed values.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Gaussian Distribution: </a:t>
            </a:r>
            <a:r>
              <a:rPr lang="en-US" sz="1800" dirty="0">
                <a:latin typeface="Calibri" panose="020F0502020204030204" pitchFamily="34" charset="0"/>
                <a:ea typeface="Calibri" panose="020F0502020204030204" pitchFamily="34" charset="0"/>
                <a:cs typeface="Calibri" panose="020F0502020204030204" pitchFamily="34" charset="0"/>
              </a:rPr>
              <a:t>Widely used in models like regression and Bayesian networks for error modeling and the assumption of normality.</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MLE: </a:t>
            </a:r>
            <a:r>
              <a:rPr lang="en-US" sz="1800" dirty="0">
                <a:latin typeface="Calibri" panose="020F0502020204030204" pitchFamily="34" charset="0"/>
                <a:ea typeface="Calibri" panose="020F0502020204030204" pitchFamily="34" charset="0"/>
                <a:cs typeface="Calibri" panose="020F0502020204030204" pitchFamily="34" charset="0"/>
              </a:rPr>
              <a:t>Many algorithms rely on continuous distributions to estimate model parameters that maximize the likelihood of observed data.</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Bayesian Inference: </a:t>
            </a:r>
            <a:r>
              <a:rPr lang="en-US" sz="1800" dirty="0">
                <a:latin typeface="Calibri" panose="020F0502020204030204" pitchFamily="34" charset="0"/>
                <a:ea typeface="Calibri" panose="020F0502020204030204" pitchFamily="34" charset="0"/>
                <a:cs typeface="Calibri" panose="020F0502020204030204" pitchFamily="34" charset="0"/>
              </a:rPr>
              <a:t>Continuous distributions are essential in Bayesian models to update beliefs about parameters based on new data.</a:t>
            </a:r>
          </a:p>
        </p:txBody>
      </p:sp>
    </p:spTree>
    <p:extLst>
      <p:ext uri="{BB962C8B-B14F-4D97-AF65-F5344CB8AC3E}">
        <p14:creationId xmlns:p14="http://schemas.microsoft.com/office/powerpoint/2010/main" val="4252862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942DB27-E3BA-9739-00EA-45A212FA963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7A670B3-FE73-5182-DB8C-9ACC90F7DABD}"/>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31</a:t>
            </a:r>
          </a:p>
        </p:txBody>
      </p:sp>
      <p:sp>
        <p:nvSpPr>
          <p:cNvPr id="2" name="Title 1">
            <a:extLst>
              <a:ext uri="{FF2B5EF4-FFF2-40B4-BE49-F238E27FC236}">
                <a16:creationId xmlns:a16="http://schemas.microsoft.com/office/drawing/2014/main" id="{E84F97FA-EC63-EDD0-3F9E-9D6E079FC1F7}"/>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Applications of the Topic</a:t>
            </a:r>
          </a:p>
        </p:txBody>
      </p:sp>
      <p:sp>
        <p:nvSpPr>
          <p:cNvPr id="3" name="Rectangle 2">
            <a:extLst>
              <a:ext uri="{FF2B5EF4-FFF2-40B4-BE49-F238E27FC236}">
                <a16:creationId xmlns:a16="http://schemas.microsoft.com/office/drawing/2014/main" id="{AC4933E1-3A88-D50F-E6E4-1FB3E7A79734}"/>
              </a:ext>
            </a:extLst>
          </p:cNvPr>
          <p:cNvSpPr/>
          <p:nvPr/>
        </p:nvSpPr>
        <p:spPr>
          <a:xfrm>
            <a:off x="254001" y="939215"/>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Here are applications of Discrete Distribution:</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Counting number of defective items in a batch (quality control).</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Number of customers arriving at a shop/bank in a fixed time (service systems).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Number of phone calls or packets arriving in a network per minute (telecom).</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Number of votes / YES responses in a sample survey (elections, polls).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Number of accidents, claims or complaints in a day (insurance, safety).</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Number of emails classified as spam (Bernoulli / binomial in ML).</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Word counts or term frequencies in documents (text mining, Naive Bayes).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Number of retries / failures before success in a system (geometric / negative binomial).</a:t>
            </a:r>
          </a:p>
        </p:txBody>
      </p:sp>
    </p:spTree>
    <p:extLst>
      <p:ext uri="{BB962C8B-B14F-4D97-AF65-F5344CB8AC3E}">
        <p14:creationId xmlns:p14="http://schemas.microsoft.com/office/powerpoint/2010/main" val="57932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F09172B-2DD7-486F-62A3-3E96CFB371E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0E19259-205C-E0BB-37C6-F68103667DAC}"/>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32</a:t>
            </a:r>
          </a:p>
        </p:txBody>
      </p:sp>
      <p:sp>
        <p:nvSpPr>
          <p:cNvPr id="2" name="Title 1">
            <a:extLst>
              <a:ext uri="{FF2B5EF4-FFF2-40B4-BE49-F238E27FC236}">
                <a16:creationId xmlns:a16="http://schemas.microsoft.com/office/drawing/2014/main" id="{94CBCA41-DDDE-2CBE-E950-47D5BA436101}"/>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Applications of the Topic</a:t>
            </a:r>
          </a:p>
        </p:txBody>
      </p:sp>
      <p:sp>
        <p:nvSpPr>
          <p:cNvPr id="3" name="Rectangle 2">
            <a:extLst>
              <a:ext uri="{FF2B5EF4-FFF2-40B4-BE49-F238E27FC236}">
                <a16:creationId xmlns:a16="http://schemas.microsoft.com/office/drawing/2014/main" id="{AD44F15C-1ED2-11CD-DAFB-70FF319BEA0B}"/>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Here are applications of Continuous Distribution:</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Modeling human measurements like height, weight, blood pressure (normal).</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Measurement errors in experiments and instruments (normal).</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Time to failure of machines, bulbs, components (exponential, Weibull).</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Modeling stock returns and price movements (normal / log-normal).</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Noise in communication channels and sensors (Gaussian).</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Waiting time between arrivals of customers or calls (exponential).</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Environmental values like temperature, rainfall, pollution level (continuous).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Basis for hypothesis testing, confidence intervals and regression errors (normal, t-distribution).</a:t>
            </a:r>
          </a:p>
        </p:txBody>
      </p:sp>
    </p:spTree>
    <p:extLst>
      <p:ext uri="{BB962C8B-B14F-4D97-AF65-F5344CB8AC3E}">
        <p14:creationId xmlns:p14="http://schemas.microsoft.com/office/powerpoint/2010/main" val="1568412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4F1C1FB-C899-5DBE-C42F-B1D10C95C32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CE59AD7-C1A8-1276-52A6-379528A20A2E}"/>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33</a:t>
            </a:r>
          </a:p>
        </p:txBody>
      </p:sp>
      <p:sp>
        <p:nvSpPr>
          <p:cNvPr id="2" name="Title 1">
            <a:extLst>
              <a:ext uri="{FF2B5EF4-FFF2-40B4-BE49-F238E27FC236}">
                <a16:creationId xmlns:a16="http://schemas.microsoft.com/office/drawing/2014/main" id="{65625B2D-5E70-705A-DA8E-AA76A0A61FA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Summary of the Lecture</a:t>
            </a:r>
          </a:p>
        </p:txBody>
      </p:sp>
      <p:sp>
        <p:nvSpPr>
          <p:cNvPr id="3" name="Rectangle 2">
            <a:extLst>
              <a:ext uri="{FF2B5EF4-FFF2-40B4-BE49-F238E27FC236}">
                <a16:creationId xmlns:a16="http://schemas.microsoft.com/office/drawing/2014/main" id="{8EC0002B-FFFF-77E6-EC94-99CFC49F336E}"/>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this lecture, we discussed the discrete and continuous probability distributions are used to model uncertainty in real-world data.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Discrete distributions like Bernoulli, Binomial, Poisson, and Geometric deal with countable outcomes such as number of defects, customer arrivals, network packets, survey responses, and system failures.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Continuous distributions like Normal, Exponential, Uniform, and Gamma work with measurable values such as height, weight, temperature, noise levels, stock returns, and time to failure of machines.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Understanding these distributions helps in prediction, decision-making, statistical testing, and modeling real-life situations across domains like machine learning.</a:t>
            </a:r>
          </a:p>
        </p:txBody>
      </p:sp>
    </p:spTree>
    <p:extLst>
      <p:ext uri="{BB962C8B-B14F-4D97-AF65-F5344CB8AC3E}">
        <p14:creationId xmlns:p14="http://schemas.microsoft.com/office/powerpoint/2010/main" val="4214833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6E56EA3-16F5-E76E-14E4-37F3EB84294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8A45607-6A54-9997-9F78-69F2A1F673C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34</a:t>
            </a:r>
          </a:p>
        </p:txBody>
      </p:sp>
      <p:sp>
        <p:nvSpPr>
          <p:cNvPr id="2" name="Title 1">
            <a:extLst>
              <a:ext uri="{FF2B5EF4-FFF2-40B4-BE49-F238E27FC236}">
                <a16:creationId xmlns:a16="http://schemas.microsoft.com/office/drawing/2014/main" id="{D86599D1-32E9-56EA-04F7-5C299DA2C714}"/>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Next Lecture</a:t>
            </a:r>
          </a:p>
        </p:txBody>
      </p:sp>
      <p:sp>
        <p:nvSpPr>
          <p:cNvPr id="3" name="Rectangle 2">
            <a:extLst>
              <a:ext uri="{FF2B5EF4-FFF2-40B4-BE49-F238E27FC236}">
                <a16:creationId xmlns:a16="http://schemas.microsoft.com/office/drawing/2014/main" id="{D118AC76-7B90-6FF0-0952-01F49F273CF9}"/>
              </a:ext>
            </a:extLst>
          </p:cNvPr>
          <p:cNvSpPr/>
          <p:nvPr/>
        </p:nvSpPr>
        <p:spPr>
          <a:xfrm>
            <a:off x="254001" y="939215"/>
            <a:ext cx="8639575" cy="1965282"/>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next lecture, we are going to cover:</a:t>
            </a:r>
          </a:p>
          <a:p>
            <a:pPr marL="285750" lvl="0" indent="-285750" algn="just">
              <a:lnSpc>
                <a:spcPct val="150000"/>
              </a:lnSpc>
              <a:buFont typeface="Wingdings" panose="05000000000000000000" pitchFamily="2" charset="2"/>
              <a:buChar char="Ø"/>
            </a:pPr>
            <a:endParaRPr lang="en-US" sz="1100" dirty="0">
              <a:latin typeface="Calibri" panose="020F0502020204030204" pitchFamily="34" charset="0"/>
              <a:ea typeface="Calibri" panose="020F0502020204030204" pitchFamily="34" charset="0"/>
              <a:cs typeface="Calibri" panose="020F0502020204030204" pitchFamily="34" charset="0"/>
            </a:endParaRPr>
          </a:p>
          <a:p>
            <a:pPr marL="536575" lvl="0" indent="-19843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Normal Distribution and T Distributions</a:t>
            </a:r>
          </a:p>
          <a:p>
            <a:pPr marL="536575" lvl="0" indent="-19843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RSE and R</a:t>
            </a:r>
            <a:r>
              <a:rPr lang="en-US" sz="1800" baseline="30000" dirty="0">
                <a:latin typeface="Calibri" panose="020F0502020204030204" pitchFamily="34" charset="0"/>
                <a:ea typeface="Calibri" panose="020F0502020204030204" pitchFamily="34" charset="0"/>
                <a:cs typeface="Calibri" panose="020F0502020204030204" pitchFamily="34" charset="0"/>
              </a:rPr>
              <a:t>2</a:t>
            </a:r>
          </a:p>
          <a:p>
            <a:pPr lvl="0" algn="just">
              <a:lnSpc>
                <a:spcPct val="150000"/>
              </a:lnSpc>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94356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E035788-6F59-DCF3-2897-BC56C4CEB92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89FB0CA-6899-88FD-503C-2C28AD374E5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35</a:t>
            </a:r>
          </a:p>
        </p:txBody>
      </p:sp>
      <p:sp>
        <p:nvSpPr>
          <p:cNvPr id="2" name="Title 1">
            <a:extLst>
              <a:ext uri="{FF2B5EF4-FFF2-40B4-BE49-F238E27FC236}">
                <a16:creationId xmlns:a16="http://schemas.microsoft.com/office/drawing/2014/main" id="{294DB9DE-E12E-9A84-B19B-87EFEE3B7869}"/>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Quiz/ FAQ’s</a:t>
            </a:r>
          </a:p>
        </p:txBody>
      </p:sp>
      <p:sp>
        <p:nvSpPr>
          <p:cNvPr id="3" name="Rectangle 2">
            <a:extLst>
              <a:ext uri="{FF2B5EF4-FFF2-40B4-BE49-F238E27FC236}">
                <a16:creationId xmlns:a16="http://schemas.microsoft.com/office/drawing/2014/main" id="{B0927368-5887-20F7-C08C-383823E01449}"/>
              </a:ext>
            </a:extLst>
          </p:cNvPr>
          <p:cNvSpPr/>
          <p:nvPr/>
        </p:nvSpPr>
        <p:spPr>
          <a:xfrm>
            <a:off x="252212" y="1156929"/>
            <a:ext cx="8639575" cy="3788858"/>
          </a:xfrm>
          <a:prstGeom prst="rect">
            <a:avLst/>
          </a:prstGeom>
        </p:spPr>
        <p:txBody>
          <a:bodyPr wrap="square">
            <a:spAutoFit/>
          </a:bodyPr>
          <a:lstStyle/>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Define a discrete probability distribution.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Define a continuous probability distribution.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Give two examples of discrete probability distributions.</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Give two examples of continuous probability distributions.</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How does a discrete distribution differ from a continuous distribution?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Name one real-life situation modeled using a Poisson distribution.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Name one real-life situation modeled using a Normal distribution.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What type of data is used in binomial distribution?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Which distribution is suitable for modeling waiting time or time to failure?</a:t>
            </a:r>
          </a:p>
        </p:txBody>
      </p:sp>
    </p:spTree>
    <p:extLst>
      <p:ext uri="{BB962C8B-B14F-4D97-AF65-F5344CB8AC3E}">
        <p14:creationId xmlns:p14="http://schemas.microsoft.com/office/powerpoint/2010/main" val="7353385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4C8FAA3-8A72-FCD2-A3A9-059A1C150C7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CEADB68-92EB-1164-3301-82219E06EE4F}"/>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36</a:t>
            </a:r>
          </a:p>
        </p:txBody>
      </p:sp>
      <p:sp>
        <p:nvSpPr>
          <p:cNvPr id="2" name="Title 1">
            <a:extLst>
              <a:ext uri="{FF2B5EF4-FFF2-40B4-BE49-F238E27FC236}">
                <a16:creationId xmlns:a16="http://schemas.microsoft.com/office/drawing/2014/main" id="{BD989C70-81BD-824C-D52A-A8BE3A38777E}"/>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References/ Articles/ Videos</a:t>
            </a:r>
          </a:p>
        </p:txBody>
      </p:sp>
      <p:graphicFrame>
        <p:nvGraphicFramePr>
          <p:cNvPr id="4" name="Table 3">
            <a:extLst>
              <a:ext uri="{FF2B5EF4-FFF2-40B4-BE49-F238E27FC236}">
                <a16:creationId xmlns:a16="http://schemas.microsoft.com/office/drawing/2014/main" id="{AC276061-E2FC-9825-D1CF-3706195FC13C}"/>
              </a:ext>
            </a:extLst>
          </p:cNvPr>
          <p:cNvGraphicFramePr>
            <a:graphicFrameLocks noGrp="1"/>
          </p:cNvGraphicFramePr>
          <p:nvPr>
            <p:extLst>
              <p:ext uri="{D42A27DB-BD31-4B8C-83A1-F6EECF244321}">
                <p14:modId xmlns:p14="http://schemas.microsoft.com/office/powerpoint/2010/main" val="2950123059"/>
              </p:ext>
            </p:extLst>
          </p:nvPr>
        </p:nvGraphicFramePr>
        <p:xfrm>
          <a:off x="311150" y="1167945"/>
          <a:ext cx="8521700" cy="3662338"/>
        </p:xfrm>
        <a:graphic>
          <a:graphicData uri="http://schemas.openxmlformats.org/drawingml/2006/table">
            <a:tbl>
              <a:tblPr>
                <a:tableStyleId>{97377635-EB9D-4884-B79A-0D259F93817B}</a:tableStyleId>
              </a:tblPr>
              <a:tblGrid>
                <a:gridCol w="617764">
                  <a:extLst>
                    <a:ext uri="{9D8B030D-6E8A-4147-A177-3AD203B41FA5}">
                      <a16:colId xmlns:a16="http://schemas.microsoft.com/office/drawing/2014/main" val="2462611782"/>
                    </a:ext>
                  </a:extLst>
                </a:gridCol>
                <a:gridCol w="7903936">
                  <a:extLst>
                    <a:ext uri="{9D8B030D-6E8A-4147-A177-3AD203B41FA5}">
                      <a16:colId xmlns:a16="http://schemas.microsoft.com/office/drawing/2014/main" val="3473227875"/>
                    </a:ext>
                  </a:extLst>
                </a:gridCol>
              </a:tblGrid>
              <a:tr h="341314">
                <a:tc gridSpan="2">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Text/ Reference Books</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730715912"/>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T1</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Massaron</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L., &amp; Boschetti, A. (2016). Regression analysis with Python. </a:t>
                      </a: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Packt</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Publishing Ltd.</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851104895"/>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T2</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Jajuga</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00643724"/>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T3</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Bishop, C. M., &amp; Bishop, H. (2023). Deep learning: Foundations and concepts. Springer Nature.</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4140295978"/>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R1</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Matloff, N. (2017). Statistical regression and classification: from linear models to machine learning. Chapman and Hall/CRC.</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45350956"/>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R2</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Jajuga</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992068614"/>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R3</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Vishnoi</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V. K., Chauhan, N. R., &amp; Kumar, K. (2024). An introduction to deep learning. </a:t>
                      </a: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Xoffencerpublication</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100232723"/>
                  </a:ext>
                </a:extLst>
              </a:tr>
            </a:tbl>
          </a:graphicData>
        </a:graphic>
      </p:graphicFrame>
    </p:spTree>
    <p:extLst>
      <p:ext uri="{BB962C8B-B14F-4D97-AF65-F5344CB8AC3E}">
        <p14:creationId xmlns:p14="http://schemas.microsoft.com/office/powerpoint/2010/main" val="15905816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2F170DA-4FB0-780A-165F-96871258C4A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16FD4E1-DE68-EDFC-57AF-3025781CAD0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37</a:t>
            </a:r>
          </a:p>
        </p:txBody>
      </p:sp>
      <p:sp>
        <p:nvSpPr>
          <p:cNvPr id="2" name="Title 1">
            <a:extLst>
              <a:ext uri="{FF2B5EF4-FFF2-40B4-BE49-F238E27FC236}">
                <a16:creationId xmlns:a16="http://schemas.microsoft.com/office/drawing/2014/main" id="{629AD58F-AFA5-005A-FEC5-E7F0E57D909C}"/>
              </a:ext>
            </a:extLst>
          </p:cNvPr>
          <p:cNvSpPr txBox="1">
            <a:spLocks/>
          </p:cNvSpPr>
          <p:nvPr/>
        </p:nvSpPr>
        <p:spPr>
          <a:xfrm>
            <a:off x="653144" y="65313"/>
            <a:ext cx="8040914" cy="806675"/>
          </a:xfrm>
          <a:prstGeom prst="rect">
            <a:avLst/>
          </a:prstGeom>
        </p:spPr>
        <p:txBody>
          <a:bodyPr>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sp>
        <p:nvSpPr>
          <p:cNvPr id="3" name="Rectangle 2">
            <a:extLst>
              <a:ext uri="{FF2B5EF4-FFF2-40B4-BE49-F238E27FC236}">
                <a16:creationId xmlns:a16="http://schemas.microsoft.com/office/drawing/2014/main" id="{54DF2A59-6EAD-B15A-4AA6-7257F44129B9}"/>
              </a:ext>
            </a:extLst>
          </p:cNvPr>
          <p:cNvSpPr/>
          <p:nvPr/>
        </p:nvSpPr>
        <p:spPr>
          <a:xfrm>
            <a:off x="254001" y="939215"/>
            <a:ext cx="8639575" cy="4204869"/>
          </a:xfrm>
          <a:prstGeom prst="rect">
            <a:avLst/>
          </a:prstGeom>
        </p:spPr>
        <p:txBody>
          <a:bodyPr wrap="square">
            <a:spAutoFit/>
          </a:bodyPr>
          <a:lstStyle/>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3"/>
              </a:rPr>
              <a:t>https://youtu.be/Qm9ynLpyIIw</a:t>
            </a:r>
            <a:endParaRPr lang="en-US" sz="1700" dirty="0">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4"/>
              </a:rPr>
              <a:t>https://youtu.be/QxqxdQ_g2uw</a:t>
            </a:r>
            <a:endParaRPr lang="en-US" sz="1700" dirty="0">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5"/>
              </a:rPr>
              <a:t>https://www.coursera.org/learn/ai-for-real-world-intelligence-systems?source=admin-share</a:t>
            </a:r>
            <a:r>
              <a:rPr lang="en-US" sz="1700" dirty="0">
                <a:latin typeface="Calibri" panose="020F0502020204030204" pitchFamily="34" charset="0"/>
                <a:ea typeface="Calibri" panose="020F0502020204030204" pitchFamily="34" charset="0"/>
                <a:cs typeface="Calibri" panose="020F0502020204030204" pitchFamily="34" charset="0"/>
              </a:rPr>
              <a:t> </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5"/>
              </a:rPr>
              <a:t>https://www.coursera.org/learn/ai-for-real-world-intelligence-systems?source=admin-share</a:t>
            </a:r>
            <a:r>
              <a:rPr lang="en-US" sz="1700" dirty="0">
                <a:latin typeface="Calibri" panose="020F0502020204030204" pitchFamily="34" charset="0"/>
                <a:ea typeface="Calibri" panose="020F0502020204030204" pitchFamily="34" charset="0"/>
                <a:cs typeface="Calibri" panose="020F0502020204030204" pitchFamily="34" charset="0"/>
              </a:rPr>
              <a:t> </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6"/>
              </a:rPr>
              <a:t>https://www.coursera.org/learn/deep-learning-applications-in-vision?source=admin-share</a:t>
            </a:r>
            <a:r>
              <a:rPr lang="en-US" sz="1700" dirty="0">
                <a:latin typeface="Calibri" panose="020F0502020204030204" pitchFamily="34" charset="0"/>
                <a:ea typeface="Calibri" panose="020F0502020204030204" pitchFamily="34" charset="0"/>
                <a:cs typeface="Calibri" panose="020F0502020204030204" pitchFamily="34" charset="0"/>
              </a:rPr>
              <a:t> </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6"/>
              </a:rPr>
              <a:t>https://www.coursera.org/learn/deep-learning-applications-in-vision?source=admin-share</a:t>
            </a:r>
            <a:r>
              <a:rPr lang="en-US" sz="1700" dirty="0">
                <a:latin typeface="Calibri" panose="020F0502020204030204" pitchFamily="34" charset="0"/>
                <a:ea typeface="Calibri" panose="020F0502020204030204" pitchFamily="34" charset="0"/>
                <a:cs typeface="Calibri" panose="020F0502020204030204" pitchFamily="34" charset="0"/>
              </a:rPr>
              <a:t> </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7"/>
              </a:rPr>
              <a:t>https://www.coursera.org/learn/ismdl?source=admin-share</a:t>
            </a:r>
            <a:endParaRPr lang="en-US" sz="1700" dirty="0">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8"/>
              </a:rPr>
              <a:t>https://youtu.be/xFss2H1Cq5w</a:t>
            </a:r>
            <a:r>
              <a:rPr lang="en-US" sz="1700" dirty="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42831198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0" y="4569812"/>
            <a:ext cx="9144000" cy="573688"/>
          </a:xfrm>
          <a:prstGeom prst="rect">
            <a:avLst/>
          </a:prstGeom>
          <a:noFill/>
          <a:ln>
            <a:noFill/>
          </a:ln>
        </p:spPr>
        <p:txBody>
          <a:bodyPr spcFirstLastPara="1" wrap="square" lIns="91425" tIns="45700" rIns="91425" bIns="45700" anchor="t" anchorCtr="0">
            <a:normAutofit/>
          </a:bodyPr>
          <a:lstStyle/>
          <a:p>
            <a:pPr marL="342900" indent="-342900" algn="just">
              <a:lnSpc>
                <a:spcPct val="100000"/>
              </a:lnSpc>
              <a:spcBef>
                <a:spcPts val="0"/>
              </a:spcBef>
              <a:buNone/>
            </a:pPr>
            <a:r>
              <a:rPr lang="en-US" sz="2600" b="0"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 	</a:t>
            </a:r>
            <a:r>
              <a:rPr lang="en-US" sz="2600" b="1"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Note: </a:t>
            </a:r>
            <a:r>
              <a:rPr lang="en-US" sz="2600" b="0"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Scan this QR code to provide anonymous feedback.</a:t>
            </a:r>
            <a:endParaRPr sz="2400" b="1" i="0" u="none" strike="noStrike" cap="none" dirty="0">
              <a:solidFill>
                <a:schemeClr val="bg2"/>
              </a:solidFill>
              <a:latin typeface="Times New Roman"/>
              <a:ea typeface="Times New Roman"/>
              <a:cs typeface="Times New Roman"/>
              <a:sym typeface="Times New Roman"/>
            </a:endParaRPr>
          </a:p>
        </p:txBody>
      </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38</a:t>
            </a:r>
          </a:p>
        </p:txBody>
      </p:sp>
      <p:pic>
        <p:nvPicPr>
          <p:cNvPr id="3" name="Picture 2">
            <a:extLst>
              <a:ext uri="{FF2B5EF4-FFF2-40B4-BE49-F238E27FC236}">
                <a16:creationId xmlns:a16="http://schemas.microsoft.com/office/drawing/2014/main" id="{638C0E15-F736-DB2F-B389-5746B3632B42}"/>
              </a:ext>
            </a:extLst>
          </p:cNvPr>
          <p:cNvPicPr>
            <a:picLocks noChangeAspect="1"/>
          </p:cNvPicPr>
          <p:nvPr/>
        </p:nvPicPr>
        <p:blipFill>
          <a:blip r:embed="rId3"/>
          <a:stretch>
            <a:fillRect/>
          </a:stretch>
        </p:blipFill>
        <p:spPr>
          <a:xfrm>
            <a:off x="2714172" y="684476"/>
            <a:ext cx="4354285" cy="3887549"/>
          </a:xfrm>
          <a:prstGeom prst="rect">
            <a:avLst/>
          </a:prstGeom>
        </p:spPr>
      </p:pic>
    </p:spTree>
    <p:extLst>
      <p:ext uri="{BB962C8B-B14F-4D97-AF65-F5344CB8AC3E}">
        <p14:creationId xmlns:p14="http://schemas.microsoft.com/office/powerpoint/2010/main" val="32179637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0" y="1669143"/>
            <a:ext cx="9144000" cy="1685036"/>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115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3948192"/>
            <a:ext cx="4572000"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For queries</a:t>
            </a:r>
          </a:p>
          <a:p>
            <a:r>
              <a:rPr lang="en-US" sz="2000" b="1" dirty="0">
                <a:latin typeface="Calibri" panose="020F0502020204030204" pitchFamily="34" charset="0"/>
                <a:ea typeface="Calibri" panose="020F0502020204030204" pitchFamily="34" charset="0"/>
                <a:cs typeface="Calibri" panose="020F0502020204030204" pitchFamily="34" charset="0"/>
              </a:rPr>
              <a:t>Email: </a:t>
            </a:r>
            <a:r>
              <a:rPr lang="en-US" sz="2000" dirty="0">
                <a:latin typeface="Calibri" panose="020F0502020204030204" pitchFamily="34" charset="0"/>
                <a:ea typeface="Calibri" panose="020F0502020204030204" pitchFamily="34" charset="0"/>
                <a:cs typeface="Calibri" panose="020F0502020204030204" pitchFamily="34" charset="0"/>
              </a:rPr>
              <a:t>siddharth.e12853@cumail.in</a:t>
            </a:r>
          </a:p>
        </p:txBody>
      </p:sp>
      <p:sp>
        <p:nvSpPr>
          <p:cNvPr id="5" name="TextBox 4"/>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39</a:t>
            </a: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1344</TotalTime>
  <Words>3881</Words>
  <Application>Microsoft Office PowerPoint</Application>
  <PresentationFormat>On-screen Show (16:9)</PresentationFormat>
  <Paragraphs>365</Paragraphs>
  <Slides>40</Slides>
  <Notes>40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Lato</vt:lpstr>
      <vt:lpstr>Times New Roman</vt:lpstr>
      <vt:lpstr>Cambria</vt:lpstr>
      <vt:lpstr>Calibri</vt:lpstr>
      <vt:lpstr>Vladimir Script</vt:lpstr>
      <vt:lpstr>Wingdings</vt:lpstr>
      <vt:lpstr>Arial</vt:lpstr>
      <vt:lpstr>Cambria Math</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Siddharth Kumar</cp:lastModifiedBy>
  <cp:revision>251</cp:revision>
  <dcterms:modified xsi:type="dcterms:W3CDTF">2025-12-02T12:42:54Z</dcterms:modified>
</cp:coreProperties>
</file>