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8"/>
  </p:notesMasterIdLst>
  <p:handoutMasterIdLst>
    <p:handoutMasterId r:id="rId49"/>
  </p:handoutMasterIdLst>
  <p:sldIdLst>
    <p:sldId id="256" r:id="rId2"/>
    <p:sldId id="283" r:id="rId3"/>
    <p:sldId id="308" r:id="rId4"/>
    <p:sldId id="309" r:id="rId5"/>
    <p:sldId id="310" r:id="rId6"/>
    <p:sldId id="311" r:id="rId7"/>
    <p:sldId id="312" r:id="rId8"/>
    <p:sldId id="313" r:id="rId9"/>
    <p:sldId id="314" r:id="rId10"/>
    <p:sldId id="315" r:id="rId11"/>
    <p:sldId id="318" r:id="rId12"/>
    <p:sldId id="319" r:id="rId13"/>
    <p:sldId id="316" r:id="rId14"/>
    <p:sldId id="317" r:id="rId15"/>
    <p:sldId id="320" r:id="rId16"/>
    <p:sldId id="321" r:id="rId17"/>
    <p:sldId id="322" r:id="rId18"/>
    <p:sldId id="350" r:id="rId19"/>
    <p:sldId id="351" r:id="rId20"/>
    <p:sldId id="352" r:id="rId21"/>
    <p:sldId id="353" r:id="rId22"/>
    <p:sldId id="354" r:id="rId23"/>
    <p:sldId id="355" r:id="rId24"/>
    <p:sldId id="356" r:id="rId25"/>
    <p:sldId id="357" r:id="rId26"/>
    <p:sldId id="358" r:id="rId27"/>
    <p:sldId id="359" r:id="rId28"/>
    <p:sldId id="360" r:id="rId29"/>
    <p:sldId id="361" r:id="rId30"/>
    <p:sldId id="362" r:id="rId31"/>
    <p:sldId id="363" r:id="rId32"/>
    <p:sldId id="364" r:id="rId33"/>
    <p:sldId id="365" r:id="rId34"/>
    <p:sldId id="366" r:id="rId35"/>
    <p:sldId id="367" r:id="rId36"/>
    <p:sldId id="372" r:id="rId37"/>
    <p:sldId id="368" r:id="rId38"/>
    <p:sldId id="369" r:id="rId39"/>
    <p:sldId id="370" r:id="rId40"/>
    <p:sldId id="373" r:id="rId41"/>
    <p:sldId id="374" r:id="rId42"/>
    <p:sldId id="375" r:id="rId43"/>
    <p:sldId id="376" r:id="rId44"/>
    <p:sldId id="377" r:id="rId45"/>
    <p:sldId id="307" r:id="rId46"/>
    <p:sldId id="305" r:id="rId47"/>
  </p:sldIdLst>
  <p:sldSz cx="9144000" cy="5143500" type="screen16x9"/>
  <p:notesSz cx="6858000" cy="9144000"/>
  <p:embeddedFontLst>
    <p:embeddedFont>
      <p:font typeface="Arial Black" panose="020B0A04020102020204" pitchFamily="34" charset="0"/>
      <p:bold r:id="rId50"/>
    </p:embeddedFont>
    <p:embeddedFont>
      <p:font typeface="Cambria" panose="02040503050406030204" pitchFamily="18" charset="0"/>
      <p:regular r:id="rId51"/>
      <p:bold r:id="rId52"/>
      <p:italic r:id="rId53"/>
      <p:boldItalic r:id="rId54"/>
    </p:embeddedFont>
    <p:embeddedFont>
      <p:font typeface="Lato" panose="020F0502020204030203" pitchFamily="34" charset="0"/>
      <p:regular r:id="rId55"/>
      <p:bold r:id="rId56"/>
      <p:italic r:id="rId57"/>
      <p:boldItalic r:id="rId58"/>
    </p:embeddedFont>
    <p:embeddedFont>
      <p:font typeface="Vladimir Script" panose="03050402040407070305" pitchFamily="66" charset="0"/>
      <p:regular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88" d="100"/>
          <a:sy n="88" d="100"/>
        </p:scale>
        <p:origin x="588"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02-12-2025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D719017-413C-E084-E2D7-E01DFE04D5A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84AA064-F1C3-5A91-F1FB-E84E642AA9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5E868B8-E61F-AC38-ECA5-FAE08C8F20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392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A71CA10-A8A0-AE3F-7A69-F6C1AD4A68D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A9CF14-88CE-71E9-7C0A-EAB3580F99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520688-B581-66F7-D3ED-15425A59E3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01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BCEADA1-306D-29DE-FFEB-B948C4D0788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303A60C-B9EC-23B8-1707-7492C0DF60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7125187-3CAA-C151-D8DF-FE307BD52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4074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42F284B-55DB-24E9-C7E1-DEE3FFAFF83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0C9C9F7-4B00-582E-A21C-A2F7011ACB6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27DE979-176B-3854-F326-939BFB09A4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51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081EAF1-FF9E-0BC1-67A7-C01F7E71B9F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1299AE9-7DD6-B71B-93AB-124FAB53C3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B7C7D0D-53E9-A92A-235D-44CEAA46FF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5034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7283F5E-19A9-1ACC-301A-F024C5C180C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A8887D2-24CB-58A0-7E59-E2737B46E6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2777E80-9455-06E7-FF9A-547549B1FF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24294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5AF22EB-18FC-E3BB-A902-E2E767641BA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7FFD682-D57B-1F41-0B4C-246F5AD075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9C5F8FC-EFD6-2966-2552-1F359448C2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98400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0FDBDB7-3C38-DD2C-CF75-2982EEB4C20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C3F1476-B3F4-0E38-93F0-3911935166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C676667-E802-1B45-7989-49DB13DFDA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9165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36B7C29-F93E-4403-3DEE-A6F9128BD91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D65E229-D0DA-5D71-93F9-295AC56E48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454021E-426D-5A7B-A723-CDEA8F7696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7351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BB32AD4-4495-5257-C38F-5EFDB7F0F9F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433ABAA-9CD9-3EA0-1BB9-51ABB820E2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484AB31-5B17-8729-3CDC-8753BCBD7F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8999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433CFC7-DE54-CB0D-0AAB-96AA9967C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10DD7-4D09-B766-7664-23E7240883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49FEBAB-FEA5-55EB-8B84-1C26FEC06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6059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0C60FD7-2524-16BA-355D-02074E688B5F}"/>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9EE30B0-1EBE-6023-BC29-FAA79687D1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A0C27FA-D58F-B72E-75EE-F3EAA7859B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935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5D20B91-672D-6431-7440-2C0F3F42C8B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54D297A-771C-9B72-E8F2-A03863E5CE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B428D92-98A5-DFC5-F131-C5B12C7497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65959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5AA43FE-2D5E-DC0E-C9C0-F46E41D6F8D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7D322E5-946E-6E73-D96B-DCD4A6A592D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395EA63D-99C5-8D5F-764B-2305EEE1C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4873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B70FE3C-1314-618E-7766-7AF0747A2D4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6E8E18-6CAB-66A2-7635-E8A1F16B85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79339CC-DF1B-CAE9-F6E3-88D7392BAA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19759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B4AE073-677D-7221-19D9-A0549C8EA06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B353B2-5EDD-B4D5-C3B2-4159474717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871240A5-11FC-05E9-6473-226A08247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9781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475D1F-6947-566D-CAAE-3A499AB5295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8BFD79B-972D-6C70-2602-30585DCC03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B5B915D6-764D-D717-E691-1666E2E439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821934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0450EA8-576F-C7FE-D360-D2C42F379D7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A761F5-20B8-DB8D-D2D2-7ABDF5F631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3A699C3-7B7C-1942-CBA3-F3149224A7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5605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675923A-E959-3FDA-745D-0AD6A1AFC4E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A1D47-AC64-D766-BBAD-8A1D203C93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4D82807-8CB6-A23F-6717-ADCF04145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35581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6AFF3E6-EF90-4FC0-B74D-FE4FD7F7AB9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8767857-FD4C-3CC5-752D-B9B1EF2EE6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4317F72-DCE4-69EE-632C-2ED8F8B608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3416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27F3319-DFD5-C63D-C103-C482761FC33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5EAA25-CBAA-56EF-6DD0-964CB40E78A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A23BDAD-6BF2-2372-2B25-BB7A4BB51B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1547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C683DA9-A26F-9E06-1CCD-90CDA387679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8581F49-802B-03BE-0CC0-1B577048A3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B6DE917-2012-652A-6951-1F3BE45442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10813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89C486B-EE31-E759-D54C-B7B984CFA63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4289328-6AB0-B196-174F-572B762DC9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DF03D4A-8BD4-16F8-A099-447DB3A95D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35459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74004D2-55BE-1D7C-6E09-724CB413B9D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C424B6E-9004-B945-AC76-6E351799F1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515FE87-C87C-6C7F-6B66-05FC3BA8AB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416171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4293293-568D-EDA1-3955-1E852B1540C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3DBE799-6776-8C6C-5D1F-67AC1D915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9B6ECBC-6B15-8396-90A3-E22AA2DD1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48508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078277F-2C08-B1CA-9E61-EB10E49D0D0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E8BFA5D-5159-F1C4-B4ED-BD529C5A87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D3174D3-70BD-2A41-DF2B-CC9EBD6A03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6281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BF56F18-4DF8-4597-FF63-420CCAE07FE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D290512-0ED0-F529-F9C1-EAFE6E7E00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A27A0CA-77E3-F962-3086-849890C834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80934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A3DAA84-CDB6-B40D-A13E-EBE51444A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C8099E-8C77-D5D7-0312-9E3D050F4F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A008DC1-D6D2-BD24-2C1B-CE4DDE215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4692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5D591B3-193E-5F39-2996-0CE098C0A7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1C1E3DB-3E4B-BD25-EDE6-8612EA799D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8C098B4-7CED-1128-E587-6ECA447B1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53384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5442450-ECB1-DD53-0E37-1A9867AB29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ED9582F-3B03-73CE-50BC-22D11F93F2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DC67D7E-0FF8-FDA2-EDC5-3CCAC48C3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84214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559A6E1-3A7E-F04A-90C6-221AF85D460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584B2A7-3AA5-C0E8-5C38-53452FA074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512D9B3-6C4A-8107-352B-6DE4B8E7F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38936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6891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71716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39994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63032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19731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84010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IN"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marL="0" marR="0" lvl="0" indent="0" algn="ctr" rtl="0">
              <a:lnSpc>
                <a:spcPct val="90000"/>
              </a:lnSpc>
              <a:spcBef>
                <a:spcPts val="1120"/>
              </a:spcBef>
              <a:spcAft>
                <a:spcPts val="0"/>
              </a:spcAft>
              <a:buClr>
                <a:schemeClr val="dk1"/>
              </a:buClr>
              <a:buSzPts val="2800"/>
              <a:buFont typeface="Times New Roman"/>
              <a:buNone/>
            </a:pPr>
            <a:endPar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marL="0" marR="0" lvl="0" indent="0" algn="ctr" rtl="0">
              <a:lnSpc>
                <a:spcPct val="90000"/>
              </a:lnSpc>
              <a:spcBef>
                <a:spcPts val="1120"/>
              </a:spcBef>
              <a:spcAft>
                <a:spcPts val="0"/>
              </a:spcAft>
              <a:buClr>
                <a:schemeClr val="dk1"/>
              </a:buClr>
              <a:buSzPts val="2800"/>
              <a:buFont typeface="Times New Roman"/>
              <a:buNone/>
            </a:pPr>
            <a:r>
              <a:rPr lang="en-IN"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IN" sz="2000" b="0" i="0" u="none" strike="noStrike" cap="none"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IN"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 </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1 &amp; 2</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Linear and Polynomial Regression</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2907492897"/>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3120697213"/>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2096489927"/>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1189213009"/>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1451436571"/>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latin typeface="Calibri" panose="020F0502020204030204" pitchFamily="34" charset="0"/>
                <a:ea typeface="Calibri" panose="020F0502020204030204" pitchFamily="34" charset="0"/>
                <a:cs typeface="Calibri" panose="020F0502020204030204" pitchFamily="34" charset="0"/>
              </a:rPr>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9828" y="1510650"/>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3982883612"/>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3699474"/>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Introduction to Machine Learning </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Types of Machine Learning </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Regression in Machine Learning</a:t>
            </a:r>
          </a:p>
          <a:p>
            <a:pPr marL="285750" indent="-285750" algn="just">
              <a:lnSpc>
                <a:spcPct val="200000"/>
              </a:lnSpc>
              <a:buFont typeface="Times New Roman" panose="02020603050405020304" pitchFamily="18" charset="0"/>
              <a:buChar char="֍"/>
            </a:pPr>
            <a:r>
              <a:rPr lang="en-US" sz="2000" b="1" dirty="0">
                <a:latin typeface="Calibri" panose="020F0502020204030204" pitchFamily="34" charset="0"/>
                <a:ea typeface="Calibri" panose="020F0502020204030204" pitchFamily="34" charset="0"/>
                <a:cs typeface="Calibri" panose="020F0502020204030204" pitchFamily="34" charset="0"/>
              </a:rPr>
              <a:t>Types of Regression</a:t>
            </a:r>
          </a:p>
          <a:p>
            <a:pPr marL="285750" indent="-285750" algn="just">
              <a:lnSpc>
                <a:spcPct val="200000"/>
              </a:lnSpc>
              <a:buFont typeface="Times New Roman" panose="02020603050405020304" pitchFamily="18"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Linear Regression</a:t>
            </a:r>
          </a:p>
          <a:p>
            <a:pPr marL="285750" indent="-285750" algn="just">
              <a:lnSpc>
                <a:spcPct val="200000"/>
              </a:lnSpc>
              <a:buFont typeface="Times New Roman" panose="02020603050405020304" pitchFamily="18"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Polynomial Regression</a:t>
            </a: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Introduction to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C36F8375-605C-8925-3932-CAAD5D4BB49C}"/>
              </a:ext>
            </a:extLst>
          </p:cNvPr>
          <p:cNvSpPr/>
          <p:nvPr/>
        </p:nvSpPr>
        <p:spPr>
          <a:xfrm>
            <a:off x="254001" y="1026299"/>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Machine Learning (ML) is a subfield of Artificial Intelligence (AI) that focuses on building algorithms and models that allow computers to learn from data and make predictions or decisions without being explicitly programmed.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AI refers to the endeavor of automating cognitive tasks traditionally carried out by humans, leveraging computational models to mimic human intelligence and decision-making processes.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ML is science of programming computers, so they can learn from the data and become a transformative technology, driving advancements in areas like Data Analysis, Pattern Recognition, Automation, and Natural Language Processing (NLP).</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B5AE2F-CCD8-2425-76A1-141EC882071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CA4CEEB-0B88-49B2-3638-752DD53244B7}"/>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4A564A35-A323-8AB1-FB59-E8A14202FFD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Introduction to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B9DFB73-AFA6-0AC5-DCFE-12F2F016950B}"/>
              </a:ext>
            </a:extLst>
          </p:cNvPr>
          <p:cNvSpPr/>
          <p:nvPr/>
        </p:nvSpPr>
        <p:spPr>
          <a:xfrm>
            <a:off x="254001" y="1026299"/>
            <a:ext cx="3858985" cy="3373359"/>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ML works through mathematical logic: </a:t>
            </a:r>
            <a:r>
              <a:rPr lang="en-US" sz="1800" dirty="0">
                <a:latin typeface="Calibri" panose="020F0502020204030204" pitchFamily="34" charset="0"/>
                <a:ea typeface="Calibri" panose="020F0502020204030204" pitchFamily="34" charset="0"/>
                <a:cs typeface="Calibri" panose="020F0502020204030204" pitchFamily="34" charset="0"/>
              </a:rPr>
              <a:t>The relevant characteristics (or "features") of each data point must therefore be expressed numerically, so that the data itself can be fed into a mathematical algorithm that will "learn" to map a given input to the desired output. </a:t>
            </a:r>
          </a:p>
        </p:txBody>
      </p:sp>
      <p:pic>
        <p:nvPicPr>
          <p:cNvPr id="2050" name="Picture 2" descr="Deep learning | Machine learning | AI -Clearing the confusion. | by Neha  Sajnani | Analytics Vidhya | Medium">
            <a:extLst>
              <a:ext uri="{FF2B5EF4-FFF2-40B4-BE49-F238E27FC236}">
                <a16:creationId xmlns:a16="http://schemas.microsoft.com/office/drawing/2014/main" id="{863A1225-248F-8442-EBC7-D584C54BF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5428" y="1204687"/>
            <a:ext cx="4644571" cy="35124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DEFF6B5-5FFB-636E-A4B2-ADDD7D6A2E54}"/>
              </a:ext>
            </a:extLst>
          </p:cNvPr>
          <p:cNvSpPr txBox="1"/>
          <p:nvPr/>
        </p:nvSpPr>
        <p:spPr>
          <a:xfrm>
            <a:off x="4245428" y="4717143"/>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 Artificial Intelligence : A wider umbrella</a:t>
            </a:r>
            <a:endParaRPr lang="en-IN" b="1" dirty="0"/>
          </a:p>
        </p:txBody>
      </p:sp>
    </p:spTree>
    <p:extLst>
      <p:ext uri="{BB962C8B-B14F-4D97-AF65-F5344CB8AC3E}">
        <p14:creationId xmlns:p14="http://schemas.microsoft.com/office/powerpoint/2010/main" val="429425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ECCB25A-19F0-673F-A7D9-5FD3575FD1C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C6FDFC1-C654-2073-3F8D-112389F46FD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4DDFEA78-F209-12A8-8333-8893B2ADE31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CC2555C6-A053-1A13-2736-E7F428C1860F}"/>
              </a:ext>
            </a:extLst>
          </p:cNvPr>
          <p:cNvSpPr/>
          <p:nvPr/>
        </p:nvSpPr>
        <p:spPr>
          <a:xfrm>
            <a:off x="254001" y="1026299"/>
            <a:ext cx="8639575" cy="1295868"/>
          </a:xfrm>
          <a:prstGeom prst="rect">
            <a:avLst/>
          </a:prstGeom>
        </p:spPr>
        <p:txBody>
          <a:bodyPr wrap="square">
            <a:spAutoFit/>
          </a:bodyPr>
          <a:lstStyle/>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Machine learning can be broadly categorized into three main types, based on how the algorithms learn from data:</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3074" name="Picture 2" descr="The main types of machine learning. Main approaches include... | Download  Scientific Diagram">
            <a:extLst>
              <a:ext uri="{FF2B5EF4-FFF2-40B4-BE49-F238E27FC236}">
                <a16:creationId xmlns:a16="http://schemas.microsoft.com/office/drawing/2014/main" id="{51AB8795-D7AF-9E36-027C-5371DF164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399" y="1818117"/>
            <a:ext cx="5531224" cy="2993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E07330D-A3C9-1DF9-9CFB-63D8B6D08E1F}"/>
              </a:ext>
            </a:extLst>
          </p:cNvPr>
          <p:cNvSpPr txBox="1"/>
          <p:nvPr/>
        </p:nvSpPr>
        <p:spPr>
          <a:xfrm>
            <a:off x="2242456" y="4770410"/>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 The main types of Machine Learning</a:t>
            </a:r>
            <a:endParaRPr lang="en-IN" b="1" dirty="0"/>
          </a:p>
        </p:txBody>
      </p:sp>
    </p:spTree>
    <p:extLst>
      <p:ext uri="{BB962C8B-B14F-4D97-AF65-F5344CB8AC3E}">
        <p14:creationId xmlns:p14="http://schemas.microsoft.com/office/powerpoint/2010/main" val="109267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91456E3-87F6-AE6C-D78C-F6EFB6F680A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05EFFB6-2AC2-3DAE-96F3-FDF332BC11A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8A870181-9786-4A08-0072-404137E1774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FDB37D93-8B0F-D2CA-72A4-ED11F132FF64}"/>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Supervised Learning: </a:t>
            </a:r>
            <a:r>
              <a:rPr lang="en-US" sz="1800" dirty="0">
                <a:latin typeface="Calibri" panose="020F0502020204030204" pitchFamily="34" charset="0"/>
                <a:ea typeface="Calibri" panose="020F0502020204030204" pitchFamily="34" charset="0"/>
                <a:cs typeface="Calibri" panose="020F0502020204030204" pitchFamily="34" charset="0"/>
              </a:rPr>
              <a:t>In supervised learning, the model is trained on labeled data, meaning the input data is paired with the correct output (label). The goal is to learn a mapping from inputs to outputs, allowing the model to predict the label of unseen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Predicting house prices based on features like size, location, and number of rooms.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Algorithms: </a:t>
            </a:r>
            <a:r>
              <a:rPr lang="en-US" sz="1800" dirty="0">
                <a:latin typeface="Calibri" panose="020F0502020204030204" pitchFamily="34" charset="0"/>
                <a:ea typeface="Calibri" panose="020F0502020204030204" pitchFamily="34" charset="0"/>
                <a:cs typeface="Calibri" panose="020F0502020204030204" pitchFamily="34" charset="0"/>
              </a:rPr>
              <a:t>Linear Regression,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Decision Trees,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Support Vector Machines (SVM),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k-Nearest Neighbors (k-NN) etc.</a:t>
            </a:r>
          </a:p>
        </p:txBody>
      </p:sp>
    </p:spTree>
    <p:extLst>
      <p:ext uri="{BB962C8B-B14F-4D97-AF65-F5344CB8AC3E}">
        <p14:creationId xmlns:p14="http://schemas.microsoft.com/office/powerpoint/2010/main" val="417691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742D597-8EBF-FD28-810F-8A8DB02174F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A2A7A6-E842-2D7A-40D7-3470A39C5FA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570E4D86-FB94-24B2-7512-EF5A32D6BA0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545FAEC5-9CBD-C3B3-FB28-72FB49BE999B}"/>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Unsupervised Learning: </a:t>
            </a:r>
            <a:r>
              <a:rPr lang="en-US" sz="1800" dirty="0">
                <a:latin typeface="Calibri" panose="020F0502020204030204" pitchFamily="34" charset="0"/>
                <a:ea typeface="Calibri" panose="020F0502020204030204" pitchFamily="34" charset="0"/>
                <a:cs typeface="Calibri" panose="020F0502020204030204" pitchFamily="34" charset="0"/>
              </a:rPr>
              <a:t>In unsupervised learning, the model is given input data without any labeled outputs. The model tries to identify patterns or structures in the data, such as clusters or associations.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Grouping customers into segments based on purchasing behavior.</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Algorithms: </a:t>
            </a:r>
            <a:r>
              <a:rPr lang="en-US" sz="1800" dirty="0">
                <a:latin typeface="Calibri" panose="020F0502020204030204" pitchFamily="34" charset="0"/>
                <a:ea typeface="Calibri" panose="020F0502020204030204" pitchFamily="34" charset="0"/>
                <a:cs typeface="Calibri" panose="020F0502020204030204" pitchFamily="34" charset="0"/>
              </a:rPr>
              <a:t>k-Means Clustering,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Hierarchical Clustering,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DBSCAN Clustering,</a:t>
            </a:r>
          </a:p>
          <a:p>
            <a:pPr marL="1436688" lvl="0"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Association Rule Mining,</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Principal Component Analysis (PCA) etc.</a:t>
            </a:r>
          </a:p>
        </p:txBody>
      </p:sp>
    </p:spTree>
    <p:extLst>
      <p:ext uri="{BB962C8B-B14F-4D97-AF65-F5344CB8AC3E}">
        <p14:creationId xmlns:p14="http://schemas.microsoft.com/office/powerpoint/2010/main" val="978848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33CF280-ADDE-CE32-8C29-B69C507E909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C194AF8-9DE4-C0A9-F64C-AB40794A3A0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00B1FEE6-A8A1-B7FD-78B0-30923253C25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42CFC72B-528B-BCEA-2B5B-7E6CE0773DBA}"/>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Reinforcement Learning: </a:t>
            </a:r>
            <a:r>
              <a:rPr lang="en-US" sz="1800" dirty="0">
                <a:latin typeface="Calibri" panose="020F0502020204030204" pitchFamily="34" charset="0"/>
                <a:ea typeface="Calibri" panose="020F0502020204030204" pitchFamily="34" charset="0"/>
                <a:cs typeface="Calibri" panose="020F0502020204030204" pitchFamily="34" charset="0"/>
              </a:rPr>
              <a:t>In reinforcement learning, an agent interacts with an environment and learns to take actions that maximize a cumulative reward over time. The model is not explicitly told what actions to take but must explore and exploit the environment to learn.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Example: </a:t>
            </a:r>
            <a:r>
              <a:rPr lang="en-US" sz="1800" dirty="0">
                <a:latin typeface="Calibri" panose="020F0502020204030204" pitchFamily="34" charset="0"/>
                <a:ea typeface="Calibri" panose="020F0502020204030204" pitchFamily="34" charset="0"/>
                <a:cs typeface="Calibri" panose="020F0502020204030204" pitchFamily="34" charset="0"/>
              </a:rPr>
              <a:t>Training a robot to navigate a maze or teaching a game-playing AI to improve its performance.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Algorithms: </a:t>
            </a:r>
            <a:r>
              <a:rPr lang="en-US" sz="1800" dirty="0">
                <a:latin typeface="Calibri" panose="020F0502020204030204" pitchFamily="34" charset="0"/>
                <a:ea typeface="Calibri" panose="020F0502020204030204" pitchFamily="34" charset="0"/>
                <a:cs typeface="Calibri" panose="020F0502020204030204" pitchFamily="34" charset="0"/>
              </a:rPr>
              <a:t>Q-learning,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Deep Q Networks (DQN), </a:t>
            </a:r>
          </a:p>
          <a:p>
            <a:pPr marL="14366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Policy Gradient Methods.</a:t>
            </a:r>
          </a:p>
        </p:txBody>
      </p:sp>
    </p:spTree>
    <p:extLst>
      <p:ext uri="{BB962C8B-B14F-4D97-AF65-F5344CB8AC3E}">
        <p14:creationId xmlns:p14="http://schemas.microsoft.com/office/powerpoint/2010/main" val="215598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1250FC9-9B22-7B05-2897-47426642E1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950A36D-8D68-4B0B-D0A4-646988C0D9C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1BFF9555-A1A1-A30F-F363-644A8D1FC77C}"/>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Machine Learning</a:t>
            </a:r>
            <a:endParaRPr lang="en-IN" sz="4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C1ABA623-715E-8077-AE8A-806131C6B4A7}"/>
              </a:ext>
            </a:extLst>
          </p:cNvPr>
          <p:cNvSpPr/>
          <p:nvPr/>
        </p:nvSpPr>
        <p:spPr>
          <a:xfrm>
            <a:off x="254001" y="939215"/>
            <a:ext cx="8639575" cy="4204356"/>
          </a:xfrm>
          <a:prstGeom prst="rect">
            <a:avLst/>
          </a:prstGeom>
        </p:spPr>
        <p:txBody>
          <a:bodyPr wrap="square">
            <a:spAutoFit/>
          </a:bodyPr>
          <a:lstStyle/>
          <a:p>
            <a:pPr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Additionally, some other categories are also recognized:</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Semi-supervised Learning: </a:t>
            </a:r>
            <a:r>
              <a:rPr lang="en-US" sz="1800" dirty="0">
                <a:latin typeface="Calibri" panose="020F0502020204030204" pitchFamily="34" charset="0"/>
                <a:ea typeface="Calibri" panose="020F0502020204030204" pitchFamily="34" charset="0"/>
                <a:cs typeface="Calibri" panose="020F0502020204030204" pitchFamily="34" charset="0"/>
              </a:rPr>
              <a:t>Combines elements of both supervised and unsupervised learning, utilizing a small amount of labeled data alongside a large amount of unlabeled data for training.</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Self-supervised Learning: </a:t>
            </a:r>
            <a:r>
              <a:rPr lang="en-US" sz="1800" dirty="0">
                <a:latin typeface="Calibri" panose="020F0502020204030204" pitchFamily="34" charset="0"/>
                <a:ea typeface="Calibri" panose="020F0502020204030204" pitchFamily="34" charset="0"/>
                <a:cs typeface="Calibri" panose="020F0502020204030204" pitchFamily="34" charset="0"/>
              </a:rPr>
              <a:t>A subset of unsupervised learning where the model generates its own labels from the input data, often by predicting missing or corrupted parts of the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Generative AI: </a:t>
            </a:r>
            <a:r>
              <a:rPr lang="en-US" sz="1800" dirty="0">
                <a:latin typeface="Calibri" panose="020F0502020204030204" pitchFamily="34" charset="0"/>
                <a:ea typeface="Calibri" panose="020F0502020204030204" pitchFamily="34" charset="0"/>
                <a:cs typeface="Calibri" panose="020F0502020204030204" pitchFamily="34" charset="0"/>
              </a:rPr>
              <a:t>Focuses on creating new content, such as images, text, or audio, that resembles the data it was trained on. It can be implemented using various techniques, including Generative Adversarial Networks (GANs) and Large Language Models (LLMs).</a:t>
            </a:r>
          </a:p>
        </p:txBody>
      </p:sp>
    </p:spTree>
    <p:extLst>
      <p:ext uri="{BB962C8B-B14F-4D97-AF65-F5344CB8AC3E}">
        <p14:creationId xmlns:p14="http://schemas.microsoft.com/office/powerpoint/2010/main" val="344769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C3CCA24-8A62-2334-522E-840AED796A6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E9C8C2D-FE38-3421-B75A-045B3244BF0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E0016DA2-600E-3F35-755D-2E7A018AE73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 in Machine Learning</a:t>
            </a:r>
          </a:p>
        </p:txBody>
      </p:sp>
      <p:sp>
        <p:nvSpPr>
          <p:cNvPr id="3" name="Rectangle 2">
            <a:extLst>
              <a:ext uri="{FF2B5EF4-FFF2-40B4-BE49-F238E27FC236}">
                <a16:creationId xmlns:a16="http://schemas.microsoft.com/office/drawing/2014/main" id="{D8FF8030-206F-3E75-1540-A2919EF2CCF4}"/>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Regression is a type of supervised learning algorithm used to predict continuous numerical values based on input features.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Unlike classification, where the goal is to predict discrete labels or categories, regression aims to model the relationship between input variables (independent variables) and a continuous target variable (dependent variable).</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Key Concepts of Regression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Continuous Output: </a:t>
            </a:r>
            <a:r>
              <a:rPr lang="en-US" sz="1800" dirty="0">
                <a:latin typeface="Calibri" panose="020F0502020204030204" pitchFamily="34" charset="0"/>
                <a:ea typeface="Calibri" panose="020F0502020204030204" pitchFamily="34" charset="0"/>
                <a:cs typeface="Calibri" panose="020F0502020204030204" pitchFamily="34" charset="0"/>
              </a:rPr>
              <a:t>In regression problems, the output (also known as the dependent variable) is continuous and can take any value within a range (e.g., predicting house prices, temperatures, sales numbers, etc.).</a:t>
            </a:r>
          </a:p>
        </p:txBody>
      </p:sp>
    </p:spTree>
    <p:extLst>
      <p:ext uri="{BB962C8B-B14F-4D97-AF65-F5344CB8AC3E}">
        <p14:creationId xmlns:p14="http://schemas.microsoft.com/office/powerpoint/2010/main" val="26032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2CA1FCE-070C-29ED-A238-95D108B338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F9A2641-CEA1-9B0B-3F2E-8357F12D397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14E785F0-C9D0-302C-9B8D-C3ACCEBEC32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 in Machine Learning</a:t>
            </a:r>
          </a:p>
        </p:txBody>
      </p:sp>
      <p:sp>
        <p:nvSpPr>
          <p:cNvPr id="3" name="Rectangle 2">
            <a:extLst>
              <a:ext uri="{FF2B5EF4-FFF2-40B4-BE49-F238E27FC236}">
                <a16:creationId xmlns:a16="http://schemas.microsoft.com/office/drawing/2014/main" id="{E8ED2B9D-8ADF-96CD-D3F1-829CC5EC0694}"/>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Objective: </a:t>
            </a:r>
            <a:r>
              <a:rPr lang="en-US" sz="1800" dirty="0">
                <a:latin typeface="Calibri" panose="020F0502020204030204" pitchFamily="34" charset="0"/>
                <a:ea typeface="Calibri" panose="020F0502020204030204" pitchFamily="34" charset="0"/>
                <a:cs typeface="Calibri" panose="020F0502020204030204" pitchFamily="34" charset="0"/>
              </a:rPr>
              <a:t>The goal is to find a function that maps the input features to a real-valued output. This function should minimize the difference between the predicted values and the actual values in the training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Independent and Dependent Variables: </a:t>
            </a:r>
            <a:r>
              <a:rPr lang="en-US" sz="1800" dirty="0">
                <a:latin typeface="Calibri" panose="020F0502020204030204" pitchFamily="34" charset="0"/>
                <a:ea typeface="Calibri" panose="020F0502020204030204" pitchFamily="34" charset="0"/>
                <a:cs typeface="Calibri" panose="020F0502020204030204" pitchFamily="34" charset="0"/>
              </a:rPr>
              <a:t>In regression, there are two main types of variable are in use</a:t>
            </a:r>
          </a:p>
          <a:p>
            <a:pPr marL="536575" lvl="0" indent="-180975"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Independent Variables (also known as features or predictors): </a:t>
            </a:r>
            <a:r>
              <a:rPr lang="en-US" sz="1800" dirty="0">
                <a:latin typeface="Calibri" panose="020F0502020204030204" pitchFamily="34" charset="0"/>
                <a:ea typeface="Calibri" panose="020F0502020204030204" pitchFamily="34" charset="0"/>
                <a:cs typeface="Calibri" panose="020F0502020204030204" pitchFamily="34" charset="0"/>
              </a:rPr>
              <a:t>The input data that is used to make predictions.</a:t>
            </a:r>
          </a:p>
          <a:p>
            <a:pPr marL="536575" lvl="0" indent="-180975"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Dependent Variable (also known as the target variable): </a:t>
            </a:r>
            <a:r>
              <a:rPr lang="en-US" sz="1800" dirty="0">
                <a:latin typeface="Calibri" panose="020F0502020204030204" pitchFamily="34" charset="0"/>
                <a:ea typeface="Calibri" panose="020F0502020204030204" pitchFamily="34" charset="0"/>
                <a:cs typeface="Calibri" panose="020F0502020204030204" pitchFamily="34" charset="0"/>
              </a:rPr>
              <a:t>The output that we are trying to predict.</a:t>
            </a:r>
          </a:p>
        </p:txBody>
      </p:sp>
    </p:spTree>
    <p:extLst>
      <p:ext uri="{BB962C8B-B14F-4D97-AF65-F5344CB8AC3E}">
        <p14:creationId xmlns:p14="http://schemas.microsoft.com/office/powerpoint/2010/main" val="1945052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3123198-ED43-1A13-B9BC-3D59B2BE956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08DE34F-E845-C635-0C0F-2820662E51C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BA744881-0339-266C-5A37-8DFC1EEB8AE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Types of Regression</a:t>
            </a:r>
          </a:p>
        </p:txBody>
      </p:sp>
      <p:sp>
        <p:nvSpPr>
          <p:cNvPr id="3" name="Rectangle 2">
            <a:extLst>
              <a:ext uri="{FF2B5EF4-FFF2-40B4-BE49-F238E27FC236}">
                <a16:creationId xmlns:a16="http://schemas.microsoft.com/office/drawing/2014/main" id="{B837915C-D449-43F8-1DE6-ED0738428D8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Linear Regression: </a:t>
            </a:r>
            <a:r>
              <a:rPr lang="en-US" sz="1800" dirty="0">
                <a:latin typeface="Calibri" panose="020F0502020204030204" pitchFamily="34" charset="0"/>
                <a:ea typeface="Calibri" panose="020F0502020204030204" pitchFamily="34" charset="0"/>
                <a:cs typeface="Calibri" panose="020F0502020204030204" pitchFamily="34" charset="0"/>
              </a:rPr>
              <a:t>Linear regression analysis is used to predict the value of a variable based on the value of another variable. There are two types of Linear Regression:</a:t>
            </a:r>
          </a:p>
          <a:p>
            <a:pPr marL="536575" lvl="0" indent="-182563"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Simple Linear Regression</a:t>
            </a:r>
          </a:p>
          <a:p>
            <a:pPr marL="536575" lvl="0" indent="-182563" algn="just">
              <a:lnSpc>
                <a:spcPct val="150000"/>
              </a:lnSpc>
              <a:buFont typeface="Arial" panose="020B0604020202020204" pitchFamily="34" charset="0"/>
              <a:buChar char="•"/>
            </a:pPr>
            <a:r>
              <a:rPr lang="en-US" sz="1800" b="1" dirty="0">
                <a:latin typeface="Calibri" panose="020F0502020204030204" pitchFamily="34" charset="0"/>
                <a:ea typeface="Calibri" panose="020F0502020204030204" pitchFamily="34" charset="0"/>
                <a:cs typeface="Calibri" panose="020F0502020204030204" pitchFamily="34" charset="0"/>
              </a:rPr>
              <a:t>Multiple Linear Regression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Polynomial Regression: </a:t>
            </a:r>
            <a:r>
              <a:rPr lang="en-US" sz="1800" dirty="0">
                <a:latin typeface="Calibri" panose="020F0502020204030204" pitchFamily="34" charset="0"/>
                <a:ea typeface="Calibri" panose="020F0502020204030204" pitchFamily="34" charset="0"/>
                <a:cs typeface="Calibri" panose="020F0502020204030204" pitchFamily="34" charset="0"/>
              </a:rPr>
              <a:t>Polynomial regression is used when the relationship between the independent variable and dependent variable is nonlinear.</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Additionally, some other categories are also like</a:t>
            </a:r>
          </a:p>
          <a:p>
            <a:pPr marL="536575"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Ridge Regression</a:t>
            </a:r>
          </a:p>
          <a:p>
            <a:pPr marL="536575"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Lasso Regression</a:t>
            </a:r>
          </a:p>
          <a:p>
            <a:pPr marL="536575" indent="-182563"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Elastic Net Regression</a:t>
            </a:r>
          </a:p>
        </p:txBody>
      </p:sp>
    </p:spTree>
    <p:extLst>
      <p:ext uri="{BB962C8B-B14F-4D97-AF65-F5344CB8AC3E}">
        <p14:creationId xmlns:p14="http://schemas.microsoft.com/office/powerpoint/2010/main" val="283789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67B93CA-9FED-1527-518A-01C18379C5B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E294D84-EBA8-12AA-6629-78F055225D6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749E8A41-D1E0-2500-4016-EA53C6C248C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91623A40-D67C-CC1A-EFDA-02327D682578}"/>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Linear regression analysis is used to predict the value of a variable based on the value of another variable. It is a fundamental statistical method used to define linear relationship between a dependent and one or more independent variables.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helps predict outcomes by fitting a straight line to observed data points, making it easy to interpret and apply.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a supervised learning algorithm that is used to model the relationship between a dependent variable and an independent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algorithm finds the best fit straight-line relationship (linear equation) between the two variables. This statistical method is then used to predict the outcome of future events and is quite useful for predictive analysis.</a:t>
            </a:r>
          </a:p>
        </p:txBody>
      </p:sp>
    </p:spTree>
    <p:extLst>
      <p:ext uri="{BB962C8B-B14F-4D97-AF65-F5344CB8AC3E}">
        <p14:creationId xmlns:p14="http://schemas.microsoft.com/office/powerpoint/2010/main" val="31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B8EB676-C0C5-FD9D-CCF9-65AFE5A005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A80CA0-8080-DA70-722E-082185AB601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45E144A4-AE0C-AD46-F213-2D5DEA7977B5}"/>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3B9A6122-DEA8-33C7-FD44-B3036C4BB669}"/>
              </a:ext>
            </a:extLst>
          </p:cNvPr>
          <p:cNvSpPr/>
          <p:nvPr/>
        </p:nvSpPr>
        <p:spPr>
          <a:xfrm>
            <a:off x="254001" y="939215"/>
            <a:ext cx="8639575"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Linear regression is a statistical technique that estimates the linear relationship between a dependent and one or more independent variables. In machine learning, linear regression is implemented as a supervised learning approach. </a:t>
            </a:r>
          </a:p>
        </p:txBody>
      </p:sp>
      <p:graphicFrame>
        <p:nvGraphicFramePr>
          <p:cNvPr id="4" name="Table 3">
            <a:extLst>
              <a:ext uri="{FF2B5EF4-FFF2-40B4-BE49-F238E27FC236}">
                <a16:creationId xmlns:a16="http://schemas.microsoft.com/office/drawing/2014/main" id="{726CBCDE-4D68-34DC-A6BE-E438D8F5CDC1}"/>
              </a:ext>
            </a:extLst>
          </p:cNvPr>
          <p:cNvGraphicFramePr>
            <a:graphicFrameLocks noGrp="1"/>
          </p:cNvGraphicFramePr>
          <p:nvPr>
            <p:extLst>
              <p:ext uri="{D42A27DB-BD31-4B8C-83A1-F6EECF244321}">
                <p14:modId xmlns:p14="http://schemas.microsoft.com/office/powerpoint/2010/main" val="442843365"/>
              </p:ext>
            </p:extLst>
          </p:nvPr>
        </p:nvGraphicFramePr>
        <p:xfrm>
          <a:off x="6290752" y="2302310"/>
          <a:ext cx="2652518" cy="2519680"/>
        </p:xfrm>
        <a:graphic>
          <a:graphicData uri="http://schemas.openxmlformats.org/drawingml/2006/table">
            <a:tbl>
              <a:tblPr/>
              <a:tblGrid>
                <a:gridCol w="1326259">
                  <a:extLst>
                    <a:ext uri="{9D8B030D-6E8A-4147-A177-3AD203B41FA5}">
                      <a16:colId xmlns:a16="http://schemas.microsoft.com/office/drawing/2014/main" val="2079338561"/>
                    </a:ext>
                  </a:extLst>
                </a:gridCol>
                <a:gridCol w="1326259">
                  <a:extLst>
                    <a:ext uri="{9D8B030D-6E8A-4147-A177-3AD203B41FA5}">
                      <a16:colId xmlns:a16="http://schemas.microsoft.com/office/drawing/2014/main" val="1030337989"/>
                    </a:ext>
                  </a:extLst>
                </a:gridCol>
              </a:tblGrid>
              <a:tr h="295434">
                <a:tc>
                  <a:txBody>
                    <a:bodyPr/>
                    <a:lstStyle/>
                    <a:p>
                      <a:pPr algn="ctr">
                        <a:buNone/>
                      </a:pPr>
                      <a:r>
                        <a:rPr lang="en-IN" b="1">
                          <a:solidFill>
                            <a:schemeClr val="bg2"/>
                          </a:solidFill>
                          <a:effectLst/>
                          <a:latin typeface="Calibri" panose="020F0502020204030204" pitchFamily="34" charset="0"/>
                          <a:ea typeface="Calibri" panose="020F0502020204030204" pitchFamily="34" charset="0"/>
                          <a:cs typeface="Calibri" panose="020F0502020204030204" pitchFamily="34" charset="0"/>
                        </a:rPr>
                        <a:t>Square Feet (X)</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b="1">
                          <a:solidFill>
                            <a:schemeClr val="bg2"/>
                          </a:solidFill>
                          <a:effectLst/>
                          <a:latin typeface="Calibri" panose="020F0502020204030204" pitchFamily="34" charset="0"/>
                          <a:ea typeface="Calibri" panose="020F0502020204030204" pitchFamily="34" charset="0"/>
                          <a:cs typeface="Calibri" panose="020F0502020204030204" pitchFamily="34" charset="0"/>
                        </a:rPr>
                        <a:t>House Price (Y)</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676360071"/>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1300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240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797232668"/>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1500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320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238591702"/>
                  </a:ext>
                </a:extLst>
              </a:tr>
              <a:tr h="295434">
                <a:tc>
                  <a:txBody>
                    <a:bodyPr/>
                    <a:lstStyle/>
                    <a:p>
                      <a:pPr algn="ctr">
                        <a:buNone/>
                      </a:pPr>
                      <a:r>
                        <a:rPr lang="en-IN" dirty="0">
                          <a:solidFill>
                            <a:schemeClr val="bg2"/>
                          </a:solidFill>
                          <a:effectLst/>
                          <a:latin typeface="Calibri" panose="020F0502020204030204" pitchFamily="34" charset="0"/>
                          <a:ea typeface="Calibri" panose="020F0502020204030204" pitchFamily="34" charset="0"/>
                          <a:cs typeface="Calibri" panose="020F0502020204030204" pitchFamily="34" charset="0"/>
                        </a:rPr>
                        <a:t>1700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330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280499611"/>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1830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295</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035651693"/>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1550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256</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4281730951"/>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2350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409</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132976330"/>
                  </a:ext>
                </a:extLst>
              </a:tr>
              <a:tr h="295434">
                <a:tc>
                  <a:txBody>
                    <a:bodyPr/>
                    <a:lstStyle/>
                    <a:p>
                      <a:pPr algn="ctr">
                        <a:buNone/>
                      </a:pPr>
                      <a:r>
                        <a:rPr lang="en-IN">
                          <a:solidFill>
                            <a:schemeClr val="bg2"/>
                          </a:solidFill>
                          <a:effectLst/>
                          <a:latin typeface="Calibri" panose="020F0502020204030204" pitchFamily="34" charset="0"/>
                          <a:ea typeface="Calibri" panose="020F0502020204030204" pitchFamily="34" charset="0"/>
                          <a:cs typeface="Calibri" panose="020F0502020204030204" pitchFamily="34" charset="0"/>
                        </a:rPr>
                        <a:t>1450</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tc>
                  <a:txBody>
                    <a:bodyPr/>
                    <a:lstStyle/>
                    <a:p>
                      <a:pPr algn="ctr">
                        <a:buNone/>
                      </a:pPr>
                      <a:r>
                        <a:rPr lang="en-IN" dirty="0">
                          <a:solidFill>
                            <a:schemeClr val="bg2"/>
                          </a:solidFill>
                          <a:effectLst/>
                          <a:latin typeface="Calibri" panose="020F0502020204030204" pitchFamily="34" charset="0"/>
                          <a:ea typeface="Calibri" panose="020F0502020204030204" pitchFamily="34" charset="0"/>
                          <a:cs typeface="Calibri" panose="020F0502020204030204" pitchFamily="34" charset="0"/>
                        </a:rPr>
                        <a:t>319</a:t>
                      </a:r>
                    </a:p>
                  </a:txBody>
                  <a:tcPr marL="50800" marR="50800" marT="50800" marB="50800" anchor="ctr">
                    <a:lnL w="4699" cap="flat" cmpd="sng" algn="ctr">
                      <a:solidFill>
                        <a:srgbClr val="EEEEEE"/>
                      </a:solidFill>
                      <a:prstDash val="solid"/>
                      <a:round/>
                      <a:headEnd type="none" w="med" len="med"/>
                      <a:tailEnd type="none" w="med" len="med"/>
                    </a:lnL>
                    <a:lnR w="4699" cap="flat" cmpd="sng" algn="ctr">
                      <a:solidFill>
                        <a:srgbClr val="EEEEEE"/>
                      </a:solidFill>
                      <a:prstDash val="solid"/>
                      <a:round/>
                      <a:headEnd type="none" w="med" len="med"/>
                      <a:tailEnd type="none" w="med" len="med"/>
                    </a:lnR>
                    <a:lnT w="4699" cap="flat" cmpd="sng" algn="ctr">
                      <a:solidFill>
                        <a:srgbClr val="EEEEEE"/>
                      </a:solidFill>
                      <a:prstDash val="solid"/>
                      <a:round/>
                      <a:headEnd type="none" w="med" len="med"/>
                      <a:tailEnd type="none" w="med" len="med"/>
                    </a:lnT>
                    <a:lnB w="4699"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330212144"/>
                  </a:ext>
                </a:extLst>
              </a:tr>
            </a:tbl>
          </a:graphicData>
        </a:graphic>
      </p:graphicFrame>
      <p:sp>
        <p:nvSpPr>
          <p:cNvPr id="5" name="Rectangle 4">
            <a:extLst>
              <a:ext uri="{FF2B5EF4-FFF2-40B4-BE49-F238E27FC236}">
                <a16:creationId xmlns:a16="http://schemas.microsoft.com/office/drawing/2014/main" id="{EBB08858-EE6C-E9E4-E9CE-1B1B06CB262A}"/>
              </a:ext>
            </a:extLst>
          </p:cNvPr>
          <p:cNvSpPr/>
          <p:nvPr/>
        </p:nvSpPr>
        <p:spPr>
          <a:xfrm>
            <a:off x="252213" y="2120326"/>
            <a:ext cx="6088232"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labeled datasets contain input data (features) and output labels (target values). For linear regression in machine learning, we represent features as independent variables and target values as the dependent variable.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the simplicity, take the following data (Single feature and single target)</a:t>
            </a:r>
          </a:p>
        </p:txBody>
      </p:sp>
    </p:spTree>
    <p:extLst>
      <p:ext uri="{BB962C8B-B14F-4D97-AF65-F5344CB8AC3E}">
        <p14:creationId xmlns:p14="http://schemas.microsoft.com/office/powerpoint/2010/main" val="346393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B5ADBA5-8D53-0294-9728-E51473EED10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8999F76-A28E-C4A8-26E8-26CAD2D8F0B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862678D3-AF5F-FC1C-D824-72894542067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9B1D4D5C-157D-632B-8455-3092BD474939}"/>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the above data, the target House Price is the dependent variable represented by X, and the feature, Square Feet, is the independent variable represented by Y.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input features (X) are used to predict the target label (Y). So, the independent variables are also known as predictor variables, and the dependent variable is known as the response variable.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So, lets define linear regression in machine learning as follows: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linear regression uses a linear equation to model the relationship between a dependent variable (Y) and one or more independent variables (Y).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main goal of the linear regression model is to find the best-fitting straight line (often called a regression line) through a set of data points.</a:t>
            </a:r>
          </a:p>
        </p:txBody>
      </p:sp>
    </p:spTree>
    <p:extLst>
      <p:ext uri="{BB962C8B-B14F-4D97-AF65-F5344CB8AC3E}">
        <p14:creationId xmlns:p14="http://schemas.microsoft.com/office/powerpoint/2010/main" val="94344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7A26CE-1D05-8EA3-E159-B8A8B3FB2D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46C6CB-A65D-0084-B1DC-6AC386391F3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AE4B926B-C4A1-5349-346F-2A9911F6060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E4A3E065-A79B-2F5D-6BE8-C45DC8DB78F8}"/>
              </a:ext>
            </a:extLst>
          </p:cNvPr>
          <p:cNvSpPr/>
          <p:nvPr/>
        </p:nvSpPr>
        <p:spPr>
          <a:xfrm>
            <a:off x="254002" y="939215"/>
            <a:ext cx="2808512"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Line of Regression: </a:t>
            </a:r>
            <a:r>
              <a:rPr lang="en-US" sz="1800" dirty="0">
                <a:latin typeface="Calibri" panose="020F0502020204030204" pitchFamily="34" charset="0"/>
                <a:ea typeface="Calibri" panose="020F0502020204030204" pitchFamily="34" charset="0"/>
                <a:cs typeface="Calibri" panose="020F0502020204030204" pitchFamily="34" charset="0"/>
              </a:rPr>
              <a:t>A straight line that shows a relation between the dependent variable and independent variables is known as the line of regression or regression line.</a:t>
            </a:r>
          </a:p>
        </p:txBody>
      </p:sp>
      <p:pic>
        <p:nvPicPr>
          <p:cNvPr id="1026" name="Picture 2" descr="ML Regression Line">
            <a:extLst>
              <a:ext uri="{FF2B5EF4-FFF2-40B4-BE49-F238E27FC236}">
                <a16:creationId xmlns:a16="http://schemas.microsoft.com/office/drawing/2014/main" id="{B0BD10A2-5D67-B772-919A-1157D37D7F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30" t="8454" r="8894" b="5576"/>
          <a:stretch>
            <a:fillRect/>
          </a:stretch>
        </p:blipFill>
        <p:spPr bwMode="auto">
          <a:xfrm>
            <a:off x="3156857" y="1211314"/>
            <a:ext cx="5602516" cy="338245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6C301FE-AE50-CD35-972D-CBCA4F8DFD13}"/>
              </a:ext>
            </a:extLst>
          </p:cNvPr>
          <p:cNvSpPr txBox="1"/>
          <p:nvPr/>
        </p:nvSpPr>
        <p:spPr>
          <a:xfrm>
            <a:off x="3577770" y="4574184"/>
            <a:ext cx="4644571"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Figure-3 :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Regression Line</a:t>
            </a:r>
            <a:endParaRPr lang="en-IN" b="1" dirty="0"/>
          </a:p>
        </p:txBody>
      </p:sp>
    </p:spTree>
    <p:extLst>
      <p:ext uri="{BB962C8B-B14F-4D97-AF65-F5344CB8AC3E}">
        <p14:creationId xmlns:p14="http://schemas.microsoft.com/office/powerpoint/2010/main" val="1855694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68F5102-6456-D0E7-8257-8AF52C53F7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9377C1E-8E08-A8EF-E7DC-0DC054BA143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E6DF1540-9488-5BDF-B994-28FA06DFEF8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824B9115-CCF7-D7B9-61CA-F432F66A92F0}"/>
              </a:ext>
            </a:extLst>
          </p:cNvPr>
          <p:cNvSpPr/>
          <p:nvPr/>
        </p:nvSpPr>
        <p:spPr>
          <a:xfrm>
            <a:off x="254002" y="939215"/>
            <a:ext cx="5442856"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Furthermore, the linear relationship can be positive or negative in nature as explained below</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Positive Linear Relationship: </a:t>
            </a:r>
            <a:r>
              <a:rPr lang="en-US" sz="1800" dirty="0">
                <a:latin typeface="Calibri" panose="020F0502020204030204" pitchFamily="34" charset="0"/>
                <a:ea typeface="Calibri" panose="020F0502020204030204" pitchFamily="34" charset="0"/>
                <a:cs typeface="Calibri" panose="020F0502020204030204" pitchFamily="34" charset="0"/>
              </a:rPr>
              <a:t>A linear relationship will be called positive if both independent and dependent variable increases. It can be understood with the help of the figure 4.</a:t>
            </a:r>
          </a:p>
          <a:p>
            <a:pPr marL="28575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Negative Linear Relationship: </a:t>
            </a:r>
            <a:r>
              <a:rPr lang="en-US" sz="1800" dirty="0">
                <a:latin typeface="Calibri" panose="020F0502020204030204" pitchFamily="34" charset="0"/>
                <a:ea typeface="Calibri" panose="020F0502020204030204" pitchFamily="34" charset="0"/>
                <a:cs typeface="Calibri" panose="020F0502020204030204" pitchFamily="34" charset="0"/>
              </a:rPr>
              <a:t>A linear relationship will be called positive if the independent increases and the dependent variable decreases. It can be understood with the help of the figure 5.</a:t>
            </a:r>
          </a:p>
        </p:txBody>
      </p:sp>
      <p:pic>
        <p:nvPicPr>
          <p:cNvPr id="2050" name="Picture 2" descr="Positive Linear Relationship">
            <a:extLst>
              <a:ext uri="{FF2B5EF4-FFF2-40B4-BE49-F238E27FC236}">
                <a16:creationId xmlns:a16="http://schemas.microsoft.com/office/drawing/2014/main" id="{B2BFD355-9863-12D4-205E-AEA67FF2BA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91" r="11796"/>
          <a:stretch>
            <a:fillRect/>
          </a:stretch>
        </p:blipFill>
        <p:spPr bwMode="auto">
          <a:xfrm>
            <a:off x="5936343" y="1139439"/>
            <a:ext cx="2864899" cy="18222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Negative Linear Relationship">
            <a:extLst>
              <a:ext uri="{FF2B5EF4-FFF2-40B4-BE49-F238E27FC236}">
                <a16:creationId xmlns:a16="http://schemas.microsoft.com/office/drawing/2014/main" id="{3D176E26-C282-BA4D-457E-FE4156D4901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50" r="11361"/>
          <a:stretch>
            <a:fillRect/>
          </a:stretch>
        </p:blipFill>
        <p:spPr bwMode="auto">
          <a:xfrm>
            <a:off x="5936344" y="3090865"/>
            <a:ext cx="2864898" cy="18222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76A3B2A-2264-DC71-FC58-855E717766F9}"/>
              </a:ext>
            </a:extLst>
          </p:cNvPr>
          <p:cNvSpPr txBox="1"/>
          <p:nvPr/>
        </p:nvSpPr>
        <p:spPr>
          <a:xfrm>
            <a:off x="5820228" y="2870172"/>
            <a:ext cx="3069770"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Figure-4 :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Positive Linear Relationship</a:t>
            </a:r>
            <a:endParaRPr lang="en-IN" b="1" dirty="0"/>
          </a:p>
        </p:txBody>
      </p:sp>
      <p:sp>
        <p:nvSpPr>
          <p:cNvPr id="5" name="TextBox 4">
            <a:extLst>
              <a:ext uri="{FF2B5EF4-FFF2-40B4-BE49-F238E27FC236}">
                <a16:creationId xmlns:a16="http://schemas.microsoft.com/office/drawing/2014/main" id="{8924A5BB-EEC8-06A4-5E4D-08F71BCC12EA}"/>
              </a:ext>
            </a:extLst>
          </p:cNvPr>
          <p:cNvSpPr txBox="1"/>
          <p:nvPr/>
        </p:nvSpPr>
        <p:spPr>
          <a:xfrm>
            <a:off x="5878284" y="4835723"/>
            <a:ext cx="3069770"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Figure-5 :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Negative Linear Relationship</a:t>
            </a:r>
            <a:endParaRPr lang="en-IN" b="1" dirty="0"/>
          </a:p>
        </p:txBody>
      </p:sp>
    </p:spTree>
    <p:extLst>
      <p:ext uri="{BB962C8B-B14F-4D97-AF65-F5344CB8AC3E}">
        <p14:creationId xmlns:p14="http://schemas.microsoft.com/office/powerpoint/2010/main" val="45945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25C63D-2CE4-8AD1-DF5F-0583526A5E0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F753845-6288-AA54-590F-42F98FC361E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A23F0E1B-B449-7123-8199-8B0DCAE8C1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6BFF648F-10DD-80C1-8E76-5F2C2F5AE917}"/>
              </a:ext>
            </a:extLst>
          </p:cNvPr>
          <p:cNvSpPr/>
          <p:nvPr/>
        </p:nvSpPr>
        <p:spPr>
          <a:xfrm>
            <a:off x="254001" y="939215"/>
            <a:ext cx="8639575" cy="427360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Linear regression is of the following two types:</a:t>
            </a:r>
          </a:p>
          <a:p>
            <a:pPr marL="536575" lvl="0" indent="-268288"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Simple Linear Regression</a:t>
            </a:r>
          </a:p>
          <a:p>
            <a:pPr marL="536575" lvl="0" indent="-268288" algn="just">
              <a:lnSpc>
                <a:spcPct val="150000"/>
              </a:lnSpc>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Multiple Linear Regression</a:t>
            </a:r>
          </a:p>
          <a:p>
            <a:pPr marL="268287" lvl="0" algn="just">
              <a:lnSpc>
                <a:spcPct val="150000"/>
              </a:lnSpc>
            </a:pPr>
            <a:endParaRPr lang="en-US" sz="1000" b="1" dirty="0">
              <a:latin typeface="Calibri" panose="020F0502020204030204" pitchFamily="34" charset="0"/>
              <a:ea typeface="Calibri" panose="020F0502020204030204" pitchFamily="34" charset="0"/>
              <a:cs typeface="Calibri" panose="020F0502020204030204" pitchFamily="34" charset="0"/>
            </a:endParaRPr>
          </a:p>
          <a:p>
            <a:pPr marL="268287" lvl="0"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Simple Linear Regression</a:t>
            </a:r>
          </a:p>
          <a:p>
            <a:pPr marL="268287" lvl="0" algn="just">
              <a:lnSpc>
                <a:spcPct val="150000"/>
              </a:lnSpc>
            </a:pPr>
            <a:endParaRPr lang="en-US" sz="600" b="1" dirty="0">
              <a:latin typeface="Calibri" panose="020F0502020204030204" pitchFamily="34" charset="0"/>
              <a:ea typeface="Calibri" panose="020F0502020204030204" pitchFamily="34" charset="0"/>
              <a:cs typeface="Calibri" panose="020F0502020204030204" pitchFamily="34" charset="0"/>
            </a:endParaRPr>
          </a:p>
          <a:p>
            <a:pPr marL="28575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Simple Linear Regression: </a:t>
            </a:r>
            <a:r>
              <a:rPr lang="en-US" sz="1800" dirty="0">
                <a:latin typeface="Calibri" panose="020F0502020204030204" pitchFamily="34" charset="0"/>
                <a:ea typeface="Calibri" panose="020F0502020204030204" pitchFamily="34" charset="0"/>
                <a:cs typeface="Calibri" panose="020F0502020204030204" pitchFamily="34" charset="0"/>
              </a:rPr>
              <a:t>It is a type of regression analysis in which a single independent variable (also known as a predictor variable) is used to predict the dependent variable. </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other words, it models the linear relationship between the dependent variable and a single independent variable.</a:t>
            </a:r>
          </a:p>
        </p:txBody>
      </p:sp>
    </p:spTree>
    <p:extLst>
      <p:ext uri="{BB962C8B-B14F-4D97-AF65-F5344CB8AC3E}">
        <p14:creationId xmlns:p14="http://schemas.microsoft.com/office/powerpoint/2010/main" val="301371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F8335F-90CF-FB2A-E7B9-A9C6BA0EBE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5D199BD-2EE1-8C2C-CE25-7ADE8CEEE28B}"/>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49D73224-E45D-F5C3-6DBF-2690D093F36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FF6AF536-C9C9-31C7-4E7E-81FDB7B6E96B}"/>
              </a:ext>
            </a:extLst>
          </p:cNvPr>
          <p:cNvSpPr/>
          <p:nvPr/>
        </p:nvSpPr>
        <p:spPr>
          <a:xfrm>
            <a:off x="254001" y="939215"/>
            <a:ext cx="8738961"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the below image, the straight line represents the simple linear regression line where Y is the predicted value, and X is the input value.</a:t>
            </a:r>
          </a:p>
        </p:txBody>
      </p:sp>
      <p:pic>
        <p:nvPicPr>
          <p:cNvPr id="1026" name="Picture 2" descr="ML Simple Linear Regression">
            <a:extLst>
              <a:ext uri="{FF2B5EF4-FFF2-40B4-BE49-F238E27FC236}">
                <a16:creationId xmlns:a16="http://schemas.microsoft.com/office/drawing/2014/main" id="{B2506892-4894-DD25-2429-309559BA1C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67" t="6561" r="13462" b="6995"/>
          <a:stretch>
            <a:fillRect/>
          </a:stretch>
        </p:blipFill>
        <p:spPr bwMode="auto">
          <a:xfrm>
            <a:off x="5181600" y="1671744"/>
            <a:ext cx="3811362" cy="28402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FD19A9-D4EE-EB87-B587-F885E01E8060}"/>
              </a:ext>
            </a:extLst>
          </p:cNvPr>
          <p:cNvSpPr txBox="1"/>
          <p:nvPr/>
        </p:nvSpPr>
        <p:spPr>
          <a:xfrm>
            <a:off x="5731473" y="4512005"/>
            <a:ext cx="3069770"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Figure-6 :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Simple Linear Regression</a:t>
            </a:r>
            <a:endParaRPr lang="en-IN" b="1" dirty="0"/>
          </a:p>
        </p:txBody>
      </p:sp>
      <p:sp>
        <p:nvSpPr>
          <p:cNvPr id="5" name="Rectangle 4">
            <a:extLst>
              <a:ext uri="{FF2B5EF4-FFF2-40B4-BE49-F238E27FC236}">
                <a16:creationId xmlns:a16="http://schemas.microsoft.com/office/drawing/2014/main" id="{592ACAFD-F343-1977-48B3-64825750A64E}"/>
              </a:ext>
            </a:extLst>
          </p:cNvPr>
          <p:cNvSpPr/>
          <p:nvPr/>
        </p:nvSpPr>
        <p:spPr>
          <a:xfrm>
            <a:off x="254001" y="1757405"/>
            <a:ext cx="4927599" cy="3062377"/>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Mathematically, the relationship can be modeled as a linear equation:</a:t>
            </a:r>
          </a:p>
          <a:p>
            <a:pPr lvl="0" algn="ctr">
              <a:lnSpc>
                <a:spcPct val="150000"/>
              </a:lnSpc>
            </a:pPr>
            <a:r>
              <a:rPr lang="en-IN" sz="1800" b="1" dirty="0">
                <a:latin typeface="Calibri" panose="020F0502020204030204" pitchFamily="34" charset="0"/>
                <a:ea typeface="Calibri" panose="020F0502020204030204" pitchFamily="34" charset="0"/>
                <a:cs typeface="Calibri" panose="020F0502020204030204" pitchFamily="34" charset="0"/>
              </a:rPr>
              <a:t>Y = w</a:t>
            </a:r>
            <a:r>
              <a:rPr lang="en-IN" sz="1800" b="1" baseline="-25000" dirty="0">
                <a:latin typeface="Calibri" panose="020F0502020204030204" pitchFamily="34" charset="0"/>
                <a:ea typeface="Calibri" panose="020F0502020204030204" pitchFamily="34" charset="0"/>
                <a:cs typeface="Calibri" panose="020F0502020204030204" pitchFamily="34" charset="0"/>
              </a:rPr>
              <a:t>0 </a:t>
            </a:r>
            <a:r>
              <a:rPr lang="en-IN" sz="1800" b="1" dirty="0">
                <a:latin typeface="Calibri" panose="020F0502020204030204" pitchFamily="34" charset="0"/>
                <a:ea typeface="Calibri" panose="020F0502020204030204" pitchFamily="34" charset="0"/>
                <a:cs typeface="Calibri" panose="020F0502020204030204" pitchFamily="34" charset="0"/>
              </a:rPr>
              <a:t>+ w</a:t>
            </a:r>
            <a:r>
              <a:rPr lang="en-IN" sz="1800" b="1" baseline="-25000" dirty="0">
                <a:latin typeface="Calibri" panose="020F0502020204030204" pitchFamily="34" charset="0"/>
                <a:ea typeface="Calibri" panose="020F0502020204030204" pitchFamily="34" charset="0"/>
                <a:cs typeface="Calibri" panose="020F0502020204030204" pitchFamily="34" charset="0"/>
              </a:rPr>
              <a:t>1</a:t>
            </a:r>
            <a:r>
              <a:rPr lang="en-IN" sz="1800" b="1" dirty="0">
                <a:latin typeface="Calibri" panose="020F0502020204030204" pitchFamily="34" charset="0"/>
                <a:ea typeface="Calibri" panose="020F0502020204030204" pitchFamily="34" charset="0"/>
                <a:cs typeface="Calibri" panose="020F0502020204030204" pitchFamily="34" charset="0"/>
              </a:rPr>
              <a:t>X + </a:t>
            </a:r>
            <a:r>
              <a:rPr lang="el-GR" sz="1800" b="1" dirty="0">
                <a:latin typeface="Calibri" panose="020F0502020204030204" pitchFamily="34" charset="0"/>
                <a:ea typeface="Calibri" panose="020F0502020204030204" pitchFamily="34" charset="0"/>
                <a:cs typeface="Calibri" panose="020F0502020204030204" pitchFamily="34" charset="0"/>
              </a:rPr>
              <a:t>ϵ</a:t>
            </a:r>
            <a:endParaRPr lang="en-IN" sz="1800" b="1" dirty="0">
              <a:latin typeface="Calibri" panose="020F0502020204030204" pitchFamily="34" charset="0"/>
              <a:ea typeface="Calibri" panose="020F0502020204030204" pitchFamily="34" charset="0"/>
              <a:cs typeface="Calibri" panose="020F0502020204030204" pitchFamily="34" charset="0"/>
            </a:endParaRPr>
          </a:p>
          <a:p>
            <a:pPr marL="268288" lvl="0" algn="just"/>
            <a:r>
              <a:rPr lang="en-US" sz="1600" b="1" dirty="0">
                <a:latin typeface="Calibri" panose="020F0502020204030204" pitchFamily="34" charset="0"/>
                <a:ea typeface="Calibri" panose="020F0502020204030204" pitchFamily="34" charset="0"/>
                <a:cs typeface="Calibri" panose="020F0502020204030204" pitchFamily="34" charset="0"/>
              </a:rPr>
              <a:t>Where: </a:t>
            </a:r>
            <a:r>
              <a:rPr lang="en-US" sz="1600" dirty="0">
                <a:latin typeface="Calibri" panose="020F0502020204030204" pitchFamily="34" charset="0"/>
                <a:ea typeface="Calibri" panose="020F0502020204030204" pitchFamily="34" charset="0"/>
                <a:cs typeface="Calibri" panose="020F0502020204030204" pitchFamily="34" charset="0"/>
              </a:rPr>
              <a:t>Y is the dependent variable (target).</a:t>
            </a:r>
          </a:p>
          <a:p>
            <a:pPr marL="268288" lvl="0" algn="just"/>
            <a:r>
              <a:rPr lang="en-US" sz="1600" dirty="0">
                <a:latin typeface="Calibri" panose="020F0502020204030204" pitchFamily="34" charset="0"/>
                <a:ea typeface="Calibri" panose="020F0502020204030204" pitchFamily="34" charset="0"/>
                <a:cs typeface="Calibri" panose="020F0502020204030204" pitchFamily="34" charset="0"/>
              </a:rPr>
              <a:t>X is the independent variable (feature).</a:t>
            </a:r>
          </a:p>
          <a:p>
            <a:pPr marL="268288" lvl="0" algn="just"/>
            <a:r>
              <a:rPr lang="en-US" sz="1600" dirty="0">
                <a:latin typeface="Calibri" panose="020F0502020204030204" pitchFamily="34" charset="0"/>
                <a:ea typeface="Calibri" panose="020F0502020204030204" pitchFamily="34" charset="0"/>
                <a:cs typeface="Calibri" panose="020F0502020204030204" pitchFamily="34" charset="0"/>
              </a:rPr>
              <a:t>w</a:t>
            </a:r>
            <a:r>
              <a:rPr lang="en-US" sz="1600" baseline="-25000" dirty="0">
                <a:latin typeface="Calibri" panose="020F0502020204030204" pitchFamily="34" charset="0"/>
                <a:ea typeface="Calibri" panose="020F0502020204030204" pitchFamily="34" charset="0"/>
                <a:cs typeface="Calibri" panose="020F0502020204030204" pitchFamily="34" charset="0"/>
              </a:rPr>
              <a:t>0</a:t>
            </a:r>
            <a:r>
              <a:rPr lang="en-US" sz="1600" dirty="0">
                <a:latin typeface="Calibri" panose="020F0502020204030204" pitchFamily="34" charset="0"/>
                <a:ea typeface="Calibri" panose="020F0502020204030204" pitchFamily="34" charset="0"/>
                <a:cs typeface="Calibri" panose="020F0502020204030204" pitchFamily="34" charset="0"/>
              </a:rPr>
              <a:t> is the y-intercept of the line.</a:t>
            </a:r>
          </a:p>
          <a:p>
            <a:pPr marL="268288" lvl="0" algn="just"/>
            <a:r>
              <a:rPr lang="en-US" sz="1600" dirty="0">
                <a:latin typeface="Calibri" panose="020F0502020204030204" pitchFamily="34" charset="0"/>
                <a:ea typeface="Calibri" panose="020F0502020204030204" pitchFamily="34" charset="0"/>
                <a:cs typeface="Calibri" panose="020F0502020204030204" pitchFamily="34" charset="0"/>
              </a:rPr>
              <a:t>w</a:t>
            </a:r>
            <a:r>
              <a:rPr lang="en-US" sz="1600" baseline="-25000" dirty="0">
                <a:latin typeface="Calibri" panose="020F0502020204030204" pitchFamily="34" charset="0"/>
                <a:ea typeface="Calibri" panose="020F0502020204030204" pitchFamily="34" charset="0"/>
                <a:cs typeface="Calibri" panose="020F0502020204030204" pitchFamily="34" charset="0"/>
              </a:rPr>
              <a:t>1</a:t>
            </a:r>
            <a:r>
              <a:rPr lang="en-US" sz="1600" dirty="0">
                <a:latin typeface="Calibri" panose="020F0502020204030204" pitchFamily="34" charset="0"/>
                <a:ea typeface="Calibri" panose="020F0502020204030204" pitchFamily="34" charset="0"/>
                <a:cs typeface="Calibri" panose="020F0502020204030204" pitchFamily="34" charset="0"/>
              </a:rPr>
              <a:t> is the slope of the line, representing the effect of X on Y.</a:t>
            </a:r>
          </a:p>
          <a:p>
            <a:pPr marL="268288" lvl="0" algn="just"/>
            <a:r>
              <a:rPr lang="el-GR" sz="1600" dirty="0">
                <a:latin typeface="Calibri" panose="020F0502020204030204" pitchFamily="34" charset="0"/>
                <a:ea typeface="Calibri" panose="020F0502020204030204" pitchFamily="34" charset="0"/>
                <a:cs typeface="Calibri" panose="020F0502020204030204" pitchFamily="34" charset="0"/>
              </a:rPr>
              <a:t>ϵ </a:t>
            </a:r>
            <a:r>
              <a:rPr lang="en-US" sz="1600" dirty="0">
                <a:latin typeface="Calibri" panose="020F0502020204030204" pitchFamily="34" charset="0"/>
                <a:ea typeface="Calibri" panose="020F0502020204030204" pitchFamily="34" charset="0"/>
                <a:cs typeface="Calibri" panose="020F0502020204030204" pitchFamily="34" charset="0"/>
              </a:rPr>
              <a:t>is the error term, capturing the variability in Y not explained by X.</a:t>
            </a:r>
          </a:p>
        </p:txBody>
      </p:sp>
    </p:spTree>
    <p:extLst>
      <p:ext uri="{BB962C8B-B14F-4D97-AF65-F5344CB8AC3E}">
        <p14:creationId xmlns:p14="http://schemas.microsoft.com/office/powerpoint/2010/main" val="285166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67A515D-6629-4493-7719-FC2A53A706C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88A70C3-485A-DF03-EC50-1FD85B1DFC2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F3CFC080-BC41-0EA9-4CEB-4F33F1E2B57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630FB833-80E0-00E8-7445-0198A7F3EBC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Multiple Linear Regression: </a:t>
            </a:r>
            <a:r>
              <a:rPr lang="en-US" sz="1800" dirty="0">
                <a:latin typeface="Calibri" panose="020F0502020204030204" pitchFamily="34" charset="0"/>
                <a:ea typeface="Calibri" panose="020F0502020204030204" pitchFamily="34" charset="0"/>
                <a:cs typeface="Calibri" panose="020F0502020204030204" pitchFamily="34" charset="0"/>
              </a:rPr>
              <a:t>It is basically the extension of simple linear regression that predicts a response using two or more features.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When dealing with more than one independent variable, we extend simple linear regression to multiple linear regression. The model is expressed as: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Multiple linear regression extends the concept of simple linear regression to multiple independent variables. The model is expressed as: </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68288"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Where: </a:t>
            </a:r>
            <a:r>
              <a:rPr lang="en-US" sz="1800" dirty="0">
                <a:latin typeface="Calibri" panose="020F0502020204030204" pitchFamily="34" charset="0"/>
                <a:ea typeface="Calibri" panose="020F0502020204030204" pitchFamily="34" charset="0"/>
                <a:cs typeface="Calibri" panose="020F0502020204030204" pitchFamily="34" charset="0"/>
              </a:rPr>
              <a:t>X</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X</a:t>
            </a:r>
            <a:r>
              <a:rPr lang="en-US" sz="1800" baseline="-25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 </a:t>
            </a:r>
            <a:r>
              <a:rPr lang="en-US" sz="1800" dirty="0" err="1">
                <a:latin typeface="Calibri" panose="020F0502020204030204" pitchFamily="34" charset="0"/>
                <a:ea typeface="Calibri" panose="020F0502020204030204" pitchFamily="34" charset="0"/>
                <a:cs typeface="Calibri" panose="020F0502020204030204" pitchFamily="34" charset="0"/>
              </a:rPr>
              <a:t>X</a:t>
            </a:r>
            <a:r>
              <a:rPr lang="en-US" sz="1800" baseline="-25000" dirty="0" err="1">
                <a:latin typeface="Calibri" panose="020F0502020204030204" pitchFamily="34" charset="0"/>
                <a:ea typeface="Calibri" panose="020F0502020204030204" pitchFamily="34" charset="0"/>
                <a:cs typeface="Calibri" panose="020F0502020204030204" pitchFamily="34" charset="0"/>
              </a:rPr>
              <a:t>p</a:t>
            </a:r>
            <a:r>
              <a:rPr lang="en-US" sz="1800" dirty="0">
                <a:latin typeface="Calibri" panose="020F0502020204030204" pitchFamily="34" charset="0"/>
                <a:ea typeface="Calibri" panose="020F0502020204030204" pitchFamily="34" charset="0"/>
                <a:cs typeface="Calibri" panose="020F0502020204030204" pitchFamily="34" charset="0"/>
              </a:rPr>
              <a:t> are the independent variables (features).</a:t>
            </a:r>
          </a:p>
          <a:p>
            <a:pPr marL="26828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w</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 w</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 w</a:t>
            </a:r>
            <a:r>
              <a:rPr lang="en-US" sz="1800" baseline="-25000" dirty="0">
                <a:latin typeface="Calibri" panose="020F0502020204030204" pitchFamily="34" charset="0"/>
                <a:ea typeface="Calibri" panose="020F0502020204030204" pitchFamily="34" charset="0"/>
                <a:cs typeface="Calibri" panose="020F0502020204030204" pitchFamily="34" charset="0"/>
              </a:rPr>
              <a:t>p</a:t>
            </a:r>
            <a:r>
              <a:rPr lang="en-US" sz="1800" dirty="0">
                <a:latin typeface="Calibri" panose="020F0502020204030204" pitchFamily="34" charset="0"/>
                <a:ea typeface="Calibri" panose="020F0502020204030204" pitchFamily="34" charset="0"/>
                <a:cs typeface="Calibri" panose="020F0502020204030204" pitchFamily="34" charset="0"/>
              </a:rPr>
              <a:t> are the coefficients for these variables.</a:t>
            </a:r>
          </a:p>
          <a:p>
            <a:pPr marL="268288" lvl="0"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              </a:t>
            </a:r>
            <a:r>
              <a:rPr lang="pl-PL" sz="1800" dirty="0">
                <a:latin typeface="Calibri" panose="020F0502020204030204" pitchFamily="34" charset="0"/>
                <a:ea typeface="Calibri" panose="020F0502020204030204" pitchFamily="34" charset="0"/>
                <a:cs typeface="Calibri" panose="020F0502020204030204" pitchFamily="34" charset="0"/>
              </a:rPr>
              <a:t>ϵ</a:t>
            </a:r>
            <a:r>
              <a:rPr lang="en-US" sz="1800" dirty="0">
                <a:latin typeface="Calibri" panose="020F0502020204030204" pitchFamily="34" charset="0"/>
                <a:ea typeface="Calibri" panose="020F0502020204030204" pitchFamily="34" charset="0"/>
                <a:cs typeface="Calibri" panose="020F0502020204030204" pitchFamily="34" charset="0"/>
              </a:rPr>
              <a:t> is the error term.</a:t>
            </a:r>
          </a:p>
        </p:txBody>
      </p:sp>
      <p:sp>
        <p:nvSpPr>
          <p:cNvPr id="5" name="TextBox 4">
            <a:extLst>
              <a:ext uri="{FF2B5EF4-FFF2-40B4-BE49-F238E27FC236}">
                <a16:creationId xmlns:a16="http://schemas.microsoft.com/office/drawing/2014/main" id="{E4D20309-21EC-8E42-A1B8-2658507EEAEF}"/>
              </a:ext>
            </a:extLst>
          </p:cNvPr>
          <p:cNvSpPr txBox="1"/>
          <p:nvPr/>
        </p:nvSpPr>
        <p:spPr>
          <a:xfrm>
            <a:off x="2823028" y="3457956"/>
            <a:ext cx="3657601" cy="646331"/>
          </a:xfrm>
          <a:prstGeom prst="rect">
            <a:avLst/>
          </a:prstGeom>
          <a:noFill/>
        </p:spPr>
        <p:txBody>
          <a:bodyPr wrap="square">
            <a:spAutoFit/>
          </a:bodyPr>
          <a:lstStyle/>
          <a:p>
            <a:pPr algn="ct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Y</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r>
              <a:rPr lang="en-IN"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X</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r>
              <a:rPr lang="en-IN"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X</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r>
              <a:rPr lang="en-IN"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X</a:t>
            </a:r>
            <a:r>
              <a:rPr lang="pl-PL"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t>
            </a:r>
            <a:r>
              <a:rPr lang="en-IN" sz="1800" b="1" i="0" u="none" strike="noStrike" baseline="-25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IN"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pl-PL"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ϵ</a:t>
            </a:r>
            <a:br>
              <a:rPr lang="pl-PL" sz="1800" b="1" dirty="0">
                <a:latin typeface="Calibri" panose="020F0502020204030204" pitchFamily="34" charset="0"/>
                <a:ea typeface="Calibri" panose="020F0502020204030204" pitchFamily="34" charset="0"/>
                <a:cs typeface="Calibri" panose="020F0502020204030204" pitchFamily="34" charset="0"/>
              </a:rPr>
            </a:br>
            <a:endParaRPr lang="en-IN" sz="18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536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7178071-2DDC-5A16-89F7-3D25809D669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AFCA16-29A4-714F-1CCC-EF575EA888C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A2BB449F-82DF-7175-F48F-EDA3BF12AEC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31F04C1F-0CBB-4642-8D58-11D7CE1569FD}"/>
              </a:ext>
            </a:extLst>
          </p:cNvPr>
          <p:cNvSpPr/>
          <p:nvPr/>
        </p:nvSpPr>
        <p:spPr>
          <a:xfrm>
            <a:off x="254001" y="939215"/>
            <a:ext cx="8639575" cy="2542363"/>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How Does Linear Regression Work?</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main goal of linear regression is to find the best-fit line through a set of data points that minimizes the difference between the actual values and predicted values. So, it is done? This is done by estimating the parameters w</a:t>
            </a:r>
            <a:r>
              <a:rPr lang="en-US" sz="1800" baseline="-25000" dirty="0">
                <a:latin typeface="Calibri" panose="020F0502020204030204" pitchFamily="34" charset="0"/>
                <a:ea typeface="Calibri" panose="020F0502020204030204" pitchFamily="34" charset="0"/>
                <a:cs typeface="Calibri" panose="020F0502020204030204" pitchFamily="34" charset="0"/>
              </a:rPr>
              <a:t>0</a:t>
            </a:r>
            <a:r>
              <a:rPr lang="en-US" sz="1800" dirty="0">
                <a:latin typeface="Calibri" panose="020F0502020204030204" pitchFamily="34" charset="0"/>
                <a:ea typeface="Calibri" panose="020F0502020204030204" pitchFamily="34" charset="0"/>
                <a:cs typeface="Calibri" panose="020F0502020204030204" pitchFamily="34" charset="0"/>
              </a:rPr>
              <a:t>, w</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etc.</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working of linear regression in machine learning can be broken down into many steps as follows:</a:t>
            </a:r>
          </a:p>
        </p:txBody>
      </p:sp>
      <p:sp>
        <p:nvSpPr>
          <p:cNvPr id="4" name="Rectangle 3">
            <a:extLst>
              <a:ext uri="{FF2B5EF4-FFF2-40B4-BE49-F238E27FC236}">
                <a16:creationId xmlns:a16="http://schemas.microsoft.com/office/drawing/2014/main" id="{717AFAFA-3EC3-A3D1-D922-9BCAC6334F7F}"/>
              </a:ext>
            </a:extLst>
          </p:cNvPr>
          <p:cNvSpPr/>
          <p:nvPr/>
        </p:nvSpPr>
        <p:spPr>
          <a:xfrm>
            <a:off x="653142" y="3418114"/>
            <a:ext cx="8142515" cy="163939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lgn="just">
              <a:lnSpc>
                <a:spcPct val="150000"/>
              </a:lnSpc>
              <a:buFont typeface="Wingdings" panose="05000000000000000000" pitchFamily="2" charset="2"/>
              <a:buChar char="Ø"/>
            </a:pP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Hypothesis − </a:t>
            </a: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We assume that there is a linear relation between input and output.</a:t>
            </a:r>
          </a:p>
          <a:p>
            <a:pPr marL="285750" lvl="0" indent="-285750" algn="just">
              <a:lnSpc>
                <a:spcPct val="150000"/>
              </a:lnSpc>
              <a:buFont typeface="Wingdings" panose="05000000000000000000" pitchFamily="2" charset="2"/>
              <a:buChar char="Ø"/>
            </a:pP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Cost Function − </a:t>
            </a: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Define a loss or cost function. The cost function quantifies the model's prediction error. The cost function takes the model's predicted values and actual values and returns a single scaler value that represents the cost of the model's prediction.</a:t>
            </a:r>
          </a:p>
          <a:p>
            <a:pPr marL="285750" lvl="0" indent="-285750" algn="just">
              <a:lnSpc>
                <a:spcPct val="150000"/>
              </a:lnSpc>
              <a:buFont typeface="Wingdings" panose="05000000000000000000" pitchFamily="2" charset="2"/>
              <a:buChar char="Ø"/>
            </a:pP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Optimization − </a:t>
            </a: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Optimize (minimize) the model's cost function by updating the model's parameters.</a:t>
            </a:r>
          </a:p>
          <a:p>
            <a:pPr algn="ctr"/>
            <a:endParaRPr lang="en-IN" dirty="0">
              <a:solidFill>
                <a:schemeClr val="bg2"/>
              </a:solidFill>
            </a:endParaRPr>
          </a:p>
        </p:txBody>
      </p:sp>
    </p:spTree>
    <p:extLst>
      <p:ext uri="{BB962C8B-B14F-4D97-AF65-F5344CB8AC3E}">
        <p14:creationId xmlns:p14="http://schemas.microsoft.com/office/powerpoint/2010/main" val="45720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15820F1-9854-4EC0-48BC-8545E92948A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60B1C80-95FC-FF57-5F20-A10C39B691D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593E1134-410D-D640-8A7E-CA7DBCB8529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DD4269AE-A91E-3920-76F2-6A10AD85244A}"/>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continues updating the model's parameters until the cost or error of the model's prediction is optimized (minimized).</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Hypothesis Function For Linear Regression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linear regression problems, we assume that there is a linear relationship between input features (X) and predicted value (Y).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hypothesis function returns the predicted value for a given input value. Generally, we represent a hypothesis by </a:t>
            </a:r>
            <a:r>
              <a:rPr lang="en-US" sz="1800" dirty="0" err="1">
                <a:latin typeface="Calibri" panose="020F0502020204030204" pitchFamily="34" charset="0"/>
                <a:ea typeface="Calibri" panose="020F0502020204030204" pitchFamily="34" charset="0"/>
                <a:cs typeface="Calibri" panose="020F0502020204030204" pitchFamily="34" charset="0"/>
              </a:rPr>
              <a:t>h</a:t>
            </a:r>
            <a:r>
              <a:rPr lang="en-US" sz="1800" baseline="-25000" dirty="0" err="1">
                <a:latin typeface="Calibri" panose="020F0502020204030204" pitchFamily="34" charset="0"/>
                <a:ea typeface="Calibri" panose="020F0502020204030204" pitchFamily="34" charset="0"/>
                <a:cs typeface="Calibri" panose="020F0502020204030204" pitchFamily="34" charset="0"/>
              </a:rPr>
              <a:t>w</a:t>
            </a:r>
            <a:r>
              <a:rPr lang="en-US" sz="1800" dirty="0">
                <a:latin typeface="Calibri" panose="020F0502020204030204" pitchFamily="34" charset="0"/>
                <a:ea typeface="Calibri" panose="020F0502020204030204" pitchFamily="34" charset="0"/>
                <a:cs typeface="Calibri" panose="020F0502020204030204" pitchFamily="34" charset="0"/>
              </a:rPr>
              <a:t>(X) and it is equal to Y;. Hypothesis function for simple linear regression: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Hypothesis function for multiple linear regression:</a:t>
            </a:r>
          </a:p>
        </p:txBody>
      </p:sp>
      <p:pic>
        <p:nvPicPr>
          <p:cNvPr id="8" name="Picture 7">
            <a:extLst>
              <a:ext uri="{FF2B5EF4-FFF2-40B4-BE49-F238E27FC236}">
                <a16:creationId xmlns:a16="http://schemas.microsoft.com/office/drawing/2014/main" id="{DA858941-4890-0B88-F24B-67895229DED4}"/>
              </a:ext>
            </a:extLst>
          </p:cNvPr>
          <p:cNvPicPr>
            <a:picLocks noChangeAspect="1"/>
          </p:cNvPicPr>
          <p:nvPr/>
        </p:nvPicPr>
        <p:blipFill>
          <a:blip r:embed="rId3"/>
          <a:stretch>
            <a:fillRect/>
          </a:stretch>
        </p:blipFill>
        <p:spPr>
          <a:xfrm>
            <a:off x="3731242" y="3882572"/>
            <a:ext cx="1667000" cy="393504"/>
          </a:xfrm>
          <a:prstGeom prst="rect">
            <a:avLst/>
          </a:prstGeom>
        </p:spPr>
      </p:pic>
      <p:pic>
        <p:nvPicPr>
          <p:cNvPr id="10" name="Picture 9">
            <a:extLst>
              <a:ext uri="{FF2B5EF4-FFF2-40B4-BE49-F238E27FC236}">
                <a16:creationId xmlns:a16="http://schemas.microsoft.com/office/drawing/2014/main" id="{CF462355-B17A-094F-8756-DCC1FF162580}"/>
              </a:ext>
            </a:extLst>
          </p:cNvPr>
          <p:cNvPicPr>
            <a:picLocks noChangeAspect="1"/>
          </p:cNvPicPr>
          <p:nvPr/>
        </p:nvPicPr>
        <p:blipFill>
          <a:blip r:embed="rId4"/>
          <a:stretch>
            <a:fillRect/>
          </a:stretch>
        </p:blipFill>
        <p:spPr>
          <a:xfrm>
            <a:off x="2837542" y="4684683"/>
            <a:ext cx="4216401" cy="393504"/>
          </a:xfrm>
          <a:prstGeom prst="rect">
            <a:avLst/>
          </a:prstGeom>
        </p:spPr>
      </p:pic>
    </p:spTree>
    <p:extLst>
      <p:ext uri="{BB962C8B-B14F-4D97-AF65-F5344CB8AC3E}">
        <p14:creationId xmlns:p14="http://schemas.microsoft.com/office/powerpoint/2010/main" val="218868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C19CEA8-CA1A-A046-82B4-23C8ED7C927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DA6FAEE-C89E-8DA8-E5B6-FC50EF9AB4F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719E5D38-F616-D818-3CA4-B4CDE8E3F6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0184CE7F-A37A-7EEC-FB16-EA29835B86F3}"/>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different values of parameters (weights), we can find many regression lines. The main goal is to find the best-fit lines. Let's discuss it as below:</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Finding the Best Fit Line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discussed above that different set of parameters will provide different regression lines.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However, each regression line does not represent the optimal relation between the input and output values. The main goal is to find the best-fit line.</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 regression line is said to be the best fit if the error between actual and predicted values is minimal.</a:t>
            </a:r>
          </a:p>
        </p:txBody>
      </p:sp>
    </p:spTree>
    <p:extLst>
      <p:ext uri="{BB962C8B-B14F-4D97-AF65-F5344CB8AC3E}">
        <p14:creationId xmlns:p14="http://schemas.microsoft.com/office/powerpoint/2010/main" val="338986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0188459-CE6C-6083-2424-CDC2E118AC5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6A79BC3-84AE-50CA-0DAC-994B474F5A4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sp>
        <p:nvSpPr>
          <p:cNvPr id="2" name="Title 1">
            <a:extLst>
              <a:ext uri="{FF2B5EF4-FFF2-40B4-BE49-F238E27FC236}">
                <a16:creationId xmlns:a16="http://schemas.microsoft.com/office/drawing/2014/main" id="{94B86091-E21B-809B-17C0-FD6775D36F7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27DC1151-646C-9F14-8468-132BFBDC1F14}"/>
              </a:ext>
            </a:extLst>
          </p:cNvPr>
          <p:cNvSpPr/>
          <p:nvPr/>
        </p:nvSpPr>
        <p:spPr>
          <a:xfrm>
            <a:off x="254001" y="939215"/>
            <a:ext cx="425268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Below image shows a regression line with error (</a:t>
            </a:r>
            <a:r>
              <a:rPr lang="el-GR" sz="1800" dirty="0">
                <a:latin typeface="Calibri" panose="020F0502020204030204" pitchFamily="34" charset="0"/>
                <a:ea typeface="Calibri" panose="020F0502020204030204" pitchFamily="34" charset="0"/>
                <a:cs typeface="Calibri" panose="020F0502020204030204" pitchFamily="34" charset="0"/>
              </a:rPr>
              <a:t>ϵ</a:t>
            </a:r>
            <a:r>
              <a:rPr lang="en-US" sz="1800" dirty="0">
                <a:latin typeface="Calibri" panose="020F0502020204030204" pitchFamily="34" charset="0"/>
                <a:ea typeface="Calibri" panose="020F0502020204030204" pitchFamily="34" charset="0"/>
                <a:cs typeface="Calibri" panose="020F0502020204030204" pitchFamily="34" charset="0"/>
              </a:rPr>
              <a:t>) at input data point X. The error is calculated for all data points and our goal is to minimize the average error/loss.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We can use different types of loss functions such as mean square error (MSE), mean average error (MAE), L</a:t>
            </a:r>
            <a:r>
              <a:rPr lang="en-US" sz="1800" baseline="-25000" dirty="0">
                <a:latin typeface="Calibri" panose="020F0502020204030204" pitchFamily="34" charset="0"/>
                <a:ea typeface="Calibri" panose="020F0502020204030204" pitchFamily="34" charset="0"/>
                <a:cs typeface="Calibri" panose="020F0502020204030204" pitchFamily="34" charset="0"/>
              </a:rPr>
              <a:t>1</a:t>
            </a:r>
            <a:r>
              <a:rPr lang="en-US" sz="1800" dirty="0">
                <a:latin typeface="Calibri" panose="020F0502020204030204" pitchFamily="34" charset="0"/>
                <a:ea typeface="Calibri" panose="020F0502020204030204" pitchFamily="34" charset="0"/>
                <a:cs typeface="Calibri" panose="020F0502020204030204" pitchFamily="34" charset="0"/>
              </a:rPr>
              <a:t> loss, L</a:t>
            </a:r>
            <a:r>
              <a:rPr lang="en-US" sz="1800" baseline="-25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Loss, etc.</a:t>
            </a:r>
          </a:p>
        </p:txBody>
      </p:sp>
      <p:pic>
        <p:nvPicPr>
          <p:cNvPr id="2050" name="Picture 2" descr="ML Best Fit Line Representation">
            <a:extLst>
              <a:ext uri="{FF2B5EF4-FFF2-40B4-BE49-F238E27FC236}">
                <a16:creationId xmlns:a16="http://schemas.microsoft.com/office/drawing/2014/main" id="{B64024B1-DB11-12C0-B503-94E49CF986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10" t="3784" r="12685" b="2164"/>
          <a:stretch>
            <a:fillRect/>
          </a:stretch>
        </p:blipFill>
        <p:spPr bwMode="auto">
          <a:xfrm>
            <a:off x="4506686" y="1178056"/>
            <a:ext cx="4383313" cy="324154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4AEE861-047F-B717-A1B5-95D48DD6FDF6}"/>
              </a:ext>
            </a:extLst>
          </p:cNvPr>
          <p:cNvSpPr txBox="1"/>
          <p:nvPr/>
        </p:nvSpPr>
        <p:spPr>
          <a:xfrm>
            <a:off x="5332331" y="4504552"/>
            <a:ext cx="3069770"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Figure-7 : </a:t>
            </a:r>
            <a:r>
              <a:rPr lang="en-IN" b="1" dirty="0">
                <a:solidFill>
                  <a:schemeClr val="bg2"/>
                </a:solidFill>
                <a:latin typeface="Calibri" panose="020F0502020204030204" pitchFamily="34" charset="0"/>
                <a:ea typeface="Calibri" panose="020F0502020204030204" pitchFamily="34" charset="0"/>
                <a:cs typeface="Calibri" panose="020F0502020204030204" pitchFamily="34" charset="0"/>
              </a:rPr>
              <a:t>Regression Line with Error</a:t>
            </a:r>
            <a:endParaRPr lang="en-IN" b="1" dirty="0"/>
          </a:p>
        </p:txBody>
      </p:sp>
    </p:spTree>
    <p:extLst>
      <p:ext uri="{BB962C8B-B14F-4D97-AF65-F5344CB8AC3E}">
        <p14:creationId xmlns:p14="http://schemas.microsoft.com/office/powerpoint/2010/main" val="226033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127F1F5-95F9-4E3F-0561-77B56918C6A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8E9BD6A-F880-96DC-BCA0-3D1B32D8092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
        <p:nvSpPr>
          <p:cNvPr id="2" name="Title 1">
            <a:extLst>
              <a:ext uri="{FF2B5EF4-FFF2-40B4-BE49-F238E27FC236}">
                <a16:creationId xmlns:a16="http://schemas.microsoft.com/office/drawing/2014/main" id="{09960C23-38EE-7A2F-E469-354D1BEC8E0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Linear Regression</a:t>
            </a:r>
          </a:p>
        </p:txBody>
      </p:sp>
      <p:sp>
        <p:nvSpPr>
          <p:cNvPr id="3" name="Rectangle 2">
            <a:extLst>
              <a:ext uri="{FF2B5EF4-FFF2-40B4-BE49-F238E27FC236}">
                <a16:creationId xmlns:a16="http://schemas.microsoft.com/office/drawing/2014/main" id="{6A87BC33-DB87-606A-F529-1EE0715A2D37}"/>
              </a:ext>
            </a:extLst>
          </p:cNvPr>
          <p:cNvSpPr/>
          <p:nvPr/>
        </p:nvSpPr>
        <p:spPr>
          <a:xfrm>
            <a:off x="254001" y="939215"/>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So, how can we minimize the error between the actual and predicted values? Let's discuss the important concept, which is cost function or loss function.</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Loss Function for Linear Regression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error between actual and predicted values can be quantified using a loss function of the cost function. The cost function takes the model's predicted values and actual values and returns a single scaler value that represents the cost of the model's prediction. Our main goal is to minimize the cost function.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most commonly used cost function is the mean squared error function.</a:t>
            </a:r>
          </a:p>
        </p:txBody>
      </p:sp>
      <p:pic>
        <p:nvPicPr>
          <p:cNvPr id="5" name="Picture 4">
            <a:extLst>
              <a:ext uri="{FF2B5EF4-FFF2-40B4-BE49-F238E27FC236}">
                <a16:creationId xmlns:a16="http://schemas.microsoft.com/office/drawing/2014/main" id="{3D29D587-8B37-192F-7EB5-2990412406C9}"/>
              </a:ext>
            </a:extLst>
          </p:cNvPr>
          <p:cNvPicPr>
            <a:picLocks noChangeAspect="1"/>
          </p:cNvPicPr>
          <p:nvPr/>
        </p:nvPicPr>
        <p:blipFill>
          <a:blip r:embed="rId3"/>
          <a:stretch>
            <a:fillRect/>
          </a:stretch>
        </p:blipFill>
        <p:spPr>
          <a:xfrm>
            <a:off x="556500" y="4204285"/>
            <a:ext cx="3705742" cy="847843"/>
          </a:xfrm>
          <a:prstGeom prst="rect">
            <a:avLst/>
          </a:prstGeom>
        </p:spPr>
      </p:pic>
      <p:pic>
        <p:nvPicPr>
          <p:cNvPr id="8" name="Picture 7">
            <a:extLst>
              <a:ext uri="{FF2B5EF4-FFF2-40B4-BE49-F238E27FC236}">
                <a16:creationId xmlns:a16="http://schemas.microsoft.com/office/drawing/2014/main" id="{3DFA2014-E015-C577-1BBB-59730C573C95}"/>
              </a:ext>
            </a:extLst>
          </p:cNvPr>
          <p:cNvPicPr>
            <a:picLocks noChangeAspect="1"/>
          </p:cNvPicPr>
          <p:nvPr/>
        </p:nvPicPr>
        <p:blipFill>
          <a:blip r:embed="rId4"/>
          <a:stretch>
            <a:fillRect/>
          </a:stretch>
        </p:blipFill>
        <p:spPr>
          <a:xfrm>
            <a:off x="4361543" y="4204285"/>
            <a:ext cx="4528456" cy="847843"/>
          </a:xfrm>
          <a:prstGeom prst="rect">
            <a:avLst/>
          </a:prstGeom>
        </p:spPr>
      </p:pic>
    </p:spTree>
    <p:extLst>
      <p:ext uri="{BB962C8B-B14F-4D97-AF65-F5344CB8AC3E}">
        <p14:creationId xmlns:p14="http://schemas.microsoft.com/office/powerpoint/2010/main" val="311643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38DE93A-E810-8BB2-09D5-A026437739E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CD1D358-927F-5423-7092-CB487ABC171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29</a:t>
            </a:r>
          </a:p>
        </p:txBody>
      </p:sp>
      <p:sp>
        <p:nvSpPr>
          <p:cNvPr id="2" name="Title 1">
            <a:extLst>
              <a:ext uri="{FF2B5EF4-FFF2-40B4-BE49-F238E27FC236}">
                <a16:creationId xmlns:a16="http://schemas.microsoft.com/office/drawing/2014/main" id="{344AFD38-79A1-5ECF-E99A-7557273C4E0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Polynomial</a:t>
            </a:r>
            <a:r>
              <a:rPr lang="en-US" sz="4000" b="1" dirty="0">
                <a:latin typeface="Calibri" panose="020F0502020204030204" pitchFamily="34" charset="0"/>
                <a:ea typeface="Calibri" panose="020F0502020204030204" pitchFamily="34" charset="0"/>
                <a:cs typeface="Calibri" panose="020F0502020204030204" pitchFamily="34" charset="0"/>
              </a:rPr>
              <a:t> Regression</a:t>
            </a:r>
          </a:p>
        </p:txBody>
      </p:sp>
      <p:sp>
        <p:nvSpPr>
          <p:cNvPr id="3" name="Rectangle 2">
            <a:extLst>
              <a:ext uri="{FF2B5EF4-FFF2-40B4-BE49-F238E27FC236}">
                <a16:creationId xmlns:a16="http://schemas.microsoft.com/office/drawing/2014/main" id="{046CACB4-33D6-D2FF-A9BC-9E4FA3AAD378}"/>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Polynomial Linear Regression is a type of regression analysis in which the relationship between the independent variable and the dependent variable is modeled as an n-</a:t>
            </a:r>
            <a:r>
              <a:rPr lang="en-US" sz="1800" dirty="0" err="1">
                <a:latin typeface="Calibri" panose="020F0502020204030204" pitchFamily="34" charset="0"/>
                <a:ea typeface="Calibri" panose="020F0502020204030204" pitchFamily="34" charset="0"/>
                <a:cs typeface="Calibri" panose="020F0502020204030204" pitchFamily="34" charset="0"/>
              </a:rPr>
              <a:t>th</a:t>
            </a:r>
            <a:r>
              <a:rPr lang="en-US" sz="1800" dirty="0">
                <a:latin typeface="Calibri" panose="020F0502020204030204" pitchFamily="34" charset="0"/>
                <a:ea typeface="Calibri" panose="020F0502020204030204" pitchFamily="34" charset="0"/>
                <a:cs typeface="Calibri" panose="020F0502020204030204" pitchFamily="34" charset="0"/>
              </a:rPr>
              <a:t> degree polynomial function.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Polynomial regression allows for a more complex relationship between the variables to be captured beyond the linear relationship in simple linear regression and multiple linear regression.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(ML) and data science, choosing between a linear regression or polynomial regression depends upon the characteristics of the dataset. A non-linear dataset can't be fitted with a linear regression. If we apply linear regression to a nonlinear dataset, it will not be able to capture the non-linear patterns in the data.</a:t>
            </a:r>
          </a:p>
        </p:txBody>
      </p:sp>
    </p:spTree>
    <p:extLst>
      <p:ext uri="{BB962C8B-B14F-4D97-AF65-F5344CB8AC3E}">
        <p14:creationId xmlns:p14="http://schemas.microsoft.com/office/powerpoint/2010/main" val="247711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6BA8F2E-3060-E897-4123-6ED8D53E393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18DD413-CBE5-C292-1E63-BC631D4765F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30</a:t>
            </a:r>
          </a:p>
        </p:txBody>
      </p:sp>
      <p:sp>
        <p:nvSpPr>
          <p:cNvPr id="2" name="Title 1">
            <a:extLst>
              <a:ext uri="{FF2B5EF4-FFF2-40B4-BE49-F238E27FC236}">
                <a16:creationId xmlns:a16="http://schemas.microsoft.com/office/drawing/2014/main" id="{07139FF3-320A-50D8-0E47-191E6BA90788}"/>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Polynomial</a:t>
            </a:r>
            <a:r>
              <a:rPr lang="en-US" sz="4000" b="1" dirty="0">
                <a:latin typeface="Calibri" panose="020F0502020204030204" pitchFamily="34" charset="0"/>
                <a:ea typeface="Calibri" panose="020F0502020204030204" pitchFamily="34" charset="0"/>
                <a:cs typeface="Calibri" panose="020F0502020204030204" pitchFamily="34" charset="0"/>
              </a:rPr>
              <a:t> Regression</a:t>
            </a:r>
          </a:p>
        </p:txBody>
      </p:sp>
      <p:sp>
        <p:nvSpPr>
          <p:cNvPr id="3" name="Rectangle 2">
            <a:extLst>
              <a:ext uri="{FF2B5EF4-FFF2-40B4-BE49-F238E27FC236}">
                <a16:creationId xmlns:a16="http://schemas.microsoft.com/office/drawing/2014/main" id="{C1B6C087-8D8B-8351-0EE8-69F505F51235}"/>
              </a:ext>
            </a:extLst>
          </p:cNvPr>
          <p:cNvSpPr/>
          <p:nvPr/>
        </p:nvSpPr>
        <p:spPr>
          <a:xfrm>
            <a:off x="254001" y="939215"/>
            <a:ext cx="8639575" cy="88036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Look at the below diagram to understand why we need polynomial regression for non-linear data.</a:t>
            </a:r>
          </a:p>
        </p:txBody>
      </p:sp>
      <p:pic>
        <p:nvPicPr>
          <p:cNvPr id="3074" name="Picture 2" descr="Simple Linear Regression vs. Polynomial Regression">
            <a:extLst>
              <a:ext uri="{FF2B5EF4-FFF2-40B4-BE49-F238E27FC236}">
                <a16:creationId xmlns:a16="http://schemas.microsoft.com/office/drawing/2014/main" id="{6F75A688-887F-C1BD-9D14-CE10D90DAF7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7" t="16113" r="3392" b="12597"/>
          <a:stretch>
            <a:fillRect/>
          </a:stretch>
        </p:blipFill>
        <p:spPr bwMode="auto">
          <a:xfrm>
            <a:off x="2041810" y="1560286"/>
            <a:ext cx="6567714" cy="32729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195DA75-8FA0-90F3-BB09-C99B0B4890AC}"/>
              </a:ext>
            </a:extLst>
          </p:cNvPr>
          <p:cNvSpPr txBox="1"/>
          <p:nvPr/>
        </p:nvSpPr>
        <p:spPr>
          <a:xfrm>
            <a:off x="2685143" y="4770410"/>
            <a:ext cx="5334000"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Figure-8 : Need of polynomial regression for non-linear data</a:t>
            </a:r>
            <a:endParaRPr lang="en-IN" b="1" dirty="0"/>
          </a:p>
        </p:txBody>
      </p:sp>
    </p:spTree>
    <p:extLst>
      <p:ext uri="{BB962C8B-B14F-4D97-AF65-F5344CB8AC3E}">
        <p14:creationId xmlns:p14="http://schemas.microsoft.com/office/powerpoint/2010/main" val="3097776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BD96058-2D05-7EBD-408F-1EC58C6A723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49AAD4-47BC-D9B9-E1E3-483AAE4E4CA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31</a:t>
            </a:r>
          </a:p>
        </p:txBody>
      </p:sp>
      <p:sp>
        <p:nvSpPr>
          <p:cNvPr id="2" name="Title 1">
            <a:extLst>
              <a:ext uri="{FF2B5EF4-FFF2-40B4-BE49-F238E27FC236}">
                <a16:creationId xmlns:a16="http://schemas.microsoft.com/office/drawing/2014/main" id="{49EB5B18-A344-0C23-B163-69A986C78512}"/>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Polynomial</a:t>
            </a:r>
            <a:r>
              <a:rPr lang="en-US" sz="4000" b="1" dirty="0">
                <a:latin typeface="Calibri" panose="020F0502020204030204" pitchFamily="34" charset="0"/>
                <a:ea typeface="Calibri" panose="020F0502020204030204" pitchFamily="34" charset="0"/>
                <a:cs typeface="Calibri" panose="020F0502020204030204" pitchFamily="34" charset="0"/>
              </a:rPr>
              <a:t> Regression</a:t>
            </a:r>
          </a:p>
        </p:txBody>
      </p:sp>
      <p:sp>
        <p:nvSpPr>
          <p:cNvPr id="3" name="Rectangle 2">
            <a:extLst>
              <a:ext uri="{FF2B5EF4-FFF2-40B4-BE49-F238E27FC236}">
                <a16:creationId xmlns:a16="http://schemas.microsoft.com/office/drawing/2014/main" id="{9E2406D9-B715-11A1-ADFB-BAFE1BB3D543}"/>
              </a:ext>
            </a:extLst>
          </p:cNvPr>
          <p:cNvSpPr/>
          <p:nvPr/>
        </p:nvSpPr>
        <p:spPr>
          <a:xfrm>
            <a:off x="254001" y="939215"/>
            <a:ext cx="8639575"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above diagram shows the simple linear model hardly fits the data points whereas the polynomial model fits most of the data points.</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Equation of Polynomial Regression Model</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the general formula for polynomial regression of degree n is as follows:</a:t>
            </a:r>
          </a:p>
          <a:p>
            <a:pPr marL="268288"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Where:</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a:extLst>
              <a:ext uri="{FF2B5EF4-FFF2-40B4-BE49-F238E27FC236}">
                <a16:creationId xmlns:a16="http://schemas.microsoft.com/office/drawing/2014/main" id="{A699EB82-3EBA-4F64-C13B-3F5F6DDE510E}"/>
              </a:ext>
            </a:extLst>
          </p:cNvPr>
          <p:cNvPicPr>
            <a:picLocks noChangeAspect="1"/>
          </p:cNvPicPr>
          <p:nvPr/>
        </p:nvPicPr>
        <p:blipFill>
          <a:blip r:embed="rId3"/>
          <a:stretch>
            <a:fillRect/>
          </a:stretch>
        </p:blipFill>
        <p:spPr>
          <a:xfrm>
            <a:off x="1972148" y="2639762"/>
            <a:ext cx="6230219" cy="342948"/>
          </a:xfrm>
          <a:prstGeom prst="rect">
            <a:avLst/>
          </a:prstGeom>
        </p:spPr>
      </p:pic>
      <p:pic>
        <p:nvPicPr>
          <p:cNvPr id="10" name="Picture 9">
            <a:extLst>
              <a:ext uri="{FF2B5EF4-FFF2-40B4-BE49-F238E27FC236}">
                <a16:creationId xmlns:a16="http://schemas.microsoft.com/office/drawing/2014/main" id="{51A2B8FD-63B5-45D9-4BFA-51391297BBA8}"/>
              </a:ext>
            </a:extLst>
          </p:cNvPr>
          <p:cNvPicPr>
            <a:picLocks noChangeAspect="1"/>
          </p:cNvPicPr>
          <p:nvPr/>
        </p:nvPicPr>
        <p:blipFill>
          <a:blip r:embed="rId4"/>
          <a:stretch>
            <a:fillRect/>
          </a:stretch>
        </p:blipFill>
        <p:spPr>
          <a:xfrm>
            <a:off x="1429658" y="3222171"/>
            <a:ext cx="7082972" cy="1835342"/>
          </a:xfrm>
          <a:prstGeom prst="rect">
            <a:avLst/>
          </a:prstGeom>
        </p:spPr>
      </p:pic>
    </p:spTree>
    <p:extLst>
      <p:ext uri="{BB962C8B-B14F-4D97-AF65-F5344CB8AC3E}">
        <p14:creationId xmlns:p14="http://schemas.microsoft.com/office/powerpoint/2010/main" val="315290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7135C27-EC6B-3FF0-37FB-F66D8ACC2C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87DFC4-42B8-000A-BA14-A2090EBC50D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32</a:t>
            </a:r>
          </a:p>
        </p:txBody>
      </p:sp>
      <p:sp>
        <p:nvSpPr>
          <p:cNvPr id="2" name="Title 1">
            <a:extLst>
              <a:ext uri="{FF2B5EF4-FFF2-40B4-BE49-F238E27FC236}">
                <a16:creationId xmlns:a16="http://schemas.microsoft.com/office/drawing/2014/main" id="{C457AF6C-D739-669A-99F3-24648381AFA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Polynomial</a:t>
            </a:r>
            <a:r>
              <a:rPr lang="en-US" sz="4000" b="1" dirty="0">
                <a:latin typeface="Calibri" panose="020F0502020204030204" pitchFamily="34" charset="0"/>
                <a:ea typeface="Calibri" panose="020F0502020204030204" pitchFamily="34" charset="0"/>
                <a:cs typeface="Calibri" panose="020F0502020204030204" pitchFamily="34" charset="0"/>
              </a:rPr>
              <a:t> Regression</a:t>
            </a:r>
          </a:p>
        </p:txBody>
      </p:sp>
      <p:sp>
        <p:nvSpPr>
          <p:cNvPr id="3" name="Rectangle 2">
            <a:extLst>
              <a:ext uri="{FF2B5EF4-FFF2-40B4-BE49-F238E27FC236}">
                <a16:creationId xmlns:a16="http://schemas.microsoft.com/office/drawing/2014/main" id="{66AB3E7C-9269-63F3-5734-1E09661E96EB}"/>
              </a:ext>
            </a:extLst>
          </p:cNvPr>
          <p:cNvSpPr/>
          <p:nvPr/>
        </p:nvSpPr>
        <p:spPr>
          <a:xfrm>
            <a:off x="254001" y="939215"/>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How does Polynomial Regression Work?</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machine learning, the polynomial regression actually works in a similar way as linear regression works. It is modeled as multiple linear regression. The input feature is transformed into polynomial features of higher degrees (x</a:t>
            </a:r>
            <a:r>
              <a:rPr lang="en-US" sz="1800" baseline="30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,x</a:t>
            </a:r>
            <a:r>
              <a:rPr lang="en-US" sz="1800" baseline="30000" dirty="0">
                <a:latin typeface="Calibri" panose="020F0502020204030204" pitchFamily="34" charset="0"/>
                <a:ea typeface="Calibri" panose="020F0502020204030204" pitchFamily="34" charset="0"/>
                <a:cs typeface="Calibri" panose="020F0502020204030204" pitchFamily="34" charset="0"/>
              </a:rPr>
              <a:t>3</a:t>
            </a:r>
            <a:r>
              <a:rPr lang="en-US" sz="1800" dirty="0">
                <a:latin typeface="Calibri" panose="020F0502020204030204" pitchFamily="34" charset="0"/>
                <a:ea typeface="Calibri" panose="020F0502020204030204" pitchFamily="34" charset="0"/>
                <a:cs typeface="Calibri" panose="020F0502020204030204" pitchFamily="34" charset="0"/>
              </a:rPr>
              <a:t>,...,</a:t>
            </a:r>
            <a:r>
              <a:rPr lang="en-US" sz="1800" dirty="0" err="1">
                <a:latin typeface="Calibri" panose="020F0502020204030204" pitchFamily="34" charset="0"/>
                <a:ea typeface="Calibri" panose="020F0502020204030204" pitchFamily="34" charset="0"/>
                <a:cs typeface="Calibri" panose="020F0502020204030204" pitchFamily="34" charset="0"/>
              </a:rPr>
              <a:t>x</a:t>
            </a:r>
            <a:r>
              <a:rPr lang="en-US" sz="1800" baseline="30000" dirty="0" err="1">
                <a:latin typeface="Calibri" panose="020F0502020204030204" pitchFamily="34" charset="0"/>
                <a:ea typeface="Calibri" panose="020F0502020204030204" pitchFamily="34" charset="0"/>
                <a:cs typeface="Calibri" panose="020F0502020204030204" pitchFamily="34" charset="0"/>
              </a:rPr>
              <a:t>n</a:t>
            </a:r>
            <a:r>
              <a:rPr lang="en-US" sz="1800" dirty="0">
                <a:latin typeface="Calibri" panose="020F0502020204030204" pitchFamily="34" charset="0"/>
                <a:ea typeface="Calibri" panose="020F0502020204030204" pitchFamily="34" charset="0"/>
                <a:cs typeface="Calibri" panose="020F0502020204030204" pitchFamily="34" charset="0"/>
              </a:rPr>
              <a: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features are now treated as separate independent variables as in multiple linear regression. Now, a multiple linear regressor is trained on these transformed features.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polynomial regression is a special case of multiple linear regression but there is a difference that multiple linear regression assumes linearity of input features. Here, in polynomial regression, the transformed polynomial features are dependent on the original input feature.</a:t>
            </a:r>
          </a:p>
        </p:txBody>
      </p:sp>
    </p:spTree>
    <p:extLst>
      <p:ext uri="{BB962C8B-B14F-4D97-AF65-F5344CB8AC3E}">
        <p14:creationId xmlns:p14="http://schemas.microsoft.com/office/powerpoint/2010/main" val="263990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FD1006A-5957-8B0D-63FF-AB1142E948E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C03248-4D36-DA0F-E25F-9DF49990163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33</a:t>
            </a:r>
          </a:p>
        </p:txBody>
      </p:sp>
      <p:sp>
        <p:nvSpPr>
          <p:cNvPr id="2" name="Title 1">
            <a:extLst>
              <a:ext uri="{FF2B5EF4-FFF2-40B4-BE49-F238E27FC236}">
                <a16:creationId xmlns:a16="http://schemas.microsoft.com/office/drawing/2014/main" id="{6E784A61-AE64-703C-50A4-A5F47832572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Polynomial</a:t>
            </a:r>
            <a:r>
              <a:rPr lang="en-US" sz="4000" b="1" dirty="0">
                <a:latin typeface="Calibri" panose="020F0502020204030204" pitchFamily="34" charset="0"/>
                <a:ea typeface="Calibri" panose="020F0502020204030204" pitchFamily="34" charset="0"/>
                <a:cs typeface="Calibri" panose="020F0502020204030204" pitchFamily="34" charset="0"/>
              </a:rPr>
              <a:t> Regression</a:t>
            </a:r>
          </a:p>
        </p:txBody>
      </p:sp>
      <p:sp>
        <p:nvSpPr>
          <p:cNvPr id="3" name="Rectangle 2">
            <a:extLst>
              <a:ext uri="{FF2B5EF4-FFF2-40B4-BE49-F238E27FC236}">
                <a16:creationId xmlns:a16="http://schemas.microsoft.com/office/drawing/2014/main" id="{5896D844-2842-D7C8-F0A3-695DC391002C}"/>
              </a:ext>
            </a:extLst>
          </p:cNvPr>
          <p:cNvSpPr/>
          <p:nvPr/>
        </p:nvSpPr>
        <p:spPr>
          <a:xfrm>
            <a:off x="254001" y="939215"/>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Need for Polynomial Regression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Non-linear Relationships: </a:t>
            </a:r>
            <a:r>
              <a:rPr lang="en-US" sz="1800" dirty="0">
                <a:latin typeface="Calibri" panose="020F0502020204030204" pitchFamily="34" charset="0"/>
                <a:ea typeface="Calibri" panose="020F0502020204030204" pitchFamily="34" charset="0"/>
                <a:cs typeface="Calibri" panose="020F0502020204030204" pitchFamily="34" charset="0"/>
              </a:rPr>
              <a:t>Polynomial regression is used when the relationship between the independent variable (input) and dependent variable (output) is non-linear. Unlike linear regression which fits a straight line, it fits a polynomial equation to capture the curve in the data.</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Better Fit for Curved Data: </a:t>
            </a:r>
            <a:r>
              <a:rPr lang="en-US" sz="1800" dirty="0">
                <a:latin typeface="Calibri" panose="020F0502020204030204" pitchFamily="34" charset="0"/>
                <a:ea typeface="Calibri" panose="020F0502020204030204" pitchFamily="34" charset="0"/>
                <a:cs typeface="Calibri" panose="020F0502020204030204" pitchFamily="34" charset="0"/>
              </a:rPr>
              <a:t>When a researcher hypothesizes a curvilinear relationship, polynomial terms are added to the model. </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Flexibility and Complexity: </a:t>
            </a:r>
            <a:r>
              <a:rPr lang="en-US" sz="1800" dirty="0">
                <a:latin typeface="Calibri" panose="020F0502020204030204" pitchFamily="34" charset="0"/>
                <a:ea typeface="Calibri" panose="020F0502020204030204" pitchFamily="34" charset="0"/>
                <a:cs typeface="Calibri" panose="020F0502020204030204" pitchFamily="34" charset="0"/>
              </a:rPr>
              <a:t>It does not assume all independent variables are independent. By introducing higher-degree terms, it allows for more flexibility and can model more complex, curvilinear relationships between variables.</a:t>
            </a:r>
          </a:p>
        </p:txBody>
      </p:sp>
    </p:spTree>
    <p:extLst>
      <p:ext uri="{BB962C8B-B14F-4D97-AF65-F5344CB8AC3E}">
        <p14:creationId xmlns:p14="http://schemas.microsoft.com/office/powerpoint/2010/main" val="4089455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5589D7-7408-5D53-212F-F58D104B828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5CF0BD2-38F1-07CA-49FD-5F671790CBE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34</a:t>
            </a:r>
          </a:p>
        </p:txBody>
      </p:sp>
      <p:sp>
        <p:nvSpPr>
          <p:cNvPr id="2" name="Title 1">
            <a:extLst>
              <a:ext uri="{FF2B5EF4-FFF2-40B4-BE49-F238E27FC236}">
                <a16:creationId xmlns:a16="http://schemas.microsoft.com/office/drawing/2014/main" id="{1481C18B-545A-8F04-BF9C-D624A2CE526F}"/>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a:t>
            </a:r>
          </a:p>
        </p:txBody>
      </p:sp>
      <p:sp>
        <p:nvSpPr>
          <p:cNvPr id="3" name="Rectangle 2">
            <a:extLst>
              <a:ext uri="{FF2B5EF4-FFF2-40B4-BE49-F238E27FC236}">
                <a16:creationId xmlns:a16="http://schemas.microsoft.com/office/drawing/2014/main" id="{7A882F0F-325C-D5D9-98C3-58B169E0FEBA}"/>
              </a:ext>
            </a:extLst>
          </p:cNvPr>
          <p:cNvSpPr/>
          <p:nvPr/>
        </p:nvSpPr>
        <p:spPr>
          <a:xfrm>
            <a:off x="254001" y="939215"/>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Applications of Regression</a:t>
            </a:r>
          </a:p>
          <a:p>
            <a:pPr lvl="0" algn="just">
              <a:lnSpc>
                <a:spcPct val="150000"/>
              </a:lnSpc>
            </a:pPr>
            <a:endParaRPr lang="en-US" sz="1800" b="1"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1. Predictive Modeling: </a:t>
            </a:r>
            <a:r>
              <a:rPr lang="en-US" sz="1800" dirty="0">
                <a:latin typeface="Calibri" panose="020F0502020204030204" pitchFamily="34" charset="0"/>
                <a:ea typeface="Calibri" panose="020F0502020204030204" pitchFamily="34" charset="0"/>
                <a:cs typeface="Calibri" panose="020F0502020204030204" pitchFamily="34" charset="0"/>
              </a:rPr>
              <a:t>Linear regression is widely used for predictive modeling. For instance, in real estate, predicting house prices based on features such as size, location, and number of bedrooms can help buyers, sellers, and real estate agents make informed decisions.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2. Feature Selection: </a:t>
            </a:r>
            <a:r>
              <a:rPr lang="en-US" sz="1800" dirty="0">
                <a:latin typeface="Calibri" panose="020F0502020204030204" pitchFamily="34" charset="0"/>
                <a:ea typeface="Calibri" panose="020F0502020204030204" pitchFamily="34" charset="0"/>
                <a:cs typeface="Calibri" panose="020F0502020204030204" pitchFamily="34" charset="0"/>
              </a:rPr>
              <a:t>In multiple linear regression, analyzing the coefficients can help in feature selection. Features with small or zero coefficients might be considered less important and can be dropped to simplify the model.</a:t>
            </a:r>
          </a:p>
        </p:txBody>
      </p:sp>
    </p:spTree>
    <p:extLst>
      <p:ext uri="{BB962C8B-B14F-4D97-AF65-F5344CB8AC3E}">
        <p14:creationId xmlns:p14="http://schemas.microsoft.com/office/powerpoint/2010/main" val="425545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95625A3-1423-B234-D4AF-E792CAD132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E6B39BF-79AC-5937-D0BC-9EBB72B6C4D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35</a:t>
            </a:r>
          </a:p>
        </p:txBody>
      </p:sp>
      <p:sp>
        <p:nvSpPr>
          <p:cNvPr id="2" name="Title 1">
            <a:extLst>
              <a:ext uri="{FF2B5EF4-FFF2-40B4-BE49-F238E27FC236}">
                <a16:creationId xmlns:a16="http://schemas.microsoft.com/office/drawing/2014/main" id="{AD990A7C-EA4B-095D-9A45-F2455058D59B}"/>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a:t>
            </a:r>
          </a:p>
        </p:txBody>
      </p:sp>
      <p:sp>
        <p:nvSpPr>
          <p:cNvPr id="3" name="Rectangle 2">
            <a:extLst>
              <a:ext uri="{FF2B5EF4-FFF2-40B4-BE49-F238E27FC236}">
                <a16:creationId xmlns:a16="http://schemas.microsoft.com/office/drawing/2014/main" id="{E4CC46E0-920F-791A-C167-5B20D1CDF63E}"/>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3. Financial Forecasting: </a:t>
            </a:r>
            <a:r>
              <a:rPr lang="en-US" sz="1800" dirty="0">
                <a:latin typeface="Calibri" panose="020F0502020204030204" pitchFamily="34" charset="0"/>
                <a:ea typeface="Calibri" panose="020F0502020204030204" pitchFamily="34" charset="0"/>
                <a:cs typeface="Calibri" panose="020F0502020204030204" pitchFamily="34" charset="0"/>
              </a:rPr>
              <a:t>In finance, linear regression models predict stock prices, economic indicators, and market trends. Accurate forecasts can guide investment strategies and financial planning.</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4. Risk Management: </a:t>
            </a:r>
            <a:r>
              <a:rPr lang="en-US" sz="1800" dirty="0">
                <a:latin typeface="Calibri" panose="020F0502020204030204" pitchFamily="34" charset="0"/>
                <a:ea typeface="Calibri" panose="020F0502020204030204" pitchFamily="34" charset="0"/>
                <a:cs typeface="Calibri" panose="020F0502020204030204" pitchFamily="34" charset="0"/>
              </a:rPr>
              <a:t>Linear regression helps in risk assessment by modeling the relationship between risk factors and financial metrics. For example, in insurance, it can model the relationship between policyholder characteristics and claim amounts.</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Advantages of Regression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Interpretability − Linear regression is easy to understand, which is useful when explaining how a model makes decisions.</a:t>
            </a:r>
          </a:p>
        </p:txBody>
      </p:sp>
    </p:spTree>
    <p:extLst>
      <p:ext uri="{BB962C8B-B14F-4D97-AF65-F5344CB8AC3E}">
        <p14:creationId xmlns:p14="http://schemas.microsoft.com/office/powerpoint/2010/main" val="364054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BA87831-8013-9B6B-9533-93E62E7FB26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48C194E-48FB-1DD6-FBAD-B141E49C9F0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36</a:t>
            </a:r>
          </a:p>
        </p:txBody>
      </p:sp>
      <p:sp>
        <p:nvSpPr>
          <p:cNvPr id="2" name="Title 1">
            <a:extLst>
              <a:ext uri="{FF2B5EF4-FFF2-40B4-BE49-F238E27FC236}">
                <a16:creationId xmlns:a16="http://schemas.microsoft.com/office/drawing/2014/main" id="{33E58AAB-1752-45B9-47CB-552381BEA111}"/>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a:t>
            </a:r>
          </a:p>
        </p:txBody>
      </p:sp>
      <p:sp>
        <p:nvSpPr>
          <p:cNvPr id="3" name="Rectangle 2">
            <a:extLst>
              <a:ext uri="{FF2B5EF4-FFF2-40B4-BE49-F238E27FC236}">
                <a16:creationId xmlns:a16="http://schemas.microsoft.com/office/drawing/2014/main" id="{8352CCAB-34BD-CCE0-42D4-B3E8316AEEEF}"/>
              </a:ext>
            </a:extLst>
          </p:cNvPr>
          <p:cNvSpPr/>
          <p:nvPr/>
        </p:nvSpPr>
        <p:spPr>
          <a:xfrm>
            <a:off x="254001" y="939215"/>
            <a:ext cx="8639575" cy="3373359"/>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Speed − Linear regression is faster to train than many other machine learning algorithms.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Predictive analytics − Linear regression is a fundamental building block for predictive analytics.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Linear relationships − Linear regression is a powerful statistical method for finding linear relationships between variables.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Simplicity − Linear regression is simple to implement and interpret.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Efficiency − Linear regression is efficient to compute.</a:t>
            </a:r>
          </a:p>
        </p:txBody>
      </p:sp>
    </p:spTree>
    <p:extLst>
      <p:ext uri="{BB962C8B-B14F-4D97-AF65-F5344CB8AC3E}">
        <p14:creationId xmlns:p14="http://schemas.microsoft.com/office/powerpoint/2010/main" val="289604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53CAFD5-C71D-D283-2742-3AA4C138B40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EE7139E-ED33-DB72-3B6B-B5C5BD523A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37</a:t>
            </a:r>
          </a:p>
        </p:txBody>
      </p:sp>
      <p:sp>
        <p:nvSpPr>
          <p:cNvPr id="2" name="Title 1">
            <a:extLst>
              <a:ext uri="{FF2B5EF4-FFF2-40B4-BE49-F238E27FC236}">
                <a16:creationId xmlns:a16="http://schemas.microsoft.com/office/drawing/2014/main" id="{25FA8603-301D-28E6-82DE-DC42FC09EFBD}"/>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Regression</a:t>
            </a:r>
          </a:p>
        </p:txBody>
      </p:sp>
      <p:sp>
        <p:nvSpPr>
          <p:cNvPr id="3" name="Rectangle 2">
            <a:extLst>
              <a:ext uri="{FF2B5EF4-FFF2-40B4-BE49-F238E27FC236}">
                <a16:creationId xmlns:a16="http://schemas.microsoft.com/office/drawing/2014/main" id="{5F059BC0-DCE4-091F-B9ED-1F4DF958169D}"/>
              </a:ext>
            </a:extLst>
          </p:cNvPr>
          <p:cNvSpPr/>
          <p:nvPr/>
        </p:nvSpPr>
        <p:spPr>
          <a:xfrm>
            <a:off x="254001" y="939215"/>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Common Challenges with Linear Regression</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1. Overfitting</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Overfitting occurs when the regression model performs well on training data but lacks generalization on test data. Overfitting leads to poor prediction on new, unseen data.</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2. Multicollinearity</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When the dependent variables (predictor or feature variables) correlate, the situation is known as multicollinearity. In this, the estimates of the parameters (coefficients) can be unstable.</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3. Outliers and Their Impact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Outliers can cause the regression line to be a poor fit for the majority of data points.</a:t>
            </a:r>
          </a:p>
        </p:txBody>
      </p:sp>
    </p:spTree>
    <p:extLst>
      <p:ext uri="{BB962C8B-B14F-4D97-AF65-F5344CB8AC3E}">
        <p14:creationId xmlns:p14="http://schemas.microsoft.com/office/powerpoint/2010/main" val="3615792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38</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 of Regression (all types: linear, polynomial, regularized, etc.):</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Business &amp; Finance</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Healthcare &amp; Medicine</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Real Estate &amp; Economics</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Engineering &amp; Physical Sciences</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Computer Science &amp; Machine Learning</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Marketing &amp; Customer Analytics</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Environment &amp; Agriculture</a:t>
            </a:r>
          </a:p>
          <a:p>
            <a:pPr lvl="0" indent="536575"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	Control Systems &amp; Robotics</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39</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Regression in machine learning is a supervised learning technique used to predict continuous numerical values by modeling the relationship between input features and an output variable.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includes methods like linear regression for straight-line relationships and polynomial regression for curved patterns, along with regularized forms such as ridge and lasso to reduce overfitting.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Regression helps in forecasting, trend analysis, and real-world predictions such as house prices, sales, temperature, and medical indicators. The performance of regression models is evaluated using metrics like MAE, MSE, RMSE, and R², which measure how accurately the model predicts outcomes.</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40</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2403863"/>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Maxima and Minima of Function of One Variable</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Rank, Eigen Values and Eigen Vectors</a:t>
            </a:r>
          </a:p>
          <a:p>
            <a:pPr marL="536575" lvl="0" indent="-198438" algn="just">
              <a:lnSpc>
                <a:spcPct val="150000"/>
              </a:lnSpc>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Positive &amp; Negative Definite/Semi-Definite Matrices</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41</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1156929"/>
            <a:ext cx="8639575" cy="3373359"/>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regression in one line.</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Name any two-evaluation metrics used in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Write the general equation of simple linear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difference between classification and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Give one real-world application of linear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Which metric is commonly used to measure how much variance in the target is explained by the model?</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Regression is mainly used for which type of applications.</a:t>
            </a:r>
          </a:p>
        </p:txBody>
      </p:sp>
    </p:spTree>
    <p:extLst>
      <p:ext uri="{BB962C8B-B14F-4D97-AF65-F5344CB8AC3E}">
        <p14:creationId xmlns:p14="http://schemas.microsoft.com/office/powerpoint/2010/main" val="735338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42</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43</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368164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p:txBody>
      </p:sp>
    </p:spTree>
    <p:extLst>
      <p:ext uri="{BB962C8B-B14F-4D97-AF65-F5344CB8AC3E}">
        <p14:creationId xmlns:p14="http://schemas.microsoft.com/office/powerpoint/2010/main" val="4283119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44</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45</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1090</TotalTime>
  <Words>4265</Words>
  <Application>Microsoft Office PowerPoint</Application>
  <PresentationFormat>On-screen Show (16:9)</PresentationFormat>
  <Paragraphs>359</Paragraphs>
  <Slides>46</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Times New Roman</vt:lpstr>
      <vt:lpstr>Cambria</vt:lpstr>
      <vt:lpstr>Calibri</vt:lpstr>
      <vt:lpstr>Vladimir Script</vt:lpstr>
      <vt:lpstr>Wingdings</vt:lpstr>
      <vt:lpstr>Arial</vt:lpstr>
      <vt:lpstr>Arial Black</vt:lpstr>
      <vt:lpstr>Lato</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206</cp:revision>
  <dcterms:modified xsi:type="dcterms:W3CDTF">2025-12-02T12:21:34Z</dcterms:modified>
</cp:coreProperties>
</file>