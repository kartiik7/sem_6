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1"/>
  </p:notesMasterIdLst>
  <p:handoutMasterIdLst>
    <p:handoutMasterId r:id="rId32"/>
  </p:handoutMasterIdLst>
  <p:sldIdLst>
    <p:sldId id="256" r:id="rId2"/>
    <p:sldId id="395" r:id="rId3"/>
    <p:sldId id="308" r:id="rId4"/>
    <p:sldId id="309" r:id="rId5"/>
    <p:sldId id="310" r:id="rId6"/>
    <p:sldId id="311" r:id="rId7"/>
    <p:sldId id="312" r:id="rId8"/>
    <p:sldId id="415" r:id="rId9"/>
    <p:sldId id="396" r:id="rId10"/>
    <p:sldId id="397" r:id="rId11"/>
    <p:sldId id="401" r:id="rId12"/>
    <p:sldId id="402" r:id="rId13"/>
    <p:sldId id="403" r:id="rId14"/>
    <p:sldId id="416" r:id="rId15"/>
    <p:sldId id="417" r:id="rId16"/>
    <p:sldId id="404" r:id="rId17"/>
    <p:sldId id="418" r:id="rId18"/>
    <p:sldId id="419" r:id="rId19"/>
    <p:sldId id="420" r:id="rId20"/>
    <p:sldId id="421" r:id="rId21"/>
    <p:sldId id="422" r:id="rId22"/>
    <p:sldId id="370" r:id="rId23"/>
    <p:sldId id="373" r:id="rId24"/>
    <p:sldId id="374" r:id="rId25"/>
    <p:sldId id="375" r:id="rId26"/>
    <p:sldId id="376" r:id="rId27"/>
    <p:sldId id="377" r:id="rId28"/>
    <p:sldId id="307" r:id="rId29"/>
    <p:sldId id="305" r:id="rId30"/>
  </p:sldIdLst>
  <p:sldSz cx="9144000" cy="5143500" type="screen16x9"/>
  <p:notesSz cx="6858000" cy="9144000"/>
  <p:embeddedFontLst>
    <p:embeddedFont>
      <p:font typeface="Cambria" panose="02040503050406030204" pitchFamily="18" charset="0"/>
      <p:regular r:id="rId33"/>
      <p:bold r:id="rId34"/>
      <p:italic r:id="rId35"/>
      <p:boldItalic r:id="rId36"/>
    </p:embeddedFont>
    <p:embeddedFont>
      <p:font typeface="Lato" panose="020F0502020204030203" pitchFamily="34" charset="0"/>
      <p:regular r:id="rId37"/>
      <p:bold r:id="rId38"/>
      <p:italic r:id="rId39"/>
      <p:boldItalic r:id="rId40"/>
    </p:embeddedFont>
    <p:embeddedFont>
      <p:font typeface="Vladimir Script" panose="03050402040407070305" pitchFamily="66" charset="0"/>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0"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04" autoAdjust="0"/>
  </p:normalViewPr>
  <p:slideViewPr>
    <p:cSldViewPr snapToGrid="0">
      <p:cViewPr varScale="1">
        <p:scale>
          <a:sx n="88" d="100"/>
          <a:sy n="88" d="100"/>
        </p:scale>
        <p:origin x="588" y="6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84"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font" Target="fonts/font5.fntdata"/><Relationship Id="rId40"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82"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80"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9.fntdata"/><Relationship Id="rId8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9B809D-6ED6-587F-BB95-5957722B987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4F80FB5-5BC0-7B8E-8E12-B22202F8E8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62F495-7282-46A0-973C-B2C5688CF367}" type="datetimeFigureOut">
              <a:rPr lang="en-IN" smtClean="0"/>
              <a:t>05-12-2025</a:t>
            </a:fld>
            <a:endParaRPr lang="en-IN"/>
          </a:p>
        </p:txBody>
      </p:sp>
      <p:sp>
        <p:nvSpPr>
          <p:cNvPr id="4" name="Footer Placeholder 3">
            <a:extLst>
              <a:ext uri="{FF2B5EF4-FFF2-40B4-BE49-F238E27FC236}">
                <a16:creationId xmlns:a16="http://schemas.microsoft.com/office/drawing/2014/main" id="{621B4BEF-1062-CF90-94F5-0D84A30E08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67B9952C-A29B-EE9B-C695-68271854775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D9E412C-8FF0-451F-B78D-23681CAA499D}" type="slidenum">
              <a:rPr lang="en-IN" smtClean="0"/>
              <a:t>‹#›</a:t>
            </a:fld>
            <a:endParaRPr lang="en-IN"/>
          </a:p>
        </p:txBody>
      </p:sp>
    </p:spTree>
    <p:extLst>
      <p:ext uri="{BB962C8B-B14F-4D97-AF65-F5344CB8AC3E}">
        <p14:creationId xmlns:p14="http://schemas.microsoft.com/office/powerpoint/2010/main" val="400323505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4F22B2D-5F79-437B-A011-BBC47D7BB1D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65DE9DE-CAE0-65AA-61A3-2DA78D76F1F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530DD55-91C2-3B5A-5142-0DACDB3C90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4718173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14C13F4-FB1C-C20C-026B-CE5D32314A2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A6557A7-7A72-CF03-86A2-E7BE372A41A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3E7F3F2-ED29-5428-E7DD-EFE3B240A9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789313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043034-63D9-A039-93E5-1764AB2793A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C57E03B-6D6D-B7F8-237E-E7CF90C06A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1306E5B-8032-D26B-CD43-5AED70BC6F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037099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D894A85-83AF-7440-397E-527B54822C6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9C2093A-3BD4-9A88-C5E2-F7C31E7A08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6DECF4C-468D-CCE2-03E4-E19F9D8253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166495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68ED189-E8E3-7069-CB28-E59A2FA65CA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0A7FE95-7554-96B9-DA63-10263205F4B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AF71D8EA-9D6E-4B29-D288-301D3C1747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595282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C1621B9-384A-29EE-347A-C1C0DE55427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9564DEC-0CC6-4328-1AD3-BBA9CFC4B9A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466980B4-DEC7-48CD-49D6-B997AADC18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7065787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FC5D20C1-7B56-F01E-814B-388F6825465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00C878C-3DE8-1648-F7D8-9DA5CA2861E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078D6E58-4156-9833-6227-2E52C704F5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0996531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14ACF2-CBCA-1D86-90F6-32E15422441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323E6A8B-1640-F7CE-0E31-323A48B6674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3C9A192-1218-7471-E709-55F5DBF031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6007822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7DA7E5B-4795-2D6B-F3A8-20740D2F6D4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BE6017B-9573-ED9D-F829-A3C031DDAD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338C144-D9EF-C446-693C-3C185E0767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741052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4353FAD-6988-FA8E-0CEA-55B7EF5F21E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EFD64D-BD38-C693-3D99-BD05DDCDD16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D0434B9-91D2-6C41-5FE9-6D805444A0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3308775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1627ECD-4872-1C51-E50B-7F0AF9E586E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1D0B690-67A4-0E0A-A3DD-91F6AAA9B07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3E4C731-CB09-B3E0-5354-2F64A7C279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1239786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8CC5DE9-2C6C-EAA9-3AA9-8D70C432E7AE}"/>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64E92E7-FAEA-D308-EDA5-8F83755E0DB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855FAE5-D3BE-1E92-3EFA-13B71A8B54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9169698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5BFEF98-1423-3A63-7C17-5605D631FE1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20F45BC-E567-ADC5-E6E4-3CE7BAC8044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537E62E-9102-B2EB-8282-148639AB86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539076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772708B-63D7-EF90-EBEC-467587EDD46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0B250CF-61A1-5B65-2DEE-AE9CFC1D4D2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5682978-F19B-4CDE-37C9-643126F99E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832352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D59DF12-2151-19D7-655F-0F96F476194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09F3E29-DEB9-3018-BECE-F9F9A963907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8B92CA6-7C5B-B5F2-AF34-007A52E855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5011280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1DADF53-9DE6-E9C0-117F-D0AEA5B41D9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DFC349C-BAAD-D690-C869-FF59AC7D7BF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6AB3281-F305-9288-7AD8-450DFF268F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3035575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F8C7045-D8EA-2140-6FD9-2885F3F0175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4FE9D71-AF77-E7D5-5213-6ADD5E017E3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EB299DFD-2518-A0BF-7491-22DB7273CE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8975406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62EA31A-6A1C-0E38-BBB7-C5E7A6FD62B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6A6346A-7CF6-E9E4-6526-70AA2655394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9D2F86E-4572-7E38-88B6-C899D42248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5297544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52D5D4F-2188-398E-B39C-85D7DEA1AF5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99B8E8-CD71-7C87-4BAC-622432F87C5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83C8E7D-9DC6-D85D-A07C-61E958FB81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3299508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F870998-5AD5-37EE-11F0-0057066D836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242F551-0BEA-B7AE-96ED-C0084DD1CB7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7173E983-D4BA-3F27-79A5-8F183F2B63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6468916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FA77362-E813-B9D1-32D3-5E9C3D02398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0EE8BD31-C77D-61D3-5FCD-173896A901F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411DAC1-C9A2-9CDC-559C-2193D54D16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1971716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817DC0F-94B4-8791-4D78-14CFC851F20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28406BF-38F5-13DE-5BC5-EA4A3B07D4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0C7E46A-048B-8AB5-E0FF-1CC7DE1512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9139994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22B56442-3C7C-962E-3BDA-37D85BE1FD7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B525C3B-8460-D113-DAF7-49D9569CAD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106" name="Google Shape;106;p2:notes">
            <a:extLst>
              <a:ext uri="{FF2B5EF4-FFF2-40B4-BE49-F238E27FC236}">
                <a16:creationId xmlns:a16="http://schemas.microsoft.com/office/drawing/2014/main" id="{9997AB6D-ABCC-1690-248D-DADEB28988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2563032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D12E867-6D8B-518F-E142-893872952C9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F87AE17-BB90-EC3E-153F-D5445788DE6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47FBE7-93FC-2416-906D-E19A987BCA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1719731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2EA5CA5-6785-8D65-5F10-0981FA005E2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AA2EA74-CD63-B572-D9EE-548ED51846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AFBCA2B-AD55-3BF9-7430-F09A1B4D4F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684010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3418237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830392" y="1191256"/>
            <a:ext cx="745763" cy="45826"/>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729450" y="1322450"/>
            <a:ext cx="7688100" cy="166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a:endParaRPr/>
          </a:p>
        </p:txBody>
      </p:sp>
      <p:sp>
        <p:nvSpPr>
          <p:cNvPr id="22" name="Google Shape;22;p31"/>
          <p:cNvSpPr txBox="1">
            <a:spLocks noGrp="1"/>
          </p:cNvSpPr>
          <p:nvPr>
            <p:ph type="subTitle" idx="1"/>
          </p:nvPr>
        </p:nvSpPr>
        <p:spPr>
          <a:xfrm>
            <a:off x="729627" y="3172900"/>
            <a:ext cx="7688100" cy="541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23" name="Google Shape;23;p3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62"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www.geeksforgeeks.org/machine-learning/gradient-descent-algorithm-and-its-variants/"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hyperlink" Target="https://www.analyticsvidhya.com/blog/2020/10/how-does-the-gradient-descent-algorithm-work-in-machine-learning/"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514350" y="664368"/>
            <a:ext cx="8213400" cy="4494010"/>
          </a:xfrm>
          <a:prstGeom prst="rect">
            <a:avLst/>
          </a:prstGeom>
          <a:noFill/>
          <a:ln>
            <a:noFill/>
          </a:ln>
        </p:spPr>
        <p:txBody>
          <a:bodyPr spcFirstLastPara="1" wrap="square" lIns="91425" tIns="45700" rIns="91425" bIns="45700" anchor="t" anchorCtr="0">
            <a:spAutoFit/>
          </a:bodyPr>
          <a:lstStyle/>
          <a:p>
            <a:pPr lvl="0" algn="ctr">
              <a:lnSpc>
                <a:spcPct val="90000"/>
              </a:lnSpc>
              <a:buClr>
                <a:schemeClr val="dk1"/>
              </a:buClr>
              <a:buSzPts val="3200"/>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ENGINEERING</a:t>
            </a:r>
            <a:endParaRPr lang="en-US" sz="105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1120"/>
              </a:spcBef>
              <a:buClr>
                <a:schemeClr val="dk1"/>
              </a:buClr>
              <a:buSzPts val="3200"/>
            </a:pP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AIT-CSE (AIML)</a:t>
            </a:r>
          </a:p>
          <a:p>
            <a:pPr lvl="0" algn="ctr">
              <a:lnSpc>
                <a:spcPct val="90000"/>
              </a:lnSpc>
              <a:spcBef>
                <a:spcPts val="1120"/>
              </a:spcBef>
              <a:buClr>
                <a:schemeClr val="dk1"/>
              </a:buClr>
              <a:buSzPts val="2800"/>
            </a:pPr>
            <a:endPar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endParaRPr>
          </a:p>
          <a:p>
            <a:pPr lvl="0" algn="ctr">
              <a:lnSpc>
                <a:spcPct val="90000"/>
              </a:lnSpc>
              <a:spcBef>
                <a:spcPts val="1120"/>
              </a:spcBef>
              <a:buClr>
                <a:schemeClr val="dk1"/>
              </a:buClr>
              <a:buSzPts val="2800"/>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CS221: B.E. CSE (AIML)</a:t>
            </a:r>
          </a:p>
          <a:p>
            <a:pPr lvl="0" algn="ctr">
              <a:lnSpc>
                <a:spcPct val="90000"/>
              </a:lnSpc>
              <a:spcBef>
                <a:spcPts val="1120"/>
              </a:spcBef>
              <a:buClr>
                <a:schemeClr val="dk1"/>
              </a:buClr>
              <a:buSzPts val="2800"/>
            </a:pP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5</a:t>
            </a:r>
            <a:r>
              <a:rPr lang="en-US" sz="2000"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th</a:t>
            </a:r>
            <a:r>
              <a:rPr lang="en-US" sz="2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 Semester </a:t>
            </a:r>
            <a:endParaRPr lang="en-US" sz="32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980"/>
              </a:spcBef>
              <a:spcAft>
                <a:spcPts val="0"/>
              </a:spcAft>
              <a:buClr>
                <a:schemeClr val="dk1"/>
              </a:buClr>
              <a:buSzPts val="2800"/>
              <a:buFont typeface="Arial"/>
              <a:buNone/>
            </a:pPr>
            <a:r>
              <a:rPr lang="en-US" sz="2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ADVANCED MACHINE LEARNING &amp; MATHEMATICAL MODELLING</a:t>
            </a:r>
            <a:endParaRPr sz="2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marL="0" marR="0" lvl="0" indent="0" algn="ctr" rtl="0">
              <a:lnSpc>
                <a:spcPct val="90000"/>
              </a:lnSpc>
              <a:spcBef>
                <a:spcPts val="980"/>
              </a:spcBef>
              <a:spcAft>
                <a:spcPts val="0"/>
              </a:spcAft>
              <a:buClr>
                <a:schemeClr val="dk1"/>
              </a:buClr>
              <a:buSzPts val="2800"/>
              <a:buFont typeface="Arial"/>
              <a:buNone/>
            </a:pPr>
            <a:r>
              <a:rPr lang="en-US" sz="240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(23CSH-382)</a:t>
            </a:r>
            <a:endParaRPr sz="16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algn="ct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Unit No. 1                                 Chapter No. 1                     Lecture No. 9, 10 &amp; 11</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Topic: </a:t>
            </a:r>
            <a:r>
              <a:rPr lang="fr-FR" sz="1800" b="1" dirty="0">
                <a:latin typeface="Calibri" panose="020F0502020204030204" pitchFamily="34" charset="0"/>
                <a:ea typeface="Calibri" panose="020F0502020204030204" pitchFamily="34" charset="0"/>
                <a:cs typeface="Calibri" panose="020F0502020204030204" pitchFamily="34" charset="0"/>
              </a:rPr>
              <a:t>Gradient Descent (GD), Stochastic GD &amp; Mini-Batch GD Algorithms</a:t>
            </a:r>
          </a:p>
          <a:p>
            <a:pPr>
              <a:spcBef>
                <a:spcPts val="1120"/>
              </a:spcBef>
              <a:buSzPts val="3200"/>
            </a:pPr>
            <a:r>
              <a:rPr lang="en-US" sz="1800" b="1" dirty="0">
                <a:latin typeface="Calibri" panose="020F0502020204030204" pitchFamily="34" charset="0"/>
                <a:ea typeface="Calibri" panose="020F0502020204030204" pitchFamily="34" charset="0"/>
                <a:cs typeface="Calibri" panose="020F0502020204030204" pitchFamily="34" charset="0"/>
              </a:rPr>
              <a:t>Mr. Siddharth Kumar (E12853)                                          Assistant Professor</a:t>
            </a: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15553"/>
          </a:xfrm>
          <a:prstGeom prst="rect">
            <a:avLst/>
          </a:prstGeom>
          <a:noFill/>
        </p:spPr>
        <p:txBody>
          <a:bodyPr wrap="square" rtlCol="0">
            <a:spAutoFit/>
          </a:bodyPr>
          <a:lstStyle/>
          <a:p>
            <a:pPr algn="r"/>
            <a:r>
              <a:rPr lang="en-IN" sz="18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600" b="1" dirty="0">
                <a:latin typeface="Calibri" panose="020F0502020204030204" pitchFamily="34" charset="0"/>
                <a:ea typeface="Calibri" panose="020F0502020204030204" pitchFamily="34" charset="0"/>
                <a:cs typeface="Calibri" panose="020F0502020204030204" pitchFamily="34" charset="0"/>
              </a:rPr>
              <a:t>Even Semester Jan-May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C2BF4C75-B6D5-0F71-7046-B3B05669B5D8}"/>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7" name="TextBox 6"/>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a:t>
            </a:r>
          </a:p>
        </p:txBody>
      </p:sp>
      <p:sp>
        <p:nvSpPr>
          <p:cNvPr id="2" name="Title 1">
            <a:extLst>
              <a:ext uri="{FF2B5EF4-FFF2-40B4-BE49-F238E27FC236}">
                <a16:creationId xmlns:a16="http://schemas.microsoft.com/office/drawing/2014/main" id="{ECAE4A14-02B1-C18D-9874-FFC261FDEE0A}"/>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COURSE OBJECTIVES</a:t>
            </a:r>
          </a:p>
        </p:txBody>
      </p:sp>
      <p:sp>
        <p:nvSpPr>
          <p:cNvPr id="3" name="Rectangle 2">
            <a:extLst>
              <a:ext uri="{FF2B5EF4-FFF2-40B4-BE49-F238E27FC236}">
                <a16:creationId xmlns:a16="http://schemas.microsoft.com/office/drawing/2014/main" id="{0220D0D4-31AB-9369-35E4-0090B3DE8E31}"/>
              </a:ext>
            </a:extLst>
          </p:cNvPr>
          <p:cNvSpPr/>
          <p:nvPr/>
        </p:nvSpPr>
        <p:spPr>
          <a:xfrm>
            <a:off x="254001" y="892662"/>
            <a:ext cx="8639575" cy="4162934"/>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The course aims to:</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develop a strong mathematical foundation for regression-based predictive modelling using calculus, matrix algebra, and probability theory.</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provide an in-depth understanding of supervised classification algorithms including KNN, Support Vector Machines, and ensemble-based boosting approaches.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equip learners to implement clustering and probabilistic reasoning models such as Spectral Clustering, Markov Chains, Bayesian Networks, and HMMs.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cultivate the ability to design neural networks, implement multilayer perceptron, and optimize training using backpropagation and regularization strategies.</a:t>
            </a:r>
          </a:p>
          <a:p>
            <a:pPr marL="457200" lvl="0" indent="-276225" algn="just">
              <a:lnSpc>
                <a:spcPct val="150000"/>
              </a:lnSpc>
              <a:buFont typeface="+mj-lt"/>
              <a:buAutoNum type="arabicParenR"/>
            </a:pPr>
            <a:r>
              <a:rPr lang="en-US" sz="1600" b="1" dirty="0">
                <a:latin typeface="Calibri" panose="020F0502020204030204" pitchFamily="34" charset="0"/>
                <a:ea typeface="Calibri" panose="020F0502020204030204" pitchFamily="34" charset="0"/>
                <a:cs typeface="Calibri" panose="020F0502020204030204" pitchFamily="34" charset="0"/>
              </a:rPr>
              <a:t>To expose students to advanced deep learning frameworks, feature abstraction hierarchies, and performance enhancement through hyper-parameter tuning &amp; dropout.</a:t>
            </a:r>
          </a:p>
        </p:txBody>
      </p:sp>
    </p:spTree>
    <p:extLst>
      <p:ext uri="{BB962C8B-B14F-4D97-AF65-F5344CB8AC3E}">
        <p14:creationId xmlns:p14="http://schemas.microsoft.com/office/powerpoint/2010/main" val="2622060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4A61545-6A4D-7017-B491-26E651BDFB5C}"/>
            </a:ext>
          </a:extLst>
        </p:cNvPr>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8EF9DA49-4951-E941-E241-14B3A2DD2F28}"/>
              </a:ext>
            </a:extLst>
          </p:cNvPr>
          <p:cNvGraphicFramePr>
            <a:graphicFrameLocks noGrp="1"/>
          </p:cNvGraphicFramePr>
          <p:nvPr>
            <p:extLst>
              <p:ext uri="{D42A27DB-BD31-4B8C-83A1-F6EECF244321}">
                <p14:modId xmlns:p14="http://schemas.microsoft.com/office/powerpoint/2010/main" val="684569464"/>
              </p:ext>
            </p:extLst>
          </p:nvPr>
        </p:nvGraphicFramePr>
        <p:xfrm>
          <a:off x="370114" y="1343576"/>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CO1</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Recall the foundational concepts, terminology, and mathematical principles underlying regression, classification and clustering approaches.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3" name="Table 12">
            <a:extLst>
              <a:ext uri="{FF2B5EF4-FFF2-40B4-BE49-F238E27FC236}">
                <a16:creationId xmlns:a16="http://schemas.microsoft.com/office/drawing/2014/main" id="{8AF2C682-CBF0-7E25-04B3-5860944E6A64}"/>
              </a:ext>
            </a:extLst>
          </p:cNvPr>
          <p:cNvGraphicFramePr>
            <a:graphicFrameLocks noGrp="1"/>
          </p:cNvGraphicFramePr>
          <p:nvPr>
            <p:extLst>
              <p:ext uri="{D42A27DB-BD31-4B8C-83A1-F6EECF244321}">
                <p14:modId xmlns:p14="http://schemas.microsoft.com/office/powerpoint/2010/main" val="3082222650"/>
              </p:ext>
            </p:extLst>
          </p:nvPr>
        </p:nvGraphicFramePr>
        <p:xfrm>
          <a:off x="370114" y="1982202"/>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CO2</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Illustrate the working mechanisms, characteristics, and theoretical concept of regression, clustering and classification techniques in machine learning.</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4" name="Table 13">
            <a:extLst>
              <a:ext uri="{FF2B5EF4-FFF2-40B4-BE49-F238E27FC236}">
                <a16:creationId xmlns:a16="http://schemas.microsoft.com/office/drawing/2014/main" id="{3F9FA6A1-E183-6583-0A92-556DD6E08F84}"/>
              </a:ext>
            </a:extLst>
          </p:cNvPr>
          <p:cNvGraphicFramePr>
            <a:graphicFrameLocks noGrp="1"/>
          </p:cNvGraphicFramePr>
          <p:nvPr>
            <p:extLst>
              <p:ext uri="{D42A27DB-BD31-4B8C-83A1-F6EECF244321}">
                <p14:modId xmlns:p14="http://schemas.microsoft.com/office/powerpoint/2010/main" val="516881431"/>
              </p:ext>
            </p:extLst>
          </p:nvPr>
        </p:nvGraphicFramePr>
        <p:xfrm>
          <a:off x="370114" y="2613573"/>
          <a:ext cx="8523462" cy="54864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CO3</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Apply appropriate regression, clustering and classification algorithms to solve real-world machine learning tasks while addressing performance constraints.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5" name="Table 14">
            <a:extLst>
              <a:ext uri="{FF2B5EF4-FFF2-40B4-BE49-F238E27FC236}">
                <a16:creationId xmlns:a16="http://schemas.microsoft.com/office/drawing/2014/main" id="{9E480C33-6C30-CAFC-63F4-B97B14E40ABA}"/>
              </a:ext>
            </a:extLst>
          </p:cNvPr>
          <p:cNvGraphicFramePr>
            <a:graphicFrameLocks noGrp="1"/>
          </p:cNvGraphicFramePr>
          <p:nvPr>
            <p:extLst>
              <p:ext uri="{D42A27DB-BD31-4B8C-83A1-F6EECF244321}">
                <p14:modId xmlns:p14="http://schemas.microsoft.com/office/powerpoint/2010/main" val="2737371272"/>
              </p:ext>
            </p:extLst>
          </p:nvPr>
        </p:nvGraphicFramePr>
        <p:xfrm>
          <a:off x="370114" y="3237687"/>
          <a:ext cx="8523462" cy="82296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CO4</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Analyze and evaluate machine learning models using performance parameters to identify the best-suited techniques for specific applications regression, clustering and classification algorithms.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6" name="Table 15">
            <a:extLst>
              <a:ext uri="{FF2B5EF4-FFF2-40B4-BE49-F238E27FC236}">
                <a16:creationId xmlns:a16="http://schemas.microsoft.com/office/drawing/2014/main" id="{0B770020-E808-C51E-98C3-E13DADE63EE9}"/>
              </a:ext>
            </a:extLst>
          </p:cNvPr>
          <p:cNvGraphicFramePr>
            <a:graphicFrameLocks noGrp="1"/>
          </p:cNvGraphicFramePr>
          <p:nvPr>
            <p:extLst>
              <p:ext uri="{D42A27DB-BD31-4B8C-83A1-F6EECF244321}">
                <p14:modId xmlns:p14="http://schemas.microsoft.com/office/powerpoint/2010/main" val="882298138"/>
              </p:ext>
            </p:extLst>
          </p:nvPr>
        </p:nvGraphicFramePr>
        <p:xfrm>
          <a:off x="370114" y="4137573"/>
          <a:ext cx="8523462" cy="822960"/>
        </p:xfrm>
        <a:graphic>
          <a:graphicData uri="http://schemas.openxmlformats.org/drawingml/2006/table">
            <a:tbl>
              <a:tblPr firstRow="1" firstCol="1" bandRow="1"/>
              <a:tblGrid>
                <a:gridCol w="696686">
                  <a:extLst>
                    <a:ext uri="{9D8B030D-6E8A-4147-A177-3AD203B41FA5}">
                      <a16:colId xmlns:a16="http://schemas.microsoft.com/office/drawing/2014/main" val="20000"/>
                    </a:ext>
                  </a:extLst>
                </a:gridCol>
                <a:gridCol w="7826776">
                  <a:extLst>
                    <a:ext uri="{9D8B030D-6E8A-4147-A177-3AD203B41FA5}">
                      <a16:colId xmlns:a16="http://schemas.microsoft.com/office/drawing/2014/main" val="20001"/>
                    </a:ext>
                  </a:extLst>
                </a:gridCol>
              </a:tblGrid>
              <a:tr h="464871">
                <a:tc>
                  <a:txBody>
                    <a:bodyPr/>
                    <a:lstStyle/>
                    <a:p>
                      <a:pPr marL="0" marR="53975" algn="l">
                        <a:spcBef>
                          <a:spcPts val="0"/>
                        </a:spcBef>
                        <a:spcAft>
                          <a:spcPts val="0"/>
                        </a:spcAft>
                      </a:pPr>
                      <a:r>
                        <a:rPr lang="en-IN" sz="1800" b="1"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CO5</a:t>
                      </a:r>
                      <a:endPar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430"/>
                        </a:spcBef>
                        <a:spcAft>
                          <a:spcPts val="0"/>
                        </a:spcAft>
                        <a:tabLst>
                          <a:tab pos="408305" algn="l"/>
                        </a:tabLst>
                      </a:pPr>
                      <a:r>
                        <a:rPr lang="en-US" sz="18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Design and implement optimized machine learning solutions by integrating regression, clustering and classification models to solve complex predictive and decision-making problems.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7" name="TextBox 6">
            <a:extLst>
              <a:ext uri="{FF2B5EF4-FFF2-40B4-BE49-F238E27FC236}">
                <a16:creationId xmlns:a16="http://schemas.microsoft.com/office/drawing/2014/main" id="{C964D7DB-49E2-0809-DAE7-02B55DB97E82}"/>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a:t>
            </a:r>
          </a:p>
        </p:txBody>
      </p:sp>
      <p:sp>
        <p:nvSpPr>
          <p:cNvPr id="2" name="Title 1">
            <a:extLst>
              <a:ext uri="{FF2B5EF4-FFF2-40B4-BE49-F238E27FC236}">
                <a16:creationId xmlns:a16="http://schemas.microsoft.com/office/drawing/2014/main" id="{E1D54E92-E639-32C0-A586-5312C258AEC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COURSE OUTCOMES</a:t>
            </a:r>
          </a:p>
        </p:txBody>
      </p:sp>
      <p:sp>
        <p:nvSpPr>
          <p:cNvPr id="3" name="Rectangle 2">
            <a:extLst>
              <a:ext uri="{FF2B5EF4-FFF2-40B4-BE49-F238E27FC236}">
                <a16:creationId xmlns:a16="http://schemas.microsoft.com/office/drawing/2014/main" id="{58E5231A-4FC6-A6AC-94D4-178AF49865FC}"/>
              </a:ext>
            </a:extLst>
          </p:cNvPr>
          <p:cNvSpPr/>
          <p:nvPr/>
        </p:nvSpPr>
        <p:spPr>
          <a:xfrm>
            <a:off x="254001" y="910187"/>
            <a:ext cx="8639575" cy="464871"/>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On completion of this course, the students shall be able to:</a:t>
            </a:r>
          </a:p>
        </p:txBody>
      </p:sp>
      <p:pic>
        <p:nvPicPr>
          <p:cNvPr id="17" name="Graphic 16" descr="Chevron arrows with solid fill">
            <a:extLst>
              <a:ext uri="{FF2B5EF4-FFF2-40B4-BE49-F238E27FC236}">
                <a16:creationId xmlns:a16="http://schemas.microsoft.com/office/drawing/2014/main" id="{AF23AD74-45C8-B11F-E1A2-6C388C2AE5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a:off x="52972" y="2145245"/>
            <a:ext cx="346172" cy="216000"/>
          </a:xfrm>
          <a:prstGeom prst="rect">
            <a:avLst/>
          </a:prstGeom>
        </p:spPr>
      </p:pic>
    </p:spTree>
    <p:extLst>
      <p:ext uri="{BB962C8B-B14F-4D97-AF65-F5344CB8AC3E}">
        <p14:creationId xmlns:p14="http://schemas.microsoft.com/office/powerpoint/2010/main" val="1237911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ABA1C71-5597-1CAF-83DC-D1B0724D01D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D13D930-9507-CC43-84EB-91691F0190B3}"/>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3</a:t>
            </a:r>
          </a:p>
        </p:txBody>
      </p:sp>
      <p:sp>
        <p:nvSpPr>
          <p:cNvPr id="2" name="Title 1">
            <a:extLst>
              <a:ext uri="{FF2B5EF4-FFF2-40B4-BE49-F238E27FC236}">
                <a16:creationId xmlns:a16="http://schemas.microsoft.com/office/drawing/2014/main" id="{36F199A5-4917-785C-8A51-52FAF96C844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Unit-I Syllabus</a:t>
            </a:r>
          </a:p>
        </p:txBody>
      </p:sp>
      <p:graphicFrame>
        <p:nvGraphicFramePr>
          <p:cNvPr id="4" name="Table 3">
            <a:extLst>
              <a:ext uri="{FF2B5EF4-FFF2-40B4-BE49-F238E27FC236}">
                <a16:creationId xmlns:a16="http://schemas.microsoft.com/office/drawing/2014/main" id="{A166E992-8616-65C5-081E-F77864CBB031}"/>
              </a:ext>
            </a:extLst>
          </p:cNvPr>
          <p:cNvGraphicFramePr>
            <a:graphicFrameLocks noGrp="1"/>
          </p:cNvGraphicFramePr>
          <p:nvPr>
            <p:extLst>
              <p:ext uri="{D42A27DB-BD31-4B8C-83A1-F6EECF244321}">
                <p14:modId xmlns:p14="http://schemas.microsoft.com/office/powerpoint/2010/main" val="1364968001"/>
              </p:ext>
            </p:extLst>
          </p:nvPr>
        </p:nvGraphicFramePr>
        <p:xfrm>
          <a:off x="229850" y="1141413"/>
          <a:ext cx="8663726" cy="3764415"/>
        </p:xfrm>
        <a:graphic>
          <a:graphicData uri="http://schemas.openxmlformats.org/drawingml/2006/table">
            <a:tbl>
              <a:tblPr>
                <a:tableStyleId>{97377635-EB9D-4884-B79A-0D259F93817B}</a:tableStyleId>
              </a:tblPr>
              <a:tblGrid>
                <a:gridCol w="1620721">
                  <a:extLst>
                    <a:ext uri="{9D8B030D-6E8A-4147-A177-3AD203B41FA5}">
                      <a16:colId xmlns:a16="http://schemas.microsoft.com/office/drawing/2014/main" val="1126371409"/>
                    </a:ext>
                  </a:extLst>
                </a:gridCol>
                <a:gridCol w="5239658">
                  <a:extLst>
                    <a:ext uri="{9D8B030D-6E8A-4147-A177-3AD203B41FA5}">
                      <a16:colId xmlns:a16="http://schemas.microsoft.com/office/drawing/2014/main" val="1782746869"/>
                    </a:ext>
                  </a:extLst>
                </a:gridCol>
                <a:gridCol w="1803347">
                  <a:extLst>
                    <a:ext uri="{9D8B030D-6E8A-4147-A177-3AD203B41FA5}">
                      <a16:colId xmlns:a16="http://schemas.microsoft.com/office/drawing/2014/main" val="3681176613"/>
                    </a:ext>
                  </a:extLst>
                </a:gridCol>
              </a:tblGrid>
              <a:tr h="727032">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Unit-1</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Regression</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Contact Hours: 15</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852659567"/>
                  </a:ext>
                </a:extLst>
              </a:tr>
              <a:tr h="1147097">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Regression </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US"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Linear and Polynomial Regression, Maxima and Minima of Function of One Variable, Rank, Eigen Values and Eigen Vectors, Positive &amp; Negative Definite/Semi-definite Matrices</a:t>
                      </a:r>
                      <a:endParaRPr lang="en-US"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2964525967"/>
                  </a:ext>
                </a:extLst>
              </a:tr>
              <a:tr h="1147097">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Error Estimation </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US"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Maxima and Minima of Function of Several Variables, Convexity of Errors Function, Building Simple Linear Regression Model by Solving Normal Equations, Gradient Descent, Stochastic &amp; Mini-batch Gradient Descent Algorithm</a:t>
                      </a:r>
                      <a:endParaRPr lang="en-US"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4128748859"/>
                  </a:ext>
                </a:extLst>
              </a:tr>
              <a:tr h="743189">
                <a:tc>
                  <a:txBody>
                    <a:bodyPr/>
                    <a:lstStyle/>
                    <a:p>
                      <a:pPr algn="ctr" fontAlgn="ctr">
                        <a:buNone/>
                      </a:pPr>
                      <a:r>
                        <a:rPr lang="en-IN" sz="16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Probability Theory</a:t>
                      </a:r>
                      <a:endParaRPr lang="en-IN" sz="16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accent5">
                        <a:lumMod val="20000"/>
                        <a:lumOff val="80000"/>
                      </a:schemeClr>
                    </a:solidFill>
                  </a:tcPr>
                </a:tc>
                <a:tc gridSpan="2">
                  <a:txBody>
                    <a:bodyPr/>
                    <a:lstStyle/>
                    <a:p>
                      <a:pPr algn="l" fontAlgn="ctr">
                        <a:buNone/>
                      </a:pPr>
                      <a:r>
                        <a:rPr lang="en-IN" sz="16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Discrete Probability Distributions, Continuous Probability Distributions, Normal Distribution and t-Distributions, RSE, R</a:t>
                      </a:r>
                      <a:r>
                        <a:rPr lang="en-IN" sz="1600" u="none" strike="noStrike" baseline="30000" dirty="0">
                          <a:solidFill>
                            <a:schemeClr val="bg2"/>
                          </a:solidFill>
                          <a:effectLst/>
                          <a:latin typeface="Calibri" panose="020F0502020204030204" pitchFamily="34" charset="0"/>
                          <a:ea typeface="Calibri" panose="020F0502020204030204" pitchFamily="34" charset="0"/>
                          <a:cs typeface="Calibri" panose="020F0502020204030204" pitchFamily="34" charset="0"/>
                        </a:rPr>
                        <a:t>2</a:t>
                      </a:r>
                      <a:endParaRPr lang="en-IN" sz="16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9050" cap="flat" cmpd="sng" algn="ctr">
                      <a:solidFill>
                        <a:schemeClr val="bg2"/>
                      </a:solidFill>
                      <a:prstDash val="solid"/>
                      <a:round/>
                      <a:headEnd type="none" w="med" len="med"/>
                      <a:tailEnd type="none" w="med" len="med"/>
                    </a:lnL>
                    <a:lnR w="19050" cap="flat" cmpd="sng" algn="ctr">
                      <a:solidFill>
                        <a:schemeClr val="bg2"/>
                      </a:solidFill>
                      <a:prstDash val="solid"/>
                      <a:round/>
                      <a:headEnd type="none" w="med" len="med"/>
                      <a:tailEnd type="none" w="med" len="med"/>
                    </a:lnR>
                    <a:lnT w="19050" cap="flat" cmpd="sng" algn="ctr">
                      <a:solidFill>
                        <a:schemeClr val="bg2"/>
                      </a:solidFill>
                      <a:prstDash val="solid"/>
                      <a:round/>
                      <a:headEnd type="none" w="med" len="med"/>
                      <a:tailEnd type="none" w="med" len="med"/>
                    </a:lnT>
                    <a:lnB w="19050" cap="flat" cmpd="sng" algn="ctr">
                      <a:solidFill>
                        <a:schemeClr val="bg2"/>
                      </a:solidFill>
                      <a:prstDash val="solid"/>
                      <a:round/>
                      <a:headEnd type="none" w="med" len="med"/>
                      <a:tailEnd type="none" w="med" len="med"/>
                    </a:lnB>
                    <a:solidFill>
                      <a:schemeClr val="bg1"/>
                    </a:solidFill>
                  </a:tcPr>
                </a:tc>
                <a:tc hMerge="1">
                  <a:txBody>
                    <a:bodyPr/>
                    <a:lstStyle/>
                    <a:p>
                      <a:endParaRPr lang="en-IN"/>
                    </a:p>
                  </a:txBody>
                  <a:tcPr/>
                </a:tc>
                <a:extLst>
                  <a:ext uri="{0D108BD9-81ED-4DB2-BD59-A6C34878D82A}">
                    <a16:rowId xmlns:a16="http://schemas.microsoft.com/office/drawing/2014/main" val="1161209939"/>
                  </a:ext>
                </a:extLst>
              </a:tr>
            </a:tbl>
          </a:graphicData>
        </a:graphic>
      </p:graphicFrame>
    </p:spTree>
    <p:extLst>
      <p:ext uri="{BB962C8B-B14F-4D97-AF65-F5344CB8AC3E}">
        <p14:creationId xmlns:p14="http://schemas.microsoft.com/office/powerpoint/2010/main" val="105206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722E90B-B4A7-48D2-134C-7BE9400BCFE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8581164-F321-1B9B-5200-D60D63C15EEF}"/>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a:t>
            </a:r>
          </a:p>
        </p:txBody>
      </p:sp>
      <p:sp>
        <p:nvSpPr>
          <p:cNvPr id="2" name="Title 1">
            <a:extLst>
              <a:ext uri="{FF2B5EF4-FFF2-40B4-BE49-F238E27FC236}">
                <a16:creationId xmlns:a16="http://schemas.microsoft.com/office/drawing/2014/main" id="{7EAEDE0E-C752-EC85-96D1-82A2D2EF1B33}"/>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SUGGESTIVE READINGS</a:t>
            </a:r>
          </a:p>
        </p:txBody>
      </p:sp>
      <p:sp>
        <p:nvSpPr>
          <p:cNvPr id="3" name="Rectangle 2">
            <a:extLst>
              <a:ext uri="{FF2B5EF4-FFF2-40B4-BE49-F238E27FC236}">
                <a16:creationId xmlns:a16="http://schemas.microsoft.com/office/drawing/2014/main" id="{D8857202-6F71-EB21-98DA-0053464F2129}"/>
              </a:ext>
            </a:extLst>
          </p:cNvPr>
          <p:cNvSpPr/>
          <p:nvPr/>
        </p:nvSpPr>
        <p:spPr>
          <a:xfrm>
            <a:off x="145143" y="1026299"/>
            <a:ext cx="8748433" cy="464871"/>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Text Books / Reference Books:</a:t>
            </a:r>
          </a:p>
        </p:txBody>
      </p:sp>
      <p:graphicFrame>
        <p:nvGraphicFramePr>
          <p:cNvPr id="6" name="Table 5">
            <a:extLst>
              <a:ext uri="{FF2B5EF4-FFF2-40B4-BE49-F238E27FC236}">
                <a16:creationId xmlns:a16="http://schemas.microsoft.com/office/drawing/2014/main" id="{7477AE26-3BC7-08F1-986D-BD55F4C4E6F5}"/>
              </a:ext>
            </a:extLst>
          </p:cNvPr>
          <p:cNvGraphicFramePr>
            <a:graphicFrameLocks noGrp="1"/>
          </p:cNvGraphicFramePr>
          <p:nvPr>
            <p:extLst>
              <p:ext uri="{D42A27DB-BD31-4B8C-83A1-F6EECF244321}">
                <p14:modId xmlns:p14="http://schemas.microsoft.com/office/powerpoint/2010/main" val="809687966"/>
              </p:ext>
            </p:extLst>
          </p:nvPr>
        </p:nvGraphicFramePr>
        <p:xfrm>
          <a:off x="250425" y="1421421"/>
          <a:ext cx="8639574" cy="3711434"/>
        </p:xfrm>
        <a:graphic>
          <a:graphicData uri="http://schemas.openxmlformats.org/drawingml/2006/table">
            <a:tbl>
              <a:tblPr>
                <a:tableStyleId>{5C22544A-7EE6-4342-B048-85BDC9FD1C3A}</a:tableStyleId>
              </a:tblPr>
              <a:tblGrid>
                <a:gridCol w="8639574">
                  <a:extLst>
                    <a:ext uri="{9D8B030D-6E8A-4147-A177-3AD203B41FA5}">
                      <a16:colId xmlns:a16="http://schemas.microsoft.com/office/drawing/2014/main" val="2230290221"/>
                    </a:ext>
                  </a:extLst>
                </a:gridCol>
              </a:tblGrid>
              <a:tr h="224736">
                <a:tc>
                  <a:txBody>
                    <a:bodyPr/>
                    <a:lstStyle/>
                    <a:p>
                      <a:pPr algn="ctr" fontAlgn="ctr"/>
                      <a:r>
                        <a:rPr lang="en-IN" sz="1600" b="1" u="sng" dirty="0">
                          <a:solidFill>
                            <a:schemeClr val="bg2"/>
                          </a:solidFill>
                          <a:latin typeface="Calibri" panose="020F0502020204030204" pitchFamily="34" charset="0"/>
                          <a:ea typeface="Calibri" panose="020F0502020204030204" pitchFamily="34" charset="0"/>
                          <a:cs typeface="Calibri" panose="020F0502020204030204" pitchFamily="34" charset="0"/>
                        </a:rPr>
                        <a:t>TEXT BOOKS</a:t>
                      </a:r>
                    </a:p>
                    <a:p>
                      <a:pPr algn="ctr" fontAlgn="ctr"/>
                      <a:endParaRPr lang="en-IN" sz="800" b="1" u="sng"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43485506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T1: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Massaron</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L., &amp; Boschetti, A. (2016). Regression analysis with Python.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Packt</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Publishing Ltd.</a:t>
                      </a:r>
                    </a:p>
                  </a:txBody>
                  <a:tcPr marL="5684" marR="5684" marT="5684" marB="0" anchor="ctr">
                    <a:solidFill>
                      <a:schemeClr val="bg1"/>
                    </a:solidFill>
                  </a:tcPr>
                </a:tc>
                <a:extLst>
                  <a:ext uri="{0D108BD9-81ED-4DB2-BD59-A6C34878D82A}">
                    <a16:rowId xmlns:a16="http://schemas.microsoft.com/office/drawing/2014/main" val="124324700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T2: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Jajuga</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p>
                  </a:txBody>
                  <a:tcPr marL="5684" marR="5684" marT="5684" marB="0" anchor="ctr">
                    <a:solidFill>
                      <a:schemeClr val="bg1"/>
                    </a:solidFill>
                  </a:tcPr>
                </a:tc>
                <a:extLst>
                  <a:ext uri="{0D108BD9-81ED-4DB2-BD59-A6C34878D82A}">
                    <a16:rowId xmlns:a16="http://schemas.microsoft.com/office/drawing/2014/main" val="272486580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T3: </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Bishop, C. M., &amp; Bishop, H. (2023). Deep learning: Foundations and concepts. Springer Nature.</a:t>
                      </a:r>
                    </a:p>
                  </a:txBody>
                  <a:tcPr marL="5684" marR="5684" marT="5684" marB="0" anchor="ctr">
                    <a:solidFill>
                      <a:schemeClr val="bg1"/>
                    </a:solidFill>
                  </a:tcPr>
                </a:tc>
                <a:extLst>
                  <a:ext uri="{0D108BD9-81ED-4DB2-BD59-A6C34878D82A}">
                    <a16:rowId xmlns:a16="http://schemas.microsoft.com/office/drawing/2014/main" val="1593588325"/>
                  </a:ext>
                </a:extLst>
              </a:tr>
              <a:tr h="276998">
                <a:tc>
                  <a:txBody>
                    <a:bodyPr/>
                    <a:lstStyle/>
                    <a:p>
                      <a:pPr algn="just" fontAlgn="ctr"/>
                      <a:endParaRPr lang="en-US" sz="1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3980535516"/>
                  </a:ext>
                </a:extLst>
              </a:tr>
              <a:tr h="224736">
                <a:tc>
                  <a:txBody>
                    <a:bodyPr/>
                    <a:lstStyle/>
                    <a:p>
                      <a:pPr algn="ctr" fontAlgn="ctr"/>
                      <a:r>
                        <a:rPr lang="en-IN" sz="1600" b="1" u="sng" dirty="0">
                          <a:solidFill>
                            <a:schemeClr val="bg2"/>
                          </a:solidFill>
                          <a:latin typeface="Calibri" panose="020F0502020204030204" pitchFamily="34" charset="0"/>
                          <a:ea typeface="Calibri" panose="020F0502020204030204" pitchFamily="34" charset="0"/>
                          <a:cs typeface="Calibri" panose="020F0502020204030204" pitchFamily="34" charset="0"/>
                        </a:rPr>
                        <a:t>REFERENCE BOOKS</a:t>
                      </a:r>
                    </a:p>
                    <a:p>
                      <a:pPr algn="ctr" fontAlgn="ctr"/>
                      <a:endParaRPr lang="en-IN" sz="800" b="1" u="sng"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2291661051"/>
                  </a:ext>
                </a:extLst>
              </a:tr>
              <a:tr h="376622">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R1: </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Matloff, N. (2017). Statistical regression and classification: from linear models to machine learning. Chapman and Hall/CRC.</a:t>
                      </a:r>
                    </a:p>
                  </a:txBody>
                  <a:tcPr marL="5684" marR="5684" marT="5684" marB="0" anchor="ctr">
                    <a:solidFill>
                      <a:schemeClr val="bg1"/>
                    </a:solidFill>
                  </a:tcPr>
                </a:tc>
                <a:extLst>
                  <a:ext uri="{0D108BD9-81ED-4DB2-BD59-A6C34878D82A}">
                    <a16:rowId xmlns:a16="http://schemas.microsoft.com/office/drawing/2014/main" val="1123111606"/>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R2: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Jajuga</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p>
                  </a:txBody>
                  <a:tcPr marL="5684" marR="5684" marT="5684" marB="0" anchor="ctr">
                    <a:solidFill>
                      <a:schemeClr val="bg1"/>
                    </a:solidFill>
                  </a:tcPr>
                </a:tc>
                <a:extLst>
                  <a:ext uri="{0D108BD9-81ED-4DB2-BD59-A6C34878D82A}">
                    <a16:rowId xmlns:a16="http://schemas.microsoft.com/office/drawing/2014/main" val="3373238540"/>
                  </a:ext>
                </a:extLst>
              </a:tr>
              <a:tr h="224736">
                <a:tc>
                  <a:txBody>
                    <a:bodyPr/>
                    <a:lstStyle/>
                    <a:p>
                      <a:pPr algn="just" fontAlgn="ctr"/>
                      <a:r>
                        <a:rPr lang="en-US" sz="1600" b="1" dirty="0">
                          <a:solidFill>
                            <a:schemeClr val="bg2"/>
                          </a:solidFill>
                          <a:latin typeface="Calibri" panose="020F0502020204030204" pitchFamily="34" charset="0"/>
                          <a:ea typeface="Calibri" panose="020F0502020204030204" pitchFamily="34" charset="0"/>
                          <a:cs typeface="Calibri" panose="020F0502020204030204" pitchFamily="34" charset="0"/>
                        </a:rPr>
                        <a:t>R3: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Vishnoi</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V. K., Chauhan, N. R., &amp; Kumar, K. (2024). An introduction to deep learning. </a:t>
                      </a:r>
                      <a:r>
                        <a:rPr lang="en-US" sz="1600" dirty="0" err="1">
                          <a:solidFill>
                            <a:schemeClr val="bg2"/>
                          </a:solidFill>
                          <a:latin typeface="Calibri" panose="020F0502020204030204" pitchFamily="34" charset="0"/>
                          <a:ea typeface="Calibri" panose="020F0502020204030204" pitchFamily="34" charset="0"/>
                          <a:cs typeface="Calibri" panose="020F0502020204030204" pitchFamily="34" charset="0"/>
                        </a:rPr>
                        <a:t>Xoffencer</a:t>
                      </a:r>
                      <a:r>
                        <a:rPr lang="en-US" sz="1600" dirty="0">
                          <a:solidFill>
                            <a:schemeClr val="bg2"/>
                          </a:solidFill>
                          <a:latin typeface="Calibri" panose="020F0502020204030204" pitchFamily="34" charset="0"/>
                          <a:ea typeface="Calibri" panose="020F0502020204030204" pitchFamily="34" charset="0"/>
                          <a:cs typeface="Calibri" panose="020F0502020204030204" pitchFamily="34" charset="0"/>
                        </a:rPr>
                        <a:t> publication.</a:t>
                      </a:r>
                    </a:p>
                  </a:txBody>
                  <a:tcPr marL="5684" marR="5684" marT="5684" marB="0" anchor="ctr">
                    <a:solidFill>
                      <a:schemeClr val="bg1"/>
                    </a:solidFill>
                  </a:tcPr>
                </a:tc>
                <a:extLst>
                  <a:ext uri="{0D108BD9-81ED-4DB2-BD59-A6C34878D82A}">
                    <a16:rowId xmlns:a16="http://schemas.microsoft.com/office/drawing/2014/main" val="766468309"/>
                  </a:ext>
                </a:extLst>
              </a:tr>
              <a:tr h="0">
                <a:tc>
                  <a:txBody>
                    <a:bodyPr/>
                    <a:lstStyle/>
                    <a:p>
                      <a:pPr algn="just" fontAlgn="ctr"/>
                      <a:endParaRPr lang="en-IN" sz="1400" dirty="0">
                        <a:solidFill>
                          <a:schemeClr val="bg2"/>
                        </a:solidFill>
                        <a:latin typeface="Calibri" panose="020F0502020204030204" pitchFamily="34" charset="0"/>
                        <a:ea typeface="Calibri" panose="020F0502020204030204" pitchFamily="34" charset="0"/>
                        <a:cs typeface="Calibri" panose="020F0502020204030204" pitchFamily="34" charset="0"/>
                      </a:endParaRPr>
                    </a:p>
                  </a:txBody>
                  <a:tcPr marL="5684" marR="5684" marT="5684" marB="0" anchor="ctr">
                    <a:solidFill>
                      <a:schemeClr val="bg1"/>
                    </a:solidFill>
                  </a:tcPr>
                </a:tc>
                <a:extLst>
                  <a:ext uri="{0D108BD9-81ED-4DB2-BD59-A6C34878D82A}">
                    <a16:rowId xmlns:a16="http://schemas.microsoft.com/office/drawing/2014/main" val="2254666440"/>
                  </a:ext>
                </a:extLst>
              </a:tr>
            </a:tbl>
          </a:graphicData>
        </a:graphic>
      </p:graphicFrame>
    </p:spTree>
    <p:extLst>
      <p:ext uri="{BB962C8B-B14F-4D97-AF65-F5344CB8AC3E}">
        <p14:creationId xmlns:p14="http://schemas.microsoft.com/office/powerpoint/2010/main" val="1686286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D2933D2-A694-4C02-9490-F8DF1D65E6E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AAB8138-C22D-D138-96A2-E61790B95501}"/>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5</a:t>
            </a:r>
          </a:p>
        </p:txBody>
      </p:sp>
      <p:sp>
        <p:nvSpPr>
          <p:cNvPr id="2" name="Title 1">
            <a:extLst>
              <a:ext uri="{FF2B5EF4-FFF2-40B4-BE49-F238E27FC236}">
                <a16:creationId xmlns:a16="http://schemas.microsoft.com/office/drawing/2014/main" id="{8FD457F1-73E5-C92E-69E7-B0F511A2510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Table of Contents</a:t>
            </a:r>
          </a:p>
        </p:txBody>
      </p:sp>
      <p:sp>
        <p:nvSpPr>
          <p:cNvPr id="3" name="Rectangle 2">
            <a:extLst>
              <a:ext uri="{FF2B5EF4-FFF2-40B4-BE49-F238E27FC236}">
                <a16:creationId xmlns:a16="http://schemas.microsoft.com/office/drawing/2014/main" id="{24A4B515-1583-F553-4D7C-021764E7BA41}"/>
              </a:ext>
            </a:extLst>
          </p:cNvPr>
          <p:cNvSpPr/>
          <p:nvPr/>
        </p:nvSpPr>
        <p:spPr>
          <a:xfrm>
            <a:off x="197783" y="1033556"/>
            <a:ext cx="8695793" cy="2468368"/>
          </a:xfrm>
          <a:prstGeom prst="rect">
            <a:avLst/>
          </a:prstGeom>
        </p:spPr>
        <p:txBody>
          <a:bodyPr wrap="square">
            <a:spAutoFit/>
          </a:bodyPr>
          <a:lstStyle/>
          <a:p>
            <a:pPr marL="285750" indent="-285750" algn="just">
              <a:lnSpc>
                <a:spcPct val="200000"/>
              </a:lnSpc>
              <a:buFont typeface="Times New Roman" panose="02020603050405020304" pitchFamily="18" charset="0"/>
              <a:buChar char="֍"/>
            </a:pPr>
            <a:r>
              <a:rPr lang="fr-FR" sz="2000" b="1" dirty="0">
                <a:latin typeface="Calibri" panose="020F0502020204030204" pitchFamily="34" charset="0"/>
                <a:ea typeface="Calibri" panose="020F0502020204030204" pitchFamily="34" charset="0"/>
                <a:cs typeface="Calibri" panose="020F0502020204030204" pitchFamily="34" charset="0"/>
              </a:rPr>
              <a:t>Gradient Descent</a:t>
            </a:r>
          </a:p>
          <a:p>
            <a:pPr marL="285750" indent="-285750" algn="just">
              <a:lnSpc>
                <a:spcPct val="200000"/>
              </a:lnSpc>
              <a:buFont typeface="Times New Roman" panose="02020603050405020304" pitchFamily="18" charset="0"/>
              <a:buChar char="֍"/>
            </a:pPr>
            <a:r>
              <a:rPr lang="fr-FR" sz="2000" b="1" dirty="0">
                <a:latin typeface="Calibri" panose="020F0502020204030204" pitchFamily="34" charset="0"/>
                <a:ea typeface="Calibri" panose="020F0502020204030204" pitchFamily="34" charset="0"/>
                <a:cs typeface="Calibri" panose="020F0502020204030204" pitchFamily="34" charset="0"/>
              </a:rPr>
              <a:t>Stochastic Gradient Descent Algorithms</a:t>
            </a:r>
          </a:p>
          <a:p>
            <a:pPr marL="285750" indent="-285750" algn="just">
              <a:lnSpc>
                <a:spcPct val="200000"/>
              </a:lnSpc>
              <a:buFont typeface="Times New Roman" panose="02020603050405020304" pitchFamily="18" charset="0"/>
              <a:buChar char="֍"/>
            </a:pPr>
            <a:r>
              <a:rPr lang="fr-FR" sz="2000" b="1" dirty="0">
                <a:latin typeface="Calibri" panose="020F0502020204030204" pitchFamily="34" charset="0"/>
                <a:ea typeface="Calibri" panose="020F0502020204030204" pitchFamily="34" charset="0"/>
                <a:cs typeface="Calibri" panose="020F0502020204030204" pitchFamily="34" charset="0"/>
              </a:rPr>
              <a:t>Mini-Batch Gradient Descent Algorithms</a:t>
            </a:r>
          </a:p>
          <a:p>
            <a:pPr marL="285750" indent="-285750" algn="just">
              <a:lnSpc>
                <a:spcPct val="200000"/>
              </a:lnSpc>
              <a:buFont typeface="Times New Roman" panose="02020603050405020304" pitchFamily="18" charset="0"/>
              <a:buChar char="֍"/>
            </a:pPr>
            <a:endParaRPr lang="en-IN" sz="20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4736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34909B9-6679-B88A-741C-4D6D5F86F14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09B94D8-943E-B0BF-A653-233A369617DA}"/>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6</a:t>
            </a:r>
          </a:p>
        </p:txBody>
      </p:sp>
      <p:sp>
        <p:nvSpPr>
          <p:cNvPr id="2" name="Title 1">
            <a:extLst>
              <a:ext uri="{FF2B5EF4-FFF2-40B4-BE49-F238E27FC236}">
                <a16:creationId xmlns:a16="http://schemas.microsoft.com/office/drawing/2014/main" id="{DAFF8230-3BDF-FEDF-4508-298C8474C584}"/>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latin typeface="Calibri" panose="020F0502020204030204" pitchFamily="34" charset="0"/>
                <a:ea typeface="Calibri" panose="020F0502020204030204" pitchFamily="34" charset="0"/>
                <a:cs typeface="Calibri" panose="020F0502020204030204" pitchFamily="34" charset="0"/>
              </a:rPr>
              <a:t>Gradient Descent</a:t>
            </a:r>
          </a:p>
        </p:txBody>
      </p:sp>
      <p:sp>
        <p:nvSpPr>
          <p:cNvPr id="3" name="Rectangle 2">
            <a:extLst>
              <a:ext uri="{FF2B5EF4-FFF2-40B4-BE49-F238E27FC236}">
                <a16:creationId xmlns:a16="http://schemas.microsoft.com/office/drawing/2014/main" id="{C36F8375-605C-8925-3932-CAAD5D4BB49C}"/>
              </a:ext>
            </a:extLst>
          </p:cNvPr>
          <p:cNvSpPr/>
          <p:nvPr/>
        </p:nvSpPr>
        <p:spPr>
          <a:xfrm>
            <a:off x="254001" y="975500"/>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Gradient Descent is a key optimization algorithm in machine learning used to minimize cost functions by iteratively adjusting parameters.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Gradient Descent is one of the most essential optimization algorithms in machine learning and deep learning.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It is used to minimize a function by iteratively adjusting its parameters in the direction of the steepest descent, as defined by the negative of the gradient.</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This technique is widely used in training machine learning models, particularly in linear regression, logistic regression, and neural networks.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this chapter, we will explore the concept of gradient descent, its working mechanism, types and challenges.</a:t>
            </a:r>
          </a:p>
        </p:txBody>
      </p:sp>
    </p:spTree>
    <p:extLst>
      <p:ext uri="{BB962C8B-B14F-4D97-AF65-F5344CB8AC3E}">
        <p14:creationId xmlns:p14="http://schemas.microsoft.com/office/powerpoint/2010/main" val="164827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1A1CD03-77E4-8876-9FC6-2B89A780786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E73F27F-2E36-9B5B-48E6-BC87DB80AEFB}"/>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7</a:t>
            </a:r>
          </a:p>
        </p:txBody>
      </p:sp>
      <p:sp>
        <p:nvSpPr>
          <p:cNvPr id="2" name="Title 1">
            <a:extLst>
              <a:ext uri="{FF2B5EF4-FFF2-40B4-BE49-F238E27FC236}">
                <a16:creationId xmlns:a16="http://schemas.microsoft.com/office/drawing/2014/main" id="{C41BD672-8A6F-0615-421C-276291EB8FE9}"/>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latin typeface="Calibri" panose="020F0502020204030204" pitchFamily="34" charset="0"/>
                <a:ea typeface="Calibri" panose="020F0502020204030204" pitchFamily="34" charset="0"/>
                <a:cs typeface="Calibri" panose="020F0502020204030204" pitchFamily="34" charset="0"/>
              </a:rPr>
              <a:t>Gradient Descent</a:t>
            </a:r>
          </a:p>
        </p:txBody>
      </p:sp>
      <p:sp>
        <p:nvSpPr>
          <p:cNvPr id="3" name="Rectangle 2">
            <a:extLst>
              <a:ext uri="{FF2B5EF4-FFF2-40B4-BE49-F238E27FC236}">
                <a16:creationId xmlns:a16="http://schemas.microsoft.com/office/drawing/2014/main" id="{C8709908-6AF9-8FB8-2D0B-EBE69E531092}"/>
              </a:ext>
            </a:extLst>
          </p:cNvPr>
          <p:cNvSpPr/>
          <p:nvPr/>
        </p:nvSpPr>
        <p:spPr>
          <a:xfrm>
            <a:off x="254001" y="939215"/>
            <a:ext cx="5145313" cy="4204356"/>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What is Gradient Descent?</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Gradient descent is the backbone of the learning process for various algorithms, including linear regression, logistic regression, support vector machines, and neural networks which serves as a fundamental optimization technique to minimize the cost function of a model by iteratively adjusting the model parameters to reduce the difference between predicted and actual values, improving the model's performance.</a:t>
            </a:r>
          </a:p>
        </p:txBody>
      </p:sp>
      <p:pic>
        <p:nvPicPr>
          <p:cNvPr id="1026" name="Picture 2" descr="Gradient Descent">
            <a:extLst>
              <a:ext uri="{FF2B5EF4-FFF2-40B4-BE49-F238E27FC236}">
                <a16:creationId xmlns:a16="http://schemas.microsoft.com/office/drawing/2014/main" id="{F4353058-FF43-F92C-399C-A937156E52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69" t="12839" r="7673" b="3633"/>
          <a:stretch>
            <a:fillRect/>
          </a:stretch>
        </p:blipFill>
        <p:spPr bwMode="auto">
          <a:xfrm>
            <a:off x="5399314" y="1961827"/>
            <a:ext cx="3490685" cy="224245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7717B44-0145-39E9-939B-86E1C0043411}"/>
              </a:ext>
            </a:extLst>
          </p:cNvPr>
          <p:cNvSpPr txBox="1"/>
          <p:nvPr/>
        </p:nvSpPr>
        <p:spPr>
          <a:xfrm>
            <a:off x="5399314" y="4271512"/>
            <a:ext cx="3490685"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Figure-1: Gradient Descent Curve</a:t>
            </a:r>
            <a:endParaRPr lang="en-IN" b="1" dirty="0"/>
          </a:p>
        </p:txBody>
      </p:sp>
    </p:spTree>
    <p:extLst>
      <p:ext uri="{BB962C8B-B14F-4D97-AF65-F5344CB8AC3E}">
        <p14:creationId xmlns:p14="http://schemas.microsoft.com/office/powerpoint/2010/main" val="38508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0D9FDA3-6BBF-F2E6-8EF2-18D8343FF6A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C87DFF4-7D1D-28BE-0ED6-1FF044B4EA95}"/>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8</a:t>
            </a:r>
          </a:p>
        </p:txBody>
      </p:sp>
      <p:sp>
        <p:nvSpPr>
          <p:cNvPr id="2" name="Title 1">
            <a:extLst>
              <a:ext uri="{FF2B5EF4-FFF2-40B4-BE49-F238E27FC236}">
                <a16:creationId xmlns:a16="http://schemas.microsoft.com/office/drawing/2014/main" id="{A75F5A73-127E-BF51-16AB-E9561E9A8C41}"/>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latin typeface="Calibri" panose="020F0502020204030204" pitchFamily="34" charset="0"/>
                <a:ea typeface="Calibri" panose="020F0502020204030204" pitchFamily="34" charset="0"/>
                <a:cs typeface="Calibri" panose="020F0502020204030204" pitchFamily="34" charset="0"/>
              </a:rPr>
              <a:t>Gradient Descent</a:t>
            </a:r>
          </a:p>
        </p:txBody>
      </p:sp>
      <p:sp>
        <p:nvSpPr>
          <p:cNvPr id="3" name="Rectangle 2">
            <a:extLst>
              <a:ext uri="{FF2B5EF4-FFF2-40B4-BE49-F238E27FC236}">
                <a16:creationId xmlns:a16="http://schemas.microsoft.com/office/drawing/2014/main" id="{553B37E5-3A85-8176-AC73-F3E9D9C7928F}"/>
              </a:ext>
            </a:extLst>
          </p:cNvPr>
          <p:cNvSpPr/>
          <p:nvPr/>
        </p:nvSpPr>
        <p:spPr>
          <a:xfrm>
            <a:off x="254001" y="975500"/>
            <a:ext cx="8639575" cy="129586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cost function (or loss function) measures how well the model's predictions match the actual data. By iteratively adjusting the parameters in the direction that reduces the cost function, the model improves its accuracy.</a:t>
            </a:r>
          </a:p>
        </p:txBody>
      </p:sp>
      <p:sp>
        <p:nvSpPr>
          <p:cNvPr id="4" name="Rectangle 3">
            <a:extLst>
              <a:ext uri="{FF2B5EF4-FFF2-40B4-BE49-F238E27FC236}">
                <a16:creationId xmlns:a16="http://schemas.microsoft.com/office/drawing/2014/main" id="{F8800503-31F6-ECDB-5969-BE557FB17B79}"/>
              </a:ext>
            </a:extLst>
          </p:cNvPr>
          <p:cNvSpPr/>
          <p:nvPr/>
        </p:nvSpPr>
        <p:spPr>
          <a:xfrm>
            <a:off x="252213" y="2143194"/>
            <a:ext cx="4319788" cy="2957861"/>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How Gradient Descent Works?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Initialize Parameters: Start with random values for the parameters (weights and biases).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Compute the Gradient: Calculate the derivative (gradient) of the loss function with respect to each parameter.</a:t>
            </a:r>
          </a:p>
        </p:txBody>
      </p:sp>
      <p:pic>
        <p:nvPicPr>
          <p:cNvPr id="6" name="Picture 5">
            <a:extLst>
              <a:ext uri="{FF2B5EF4-FFF2-40B4-BE49-F238E27FC236}">
                <a16:creationId xmlns:a16="http://schemas.microsoft.com/office/drawing/2014/main" id="{BC6247D7-2E75-1821-367E-C10F6D897784}"/>
              </a:ext>
            </a:extLst>
          </p:cNvPr>
          <p:cNvPicPr>
            <a:picLocks noChangeAspect="1"/>
          </p:cNvPicPr>
          <p:nvPr/>
        </p:nvPicPr>
        <p:blipFill>
          <a:blip r:embed="rId3"/>
          <a:srcRect l="2369" t="11146" r="2701" b="9559"/>
          <a:stretch>
            <a:fillRect/>
          </a:stretch>
        </p:blipFill>
        <p:spPr>
          <a:xfrm>
            <a:off x="4570211" y="2423880"/>
            <a:ext cx="4319788" cy="2140859"/>
          </a:xfrm>
          <a:prstGeom prst="rect">
            <a:avLst/>
          </a:prstGeom>
        </p:spPr>
      </p:pic>
      <p:sp>
        <p:nvSpPr>
          <p:cNvPr id="8" name="TextBox 7">
            <a:extLst>
              <a:ext uri="{FF2B5EF4-FFF2-40B4-BE49-F238E27FC236}">
                <a16:creationId xmlns:a16="http://schemas.microsoft.com/office/drawing/2014/main" id="{22FC3621-E2F9-5801-0312-FF583A62D1BC}"/>
              </a:ext>
            </a:extLst>
          </p:cNvPr>
          <p:cNvSpPr txBox="1"/>
          <p:nvPr/>
        </p:nvSpPr>
        <p:spPr>
          <a:xfrm>
            <a:off x="4869542" y="4523628"/>
            <a:ext cx="3490685"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Figure-2: Gradient Descent Process</a:t>
            </a:r>
            <a:endParaRPr lang="en-IN" b="1" dirty="0"/>
          </a:p>
        </p:txBody>
      </p:sp>
    </p:spTree>
    <p:extLst>
      <p:ext uri="{BB962C8B-B14F-4D97-AF65-F5344CB8AC3E}">
        <p14:creationId xmlns:p14="http://schemas.microsoft.com/office/powerpoint/2010/main" val="1219177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5FF0DD4-3FBD-751D-75E3-3321A6C80AB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1262C8B-51E4-D349-1A61-615636BBD023}"/>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9</a:t>
            </a:r>
          </a:p>
        </p:txBody>
      </p:sp>
      <p:sp>
        <p:nvSpPr>
          <p:cNvPr id="2" name="Title 1">
            <a:extLst>
              <a:ext uri="{FF2B5EF4-FFF2-40B4-BE49-F238E27FC236}">
                <a16:creationId xmlns:a16="http://schemas.microsoft.com/office/drawing/2014/main" id="{DD4FE876-37E2-DE8E-042E-9E0310722B44}"/>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200" b="1" dirty="0">
                <a:latin typeface="Calibri" panose="020F0502020204030204" pitchFamily="34" charset="0"/>
                <a:ea typeface="Calibri" panose="020F0502020204030204" pitchFamily="34" charset="0"/>
                <a:cs typeface="Calibri" panose="020F0502020204030204" pitchFamily="34" charset="0"/>
              </a:rPr>
              <a:t>Gradient Descent</a:t>
            </a:r>
          </a:p>
        </p:txBody>
      </p:sp>
      <p:sp>
        <p:nvSpPr>
          <p:cNvPr id="3" name="Rectangle 2">
            <a:extLst>
              <a:ext uri="{FF2B5EF4-FFF2-40B4-BE49-F238E27FC236}">
                <a16:creationId xmlns:a16="http://schemas.microsoft.com/office/drawing/2014/main" id="{D11329FB-5122-6BED-3B05-4E935A255257}"/>
              </a:ext>
            </a:extLst>
          </p:cNvPr>
          <p:cNvSpPr/>
          <p:nvPr/>
        </p:nvSpPr>
        <p:spPr>
          <a:xfrm>
            <a:off x="254001" y="960986"/>
            <a:ext cx="8639575"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Update Parameters: Adjust the parameters by moving in the opposite direction of the gradient:</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Key points about the formula               </a:t>
            </a:r>
          </a:p>
          <a:p>
            <a:pPr lvl="0" algn="ctr">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θ = θ - α * ∇J(θ)</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Where: θ represents model parameters</a:t>
            </a:r>
          </a:p>
          <a:p>
            <a:pPr marL="1074738"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α (learning rate) controls step size</a:t>
            </a:r>
          </a:p>
          <a:p>
            <a:pPr marL="1074738" lvl="0" algn="just">
              <a:lnSpc>
                <a:spcPct val="150000"/>
              </a:lnSpc>
            </a:pPr>
            <a:r>
              <a:rPr lang="en-US" sz="1800" dirty="0">
                <a:latin typeface="Calibri" panose="020F0502020204030204" pitchFamily="34" charset="0"/>
                <a:ea typeface="Calibri" panose="020F0502020204030204" pitchFamily="34" charset="0"/>
                <a:cs typeface="Calibri" panose="020F0502020204030204" pitchFamily="34" charset="0"/>
              </a:rPr>
              <a:t>∇J(θ) is the gradient/slope of the cost function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Repeat Until Convergence: Continue updating parameters until the change is minimal or a stopping criterion is met.</a:t>
            </a:r>
          </a:p>
        </p:txBody>
      </p:sp>
    </p:spTree>
    <p:extLst>
      <p:ext uri="{BB962C8B-B14F-4D97-AF65-F5344CB8AC3E}">
        <p14:creationId xmlns:p14="http://schemas.microsoft.com/office/powerpoint/2010/main" val="294630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747A188-ED90-4BC8-2B19-01C948571AD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D07A1BF-9741-9DF1-2441-2DF9BC082142}"/>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10</a:t>
            </a:r>
          </a:p>
        </p:txBody>
      </p:sp>
      <p:sp>
        <p:nvSpPr>
          <p:cNvPr id="2" name="Title 1">
            <a:extLst>
              <a:ext uri="{FF2B5EF4-FFF2-40B4-BE49-F238E27FC236}">
                <a16:creationId xmlns:a16="http://schemas.microsoft.com/office/drawing/2014/main" id="{A351FC84-F070-3A31-20FA-0AB13768B643}"/>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latin typeface="Calibri" panose="020F0502020204030204" pitchFamily="34" charset="0"/>
                <a:ea typeface="Calibri" panose="020F0502020204030204" pitchFamily="34" charset="0"/>
                <a:cs typeface="Calibri" panose="020F0502020204030204" pitchFamily="34" charset="0"/>
              </a:rPr>
              <a:t>Gradient Descent</a:t>
            </a:r>
          </a:p>
        </p:txBody>
      </p:sp>
      <p:sp>
        <p:nvSpPr>
          <p:cNvPr id="3" name="Rectangle 2">
            <a:extLst>
              <a:ext uri="{FF2B5EF4-FFF2-40B4-BE49-F238E27FC236}">
                <a16:creationId xmlns:a16="http://schemas.microsoft.com/office/drawing/2014/main" id="{85A216F7-5A5F-F20A-3622-F88AED9BFADD}"/>
              </a:ext>
            </a:extLst>
          </p:cNvPr>
          <p:cNvSpPr/>
          <p:nvPr/>
        </p:nvSpPr>
        <p:spPr>
          <a:xfrm>
            <a:off x="254002" y="960986"/>
            <a:ext cx="3817256" cy="4204356"/>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Types of Gradient Descent</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Gradient Descent comes in different variations based on how much data is used to compute the gradient at each step.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These variations impact the speed, stability, and accuracy of convergence in machine learning models. Below are the three main types of Gradient Descent:</a:t>
            </a:r>
          </a:p>
        </p:txBody>
      </p:sp>
      <p:pic>
        <p:nvPicPr>
          <p:cNvPr id="6" name="Picture 5">
            <a:extLst>
              <a:ext uri="{FF2B5EF4-FFF2-40B4-BE49-F238E27FC236}">
                <a16:creationId xmlns:a16="http://schemas.microsoft.com/office/drawing/2014/main" id="{E255F1E5-A092-4957-CFED-D90F8CBC422E}"/>
              </a:ext>
            </a:extLst>
          </p:cNvPr>
          <p:cNvPicPr>
            <a:picLocks noChangeAspect="1"/>
          </p:cNvPicPr>
          <p:nvPr/>
        </p:nvPicPr>
        <p:blipFill>
          <a:blip r:embed="rId3"/>
          <a:srcRect l="3022" t="23563" r="2855" b="8571"/>
          <a:stretch>
            <a:fillRect/>
          </a:stretch>
        </p:blipFill>
        <p:spPr>
          <a:xfrm>
            <a:off x="3991429" y="1807024"/>
            <a:ext cx="5021943" cy="2634344"/>
          </a:xfrm>
          <a:prstGeom prst="rect">
            <a:avLst/>
          </a:prstGeom>
        </p:spPr>
      </p:pic>
      <p:sp>
        <p:nvSpPr>
          <p:cNvPr id="8" name="TextBox 7">
            <a:extLst>
              <a:ext uri="{FF2B5EF4-FFF2-40B4-BE49-F238E27FC236}">
                <a16:creationId xmlns:a16="http://schemas.microsoft.com/office/drawing/2014/main" id="{16D6F6F7-84D8-D952-8C32-6C14865CBA47}"/>
              </a:ext>
            </a:extLst>
          </p:cNvPr>
          <p:cNvSpPr txBox="1"/>
          <p:nvPr/>
        </p:nvSpPr>
        <p:spPr>
          <a:xfrm>
            <a:off x="4869542" y="4523628"/>
            <a:ext cx="3490685"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Figure-3: Types of Gradient Descent</a:t>
            </a:r>
            <a:endParaRPr lang="en-IN" b="1" dirty="0"/>
          </a:p>
        </p:txBody>
      </p:sp>
    </p:spTree>
    <p:extLst>
      <p:ext uri="{BB962C8B-B14F-4D97-AF65-F5344CB8AC3E}">
        <p14:creationId xmlns:p14="http://schemas.microsoft.com/office/powerpoint/2010/main" val="3821206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A3494B9-E0F3-3C16-8DA8-369CEBE4911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BE09D7D-3CC2-CFC6-0EEE-B62E2F53EE9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11</a:t>
            </a:r>
          </a:p>
        </p:txBody>
      </p:sp>
      <p:sp>
        <p:nvSpPr>
          <p:cNvPr id="2" name="Title 1">
            <a:extLst>
              <a:ext uri="{FF2B5EF4-FFF2-40B4-BE49-F238E27FC236}">
                <a16:creationId xmlns:a16="http://schemas.microsoft.com/office/drawing/2014/main" id="{4A822CA7-E940-2052-2031-A687C9CA75AD}"/>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200" b="1" dirty="0">
                <a:latin typeface="Calibri" panose="020F0502020204030204" pitchFamily="34" charset="0"/>
                <a:ea typeface="Calibri" panose="020F0502020204030204" pitchFamily="34" charset="0"/>
                <a:cs typeface="Calibri" panose="020F0502020204030204" pitchFamily="34" charset="0"/>
              </a:rPr>
              <a:t>Gradient Descent</a:t>
            </a:r>
          </a:p>
        </p:txBody>
      </p:sp>
      <p:sp>
        <p:nvSpPr>
          <p:cNvPr id="3" name="Rectangle 2">
            <a:extLst>
              <a:ext uri="{FF2B5EF4-FFF2-40B4-BE49-F238E27FC236}">
                <a16:creationId xmlns:a16="http://schemas.microsoft.com/office/drawing/2014/main" id="{02AAC7B5-0005-BF04-0DC3-1B01F4E51A8C}"/>
              </a:ext>
            </a:extLst>
          </p:cNvPr>
          <p:cNvSpPr/>
          <p:nvPr/>
        </p:nvSpPr>
        <p:spPr>
          <a:xfrm>
            <a:off x="254002" y="960986"/>
            <a:ext cx="8708566" cy="129586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Gradient descent was originally proposed by CAUCHY in 1847. It is also known as the steepest descent. The goal of the gradient descent algorithm is to minimize the given function (say, cost function). To achieve this goal, it performs two steps iteratively:</a:t>
            </a:r>
          </a:p>
        </p:txBody>
      </p:sp>
      <p:sp>
        <p:nvSpPr>
          <p:cNvPr id="6" name="TextBox 5">
            <a:extLst>
              <a:ext uri="{FF2B5EF4-FFF2-40B4-BE49-F238E27FC236}">
                <a16:creationId xmlns:a16="http://schemas.microsoft.com/office/drawing/2014/main" id="{9133F8C9-675F-13B0-99B6-E58F7AF07E0B}"/>
              </a:ext>
            </a:extLst>
          </p:cNvPr>
          <p:cNvSpPr txBox="1"/>
          <p:nvPr/>
        </p:nvSpPr>
        <p:spPr>
          <a:xfrm>
            <a:off x="5029201" y="4649379"/>
            <a:ext cx="3580324" cy="307777"/>
          </a:xfrm>
          <a:prstGeom prst="rect">
            <a:avLst/>
          </a:prstGeom>
          <a:noFill/>
        </p:spPr>
        <p:txBody>
          <a:bodyPr wrap="square">
            <a:spAutoFit/>
          </a:bodyPr>
          <a:lstStyle/>
          <a:p>
            <a:pPr algn="ctr"/>
            <a:r>
              <a:rPr lang="en-US" b="1" dirty="0">
                <a:solidFill>
                  <a:schemeClr val="bg2"/>
                </a:solidFill>
                <a:latin typeface="Calibri" panose="020F0502020204030204" pitchFamily="34" charset="0"/>
                <a:ea typeface="Calibri" panose="020F0502020204030204" pitchFamily="34" charset="0"/>
                <a:cs typeface="Calibri" panose="020F0502020204030204" pitchFamily="34" charset="0"/>
              </a:rPr>
              <a:t>Figure-4: Working of Gradient Descent</a:t>
            </a:r>
          </a:p>
        </p:txBody>
      </p:sp>
      <p:pic>
        <p:nvPicPr>
          <p:cNvPr id="5" name="Picture 4">
            <a:extLst>
              <a:ext uri="{FF2B5EF4-FFF2-40B4-BE49-F238E27FC236}">
                <a16:creationId xmlns:a16="http://schemas.microsoft.com/office/drawing/2014/main" id="{33C5D4D1-8BD7-44E8-6145-B0697D123562}"/>
              </a:ext>
            </a:extLst>
          </p:cNvPr>
          <p:cNvPicPr>
            <a:picLocks noChangeAspect="1"/>
          </p:cNvPicPr>
          <p:nvPr/>
        </p:nvPicPr>
        <p:blipFill>
          <a:blip r:embed="rId3"/>
          <a:stretch>
            <a:fillRect/>
          </a:stretch>
        </p:blipFill>
        <p:spPr>
          <a:xfrm>
            <a:off x="4782456" y="2256854"/>
            <a:ext cx="4180112" cy="2335956"/>
          </a:xfrm>
          <a:prstGeom prst="rect">
            <a:avLst/>
          </a:prstGeom>
        </p:spPr>
      </p:pic>
      <p:sp>
        <p:nvSpPr>
          <p:cNvPr id="8" name="Rectangle 7">
            <a:extLst>
              <a:ext uri="{FF2B5EF4-FFF2-40B4-BE49-F238E27FC236}">
                <a16:creationId xmlns:a16="http://schemas.microsoft.com/office/drawing/2014/main" id="{6B2627DB-A869-291D-0C24-052A4D9C67A8}"/>
              </a:ext>
            </a:extLst>
          </p:cNvPr>
          <p:cNvSpPr/>
          <p:nvPr/>
        </p:nvSpPr>
        <p:spPr>
          <a:xfrm>
            <a:off x="254002" y="2101057"/>
            <a:ext cx="4644569" cy="2957861"/>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Compute the gradient (slope), the first-order derivative of the function at that point.</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Make a step (move) in the direction opposite to the gradient. The opposite direction of the slope increases from the current point by alpha times the gradient at that point.</a:t>
            </a:r>
          </a:p>
        </p:txBody>
      </p:sp>
    </p:spTree>
    <p:extLst>
      <p:ext uri="{BB962C8B-B14F-4D97-AF65-F5344CB8AC3E}">
        <p14:creationId xmlns:p14="http://schemas.microsoft.com/office/powerpoint/2010/main" val="3948294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5A4D660-25DA-7D58-F07C-829768984EC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79A56BB-2DA5-4981-D85F-F36370621CA4}"/>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12</a:t>
            </a:r>
          </a:p>
        </p:txBody>
      </p:sp>
      <p:sp>
        <p:nvSpPr>
          <p:cNvPr id="2" name="Title 1">
            <a:extLst>
              <a:ext uri="{FF2B5EF4-FFF2-40B4-BE49-F238E27FC236}">
                <a16:creationId xmlns:a16="http://schemas.microsoft.com/office/drawing/2014/main" id="{01066063-FC8F-11CF-BF72-ED2758240A08}"/>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latin typeface="Calibri" panose="020F0502020204030204" pitchFamily="34" charset="0"/>
                <a:ea typeface="Calibri" panose="020F0502020204030204" pitchFamily="34" charset="0"/>
                <a:cs typeface="Calibri" panose="020F0502020204030204" pitchFamily="34" charset="0"/>
              </a:rPr>
              <a:t>Types of Gradient Descent</a:t>
            </a:r>
          </a:p>
        </p:txBody>
      </p:sp>
      <p:sp>
        <p:nvSpPr>
          <p:cNvPr id="3" name="Rectangle 2">
            <a:extLst>
              <a:ext uri="{FF2B5EF4-FFF2-40B4-BE49-F238E27FC236}">
                <a16:creationId xmlns:a16="http://schemas.microsoft.com/office/drawing/2014/main" id="{D63B5298-48F5-978B-276C-EF543ABBA556}"/>
              </a:ext>
            </a:extLst>
          </p:cNvPr>
          <p:cNvSpPr/>
          <p:nvPr/>
        </p:nvSpPr>
        <p:spPr>
          <a:xfrm>
            <a:off x="254001" y="960986"/>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choice of gradient descent algorithm depends on the problem at hand and the size of the dataset. Batch gradient descent is suitable for small datasets, while stochastic gradient descent algorithm is more suitable for large datasets. Mini-batch is a good compromise between the two and is often used in practice.</a:t>
            </a:r>
          </a:p>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Batch Gradient Descent</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Batch gradient descent updates the model’s parameters using the gradient of the entire training set. It calculates the average gradient of the cost function for all the training examples and updates the parameters in the opposite direction.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Batch gradient descent guarantees convergence to the global minimum but can be computationally expensive and slow for large datasets.</a:t>
            </a:r>
          </a:p>
        </p:txBody>
      </p:sp>
    </p:spTree>
    <p:extLst>
      <p:ext uri="{BB962C8B-B14F-4D97-AF65-F5344CB8AC3E}">
        <p14:creationId xmlns:p14="http://schemas.microsoft.com/office/powerpoint/2010/main" val="157786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94C84E7-9C23-DFE7-2E6B-C64D424C9BF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391528C-16F9-D5D0-8578-F3D3A9735CCA}"/>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13</a:t>
            </a:r>
          </a:p>
        </p:txBody>
      </p:sp>
      <p:sp>
        <p:nvSpPr>
          <p:cNvPr id="2" name="Title 1">
            <a:extLst>
              <a:ext uri="{FF2B5EF4-FFF2-40B4-BE49-F238E27FC236}">
                <a16:creationId xmlns:a16="http://schemas.microsoft.com/office/drawing/2014/main" id="{D19B2CB8-21B4-620C-8B83-1197DB265DC6}"/>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latin typeface="Calibri" panose="020F0502020204030204" pitchFamily="34" charset="0"/>
                <a:ea typeface="Calibri" panose="020F0502020204030204" pitchFamily="34" charset="0"/>
                <a:cs typeface="Calibri" panose="020F0502020204030204" pitchFamily="34" charset="0"/>
              </a:rPr>
              <a:t>Types of Gradient Descent</a:t>
            </a:r>
          </a:p>
        </p:txBody>
      </p:sp>
      <p:sp>
        <p:nvSpPr>
          <p:cNvPr id="3" name="Rectangle 2">
            <a:extLst>
              <a:ext uri="{FF2B5EF4-FFF2-40B4-BE49-F238E27FC236}">
                <a16:creationId xmlns:a16="http://schemas.microsoft.com/office/drawing/2014/main" id="{1ED2ED55-D51E-7AB6-CBA6-AA559BBB1B5F}"/>
              </a:ext>
            </a:extLst>
          </p:cNvPr>
          <p:cNvSpPr/>
          <p:nvPr/>
        </p:nvSpPr>
        <p:spPr>
          <a:xfrm>
            <a:off x="254001" y="960986"/>
            <a:ext cx="8639575" cy="3788858"/>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Stochastic Gradient Descent</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Stochastic gradient descent updates the model’s parameters using the gradient of one training example at a time.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It randomly selects a training dataset example, computes the gradient of the cost function for that example, and updates the parameters in the opposite direction.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Stochastic gradient descent is computationally efficient and can converge faster than batch gradient descent.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However, it can be noisy and may not converge to the global minimum.</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4031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DE60B646-847B-21C7-D54C-9B20E3E6C3A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0BA2E43-342A-3846-F9EA-8678040F50A3}"/>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14</a:t>
            </a:r>
          </a:p>
        </p:txBody>
      </p:sp>
      <p:sp>
        <p:nvSpPr>
          <p:cNvPr id="2" name="Title 1">
            <a:extLst>
              <a:ext uri="{FF2B5EF4-FFF2-40B4-BE49-F238E27FC236}">
                <a16:creationId xmlns:a16="http://schemas.microsoft.com/office/drawing/2014/main" id="{7719434C-98E4-5DC7-5E47-54180D2162BC}"/>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800" b="1" dirty="0">
                <a:latin typeface="Calibri" panose="020F0502020204030204" pitchFamily="34" charset="0"/>
                <a:ea typeface="Calibri" panose="020F0502020204030204" pitchFamily="34" charset="0"/>
                <a:cs typeface="Calibri" panose="020F0502020204030204" pitchFamily="34" charset="0"/>
              </a:rPr>
              <a:t>Types of Gradient Descent</a:t>
            </a:r>
          </a:p>
        </p:txBody>
      </p:sp>
      <p:sp>
        <p:nvSpPr>
          <p:cNvPr id="3" name="Rectangle 2">
            <a:extLst>
              <a:ext uri="{FF2B5EF4-FFF2-40B4-BE49-F238E27FC236}">
                <a16:creationId xmlns:a16="http://schemas.microsoft.com/office/drawing/2014/main" id="{5A80A419-5D06-55A4-562A-4E50B5E11BBD}"/>
              </a:ext>
            </a:extLst>
          </p:cNvPr>
          <p:cNvSpPr/>
          <p:nvPr/>
        </p:nvSpPr>
        <p:spPr>
          <a:xfrm>
            <a:off x="254001" y="960986"/>
            <a:ext cx="8639575" cy="4204356"/>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Mini-Batch Gradient Descent</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Mini-batch gradient descent updates the model’s parameters using the gradient of a small batch size of the training dataset, known as a mini-batch.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It calculates the average gradient of the cost function for the mini-batch and updates the parameters in the opposite direction.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mini-batch gradient descent algorithm combines the advantages of batch and stochastic gradient descent.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It is the most commonly used method in practice. It is computationally efficient and less noisy than stochastic gradient descent while still being able to converge to a good solution.</a:t>
            </a:r>
          </a:p>
        </p:txBody>
      </p:sp>
    </p:spTree>
    <p:extLst>
      <p:ext uri="{BB962C8B-B14F-4D97-AF65-F5344CB8AC3E}">
        <p14:creationId xmlns:p14="http://schemas.microsoft.com/office/powerpoint/2010/main" val="1891962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7DF0BE3-B71C-2A04-E65A-9E8680A155F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BB5000C-B672-95EB-9005-C9DCDFA0E06E}"/>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15</a:t>
            </a:r>
          </a:p>
        </p:txBody>
      </p:sp>
      <p:sp>
        <p:nvSpPr>
          <p:cNvPr id="2" name="Title 1">
            <a:extLst>
              <a:ext uri="{FF2B5EF4-FFF2-40B4-BE49-F238E27FC236}">
                <a16:creationId xmlns:a16="http://schemas.microsoft.com/office/drawing/2014/main" id="{17FEE87E-EC02-99CA-B626-096CA9F68088}"/>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Advantages and Disadvantages</a:t>
            </a:r>
          </a:p>
        </p:txBody>
      </p:sp>
      <p:sp>
        <p:nvSpPr>
          <p:cNvPr id="3" name="Rectangle 2">
            <a:extLst>
              <a:ext uri="{FF2B5EF4-FFF2-40B4-BE49-F238E27FC236}">
                <a16:creationId xmlns:a16="http://schemas.microsoft.com/office/drawing/2014/main" id="{B69D7866-BDC9-9F54-00C4-6DC452EFCA2E}"/>
              </a:ext>
            </a:extLst>
          </p:cNvPr>
          <p:cNvSpPr/>
          <p:nvPr/>
        </p:nvSpPr>
        <p:spPr>
          <a:xfrm>
            <a:off x="254000" y="960986"/>
            <a:ext cx="8738961" cy="3788858"/>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Advantages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Easy to use: </a:t>
            </a:r>
            <a:r>
              <a:rPr lang="en-US" sz="1800" dirty="0">
                <a:latin typeface="Calibri" panose="020F0502020204030204" pitchFamily="34" charset="0"/>
                <a:ea typeface="Calibri" panose="020F0502020204030204" pitchFamily="34" charset="0"/>
                <a:cs typeface="Calibri" panose="020F0502020204030204" pitchFamily="34" charset="0"/>
              </a:rPr>
              <a:t>It’s like rolling the marble yourself – no fancy tools needed, you just </a:t>
            </a:r>
            <a:r>
              <a:rPr lang="en-US" sz="1800" dirty="0" err="1">
                <a:latin typeface="Calibri" panose="020F0502020204030204" pitchFamily="34" charset="0"/>
                <a:ea typeface="Calibri" panose="020F0502020204030204" pitchFamily="34" charset="0"/>
                <a:cs typeface="Calibri" panose="020F0502020204030204" pitchFamily="34" charset="0"/>
              </a:rPr>
              <a:t>gotta</a:t>
            </a:r>
            <a:r>
              <a:rPr lang="en-US" sz="1800" dirty="0">
                <a:latin typeface="Calibri" panose="020F0502020204030204" pitchFamily="34" charset="0"/>
                <a:ea typeface="Calibri" panose="020F0502020204030204" pitchFamily="34" charset="0"/>
                <a:cs typeface="Calibri" panose="020F0502020204030204" pitchFamily="34" charset="0"/>
              </a:rPr>
              <a:t> push it in the right direction.</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Fast updates: </a:t>
            </a:r>
            <a:r>
              <a:rPr lang="en-US" sz="1800" dirty="0">
                <a:latin typeface="Calibri" panose="020F0502020204030204" pitchFamily="34" charset="0"/>
                <a:ea typeface="Calibri" panose="020F0502020204030204" pitchFamily="34" charset="0"/>
                <a:cs typeface="Calibri" panose="020F0502020204030204" pitchFamily="34" charset="0"/>
              </a:rPr>
              <a:t>Each push (iteration) is quick, you don’t have to spend a lot of time figuring out how hard to push.</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Memory efficient: </a:t>
            </a:r>
            <a:r>
              <a:rPr lang="en-US" sz="1800" dirty="0">
                <a:latin typeface="Calibri" panose="020F0502020204030204" pitchFamily="34" charset="0"/>
                <a:ea typeface="Calibri" panose="020F0502020204030204" pitchFamily="34" charset="0"/>
                <a:cs typeface="Calibri" panose="020F0502020204030204" pitchFamily="34" charset="0"/>
              </a:rPr>
              <a:t>You don’t need a big backpack to carry around extra information, just the marble and your knowledge of the hill.</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Usually finds a good spot: </a:t>
            </a:r>
            <a:r>
              <a:rPr lang="en-US" sz="1800" dirty="0">
                <a:latin typeface="Calibri" panose="020F0502020204030204" pitchFamily="34" charset="0"/>
                <a:ea typeface="Calibri" panose="020F0502020204030204" pitchFamily="34" charset="0"/>
                <a:cs typeface="Calibri" panose="020F0502020204030204" pitchFamily="34" charset="0"/>
              </a:rPr>
              <a:t>Most of the time, the marble will end up in a pretty flat area, even if it’s not the absolute flattest (global minimum).</a:t>
            </a:r>
          </a:p>
        </p:txBody>
      </p:sp>
    </p:spTree>
    <p:extLst>
      <p:ext uri="{BB962C8B-B14F-4D97-AF65-F5344CB8AC3E}">
        <p14:creationId xmlns:p14="http://schemas.microsoft.com/office/powerpoint/2010/main" val="166156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CAE1F1B-3CA6-44CF-8779-108F08BB2FF6}"/>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32DD8B8-8737-3EBE-1F0A-AE2D2DA71D0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16</a:t>
            </a:r>
          </a:p>
        </p:txBody>
      </p:sp>
      <p:sp>
        <p:nvSpPr>
          <p:cNvPr id="2" name="Title 1">
            <a:extLst>
              <a:ext uri="{FF2B5EF4-FFF2-40B4-BE49-F238E27FC236}">
                <a16:creationId xmlns:a16="http://schemas.microsoft.com/office/drawing/2014/main" id="{72896774-8C41-8538-D471-BE117D65052F}"/>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Advantages and Disadvantages</a:t>
            </a:r>
          </a:p>
        </p:txBody>
      </p:sp>
      <p:sp>
        <p:nvSpPr>
          <p:cNvPr id="3" name="Rectangle 2">
            <a:extLst>
              <a:ext uri="{FF2B5EF4-FFF2-40B4-BE49-F238E27FC236}">
                <a16:creationId xmlns:a16="http://schemas.microsoft.com/office/drawing/2014/main" id="{9F558C1F-D962-E054-6AEB-6F9E290C639D}"/>
              </a:ext>
            </a:extLst>
          </p:cNvPr>
          <p:cNvSpPr/>
          <p:nvPr/>
        </p:nvSpPr>
        <p:spPr>
          <a:xfrm>
            <a:off x="254000" y="960986"/>
            <a:ext cx="8738961" cy="3788858"/>
          </a:xfrm>
          <a:prstGeom prst="rect">
            <a:avLst/>
          </a:prstGeom>
        </p:spPr>
        <p:txBody>
          <a:bodyPr wrap="square">
            <a:spAutoFit/>
          </a:bodyPr>
          <a:lstStyle/>
          <a:p>
            <a:pPr lvl="0" algn="just">
              <a:lnSpc>
                <a:spcPct val="150000"/>
              </a:lnSpc>
            </a:pPr>
            <a:r>
              <a:rPr lang="en-US" sz="1800" b="1" dirty="0">
                <a:latin typeface="Calibri" panose="020F0502020204030204" pitchFamily="34" charset="0"/>
                <a:ea typeface="Calibri" panose="020F0502020204030204" pitchFamily="34" charset="0"/>
                <a:cs typeface="Calibri" panose="020F0502020204030204" pitchFamily="34" charset="0"/>
              </a:rPr>
              <a:t>Disadvantages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Slow for giant hills (large datasets): </a:t>
            </a:r>
            <a:r>
              <a:rPr lang="en-US" sz="1800" dirty="0">
                <a:latin typeface="Calibri" panose="020F0502020204030204" pitchFamily="34" charset="0"/>
                <a:ea typeface="Calibri" panose="020F0502020204030204" pitchFamily="34" charset="0"/>
                <a:cs typeface="Calibri" panose="020F0502020204030204" pitchFamily="34" charset="0"/>
              </a:rPr>
              <a:t>If the hill is enormous, pushing the marble all the way down each time can be super slow. There are better ways to roll for these giants.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Can get stuck in shallow dips (local minima): </a:t>
            </a:r>
            <a:r>
              <a:rPr lang="en-US" sz="1800" dirty="0">
                <a:latin typeface="Calibri" panose="020F0502020204030204" pitchFamily="34" charset="0"/>
                <a:ea typeface="Calibri" panose="020F0502020204030204" pitchFamily="34" charset="0"/>
                <a:cs typeface="Calibri" panose="020F0502020204030204" pitchFamily="34" charset="0"/>
              </a:rPr>
              <a:t>The hill might have many dips, and the marble could get stuck in one that isn’t the absolute lowest. It depends on where you start pushing it from.</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Finding the perfect push (learning rate): </a:t>
            </a:r>
            <a:r>
              <a:rPr lang="en-US" sz="1800" dirty="0">
                <a:latin typeface="Calibri" panose="020F0502020204030204" pitchFamily="34" charset="0"/>
                <a:ea typeface="Calibri" panose="020F0502020204030204" pitchFamily="34" charset="0"/>
                <a:cs typeface="Calibri" panose="020F0502020204030204" pitchFamily="34" charset="0"/>
              </a:rPr>
              <a:t>You need to figure out how far to push the marble (learning rate). If you push too weakly, it’ll take forever to get anywhere. Push too hard, and it might roll right past the flat spot.</a:t>
            </a:r>
          </a:p>
        </p:txBody>
      </p:sp>
    </p:spTree>
    <p:extLst>
      <p:ext uri="{BB962C8B-B14F-4D97-AF65-F5344CB8AC3E}">
        <p14:creationId xmlns:p14="http://schemas.microsoft.com/office/powerpoint/2010/main" val="1172830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charRg st="14" end="19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charRg st="191" end="38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charRg st="385" end="6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D644162-513E-619E-D583-D7D9202AAD1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F641A10-1522-9E9C-0165-E7B0DAA2A35D}"/>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17</a:t>
            </a:r>
          </a:p>
        </p:txBody>
      </p:sp>
      <p:sp>
        <p:nvSpPr>
          <p:cNvPr id="2" name="Title 1">
            <a:extLst>
              <a:ext uri="{FF2B5EF4-FFF2-40B4-BE49-F238E27FC236}">
                <a16:creationId xmlns:a16="http://schemas.microsoft.com/office/drawing/2014/main" id="{050CB4E3-6477-772C-A928-968A980DA495}"/>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Challenges of Gradient Descent</a:t>
            </a:r>
          </a:p>
        </p:txBody>
      </p:sp>
      <p:sp>
        <p:nvSpPr>
          <p:cNvPr id="3" name="Rectangle 2">
            <a:extLst>
              <a:ext uri="{FF2B5EF4-FFF2-40B4-BE49-F238E27FC236}">
                <a16:creationId xmlns:a16="http://schemas.microsoft.com/office/drawing/2014/main" id="{9C216E94-F563-6B57-9159-CB0ADA65554B}"/>
              </a:ext>
            </a:extLst>
          </p:cNvPr>
          <p:cNvSpPr/>
          <p:nvPr/>
        </p:nvSpPr>
        <p:spPr>
          <a:xfrm>
            <a:off x="254000" y="960986"/>
            <a:ext cx="8738961"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Some of these challenges include:</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Local Optima: </a:t>
            </a:r>
            <a:r>
              <a:rPr lang="en-US" sz="1800" dirty="0">
                <a:latin typeface="Calibri" panose="020F0502020204030204" pitchFamily="34" charset="0"/>
                <a:ea typeface="Calibri" panose="020F0502020204030204" pitchFamily="34" charset="0"/>
                <a:cs typeface="Calibri" panose="020F0502020204030204" pitchFamily="34" charset="0"/>
              </a:rPr>
              <a:t>Gradient descent can converge to local optima instead of the global optimum, especially if the cost function has multiple peaks and valleys.</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Learning Rate Selection: </a:t>
            </a:r>
            <a:r>
              <a:rPr lang="en-US" sz="1800" dirty="0">
                <a:latin typeface="Calibri" panose="020F0502020204030204" pitchFamily="34" charset="0"/>
                <a:ea typeface="Calibri" panose="020F0502020204030204" pitchFamily="34" charset="0"/>
                <a:cs typeface="Calibri" panose="020F0502020204030204" pitchFamily="34" charset="0"/>
              </a:rPr>
              <a:t>The choice of learning rate can significantly impact the performance of gradient descent. If the learning rate is too high, the algorithm may overshoot the minimum, and if it is too low, the algorithm may take too long to converge.</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Overfitting: </a:t>
            </a:r>
            <a:r>
              <a:rPr lang="en-US" sz="1800" dirty="0">
                <a:latin typeface="Calibri" panose="020F0502020204030204" pitchFamily="34" charset="0"/>
                <a:ea typeface="Calibri" panose="020F0502020204030204" pitchFamily="34" charset="0"/>
                <a:cs typeface="Calibri" panose="020F0502020204030204" pitchFamily="34" charset="0"/>
              </a:rPr>
              <a:t>Gradient descent can overfit the training data if the model is too complex or the learning rate is too high. This can lead to poor generalization performance on new data.</a:t>
            </a:r>
          </a:p>
        </p:txBody>
      </p:sp>
    </p:spTree>
    <p:extLst>
      <p:ext uri="{BB962C8B-B14F-4D97-AF65-F5344CB8AC3E}">
        <p14:creationId xmlns:p14="http://schemas.microsoft.com/office/powerpoint/2010/main" val="3454113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129F4D6-1CF7-9690-34F4-63359CD206D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9611AFA-27EB-4616-2C22-71AAD9F184CA}"/>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18</a:t>
            </a:r>
          </a:p>
        </p:txBody>
      </p:sp>
      <p:sp>
        <p:nvSpPr>
          <p:cNvPr id="2" name="Title 1">
            <a:extLst>
              <a:ext uri="{FF2B5EF4-FFF2-40B4-BE49-F238E27FC236}">
                <a16:creationId xmlns:a16="http://schemas.microsoft.com/office/drawing/2014/main" id="{A7000BD6-9CFA-7847-1115-2906372910A8}"/>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Challenges of Gradient Descent</a:t>
            </a:r>
          </a:p>
        </p:txBody>
      </p:sp>
      <p:sp>
        <p:nvSpPr>
          <p:cNvPr id="3" name="Rectangle 2">
            <a:extLst>
              <a:ext uri="{FF2B5EF4-FFF2-40B4-BE49-F238E27FC236}">
                <a16:creationId xmlns:a16="http://schemas.microsoft.com/office/drawing/2014/main" id="{31696197-4341-DB59-E6FC-ED8CCB8649F3}"/>
              </a:ext>
            </a:extLst>
          </p:cNvPr>
          <p:cNvSpPr/>
          <p:nvPr/>
        </p:nvSpPr>
        <p:spPr>
          <a:xfrm>
            <a:off x="254000" y="960986"/>
            <a:ext cx="8738961"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Convergence Rate: </a:t>
            </a:r>
            <a:r>
              <a:rPr lang="en-US" sz="1800" dirty="0">
                <a:latin typeface="Calibri" panose="020F0502020204030204" pitchFamily="34" charset="0"/>
                <a:ea typeface="Calibri" panose="020F0502020204030204" pitchFamily="34" charset="0"/>
                <a:cs typeface="Calibri" panose="020F0502020204030204" pitchFamily="34" charset="0"/>
              </a:rPr>
              <a:t>The convergence rate of gradient descent can be slow for large datasets or high-dimensional spaces, making the algorithm computationally expensive.</a:t>
            </a:r>
          </a:p>
          <a:p>
            <a:pPr marL="285750" lvl="0" indent="-285750" algn="just">
              <a:lnSpc>
                <a:spcPct val="150000"/>
              </a:lnSpc>
              <a:buFont typeface="Wingdings" panose="05000000000000000000" pitchFamily="2" charset="2"/>
              <a:buChar char="Ø"/>
            </a:pPr>
            <a:r>
              <a:rPr lang="en-US" sz="1800" b="1" dirty="0">
                <a:latin typeface="Calibri" panose="020F0502020204030204" pitchFamily="34" charset="0"/>
                <a:ea typeface="Calibri" panose="020F0502020204030204" pitchFamily="34" charset="0"/>
                <a:cs typeface="Calibri" panose="020F0502020204030204" pitchFamily="34" charset="0"/>
              </a:rPr>
              <a:t>Saddle Points: </a:t>
            </a:r>
            <a:r>
              <a:rPr lang="en-US" sz="1800" dirty="0">
                <a:latin typeface="Calibri" panose="020F0502020204030204" pitchFamily="34" charset="0"/>
                <a:ea typeface="Calibri" panose="020F0502020204030204" pitchFamily="34" charset="0"/>
                <a:cs typeface="Calibri" panose="020F0502020204030204" pitchFamily="34" charset="0"/>
              </a:rPr>
              <a:t>In high-dimensional spaces, saddle points can cause the gradient of the cost function to get stuck in a plateau, preventing gradient descent from converging to a minimum.</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Researchers have developed several variations of gradient descent algorithms to overcome these challenges, such as adaptive learning rate, momentum-based, and second-order methods. Additionally, choosing the right regularization method, model architecture, and hyperparameters can also help improve the performance of the gradient descent algorithm.</a:t>
            </a:r>
          </a:p>
        </p:txBody>
      </p:sp>
    </p:spTree>
    <p:extLst>
      <p:ext uri="{BB962C8B-B14F-4D97-AF65-F5344CB8AC3E}">
        <p14:creationId xmlns:p14="http://schemas.microsoft.com/office/powerpoint/2010/main" val="1250634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B9D3DC3-8212-782D-9428-DC1DF835B1FC}"/>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7B33CB9E-F8B6-905A-8ED5-AE086E58C2E5}"/>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19</a:t>
            </a:r>
          </a:p>
        </p:txBody>
      </p:sp>
      <p:sp>
        <p:nvSpPr>
          <p:cNvPr id="2" name="Title 1">
            <a:extLst>
              <a:ext uri="{FF2B5EF4-FFF2-40B4-BE49-F238E27FC236}">
                <a16:creationId xmlns:a16="http://schemas.microsoft.com/office/drawing/2014/main" id="{EB75E584-04FD-A73F-99D1-A381C7EE29A0}"/>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Gradient Descent in Linear </a:t>
            </a:r>
            <a:r>
              <a:rPr lang="en-IN" sz="3000" b="1" dirty="0">
                <a:latin typeface="Calibri" panose="020F0502020204030204" pitchFamily="34" charset="0"/>
                <a:ea typeface="Calibri" panose="020F0502020204030204" pitchFamily="34" charset="0"/>
                <a:cs typeface="Calibri" panose="020F0502020204030204" pitchFamily="34" charset="0"/>
              </a:rPr>
              <a:t>Regression</a:t>
            </a:r>
            <a:endParaRPr lang="en-US" sz="3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F5FEF175-8056-9439-5DE7-4745C4914A4C}"/>
              </a:ext>
            </a:extLst>
          </p:cNvPr>
          <p:cNvSpPr/>
          <p:nvPr/>
        </p:nvSpPr>
        <p:spPr>
          <a:xfrm>
            <a:off x="254000" y="960986"/>
            <a:ext cx="8738961" cy="378885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Gradient descent minimizes the Mean Squared Error (MSE) which serves as the loss function to find the best-fit line.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Gradient Descent is used to iteratively update the weights (coefficients) and bias by computing the gradient of the MSE with respect to these parameters.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Since MSE is a convex function gradient descent guarantees convergence to the global minimum if the learning rate is appropriately chosen. For each iteration: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algorithm computes the gradient of the MSE with respect to the weights and biases.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It updates the weights (w) and bias (b) using the formula:</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Calculating the gradient of the log-loss with respect to the weights.</a:t>
            </a:r>
          </a:p>
        </p:txBody>
      </p:sp>
    </p:spTree>
    <p:extLst>
      <p:ext uri="{BB962C8B-B14F-4D97-AF65-F5344CB8AC3E}">
        <p14:creationId xmlns:p14="http://schemas.microsoft.com/office/powerpoint/2010/main" val="630430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5E9EFB8-FCB6-6DD3-139C-5447B284C50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7F95293-5388-819E-00DB-0D4E23DA172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20</a:t>
            </a:r>
          </a:p>
        </p:txBody>
      </p:sp>
      <p:sp>
        <p:nvSpPr>
          <p:cNvPr id="2" name="Title 1">
            <a:extLst>
              <a:ext uri="{FF2B5EF4-FFF2-40B4-BE49-F238E27FC236}">
                <a16:creationId xmlns:a16="http://schemas.microsoft.com/office/drawing/2014/main" id="{5639614C-E6AD-A630-BA1F-C8106F90618E}"/>
              </a:ext>
            </a:extLst>
          </p:cNvPr>
          <p:cNvSpPr txBox="1">
            <a:spLocks/>
          </p:cNvSpPr>
          <p:nvPr/>
        </p:nvSpPr>
        <p:spPr>
          <a:xfrm>
            <a:off x="87084"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3000" b="1" dirty="0">
                <a:latin typeface="Calibri" panose="020F0502020204030204" pitchFamily="34" charset="0"/>
                <a:ea typeface="Calibri" panose="020F0502020204030204" pitchFamily="34" charset="0"/>
                <a:cs typeface="Calibri" panose="020F0502020204030204" pitchFamily="34" charset="0"/>
              </a:rPr>
              <a:t>Gradient Descent in Linear </a:t>
            </a:r>
            <a:r>
              <a:rPr lang="en-IN" sz="3000" b="1" dirty="0">
                <a:latin typeface="Calibri" panose="020F0502020204030204" pitchFamily="34" charset="0"/>
                <a:ea typeface="Calibri" panose="020F0502020204030204" pitchFamily="34" charset="0"/>
                <a:cs typeface="Calibri" panose="020F0502020204030204" pitchFamily="34" charset="0"/>
              </a:rPr>
              <a:t>Regression</a:t>
            </a:r>
            <a:endParaRPr lang="en-US" sz="30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363DBE6B-BB05-7BA2-9009-D577A2A47641}"/>
              </a:ext>
            </a:extLst>
          </p:cNvPr>
          <p:cNvSpPr/>
          <p:nvPr/>
        </p:nvSpPr>
        <p:spPr>
          <a:xfrm>
            <a:off x="254000" y="960986"/>
            <a:ext cx="8738961"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Updating weights and biases iteratively to maximize the likelihood of the correct classification:</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For Weight,</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For Bias,</a:t>
            </a: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endParaRPr lang="en-US" sz="1800" dirty="0">
              <a:latin typeface="Calibri" panose="020F0502020204030204" pitchFamily="34" charset="0"/>
              <a:ea typeface="Calibri" panose="020F0502020204030204" pitchFamily="34" charset="0"/>
              <a:cs typeface="Calibri" panose="020F0502020204030204" pitchFamily="34" charset="0"/>
            </a:endParaRP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formula is the parameter update rule for gradient descent, which adjusts the weights w and biases b to minimize a cost function. </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This process iteratively adjusts the line's slope and intercept to minimize the error.</a:t>
            </a:r>
          </a:p>
        </p:txBody>
      </p:sp>
      <p:pic>
        <p:nvPicPr>
          <p:cNvPr id="5" name="Picture 4">
            <a:extLst>
              <a:ext uri="{FF2B5EF4-FFF2-40B4-BE49-F238E27FC236}">
                <a16:creationId xmlns:a16="http://schemas.microsoft.com/office/drawing/2014/main" id="{374368E9-560B-CC74-037E-2AEEEBDB39E9}"/>
              </a:ext>
            </a:extLst>
          </p:cNvPr>
          <p:cNvPicPr>
            <a:picLocks noChangeAspect="1"/>
          </p:cNvPicPr>
          <p:nvPr/>
        </p:nvPicPr>
        <p:blipFill>
          <a:blip r:embed="rId3"/>
          <a:stretch>
            <a:fillRect/>
          </a:stretch>
        </p:blipFill>
        <p:spPr>
          <a:xfrm>
            <a:off x="2387599" y="1894114"/>
            <a:ext cx="4458233" cy="924378"/>
          </a:xfrm>
          <a:prstGeom prst="rect">
            <a:avLst/>
          </a:prstGeom>
        </p:spPr>
      </p:pic>
      <p:pic>
        <p:nvPicPr>
          <p:cNvPr id="8" name="Picture 7">
            <a:extLst>
              <a:ext uri="{FF2B5EF4-FFF2-40B4-BE49-F238E27FC236}">
                <a16:creationId xmlns:a16="http://schemas.microsoft.com/office/drawing/2014/main" id="{59A93728-9DBD-FC8A-CE40-C3658AA2DE06}"/>
              </a:ext>
            </a:extLst>
          </p:cNvPr>
          <p:cNvPicPr>
            <a:picLocks noChangeAspect="1"/>
          </p:cNvPicPr>
          <p:nvPr/>
        </p:nvPicPr>
        <p:blipFill>
          <a:blip r:embed="rId4"/>
          <a:stretch>
            <a:fillRect/>
          </a:stretch>
        </p:blipFill>
        <p:spPr>
          <a:xfrm>
            <a:off x="2422897" y="2888437"/>
            <a:ext cx="4401164" cy="981212"/>
          </a:xfrm>
          <a:prstGeom prst="rect">
            <a:avLst/>
          </a:prstGeom>
        </p:spPr>
      </p:pic>
    </p:spTree>
    <p:extLst>
      <p:ext uri="{BB962C8B-B14F-4D97-AF65-F5344CB8AC3E}">
        <p14:creationId xmlns:p14="http://schemas.microsoft.com/office/powerpoint/2010/main" val="1325770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942DB27-E3BA-9739-00EA-45A212FA9634}"/>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7A670B3-FE73-5182-DB8C-9ACC90F7DABD}"/>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21</a:t>
            </a:r>
          </a:p>
        </p:txBody>
      </p:sp>
      <p:sp>
        <p:nvSpPr>
          <p:cNvPr id="2" name="Title 1">
            <a:extLst>
              <a:ext uri="{FF2B5EF4-FFF2-40B4-BE49-F238E27FC236}">
                <a16:creationId xmlns:a16="http://schemas.microsoft.com/office/drawing/2014/main" id="{E84F97FA-EC63-EDD0-3F9E-9D6E079FC1F7}"/>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Applications of the Topic</a:t>
            </a:r>
          </a:p>
        </p:txBody>
      </p:sp>
      <p:sp>
        <p:nvSpPr>
          <p:cNvPr id="3" name="Rectangle 2">
            <a:extLst>
              <a:ext uri="{FF2B5EF4-FFF2-40B4-BE49-F238E27FC236}">
                <a16:creationId xmlns:a16="http://schemas.microsoft.com/office/drawing/2014/main" id="{AC4933E1-3A88-D50F-E6E4-1FB3E7A79734}"/>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Here are applications: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Training regression models (linear, logistic) by minimizing loss functions.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Optimizing parameters of neural networks and deep learning models.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Training models on very large datasets where full batch processing is expensive.</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Online / streaming learning where data arrives continuously (e.g., click prediction, ads).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Training deep learning models (CNNs, RNNs etc.) on image, text, and speech data.</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Practical training of deep learning models using batches (e.g., 32/64/128 samples).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Efficient use of GPUs/TPUs through vectorized operations over mini-batches.</a:t>
            </a:r>
          </a:p>
          <a:p>
            <a:pPr marL="28575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Achieving a balance between speed (like SGD) and stability (like batch GD) in convergence.</a:t>
            </a:r>
          </a:p>
        </p:txBody>
      </p:sp>
    </p:spTree>
    <p:extLst>
      <p:ext uri="{BB962C8B-B14F-4D97-AF65-F5344CB8AC3E}">
        <p14:creationId xmlns:p14="http://schemas.microsoft.com/office/powerpoint/2010/main" val="57932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4F1C1FB-C899-5DBE-C42F-B1D10C95C32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CE59AD7-C1A8-1276-52A6-379528A20A2E}"/>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22</a:t>
            </a:r>
          </a:p>
        </p:txBody>
      </p:sp>
      <p:sp>
        <p:nvSpPr>
          <p:cNvPr id="2" name="Title 1">
            <a:extLst>
              <a:ext uri="{FF2B5EF4-FFF2-40B4-BE49-F238E27FC236}">
                <a16:creationId xmlns:a16="http://schemas.microsoft.com/office/drawing/2014/main" id="{65625B2D-5E70-705A-DA8E-AA76A0A61FA6}"/>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Summary of the Lecture</a:t>
            </a:r>
          </a:p>
        </p:txBody>
      </p:sp>
      <p:sp>
        <p:nvSpPr>
          <p:cNvPr id="3" name="Rectangle 2">
            <a:extLst>
              <a:ext uri="{FF2B5EF4-FFF2-40B4-BE49-F238E27FC236}">
                <a16:creationId xmlns:a16="http://schemas.microsoft.com/office/drawing/2014/main" id="{8EC0002B-FFFF-77E6-EC94-99CFC49F336E}"/>
              </a:ext>
            </a:extLst>
          </p:cNvPr>
          <p:cNvSpPr/>
          <p:nvPr/>
        </p:nvSpPr>
        <p:spPr>
          <a:xfrm>
            <a:off x="254001" y="939215"/>
            <a:ext cx="8639575" cy="4204356"/>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The lecture discussed gradient descent and its variants as key techniques for optimizing machine learning models. Gradient descent minimizes error by updating parameters using the full dataset but can be slow for large data. Stochastic Gradient Descent speeds up training by updating parameters using one sample at a time, though it is noisier. Mini-Batch Gradient Descent offers a balance by using small batches, making training faster and more stable. Overall, the lecture highlighted how these methods differ in speed, stability, and suitability for large datasets.</a:t>
            </a:r>
          </a:p>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Mini-Batch Gradient Descent was discussed as a balanced approach that processes small groups of samples at each step, offering faster computation than batch GD while maintaining more stable convergence than SGD. </a:t>
            </a:r>
          </a:p>
        </p:txBody>
      </p:sp>
    </p:spTree>
    <p:extLst>
      <p:ext uri="{BB962C8B-B14F-4D97-AF65-F5344CB8AC3E}">
        <p14:creationId xmlns:p14="http://schemas.microsoft.com/office/powerpoint/2010/main" val="4214833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6E56EA3-16F5-E76E-14E4-37F3EB84294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38A45607-6A54-9997-9F78-69F2A1F673C9}"/>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23</a:t>
            </a:r>
          </a:p>
        </p:txBody>
      </p:sp>
      <p:sp>
        <p:nvSpPr>
          <p:cNvPr id="2" name="Title 1">
            <a:extLst>
              <a:ext uri="{FF2B5EF4-FFF2-40B4-BE49-F238E27FC236}">
                <a16:creationId xmlns:a16="http://schemas.microsoft.com/office/drawing/2014/main" id="{D86599D1-32E9-56EA-04F7-5C299DA2C714}"/>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Next Lecture</a:t>
            </a:r>
          </a:p>
        </p:txBody>
      </p:sp>
      <p:sp>
        <p:nvSpPr>
          <p:cNvPr id="3" name="Rectangle 2">
            <a:extLst>
              <a:ext uri="{FF2B5EF4-FFF2-40B4-BE49-F238E27FC236}">
                <a16:creationId xmlns:a16="http://schemas.microsoft.com/office/drawing/2014/main" id="{D118AC76-7B90-6FF0-0952-01F49F273CF9}"/>
              </a:ext>
            </a:extLst>
          </p:cNvPr>
          <p:cNvSpPr/>
          <p:nvPr/>
        </p:nvSpPr>
        <p:spPr>
          <a:xfrm>
            <a:off x="254001" y="939215"/>
            <a:ext cx="8639575" cy="2796278"/>
          </a:xfrm>
          <a:prstGeom prst="rect">
            <a:avLst/>
          </a:prstGeom>
        </p:spPr>
        <p:txBody>
          <a:bodyPr wrap="square">
            <a:spAutoFit/>
          </a:bodyPr>
          <a:lstStyle/>
          <a:p>
            <a:pPr marL="285750" lvl="0" indent="-285750" algn="just">
              <a:lnSpc>
                <a:spcPct val="150000"/>
              </a:lnSpc>
              <a:buFont typeface="Wingdings" panose="05000000000000000000" pitchFamily="2" charset="2"/>
              <a:buChar char="Ø"/>
            </a:pPr>
            <a:r>
              <a:rPr lang="en-US" sz="1800" dirty="0">
                <a:latin typeface="Calibri" panose="020F0502020204030204" pitchFamily="34" charset="0"/>
                <a:ea typeface="Calibri" panose="020F0502020204030204" pitchFamily="34" charset="0"/>
                <a:cs typeface="Calibri" panose="020F0502020204030204" pitchFamily="34" charset="0"/>
              </a:rPr>
              <a:t>In next lecture, we are going to cover:</a:t>
            </a:r>
          </a:p>
          <a:p>
            <a:pPr marL="285750" lvl="0" indent="-285750" algn="just">
              <a:lnSpc>
                <a:spcPct val="150000"/>
              </a:lnSpc>
              <a:buFont typeface="Wingdings" panose="05000000000000000000" pitchFamily="2" charset="2"/>
              <a:buChar char="Ø"/>
            </a:pPr>
            <a:endParaRPr lang="en-US" sz="1100" dirty="0">
              <a:latin typeface="Calibri" panose="020F0502020204030204" pitchFamily="34" charset="0"/>
              <a:ea typeface="Calibri" panose="020F0502020204030204" pitchFamily="34" charset="0"/>
              <a:cs typeface="Calibri" panose="020F0502020204030204" pitchFamily="34" charset="0"/>
            </a:endParaRPr>
          </a:p>
          <a:p>
            <a:pPr marL="536575" lvl="0" indent="-198438" algn="just">
              <a:lnSpc>
                <a:spcPct val="150000"/>
              </a:lnSpc>
              <a:buFont typeface="Arial" panose="020B0604020202020204" pitchFamily="34" charset="0"/>
              <a:buChar char="•"/>
            </a:pPr>
            <a:r>
              <a:rPr lang="fr-FR" sz="1800" dirty="0">
                <a:latin typeface="Calibri" panose="020F0502020204030204" pitchFamily="34" charset="0"/>
                <a:ea typeface="Calibri" panose="020F0502020204030204" pitchFamily="34" charset="0"/>
                <a:cs typeface="Calibri" panose="020F0502020204030204" pitchFamily="34" charset="0"/>
              </a:rPr>
              <a:t>Discrete Probability Distributions</a:t>
            </a:r>
          </a:p>
          <a:p>
            <a:pPr marL="536575" lvl="0" indent="-198438" algn="just">
              <a:lnSpc>
                <a:spcPct val="150000"/>
              </a:lnSpc>
              <a:buFont typeface="Arial" panose="020B0604020202020204" pitchFamily="34" charset="0"/>
              <a:buChar char="•"/>
            </a:pPr>
            <a:r>
              <a:rPr lang="fr-FR" sz="1800" dirty="0">
                <a:latin typeface="Calibri" panose="020F0502020204030204" pitchFamily="34" charset="0"/>
                <a:ea typeface="Calibri" panose="020F0502020204030204" pitchFamily="34" charset="0"/>
                <a:cs typeface="Calibri" panose="020F0502020204030204" pitchFamily="34" charset="0"/>
              </a:rPr>
              <a:t>Continuous Probability Distributions</a:t>
            </a:r>
          </a:p>
          <a:p>
            <a:pPr marL="536575" lvl="0" indent="-198438" algn="just">
              <a:lnSpc>
                <a:spcPct val="150000"/>
              </a:lnSpc>
              <a:buFont typeface="Arial" panose="020B0604020202020204" pitchFamily="34" charset="0"/>
              <a:buChar char="•"/>
            </a:pPr>
            <a:r>
              <a:rPr lang="fr-FR" sz="1800" dirty="0">
                <a:latin typeface="Calibri" panose="020F0502020204030204" pitchFamily="34" charset="0"/>
                <a:ea typeface="Calibri" panose="020F0502020204030204" pitchFamily="34" charset="0"/>
                <a:cs typeface="Calibri" panose="020F0502020204030204" pitchFamily="34" charset="0"/>
              </a:rPr>
              <a:t>Normal Distribution and T Distributions</a:t>
            </a:r>
          </a:p>
          <a:p>
            <a:pPr marL="536575" lvl="0" indent="-198438" algn="just">
              <a:lnSpc>
                <a:spcPct val="150000"/>
              </a:lnSpc>
              <a:buFont typeface="Arial" panose="020B0604020202020204" pitchFamily="34" charset="0"/>
              <a:buChar char="•"/>
            </a:pPr>
            <a:r>
              <a:rPr lang="fr-FR" sz="1800" dirty="0">
                <a:latin typeface="Calibri" panose="020F0502020204030204" pitchFamily="34" charset="0"/>
                <a:ea typeface="Calibri" panose="020F0502020204030204" pitchFamily="34" charset="0"/>
                <a:cs typeface="Calibri" panose="020F0502020204030204" pitchFamily="34" charset="0"/>
              </a:rPr>
              <a:t>RSE and R2</a:t>
            </a:r>
          </a:p>
          <a:p>
            <a:pPr lvl="0" algn="just">
              <a:lnSpc>
                <a:spcPct val="150000"/>
              </a:lnSpc>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94356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E035788-6F59-DCF3-2897-BC56C4CEB92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89FB0CA-6899-88FD-503C-2C28AD374E57}"/>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24</a:t>
            </a:r>
          </a:p>
        </p:txBody>
      </p:sp>
      <p:sp>
        <p:nvSpPr>
          <p:cNvPr id="2" name="Title 1">
            <a:extLst>
              <a:ext uri="{FF2B5EF4-FFF2-40B4-BE49-F238E27FC236}">
                <a16:creationId xmlns:a16="http://schemas.microsoft.com/office/drawing/2014/main" id="{294DB9DE-E12E-9A84-B19B-87EFEE3B7869}"/>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Quiz/ FAQ’s</a:t>
            </a:r>
          </a:p>
        </p:txBody>
      </p:sp>
      <p:sp>
        <p:nvSpPr>
          <p:cNvPr id="3" name="Rectangle 2">
            <a:extLst>
              <a:ext uri="{FF2B5EF4-FFF2-40B4-BE49-F238E27FC236}">
                <a16:creationId xmlns:a16="http://schemas.microsoft.com/office/drawing/2014/main" id="{B0927368-5887-20F7-C08C-383823E01449}"/>
              </a:ext>
            </a:extLst>
          </p:cNvPr>
          <p:cNvSpPr/>
          <p:nvPr/>
        </p:nvSpPr>
        <p:spPr>
          <a:xfrm>
            <a:off x="252212" y="1156929"/>
            <a:ext cx="8639575" cy="3788858"/>
          </a:xfrm>
          <a:prstGeom prst="rect">
            <a:avLst/>
          </a:prstGeom>
        </p:spPr>
        <p:txBody>
          <a:bodyPr wrap="square">
            <a:spAutoFit/>
          </a:bodyPr>
          <a:lstStyle/>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Define maxima and minima for a function of several variables.</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Explain the condition for local maxima/minima using partial derivatives.</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What is the Hessian matrix and how is it used in optimization?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What is a convex function? Give its mathematical definition.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Why is convexity important in machine learning?</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Explain how convexity ensures the existence of a global minimum.</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Derive the normal equations for linear regression.</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State the formula for computing regression coefficients using normal equations.</a:t>
            </a:r>
          </a:p>
          <a:p>
            <a:pPr marL="342900" lvl="0" indent="-342900" algn="just">
              <a:lnSpc>
                <a:spcPct val="150000"/>
              </a:lnSpc>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Compare gradient descent and normal equation methods.</a:t>
            </a:r>
          </a:p>
        </p:txBody>
      </p:sp>
    </p:spTree>
    <p:extLst>
      <p:ext uri="{BB962C8B-B14F-4D97-AF65-F5344CB8AC3E}">
        <p14:creationId xmlns:p14="http://schemas.microsoft.com/office/powerpoint/2010/main" val="735338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4C8FAA3-8A72-FCD2-A3A9-059A1C150C7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CEADB68-92EB-1164-3301-82219E06EE4F}"/>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25</a:t>
            </a:r>
          </a:p>
        </p:txBody>
      </p:sp>
      <p:sp>
        <p:nvSpPr>
          <p:cNvPr id="2" name="Title 1">
            <a:extLst>
              <a:ext uri="{FF2B5EF4-FFF2-40B4-BE49-F238E27FC236}">
                <a16:creationId xmlns:a16="http://schemas.microsoft.com/office/drawing/2014/main" id="{BD989C70-81BD-824C-D52A-A8BE3A38777E}"/>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References/ Articles/ Videos</a:t>
            </a:r>
          </a:p>
        </p:txBody>
      </p:sp>
      <p:graphicFrame>
        <p:nvGraphicFramePr>
          <p:cNvPr id="4" name="Table 3">
            <a:extLst>
              <a:ext uri="{FF2B5EF4-FFF2-40B4-BE49-F238E27FC236}">
                <a16:creationId xmlns:a16="http://schemas.microsoft.com/office/drawing/2014/main" id="{AC276061-E2FC-9825-D1CF-3706195FC13C}"/>
              </a:ext>
            </a:extLst>
          </p:cNvPr>
          <p:cNvGraphicFramePr>
            <a:graphicFrameLocks noGrp="1"/>
          </p:cNvGraphicFramePr>
          <p:nvPr>
            <p:extLst>
              <p:ext uri="{D42A27DB-BD31-4B8C-83A1-F6EECF244321}">
                <p14:modId xmlns:p14="http://schemas.microsoft.com/office/powerpoint/2010/main" val="2950123059"/>
              </p:ext>
            </p:extLst>
          </p:nvPr>
        </p:nvGraphicFramePr>
        <p:xfrm>
          <a:off x="311150" y="1167945"/>
          <a:ext cx="8521700" cy="3662338"/>
        </p:xfrm>
        <a:graphic>
          <a:graphicData uri="http://schemas.openxmlformats.org/drawingml/2006/table">
            <a:tbl>
              <a:tblPr>
                <a:tableStyleId>{97377635-EB9D-4884-B79A-0D259F93817B}</a:tableStyleId>
              </a:tblPr>
              <a:tblGrid>
                <a:gridCol w="617764">
                  <a:extLst>
                    <a:ext uri="{9D8B030D-6E8A-4147-A177-3AD203B41FA5}">
                      <a16:colId xmlns:a16="http://schemas.microsoft.com/office/drawing/2014/main" val="2462611782"/>
                    </a:ext>
                  </a:extLst>
                </a:gridCol>
                <a:gridCol w="7903936">
                  <a:extLst>
                    <a:ext uri="{9D8B030D-6E8A-4147-A177-3AD203B41FA5}">
                      <a16:colId xmlns:a16="http://schemas.microsoft.com/office/drawing/2014/main" val="3473227875"/>
                    </a:ext>
                  </a:extLst>
                </a:gridCol>
              </a:tblGrid>
              <a:tr h="341314">
                <a:tc gridSpan="2">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Text/ Reference Books</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hMerge="1">
                  <a:txBody>
                    <a:bodyPr/>
                    <a:lstStyle/>
                    <a:p>
                      <a:endParaRPr lang="en-IN"/>
                    </a:p>
                  </a:txBody>
                  <a:tcPr/>
                </a:tc>
                <a:extLst>
                  <a:ext uri="{0D108BD9-81ED-4DB2-BD59-A6C34878D82A}">
                    <a16:rowId xmlns:a16="http://schemas.microsoft.com/office/drawing/2014/main" val="730715912"/>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T1</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Massaron</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L., &amp; Boschetti, A. (2016). Regression analysis with Python. </a:t>
                      </a: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Packt</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Publishing Ltd.</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851104895"/>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T2</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Jajuga</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700643724"/>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T3</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Bishop, C. M., &amp; Bishop, H. (2023). Deep learning: Foundations and concepts. Springer Nature.</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4140295978"/>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R1</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Matloff, N. (2017). Statistical regression and classification: from linear models to machine learning. Chapman and Hall/CRC.</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45350956"/>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R2</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Jajuga</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K., Sokolowski, A., &amp; Bock, H. H. (Eds.). (2012). Classification, clustering, and data analysis: recent advances and applications.</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992068614"/>
                  </a:ext>
                </a:extLst>
              </a:tr>
              <a:tr h="420952">
                <a:tc>
                  <a:txBody>
                    <a:bodyPr/>
                    <a:lstStyle/>
                    <a:p>
                      <a:pPr algn="ctr" fontAlgn="ctr">
                        <a:buNone/>
                      </a:pPr>
                      <a:r>
                        <a:rPr lang="en-IN" sz="1800" b="1"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R3</a:t>
                      </a:r>
                      <a:endParaRPr lang="en-IN" sz="1800" b="1"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algn="l" fontAlgn="ctr">
                        <a:buNone/>
                      </a:pP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Vishnoi</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 V. K., Chauhan, N. R., &amp; Kumar, K. (2024). An introduction to deep learning. </a:t>
                      </a:r>
                      <a:r>
                        <a:rPr lang="en-US" sz="1800" u="none" strike="noStrike" dirty="0" err="1">
                          <a:solidFill>
                            <a:schemeClr val="bg2"/>
                          </a:solidFill>
                          <a:effectLst/>
                          <a:latin typeface="Calibri" panose="020F0502020204030204" pitchFamily="34" charset="0"/>
                          <a:ea typeface="Calibri" panose="020F0502020204030204" pitchFamily="34" charset="0"/>
                          <a:cs typeface="Calibri" panose="020F0502020204030204" pitchFamily="34" charset="0"/>
                        </a:rPr>
                        <a:t>Xoffencerpublication</a:t>
                      </a:r>
                      <a:r>
                        <a:rPr lang="en-US" sz="180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rPr>
                        <a:t>.</a:t>
                      </a:r>
                      <a:endParaRPr lang="en-US" sz="1800" b="0" i="0" u="none" strike="noStrike" dirty="0">
                        <a:solidFill>
                          <a:schemeClr val="bg2"/>
                        </a:solidFill>
                        <a:effectLst/>
                        <a:latin typeface="Calibri" panose="020F0502020204030204" pitchFamily="34" charset="0"/>
                        <a:ea typeface="Calibri" panose="020F0502020204030204" pitchFamily="34" charset="0"/>
                        <a:cs typeface="Calibri" panose="020F0502020204030204" pitchFamily="34" charset="0"/>
                      </a:endParaRPr>
                    </a:p>
                  </a:txBody>
                  <a:tcPr marL="4864" marR="4864" marT="4864" marB="0"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100232723"/>
                  </a:ext>
                </a:extLst>
              </a:tr>
            </a:tbl>
          </a:graphicData>
        </a:graphic>
      </p:graphicFrame>
    </p:spTree>
    <p:extLst>
      <p:ext uri="{BB962C8B-B14F-4D97-AF65-F5344CB8AC3E}">
        <p14:creationId xmlns:p14="http://schemas.microsoft.com/office/powerpoint/2010/main" val="15905816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2F170DA-4FB0-780A-165F-96871258C4A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16FD4E1-DE68-EDFC-57AF-3025781CAD01}"/>
              </a:ext>
            </a:extLst>
          </p:cNvPr>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26</a:t>
            </a:r>
          </a:p>
        </p:txBody>
      </p:sp>
      <p:sp>
        <p:nvSpPr>
          <p:cNvPr id="2" name="Title 1">
            <a:extLst>
              <a:ext uri="{FF2B5EF4-FFF2-40B4-BE49-F238E27FC236}">
                <a16:creationId xmlns:a16="http://schemas.microsoft.com/office/drawing/2014/main" id="{629AD58F-AFA5-005A-FEC5-E7F0E57D909C}"/>
              </a:ext>
            </a:extLst>
          </p:cNvPr>
          <p:cNvSpPr txBox="1">
            <a:spLocks/>
          </p:cNvSpPr>
          <p:nvPr/>
        </p:nvSpPr>
        <p:spPr>
          <a:xfrm>
            <a:off x="653144" y="65313"/>
            <a:ext cx="8040914" cy="806675"/>
          </a:xfrm>
          <a:prstGeom prst="rect">
            <a:avLst/>
          </a:prstGeom>
        </p:spPr>
        <p:txBody>
          <a:bodyPr>
            <a:normAutofit fontScale="700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4000" b="1" dirty="0">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sp>
        <p:nvSpPr>
          <p:cNvPr id="3" name="Rectangle 2">
            <a:extLst>
              <a:ext uri="{FF2B5EF4-FFF2-40B4-BE49-F238E27FC236}">
                <a16:creationId xmlns:a16="http://schemas.microsoft.com/office/drawing/2014/main" id="{54DF2A59-6EAD-B15A-4AA6-7257F44129B9}"/>
              </a:ext>
            </a:extLst>
          </p:cNvPr>
          <p:cNvSpPr/>
          <p:nvPr/>
        </p:nvSpPr>
        <p:spPr>
          <a:xfrm>
            <a:off x="254001" y="939215"/>
            <a:ext cx="8639575" cy="4204869"/>
          </a:xfrm>
          <a:prstGeom prst="rect">
            <a:avLst/>
          </a:prstGeom>
        </p:spPr>
        <p:txBody>
          <a:bodyPr wrap="square">
            <a:spAutoFit/>
          </a:bodyPr>
          <a:lstStyle/>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3"/>
              </a:rPr>
              <a:t>https://www.geeksforgeeks.org/machine-learning/gradient-descent-algorithm-and-its-variants/</a:t>
            </a:r>
            <a:endParaRPr lang="en-US" sz="1700" dirty="0">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hlinkClick r:id="rId4"/>
              </a:rPr>
              <a:t>https://www.analyticsvidhya.com/blog/2020/10/how-does-the-gradient-descent-algorithm-work-in-machine-learning/</a:t>
            </a:r>
            <a:endParaRPr lang="en-US" sz="1700" dirty="0">
              <a:latin typeface="Calibri" panose="020F0502020204030204" pitchFamily="34" charset="0"/>
              <a:ea typeface="Calibri" panose="020F0502020204030204" pitchFamily="34" charset="0"/>
              <a:cs typeface="Calibri" panose="020F0502020204030204" pitchFamily="34" charset="0"/>
            </a:endParaRP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https://www.coursera.org/learn/ismdl?source=admin-share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https://www.coursera.org/learn/ai-for-real-world-intelligence-systems?source=admin-share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https://www.coursera.org/learn/ai-for-real-world-intelligence-systems?source=admin-share</a:t>
            </a:r>
          </a:p>
          <a:p>
            <a:pPr marL="342900" lvl="0" indent="-342900" algn="just">
              <a:lnSpc>
                <a:spcPct val="200000"/>
              </a:lnSpc>
              <a:buFont typeface="+mj-lt"/>
              <a:buAutoNum type="arabicPeriod"/>
            </a:pPr>
            <a:r>
              <a:rPr lang="en-US" sz="1700" dirty="0">
                <a:latin typeface="Calibri" panose="020F0502020204030204" pitchFamily="34" charset="0"/>
                <a:ea typeface="Calibri" panose="020F0502020204030204" pitchFamily="34" charset="0"/>
                <a:cs typeface="Calibri" panose="020F0502020204030204" pitchFamily="34" charset="0"/>
              </a:rPr>
              <a:t>https://www.coursera.org/learn/deep-learning-applications-in-vision?source=admin-share</a:t>
            </a:r>
          </a:p>
        </p:txBody>
      </p:sp>
    </p:spTree>
    <p:extLst>
      <p:ext uri="{BB962C8B-B14F-4D97-AF65-F5344CB8AC3E}">
        <p14:creationId xmlns:p14="http://schemas.microsoft.com/office/powerpoint/2010/main" val="42831198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0" y="4569812"/>
            <a:ext cx="9144000" cy="573688"/>
          </a:xfrm>
          <a:prstGeom prst="rect">
            <a:avLst/>
          </a:prstGeom>
          <a:noFill/>
          <a:ln>
            <a:noFill/>
          </a:ln>
        </p:spPr>
        <p:txBody>
          <a:bodyPr spcFirstLastPara="1" wrap="square" lIns="91425" tIns="45700" rIns="91425" bIns="45700" anchor="t" anchorCtr="0">
            <a:normAutofit/>
          </a:bodyPr>
          <a:lstStyle/>
          <a:p>
            <a:pPr marL="342900" indent="-342900" algn="just">
              <a:lnSpc>
                <a:spcPct val="100000"/>
              </a:lnSpc>
              <a:spcBef>
                <a:spcPts val="0"/>
              </a:spcBef>
              <a:buNone/>
            </a:pPr>
            <a:r>
              <a:rPr lang="en-US" sz="2600" b="0"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 	</a:t>
            </a:r>
            <a:r>
              <a:rPr lang="en-US" sz="2600" b="1"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Note: </a:t>
            </a:r>
            <a:r>
              <a:rPr lang="en-US" sz="2600" b="0"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rPr>
              <a:t>Scan this QR code to provide anonymous feedback.</a:t>
            </a:r>
            <a:endParaRPr sz="2400" b="1" i="0" u="none" strike="noStrike" cap="none" dirty="0">
              <a:solidFill>
                <a:schemeClr val="bg2"/>
              </a:solidFill>
              <a:latin typeface="Times New Roman"/>
              <a:ea typeface="Times New Roman"/>
              <a:cs typeface="Times New Roman"/>
              <a:sym typeface="Times New Roman"/>
            </a:endParaRPr>
          </a:p>
        </p:txBody>
      </p:sp>
      <p:sp>
        <p:nvSpPr>
          <p:cNvPr id="6" name="TextBox 5"/>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27</a:t>
            </a:r>
          </a:p>
        </p:txBody>
      </p:sp>
      <p:pic>
        <p:nvPicPr>
          <p:cNvPr id="3" name="Picture 2">
            <a:extLst>
              <a:ext uri="{FF2B5EF4-FFF2-40B4-BE49-F238E27FC236}">
                <a16:creationId xmlns:a16="http://schemas.microsoft.com/office/drawing/2014/main" id="{638C0E15-F736-DB2F-B389-5746B3632B42}"/>
              </a:ext>
            </a:extLst>
          </p:cNvPr>
          <p:cNvPicPr>
            <a:picLocks noChangeAspect="1"/>
          </p:cNvPicPr>
          <p:nvPr/>
        </p:nvPicPr>
        <p:blipFill>
          <a:blip r:embed="rId3"/>
          <a:stretch>
            <a:fillRect/>
          </a:stretch>
        </p:blipFill>
        <p:spPr>
          <a:xfrm>
            <a:off x="2714172" y="684476"/>
            <a:ext cx="4354285" cy="3887549"/>
          </a:xfrm>
          <a:prstGeom prst="rect">
            <a:avLst/>
          </a:prstGeom>
        </p:spPr>
      </p:pic>
    </p:spTree>
    <p:extLst>
      <p:ext uri="{BB962C8B-B14F-4D97-AF65-F5344CB8AC3E}">
        <p14:creationId xmlns:p14="http://schemas.microsoft.com/office/powerpoint/2010/main" val="3217963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0" y="1669143"/>
            <a:ext cx="9144000" cy="1685036"/>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115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3948192"/>
            <a:ext cx="4572000" cy="707886"/>
          </a:xfrm>
          <a:prstGeom prst="rect">
            <a:avLst/>
          </a:prstGeom>
          <a:noFill/>
        </p:spPr>
        <p:txBody>
          <a:bodyPr wrap="square">
            <a:spAutoFit/>
          </a:bodyPr>
          <a:lstStyle/>
          <a:p>
            <a:r>
              <a:rPr lang="en-US" sz="2000" b="1" dirty="0">
                <a:latin typeface="Calibri" panose="020F0502020204030204" pitchFamily="34" charset="0"/>
                <a:ea typeface="Calibri" panose="020F0502020204030204" pitchFamily="34" charset="0"/>
                <a:cs typeface="Calibri" panose="020F0502020204030204" pitchFamily="34" charset="0"/>
              </a:rPr>
              <a:t>For queries</a:t>
            </a:r>
          </a:p>
          <a:p>
            <a:r>
              <a:rPr lang="en-US" sz="2000" b="1" dirty="0">
                <a:latin typeface="Calibri" panose="020F0502020204030204" pitchFamily="34" charset="0"/>
                <a:ea typeface="Calibri" panose="020F0502020204030204" pitchFamily="34" charset="0"/>
                <a:cs typeface="Calibri" panose="020F0502020204030204" pitchFamily="34" charset="0"/>
              </a:rPr>
              <a:t>Email: </a:t>
            </a:r>
            <a:r>
              <a:rPr lang="en-US" sz="2000" dirty="0">
                <a:latin typeface="Calibri" panose="020F0502020204030204" pitchFamily="34" charset="0"/>
                <a:ea typeface="Calibri" panose="020F0502020204030204" pitchFamily="34" charset="0"/>
                <a:cs typeface="Calibri" panose="020F0502020204030204" pitchFamily="34" charset="0"/>
              </a:rPr>
              <a:t>siddharth.e12853@cumail.in</a:t>
            </a:r>
          </a:p>
        </p:txBody>
      </p:sp>
      <p:sp>
        <p:nvSpPr>
          <p:cNvPr id="5" name="TextBox 4"/>
          <p:cNvSpPr txBox="1"/>
          <p:nvPr/>
        </p:nvSpPr>
        <p:spPr>
          <a:xfrm>
            <a:off x="8609524" y="85987"/>
            <a:ext cx="383438"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28</a:t>
            </a: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1210</TotalTime>
  <Words>2827</Words>
  <Application>Microsoft Office PowerPoint</Application>
  <PresentationFormat>On-screen Show (16:9)</PresentationFormat>
  <Paragraphs>230</Paragraphs>
  <Slides>29</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Times New Roman</vt:lpstr>
      <vt:lpstr>Cambria</vt:lpstr>
      <vt:lpstr>Calibri</vt:lpstr>
      <vt:lpstr>Vladimir Script</vt:lpstr>
      <vt:lpstr>Wingdings</vt:lpstr>
      <vt:lpstr>Arial</vt:lpstr>
      <vt:lpstr>Lato</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Siddharth Kumar</cp:lastModifiedBy>
  <cp:revision>272</cp:revision>
  <dcterms:modified xsi:type="dcterms:W3CDTF">2025-12-05T08:21:47Z</dcterms:modified>
</cp:coreProperties>
</file>