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6"/>
  </p:notesMasterIdLst>
  <p:handoutMasterIdLst>
    <p:handoutMasterId r:id="rId37"/>
  </p:handoutMasterIdLst>
  <p:sldIdLst>
    <p:sldId id="256" r:id="rId2"/>
    <p:sldId id="395" r:id="rId3"/>
    <p:sldId id="308" r:id="rId4"/>
    <p:sldId id="309" r:id="rId5"/>
    <p:sldId id="310" r:id="rId6"/>
    <p:sldId id="311" r:id="rId7"/>
    <p:sldId id="312" r:id="rId8"/>
    <p:sldId id="440" r:id="rId9"/>
    <p:sldId id="441" r:id="rId10"/>
    <p:sldId id="442" r:id="rId11"/>
    <p:sldId id="443" r:id="rId12"/>
    <p:sldId id="444" r:id="rId13"/>
    <p:sldId id="445" r:id="rId14"/>
    <p:sldId id="446" r:id="rId15"/>
    <p:sldId id="447" r:id="rId16"/>
    <p:sldId id="448" r:id="rId17"/>
    <p:sldId id="452" r:id="rId18"/>
    <p:sldId id="449" r:id="rId19"/>
    <p:sldId id="450" r:id="rId20"/>
    <p:sldId id="453" r:id="rId21"/>
    <p:sldId id="451" r:id="rId22"/>
    <p:sldId id="461" r:id="rId23"/>
    <p:sldId id="454" r:id="rId24"/>
    <p:sldId id="462" r:id="rId25"/>
    <p:sldId id="455" r:id="rId26"/>
    <p:sldId id="370" r:id="rId27"/>
    <p:sldId id="439" r:id="rId28"/>
    <p:sldId id="373" r:id="rId29"/>
    <p:sldId id="374" r:id="rId30"/>
    <p:sldId id="375" r:id="rId31"/>
    <p:sldId id="376" r:id="rId32"/>
    <p:sldId id="377" r:id="rId33"/>
    <p:sldId id="307" r:id="rId34"/>
    <p:sldId id="305" r:id="rId35"/>
  </p:sldIdLst>
  <p:sldSz cx="9144000" cy="5143500" type="screen16x9"/>
  <p:notesSz cx="6858000" cy="9144000"/>
  <p:embeddedFontLst>
    <p:embeddedFont>
      <p:font typeface="Cambria" panose="02040503050406030204" pitchFamily="18" charset="0"/>
      <p:regular r:id="rId38"/>
      <p:bold r:id="rId39"/>
      <p:italic r:id="rId40"/>
      <p:boldItalic r:id="rId41"/>
    </p:embeddedFont>
    <p:embeddedFont>
      <p:font typeface="Lato" panose="020F0502020204030203" pitchFamily="34" charset="0"/>
      <p:regular r:id="rId42"/>
      <p:bold r:id="rId43"/>
      <p:italic r:id="rId44"/>
      <p:boldItalic r:id="rId45"/>
    </p:embeddedFont>
    <p:embeddedFont>
      <p:font typeface="Vladimir Script" panose="03050402040407070305" pitchFamily="66" charset="0"/>
      <p:regular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0"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04" autoAdjust="0"/>
  </p:normalViewPr>
  <p:slideViewPr>
    <p:cSldViewPr snapToGrid="0">
      <p:cViewPr varScale="1">
        <p:scale>
          <a:sx n="88" d="100"/>
          <a:sy n="88" d="100"/>
        </p:scale>
        <p:origin x="588" y="6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84"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82"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8" Type="http://schemas.openxmlformats.org/officeDocument/2006/relationships/slide" Target="slides/slide7.xml"/><Relationship Id="rId80"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9B809D-6ED6-587F-BB95-5957722B98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4F80FB5-5BC0-7B8E-8E12-B22202F8E8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62F495-7282-46A0-973C-B2C5688CF367}" type="datetimeFigureOut">
              <a:rPr lang="en-IN" smtClean="0"/>
              <a:t>22-12-2025</a:t>
            </a:fld>
            <a:endParaRPr lang="en-IN"/>
          </a:p>
        </p:txBody>
      </p:sp>
      <p:sp>
        <p:nvSpPr>
          <p:cNvPr id="4" name="Footer Placeholder 3">
            <a:extLst>
              <a:ext uri="{FF2B5EF4-FFF2-40B4-BE49-F238E27FC236}">
                <a16:creationId xmlns:a16="http://schemas.microsoft.com/office/drawing/2014/main" id="{621B4BEF-1062-CF90-94F5-0D84A30E08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7B9952C-A29B-EE9B-C695-68271854775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9E412C-8FF0-451F-B78D-23681CAA499D}" type="slidenum">
              <a:rPr lang="en-IN" smtClean="0"/>
              <a:t>‹#›</a:t>
            </a:fld>
            <a:endParaRPr lang="en-IN"/>
          </a:p>
        </p:txBody>
      </p:sp>
    </p:spTree>
    <p:extLst>
      <p:ext uri="{BB962C8B-B14F-4D97-AF65-F5344CB8AC3E}">
        <p14:creationId xmlns:p14="http://schemas.microsoft.com/office/powerpoint/2010/main" val="400323505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4F22B2D-5F79-437B-A011-BBC47D7BB1D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65DE9DE-CAE0-65AA-61A3-2DA78D76F1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530DD55-91C2-3B5A-5142-0DACDB3C90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1817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14C13F4-FB1C-C20C-026B-CE5D32314A2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A6557A7-7A72-CF03-86A2-E7BE372A41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3E7F3F2-ED29-5428-E7DD-EFE3B240A9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89313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043034-63D9-A039-93E5-1764AB2793A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C57E03B-6D6D-B7F8-237E-E7CF90C06A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1306E5B-8032-D26B-CD43-5AED70BC6F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7099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D894A85-83AF-7440-397E-527B54822C6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9C2093A-3BD4-9A88-C5E2-F7C31E7A08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6DECF4C-468D-CCE2-03E4-E19F9D8253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66495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68ED189-E8E3-7069-CB28-E59A2FA65CA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0A7FE95-7554-96B9-DA63-10263205F4B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F71D8EA-9D6E-4B29-D288-301D3C1747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95282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0D0B5F2-30C3-67D0-589C-34909623B51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5F7B2AB-AFFB-AB87-9739-606DAE49C98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AC000A8-9B38-9C66-5FF4-6266D2CD12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748251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A5CAF36-E1AB-637C-49F7-6147EB9EBAF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E7E2B58-D5A5-B476-B726-12D280FD7C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6BD64708-11B4-E017-C5A4-878A8FAECB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49446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D401515-F796-62B2-273C-39DB81E3DB0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17A0983-4C2D-8122-4CB3-1B63A3FEF7D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C7AA63E4-0AFD-4D24-56DF-200E3B644F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73185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B5164FE-6ED9-AEC2-9C49-0F7291C9DA5E}"/>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3BDA02E1-BC08-156A-7E88-5D749726E5C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57C0DF8-1A25-2D8C-F698-BFC4477745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485043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2C43A52-7F36-252E-1252-6C3C7D422B3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E024B0D-7CC3-7FA0-DEA3-E411C04826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A175EF9-47FE-836F-3B0C-58008D43E8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01391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A271675-A833-E656-9F8B-ABEC7F397D8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4AE9F66-A41F-7A92-1566-6F08670ECC3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04763C8-1F6E-84A4-BC09-077CEA557E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65252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5008F51-0C53-38D3-2929-EEA30E6ED6E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3361E4EF-59AF-3535-8296-B591D4C3EAC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D1E1760-FD65-353D-045F-E33C071FF9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04088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B7B9191-E43A-466A-8EC3-8612BFD5ADC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DAEB1A8-C67E-FE98-2691-FC21C699AB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176D721-CFDB-447F-38F9-6B3A08B54F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93463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7109F0C-9A69-2361-B7CC-16550B53215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1F2F849-AE6E-977A-5224-FB126F9A4AA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F039035-850D-4717-9F1D-0A08CE20FA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2924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06CD83B-BD86-B62D-85E1-F662B07DBC7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4123B64-955D-4C83-B82D-7D8F163C132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B4C7A42-C8F5-2F83-2ACD-7B534B7748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406562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7BEE9FD-1B07-92C6-7556-DE4CE5E05A5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6930BFB-54F7-5953-DEA3-1B7426C95D4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BEB035D-CF89-0F66-B14C-506CB4375E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22647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18EFDAD-B590-5993-9C9F-98E1F73A3E7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878E22A-EFB1-F6B6-E980-4710CFC93E8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2111CA1-4D56-DE42-95E4-175D250CD6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71258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634EFB2-5721-C046-C17C-2B92ADD08CE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8F538F1-CBD9-04B5-6774-C2AB97003CD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700B601-C09B-2963-904A-488BFFCFC2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54498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B5A6B0B-FEA5-CD07-E0B1-27C7DF43D7C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4C926E8-237A-8171-1616-8C20B38D153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D7721-3B2C-7FB6-8F9E-3062DA2220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554170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C957923-2D30-5478-5C4C-9DD4A10D6BC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FC2A477-4567-7389-542A-3FB46A2509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4D452E1-2847-2F87-2AEF-196BB18B5B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953590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CADD3B8-F1FD-56C8-8470-56C2EE8579C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2B2DEBC-233E-F82D-987A-769917E7D1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0490518B-0694-1940-6A35-EF270EBE22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158912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CAB2D0D-D147-E4A0-4806-D9828ABE579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2A306A1-1014-B268-F3DA-FAAEC9CD95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B945E441-A05F-90D3-9918-FB0655631B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461853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DF8935A-8E03-FF02-5163-B15D3F76CAD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E9F9DDE-7149-5225-4CB8-532A3DCF2D6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CA4D1DF-B394-E98F-6020-F90EF3E864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537901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F870998-5AD5-37EE-11F0-0057066D836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242F551-0BEA-B7AE-96ED-C0084DD1CB7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7173E983-D4BA-3F27-79A5-8F183F2B63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68916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C524723-A6B1-8D85-DB78-ADC4DAB5480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FAD63A6-4A51-FC67-7469-4A0C521189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96B4BCE1-50A4-E5EC-9460-D1B5781055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14384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FA77362-E813-B9D1-32D3-5E9C3D02398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EE8BD31-C77D-61D3-5FCD-173896A901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411DAC1-C9A2-9CDC-559C-2193D54D16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71716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817DC0F-94B4-8791-4D78-14CFC851F20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28406BF-38F5-13DE-5BC5-EA4A3B07D4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0C7E46A-048B-8AB5-E0FF-1CC7DE1512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39994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2B56442-3C7C-962E-3BDA-37D85BE1FD7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B525C3B-8460-D113-DAF7-49D9569CAD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997AB6D-ABCC-1690-248D-DADEB28988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63032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D12E867-6D8B-518F-E142-893872952C9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F87AE17-BB90-EC3E-153F-D5445788DE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47FBE7-93FC-2416-906D-E19A987BCA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719731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2EA5CA5-6785-8D65-5F10-0981FA005E2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AA2EA74-CD63-B572-D9EE-548ED51846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DAFBCA2B-AD55-3BF9-7430-F09A1B4D4F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4010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18237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hyperlink" Target="https://youtu.be/Q-TtIPF0fCU" TargetMode="External"/><Relationship Id="rId3" Type="http://schemas.openxmlformats.org/officeDocument/2006/relationships/hyperlink" Target="https://youtu.be/lqeUEVVIDD0" TargetMode="External"/><Relationship Id="rId7" Type="http://schemas.openxmlformats.org/officeDocument/2006/relationships/hyperlink" Target="https://www.coursera.org/learn/ismdl?source=admin-share"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hyperlink" Target="https://www.coursera.org/learn/deep-learning-applications-in-vision?source=admin-share" TargetMode="External"/><Relationship Id="rId5" Type="http://schemas.openxmlformats.org/officeDocument/2006/relationships/hyperlink" Target="https://www.coursera.org/learn/ai-for-real-world-intelligence-systems?source=admin-share" TargetMode="External"/><Relationship Id="rId4" Type="http://schemas.openxmlformats.org/officeDocument/2006/relationships/hyperlink" Target="https://youtu.be/QxqxdQ_g2uw"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514350" y="664368"/>
            <a:ext cx="8213400" cy="4494010"/>
          </a:xfrm>
          <a:prstGeom prst="rect">
            <a:avLst/>
          </a:prstGeom>
          <a:noFill/>
          <a:ln>
            <a:noFill/>
          </a:ln>
        </p:spPr>
        <p:txBody>
          <a:bodyPr spcFirstLastPara="1" wrap="square" lIns="91425" tIns="45700" rIns="91425" bIns="45700" anchor="t" anchorCtr="0">
            <a:spAutoFit/>
          </a:bodyPr>
          <a:lstStyle/>
          <a:p>
            <a:pPr lvl="0" algn="ctr">
              <a:lnSpc>
                <a:spcPct val="90000"/>
              </a:lnSpc>
              <a:buClr>
                <a:schemeClr val="dk1"/>
              </a:buClr>
              <a:buSzPts val="3200"/>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lang="en-US" sz="105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1120"/>
              </a:spcBef>
              <a:buClr>
                <a:schemeClr val="dk1"/>
              </a:buClr>
              <a:buSzPts val="3200"/>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AIT-CSE (AIML)</a:t>
            </a:r>
          </a:p>
          <a:p>
            <a:pPr lvl="0" algn="ctr">
              <a:lnSpc>
                <a:spcPct val="90000"/>
              </a:lnSpc>
              <a:spcBef>
                <a:spcPts val="1120"/>
              </a:spcBef>
              <a:buClr>
                <a:schemeClr val="dk1"/>
              </a:buClr>
              <a:buSzPts val="2800"/>
            </a:pP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endParaRPr>
          </a:p>
          <a:p>
            <a:pPr lvl="0" algn="ctr">
              <a:lnSpc>
                <a:spcPct val="90000"/>
              </a:lnSpc>
              <a:spcBef>
                <a:spcPts val="1120"/>
              </a:spcBef>
              <a:buClr>
                <a:schemeClr val="dk1"/>
              </a:buClr>
              <a:buSzPts val="2800"/>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CS221: B.E. CSE (AIML)</a:t>
            </a:r>
          </a:p>
          <a:p>
            <a:pPr lvl="0" algn="ctr">
              <a:lnSpc>
                <a:spcPct val="90000"/>
              </a:lnSpc>
              <a:spcBef>
                <a:spcPts val="1120"/>
              </a:spcBef>
              <a:buClr>
                <a:schemeClr val="dk1"/>
              </a:buClr>
              <a:buSzPts val="2800"/>
            </a:pPr>
            <a:r>
              <a:rPr lang="en-US" sz="200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6</a:t>
            </a:r>
            <a:r>
              <a:rPr lang="en-US" sz="2000" baseline="3000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th</a:t>
            </a:r>
            <a:r>
              <a:rPr lang="en-US" sz="200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 </a:t>
            </a: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Semester </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980"/>
              </a:spcBef>
              <a:spcAft>
                <a:spcPts val="0"/>
              </a:spcAft>
              <a:buClr>
                <a:schemeClr val="dk1"/>
              </a:buClr>
              <a:buSzPts val="2800"/>
              <a:buFont typeface="Arial"/>
              <a:buNone/>
            </a:pPr>
            <a:r>
              <a:rPr lang="en-US" sz="2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ADVANCED MACHINE LEARNING &amp; MATHEMATICAL MODELLING</a:t>
            </a:r>
            <a:endParaRPr sz="2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980"/>
              </a:spcBef>
              <a:spcAft>
                <a:spcPts val="0"/>
              </a:spcAft>
              <a:buClr>
                <a:schemeClr val="dk1"/>
              </a:buClr>
              <a:buSzPts val="2800"/>
              <a:buFont typeface="Arial"/>
              <a:buNone/>
            </a:pPr>
            <a:r>
              <a:rPr lang="en-US" sz="24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(23CSH-382)</a:t>
            </a:r>
            <a:endParaRPr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 1                                 Chapter No. 1                     Lecture No. 14 &amp; 15</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Normal Distribution, T Distributions, RSE and R2</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Mr. Siddharth Kumar (E12853)                                          Assistant Professor</a:t>
            </a: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Jan-May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2BF4C75-B6D5-0F71-7046-B3B05669B5D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
        <p:nvSpPr>
          <p:cNvPr id="2" name="Title 1">
            <a:extLst>
              <a:ext uri="{FF2B5EF4-FFF2-40B4-BE49-F238E27FC236}">
                <a16:creationId xmlns:a16="http://schemas.microsoft.com/office/drawing/2014/main" id="{ECAE4A14-02B1-C18D-9874-FFC261FDEE0A}"/>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COURSE OBJECTIVES</a:t>
            </a:r>
          </a:p>
        </p:txBody>
      </p:sp>
      <p:sp>
        <p:nvSpPr>
          <p:cNvPr id="3" name="Rectangle 2">
            <a:extLst>
              <a:ext uri="{FF2B5EF4-FFF2-40B4-BE49-F238E27FC236}">
                <a16:creationId xmlns:a16="http://schemas.microsoft.com/office/drawing/2014/main" id="{0220D0D4-31AB-9369-35E4-0090B3DE8E31}"/>
              </a:ext>
            </a:extLst>
          </p:cNvPr>
          <p:cNvSpPr/>
          <p:nvPr/>
        </p:nvSpPr>
        <p:spPr>
          <a:xfrm>
            <a:off x="254001" y="892662"/>
            <a:ext cx="8639575" cy="4162934"/>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The course aims to:</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develop a strong mathematical foundation for regression-based predictive modelling using calculus, matrix algebra, and probability theory.</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provide an in-depth understanding of supervised classification algorithms including KNN, Support Vector Machines, and ensemble-based boosting approaches.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equip learners to implement clustering and probabilistic reasoning models such as Spectral Clustering, Markov Chains, Bayesian Networks, and HMMs.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cultivate the ability to design neural networks, implement multilayer perceptron, and optimize training using backpropagation and regularization strategies.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expose students to advanced deep learning frameworks, feature abstraction hierarchies, and performance enhancement through hyper-parameter tuning &amp; dropout.</a:t>
            </a:r>
          </a:p>
        </p:txBody>
      </p:sp>
    </p:spTree>
    <p:extLst>
      <p:ext uri="{BB962C8B-B14F-4D97-AF65-F5344CB8AC3E}">
        <p14:creationId xmlns:p14="http://schemas.microsoft.com/office/powerpoint/2010/main" val="2622060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4A61545-6A4D-7017-B491-26E651BDFB5C}"/>
            </a:ext>
          </a:extLst>
        </p:cNvPr>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8EF9DA49-4951-E941-E241-14B3A2DD2F28}"/>
              </a:ext>
            </a:extLst>
          </p:cNvPr>
          <p:cNvGraphicFramePr>
            <a:graphicFrameLocks noGrp="1"/>
          </p:cNvGraphicFramePr>
          <p:nvPr>
            <p:extLst>
              <p:ext uri="{D42A27DB-BD31-4B8C-83A1-F6EECF244321}">
                <p14:modId xmlns:p14="http://schemas.microsoft.com/office/powerpoint/2010/main" val="1660832592"/>
              </p:ext>
            </p:extLst>
          </p:nvPr>
        </p:nvGraphicFramePr>
        <p:xfrm>
          <a:off x="370114" y="1343576"/>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CO1</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Recall the foundational concepts, terminology, and mathematical principles underlying regression, classification and clustering approaches.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3" name="Table 12">
            <a:extLst>
              <a:ext uri="{FF2B5EF4-FFF2-40B4-BE49-F238E27FC236}">
                <a16:creationId xmlns:a16="http://schemas.microsoft.com/office/drawing/2014/main" id="{8AF2C682-CBF0-7E25-04B3-5860944E6A64}"/>
              </a:ext>
            </a:extLst>
          </p:cNvPr>
          <p:cNvGraphicFramePr>
            <a:graphicFrameLocks noGrp="1"/>
          </p:cNvGraphicFramePr>
          <p:nvPr>
            <p:extLst>
              <p:ext uri="{D42A27DB-BD31-4B8C-83A1-F6EECF244321}">
                <p14:modId xmlns:p14="http://schemas.microsoft.com/office/powerpoint/2010/main" val="981504834"/>
              </p:ext>
            </p:extLst>
          </p:nvPr>
        </p:nvGraphicFramePr>
        <p:xfrm>
          <a:off x="370114" y="1982202"/>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CO2</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Illustrate the working mechanisms, characteristics, and theoretical concept of regression, clustering and classification techniques in machine learning.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3F9FA6A1-E183-6583-0A92-556DD6E08F84}"/>
              </a:ext>
            </a:extLst>
          </p:cNvPr>
          <p:cNvGraphicFramePr>
            <a:graphicFrameLocks noGrp="1"/>
          </p:cNvGraphicFramePr>
          <p:nvPr>
            <p:extLst>
              <p:ext uri="{D42A27DB-BD31-4B8C-83A1-F6EECF244321}">
                <p14:modId xmlns:p14="http://schemas.microsoft.com/office/powerpoint/2010/main" val="264604550"/>
              </p:ext>
            </p:extLst>
          </p:nvPr>
        </p:nvGraphicFramePr>
        <p:xfrm>
          <a:off x="370114" y="2613573"/>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CO3</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Apply appropriate regression, clustering and classification algorithms to solve real-world machine learning tasks while addressing performance constraints.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5" name="Table 14">
            <a:extLst>
              <a:ext uri="{FF2B5EF4-FFF2-40B4-BE49-F238E27FC236}">
                <a16:creationId xmlns:a16="http://schemas.microsoft.com/office/drawing/2014/main" id="{9E480C33-6C30-CAFC-63F4-B97B14E40ABA}"/>
              </a:ext>
            </a:extLst>
          </p:cNvPr>
          <p:cNvGraphicFramePr>
            <a:graphicFrameLocks noGrp="1"/>
          </p:cNvGraphicFramePr>
          <p:nvPr>
            <p:extLst>
              <p:ext uri="{D42A27DB-BD31-4B8C-83A1-F6EECF244321}">
                <p14:modId xmlns:p14="http://schemas.microsoft.com/office/powerpoint/2010/main" val="4039441976"/>
              </p:ext>
            </p:extLst>
          </p:nvPr>
        </p:nvGraphicFramePr>
        <p:xfrm>
          <a:off x="370114" y="3237687"/>
          <a:ext cx="8523462" cy="82296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CO4</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Analyze and evaluate machine learning models using performance parameters to identify the best-suited techniques for specific applications regression, clustering and classification algorithms.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6" name="Table 15">
            <a:extLst>
              <a:ext uri="{FF2B5EF4-FFF2-40B4-BE49-F238E27FC236}">
                <a16:creationId xmlns:a16="http://schemas.microsoft.com/office/drawing/2014/main" id="{0B770020-E808-C51E-98C3-E13DADE63EE9}"/>
              </a:ext>
            </a:extLst>
          </p:cNvPr>
          <p:cNvGraphicFramePr>
            <a:graphicFrameLocks noGrp="1"/>
          </p:cNvGraphicFramePr>
          <p:nvPr>
            <p:extLst>
              <p:ext uri="{D42A27DB-BD31-4B8C-83A1-F6EECF244321}">
                <p14:modId xmlns:p14="http://schemas.microsoft.com/office/powerpoint/2010/main" val="626930837"/>
              </p:ext>
            </p:extLst>
          </p:nvPr>
        </p:nvGraphicFramePr>
        <p:xfrm>
          <a:off x="370114" y="4137573"/>
          <a:ext cx="8523462" cy="82296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CO5</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Design and implement optimized machine learning solutions by integrating regression, clustering and classification models to solve complex predictive and decision-making problems.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7" name="TextBox 6">
            <a:extLst>
              <a:ext uri="{FF2B5EF4-FFF2-40B4-BE49-F238E27FC236}">
                <a16:creationId xmlns:a16="http://schemas.microsoft.com/office/drawing/2014/main" id="{C964D7DB-49E2-0809-DAE7-02B55DB97E8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
        <p:nvSpPr>
          <p:cNvPr id="2" name="Title 1">
            <a:extLst>
              <a:ext uri="{FF2B5EF4-FFF2-40B4-BE49-F238E27FC236}">
                <a16:creationId xmlns:a16="http://schemas.microsoft.com/office/drawing/2014/main" id="{E1D54E92-E639-32C0-A586-5312C258AEC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COURSE OUTCOMES</a:t>
            </a:r>
          </a:p>
        </p:txBody>
      </p:sp>
      <p:sp>
        <p:nvSpPr>
          <p:cNvPr id="3" name="Rectangle 2">
            <a:extLst>
              <a:ext uri="{FF2B5EF4-FFF2-40B4-BE49-F238E27FC236}">
                <a16:creationId xmlns:a16="http://schemas.microsoft.com/office/drawing/2014/main" id="{58E5231A-4FC6-A6AC-94D4-178AF49865FC}"/>
              </a:ext>
            </a:extLst>
          </p:cNvPr>
          <p:cNvSpPr/>
          <p:nvPr/>
        </p:nvSpPr>
        <p:spPr>
          <a:xfrm>
            <a:off x="254001" y="910187"/>
            <a:ext cx="8639575" cy="464871"/>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On completion of this course, the students shall be able to:</a:t>
            </a:r>
          </a:p>
        </p:txBody>
      </p:sp>
      <p:pic>
        <p:nvPicPr>
          <p:cNvPr id="17" name="Graphic 16" descr="Chevron arrows with solid fill">
            <a:extLst>
              <a:ext uri="{FF2B5EF4-FFF2-40B4-BE49-F238E27FC236}">
                <a16:creationId xmlns:a16="http://schemas.microsoft.com/office/drawing/2014/main" id="{AF23AD74-45C8-B11F-E1A2-6C388C2AE5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a:off x="49828" y="1510650"/>
            <a:ext cx="346172" cy="216000"/>
          </a:xfrm>
          <a:prstGeom prst="rect">
            <a:avLst/>
          </a:prstGeom>
        </p:spPr>
      </p:pic>
      <p:pic>
        <p:nvPicPr>
          <p:cNvPr id="4" name="Graphic 3" descr="Chevron arrows with solid fill">
            <a:extLst>
              <a:ext uri="{FF2B5EF4-FFF2-40B4-BE49-F238E27FC236}">
                <a16:creationId xmlns:a16="http://schemas.microsoft.com/office/drawing/2014/main" id="{5BC61427-89FD-9A13-DE2E-7639114D80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a:off x="36285" y="2166266"/>
            <a:ext cx="346172" cy="216000"/>
          </a:xfrm>
          <a:prstGeom prst="rect">
            <a:avLst/>
          </a:prstGeom>
        </p:spPr>
      </p:pic>
    </p:spTree>
    <p:extLst>
      <p:ext uri="{BB962C8B-B14F-4D97-AF65-F5344CB8AC3E}">
        <p14:creationId xmlns:p14="http://schemas.microsoft.com/office/powerpoint/2010/main" val="1237911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ABA1C71-5597-1CAF-83DC-D1B0724D01D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D13D930-9507-CC43-84EB-91691F0190B3}"/>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
        <p:nvSpPr>
          <p:cNvPr id="2" name="Title 1">
            <a:extLst>
              <a:ext uri="{FF2B5EF4-FFF2-40B4-BE49-F238E27FC236}">
                <a16:creationId xmlns:a16="http://schemas.microsoft.com/office/drawing/2014/main" id="{36F199A5-4917-785C-8A51-52FAF96C844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Unit-I Syllabus</a:t>
            </a:r>
          </a:p>
        </p:txBody>
      </p:sp>
      <p:graphicFrame>
        <p:nvGraphicFramePr>
          <p:cNvPr id="4" name="Table 3">
            <a:extLst>
              <a:ext uri="{FF2B5EF4-FFF2-40B4-BE49-F238E27FC236}">
                <a16:creationId xmlns:a16="http://schemas.microsoft.com/office/drawing/2014/main" id="{A166E992-8616-65C5-081E-F77864CBB031}"/>
              </a:ext>
            </a:extLst>
          </p:cNvPr>
          <p:cNvGraphicFramePr>
            <a:graphicFrameLocks noGrp="1"/>
          </p:cNvGraphicFramePr>
          <p:nvPr>
            <p:extLst>
              <p:ext uri="{D42A27DB-BD31-4B8C-83A1-F6EECF244321}">
                <p14:modId xmlns:p14="http://schemas.microsoft.com/office/powerpoint/2010/main" val="1364968001"/>
              </p:ext>
            </p:extLst>
          </p:nvPr>
        </p:nvGraphicFramePr>
        <p:xfrm>
          <a:off x="229850" y="1141413"/>
          <a:ext cx="8663726" cy="3764415"/>
        </p:xfrm>
        <a:graphic>
          <a:graphicData uri="http://schemas.openxmlformats.org/drawingml/2006/table">
            <a:tbl>
              <a:tblPr>
                <a:tableStyleId>{97377635-EB9D-4884-B79A-0D259F93817B}</a:tableStyleId>
              </a:tblPr>
              <a:tblGrid>
                <a:gridCol w="1620721">
                  <a:extLst>
                    <a:ext uri="{9D8B030D-6E8A-4147-A177-3AD203B41FA5}">
                      <a16:colId xmlns:a16="http://schemas.microsoft.com/office/drawing/2014/main" val="1126371409"/>
                    </a:ext>
                  </a:extLst>
                </a:gridCol>
                <a:gridCol w="5239658">
                  <a:extLst>
                    <a:ext uri="{9D8B030D-6E8A-4147-A177-3AD203B41FA5}">
                      <a16:colId xmlns:a16="http://schemas.microsoft.com/office/drawing/2014/main" val="1782746869"/>
                    </a:ext>
                  </a:extLst>
                </a:gridCol>
                <a:gridCol w="1803347">
                  <a:extLst>
                    <a:ext uri="{9D8B030D-6E8A-4147-A177-3AD203B41FA5}">
                      <a16:colId xmlns:a16="http://schemas.microsoft.com/office/drawing/2014/main" val="3681176613"/>
                    </a:ext>
                  </a:extLst>
                </a:gridCol>
              </a:tblGrid>
              <a:tr h="727032">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Unit-1</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Regression</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Contact Hours: 15</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852659567"/>
                  </a:ext>
                </a:extLst>
              </a:tr>
              <a:tr h="1147097">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Regression </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US"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Linear and Polynomial Regression, Maxima and Minima of Function of One Variable, Rank, Eigen Values and Eigen Vectors, Positive &amp; Negative Definite/Semi-definite Matrices</a:t>
                      </a:r>
                      <a:endParaRPr lang="en-US"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2964525967"/>
                  </a:ext>
                </a:extLst>
              </a:tr>
              <a:tr h="1147097">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Error Estimation </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US"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Maxima and Minima of Function of Several Variables, Convexity of Errors Function, Building Simple Linear Regression Model by Solving Normal Equations, Gradient Descent, Stochastic &amp; Mini-batch Gradient Descent Algorithm</a:t>
                      </a:r>
                      <a:endParaRPr lang="en-US"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4128748859"/>
                  </a:ext>
                </a:extLst>
              </a:tr>
              <a:tr h="743189">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Probability Theory</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IN"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Discrete Probability Distributions, Continuous Probability Distributions, Normal Distribution and t-Distributions, RSE, R</a:t>
                      </a:r>
                      <a:r>
                        <a:rPr lang="en-IN" sz="1600" u="none" strike="noStrike" baseline="300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2</a:t>
                      </a:r>
                      <a:endParaRPr lang="en-IN"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1161209939"/>
                  </a:ext>
                </a:extLst>
              </a:tr>
            </a:tbl>
          </a:graphicData>
        </a:graphic>
      </p:graphicFrame>
    </p:spTree>
    <p:extLst>
      <p:ext uri="{BB962C8B-B14F-4D97-AF65-F5344CB8AC3E}">
        <p14:creationId xmlns:p14="http://schemas.microsoft.com/office/powerpoint/2010/main" val="105206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722E90B-B4A7-48D2-134C-7BE9400BCFE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8581164-F321-1B9B-5200-D60D63C15EEF}"/>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a:t>
            </a:r>
          </a:p>
        </p:txBody>
      </p:sp>
      <p:sp>
        <p:nvSpPr>
          <p:cNvPr id="2" name="Title 1">
            <a:extLst>
              <a:ext uri="{FF2B5EF4-FFF2-40B4-BE49-F238E27FC236}">
                <a16:creationId xmlns:a16="http://schemas.microsoft.com/office/drawing/2014/main" id="{7EAEDE0E-C752-EC85-96D1-82A2D2EF1B33}"/>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SUGGESTIVE READINGS</a:t>
            </a:r>
          </a:p>
        </p:txBody>
      </p:sp>
      <p:sp>
        <p:nvSpPr>
          <p:cNvPr id="3" name="Rectangle 2">
            <a:extLst>
              <a:ext uri="{FF2B5EF4-FFF2-40B4-BE49-F238E27FC236}">
                <a16:creationId xmlns:a16="http://schemas.microsoft.com/office/drawing/2014/main" id="{D8857202-6F71-EB21-98DA-0053464F2129}"/>
              </a:ext>
            </a:extLst>
          </p:cNvPr>
          <p:cNvSpPr/>
          <p:nvPr/>
        </p:nvSpPr>
        <p:spPr>
          <a:xfrm>
            <a:off x="145143" y="1026299"/>
            <a:ext cx="8748433" cy="464871"/>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Text Books / Reference Books:</a:t>
            </a:r>
          </a:p>
        </p:txBody>
      </p:sp>
      <p:graphicFrame>
        <p:nvGraphicFramePr>
          <p:cNvPr id="6" name="Table 5">
            <a:extLst>
              <a:ext uri="{FF2B5EF4-FFF2-40B4-BE49-F238E27FC236}">
                <a16:creationId xmlns:a16="http://schemas.microsoft.com/office/drawing/2014/main" id="{7477AE26-3BC7-08F1-986D-BD55F4C4E6F5}"/>
              </a:ext>
            </a:extLst>
          </p:cNvPr>
          <p:cNvGraphicFramePr>
            <a:graphicFrameLocks noGrp="1"/>
          </p:cNvGraphicFramePr>
          <p:nvPr>
            <p:extLst>
              <p:ext uri="{D42A27DB-BD31-4B8C-83A1-F6EECF244321}">
                <p14:modId xmlns:p14="http://schemas.microsoft.com/office/powerpoint/2010/main" val="4056838720"/>
              </p:ext>
            </p:extLst>
          </p:nvPr>
        </p:nvGraphicFramePr>
        <p:xfrm>
          <a:off x="250425" y="1421421"/>
          <a:ext cx="8639574" cy="3711434"/>
        </p:xfrm>
        <a:graphic>
          <a:graphicData uri="http://schemas.openxmlformats.org/drawingml/2006/table">
            <a:tbl>
              <a:tblPr>
                <a:tableStyleId>{5C22544A-7EE6-4342-B048-85BDC9FD1C3A}</a:tableStyleId>
              </a:tblPr>
              <a:tblGrid>
                <a:gridCol w="8639574">
                  <a:extLst>
                    <a:ext uri="{9D8B030D-6E8A-4147-A177-3AD203B41FA5}">
                      <a16:colId xmlns:a16="http://schemas.microsoft.com/office/drawing/2014/main" val="2230290221"/>
                    </a:ext>
                  </a:extLst>
                </a:gridCol>
              </a:tblGrid>
              <a:tr h="224736">
                <a:tc>
                  <a:txBody>
                    <a:bodyPr/>
                    <a:lstStyle/>
                    <a:p>
                      <a:pPr algn="ctr" fontAlgn="ctr"/>
                      <a:r>
                        <a:rPr lang="en-IN" sz="1600" b="1" u="sng" dirty="0">
                          <a:solidFill>
                            <a:schemeClr val="bg2"/>
                          </a:solidFill>
                          <a:latin typeface="Calibri" panose="020F0502020204030204" pitchFamily="34" charset="0"/>
                          <a:ea typeface="Calibri" panose="020F0502020204030204" pitchFamily="34" charset="0"/>
                          <a:cs typeface="Calibri" panose="020F0502020204030204" pitchFamily="34" charset="0"/>
                        </a:rPr>
                        <a:t>TEXT BOOKS</a:t>
                      </a:r>
                    </a:p>
                    <a:p>
                      <a:pPr algn="ctr" fontAlgn="ctr"/>
                      <a:endParaRPr lang="en-IN" sz="800" b="1"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43485506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T1: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Massaron</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L., &amp; Boschetti, A. (2016). Regression analysis with Python.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Packt</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Publishing Ltd.</a:t>
                      </a:r>
                    </a:p>
                  </a:txBody>
                  <a:tcPr marL="5684" marR="5684" marT="5684" marB="0" anchor="ctr">
                    <a:solidFill>
                      <a:schemeClr val="bg1"/>
                    </a:solidFill>
                  </a:tcPr>
                </a:tc>
                <a:extLst>
                  <a:ext uri="{0D108BD9-81ED-4DB2-BD59-A6C34878D82A}">
                    <a16:rowId xmlns:a16="http://schemas.microsoft.com/office/drawing/2014/main" val="124324700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T2: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Jajuga</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p>
                  </a:txBody>
                  <a:tcPr marL="5684" marR="5684" marT="5684" marB="0" anchor="ctr">
                    <a:solidFill>
                      <a:schemeClr val="bg1"/>
                    </a:solidFill>
                  </a:tcPr>
                </a:tc>
                <a:extLst>
                  <a:ext uri="{0D108BD9-81ED-4DB2-BD59-A6C34878D82A}">
                    <a16:rowId xmlns:a16="http://schemas.microsoft.com/office/drawing/2014/main" val="272486580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T3: </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Bishop, C. M., &amp; Bishop, H. (2023). Deep learning: Foundations and concepts. Springer Nature.</a:t>
                      </a:r>
                    </a:p>
                  </a:txBody>
                  <a:tcPr marL="5684" marR="5684" marT="5684" marB="0" anchor="ctr">
                    <a:solidFill>
                      <a:schemeClr val="bg1"/>
                    </a:solidFill>
                  </a:tcPr>
                </a:tc>
                <a:extLst>
                  <a:ext uri="{0D108BD9-81ED-4DB2-BD59-A6C34878D82A}">
                    <a16:rowId xmlns:a16="http://schemas.microsoft.com/office/drawing/2014/main" val="1593588325"/>
                  </a:ext>
                </a:extLst>
              </a:tr>
              <a:tr h="276998">
                <a:tc>
                  <a:txBody>
                    <a:bodyPr/>
                    <a:lstStyle/>
                    <a:p>
                      <a:pPr algn="just" fontAlgn="ctr"/>
                      <a:endPar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3980535516"/>
                  </a:ext>
                </a:extLst>
              </a:tr>
              <a:tr h="224736">
                <a:tc>
                  <a:txBody>
                    <a:bodyPr/>
                    <a:lstStyle/>
                    <a:p>
                      <a:pPr algn="ctr" fontAlgn="ctr"/>
                      <a:r>
                        <a:rPr lang="en-IN" sz="1600" b="1" u="sng" dirty="0">
                          <a:solidFill>
                            <a:schemeClr val="bg2"/>
                          </a:solidFill>
                          <a:latin typeface="Calibri" panose="020F0502020204030204" pitchFamily="34" charset="0"/>
                          <a:ea typeface="Calibri" panose="020F0502020204030204" pitchFamily="34" charset="0"/>
                          <a:cs typeface="Calibri" panose="020F0502020204030204" pitchFamily="34" charset="0"/>
                        </a:rPr>
                        <a:t>REFERENCE BOOKS</a:t>
                      </a:r>
                    </a:p>
                    <a:p>
                      <a:pPr algn="ctr" fontAlgn="ctr"/>
                      <a:endParaRPr lang="en-IN" sz="800" b="1"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2291661051"/>
                  </a:ext>
                </a:extLst>
              </a:tr>
              <a:tr h="376622">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R1: </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Matloff, N. (2017). Statistical regression and classification: from linear models to machine learning. Chapman and Hall/CRC.</a:t>
                      </a:r>
                    </a:p>
                  </a:txBody>
                  <a:tcPr marL="5684" marR="5684" marT="5684" marB="0" anchor="ctr">
                    <a:solidFill>
                      <a:schemeClr val="bg1"/>
                    </a:solidFill>
                  </a:tcPr>
                </a:tc>
                <a:extLst>
                  <a:ext uri="{0D108BD9-81ED-4DB2-BD59-A6C34878D82A}">
                    <a16:rowId xmlns:a16="http://schemas.microsoft.com/office/drawing/2014/main" val="1123111606"/>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R2: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Jajuga</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p>
                  </a:txBody>
                  <a:tcPr marL="5684" marR="5684" marT="5684" marB="0" anchor="ctr">
                    <a:solidFill>
                      <a:schemeClr val="bg1"/>
                    </a:solidFill>
                  </a:tcPr>
                </a:tc>
                <a:extLst>
                  <a:ext uri="{0D108BD9-81ED-4DB2-BD59-A6C34878D82A}">
                    <a16:rowId xmlns:a16="http://schemas.microsoft.com/office/drawing/2014/main" val="337323854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R3: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Vishnoi</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V. K., Chauhan, N. R., &amp; Kumar, K. (2024). An introduction to deep learning.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Xoffencer</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publication.</a:t>
                      </a:r>
                    </a:p>
                  </a:txBody>
                  <a:tcPr marL="5684" marR="5684" marT="5684" marB="0" anchor="ctr">
                    <a:solidFill>
                      <a:schemeClr val="bg1"/>
                    </a:solidFill>
                  </a:tcPr>
                </a:tc>
                <a:extLst>
                  <a:ext uri="{0D108BD9-81ED-4DB2-BD59-A6C34878D82A}">
                    <a16:rowId xmlns:a16="http://schemas.microsoft.com/office/drawing/2014/main" val="766468309"/>
                  </a:ext>
                </a:extLst>
              </a:tr>
              <a:tr h="0">
                <a:tc>
                  <a:txBody>
                    <a:bodyPr/>
                    <a:lstStyle/>
                    <a:p>
                      <a:pPr algn="just" fontAlgn="ctr"/>
                      <a:endParaRPr lang="en-IN" sz="1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2254666440"/>
                  </a:ext>
                </a:extLst>
              </a:tr>
            </a:tbl>
          </a:graphicData>
        </a:graphic>
      </p:graphicFrame>
    </p:spTree>
    <p:extLst>
      <p:ext uri="{BB962C8B-B14F-4D97-AF65-F5344CB8AC3E}">
        <p14:creationId xmlns:p14="http://schemas.microsoft.com/office/powerpoint/2010/main" val="1686286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D2933D2-A694-4C02-9490-F8DF1D65E6E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AAB8138-C22D-D138-96A2-E61790B9550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5</a:t>
            </a:r>
          </a:p>
        </p:txBody>
      </p:sp>
      <p:sp>
        <p:nvSpPr>
          <p:cNvPr id="2" name="Title 1">
            <a:extLst>
              <a:ext uri="{FF2B5EF4-FFF2-40B4-BE49-F238E27FC236}">
                <a16:creationId xmlns:a16="http://schemas.microsoft.com/office/drawing/2014/main" id="{8FD457F1-73E5-C92E-69E7-B0F511A2510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Table of Contents</a:t>
            </a:r>
          </a:p>
        </p:txBody>
      </p:sp>
      <p:sp>
        <p:nvSpPr>
          <p:cNvPr id="3" name="Rectangle 2">
            <a:extLst>
              <a:ext uri="{FF2B5EF4-FFF2-40B4-BE49-F238E27FC236}">
                <a16:creationId xmlns:a16="http://schemas.microsoft.com/office/drawing/2014/main" id="{24A4B515-1583-F553-4D7C-021764E7BA41}"/>
              </a:ext>
            </a:extLst>
          </p:cNvPr>
          <p:cNvSpPr/>
          <p:nvPr/>
        </p:nvSpPr>
        <p:spPr>
          <a:xfrm>
            <a:off x="197783" y="1033556"/>
            <a:ext cx="8695793" cy="2468368"/>
          </a:xfrm>
          <a:prstGeom prst="rect">
            <a:avLst/>
          </a:prstGeom>
        </p:spPr>
        <p:txBody>
          <a:bodyPr wrap="square">
            <a:spAutoFit/>
          </a:bodyPr>
          <a:lstStyle/>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Normal Distribution</a:t>
            </a:r>
          </a:p>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T Distributions</a:t>
            </a:r>
          </a:p>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RSE</a:t>
            </a:r>
          </a:p>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R2</a:t>
            </a:r>
          </a:p>
        </p:txBody>
      </p:sp>
    </p:spTree>
    <p:extLst>
      <p:ext uri="{BB962C8B-B14F-4D97-AF65-F5344CB8AC3E}">
        <p14:creationId xmlns:p14="http://schemas.microsoft.com/office/powerpoint/2010/main" val="16473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34909B9-6679-B88A-741C-4D6D5F86F14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09B94D8-943E-B0BF-A653-233A369617DA}"/>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6</a:t>
            </a:r>
          </a:p>
        </p:txBody>
      </p:sp>
      <p:sp>
        <p:nvSpPr>
          <p:cNvPr id="2" name="Title 1">
            <a:extLst>
              <a:ext uri="{FF2B5EF4-FFF2-40B4-BE49-F238E27FC236}">
                <a16:creationId xmlns:a16="http://schemas.microsoft.com/office/drawing/2014/main" id="{DAFF8230-3BDF-FEDF-4508-298C8474C584}"/>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Normal Distribution</a:t>
            </a:r>
          </a:p>
        </p:txBody>
      </p:sp>
      <p:sp>
        <p:nvSpPr>
          <p:cNvPr id="3" name="Rectangle 2">
            <a:extLst>
              <a:ext uri="{FF2B5EF4-FFF2-40B4-BE49-F238E27FC236}">
                <a16:creationId xmlns:a16="http://schemas.microsoft.com/office/drawing/2014/main" id="{C36F8375-605C-8925-3932-CAAD5D4BB49C}"/>
              </a:ext>
            </a:extLst>
          </p:cNvPr>
          <p:cNvSpPr/>
          <p:nvPr/>
        </p:nvSpPr>
        <p:spPr>
          <a:xfrm>
            <a:off x="254001" y="975500"/>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Normal Distribution is the most common or normal form of distribution of Random Variables, hence the name "normal distribution."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is also called the Gaussian Distribution in Statistics or Probability. We use this distribution to represent a large number of random variables. It serves as a foundation for statistics and probability theory.</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Normal distribution is a continuous probability distribution that is symmetric about the mean, depicting that data near the mean are more frequent in occurrence than data far from the mean.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normal distribution is described by the mean (</a:t>
            </a:r>
            <a:r>
              <a:rPr lang="el-GR" sz="1800" dirty="0">
                <a:latin typeface="Calibri" panose="020F0502020204030204" pitchFamily="34" charset="0"/>
                <a:ea typeface="Calibri" panose="020F0502020204030204" pitchFamily="34" charset="0"/>
                <a:cs typeface="Calibri" panose="020F0502020204030204" pitchFamily="34" charset="0"/>
              </a:rPr>
              <a:t>μ</a:t>
            </a:r>
            <a:r>
              <a:rPr lang="en-US" sz="1800" dirty="0">
                <a:latin typeface="Calibri" panose="020F0502020204030204" pitchFamily="34" charset="0"/>
                <a:ea typeface="Calibri" panose="020F0502020204030204" pitchFamily="34" charset="0"/>
                <a:cs typeface="Calibri" panose="020F0502020204030204" pitchFamily="34" charset="0"/>
              </a:rPr>
              <a:t>) and the standard deviation (</a:t>
            </a:r>
            <a:r>
              <a:rPr lang="el-GR" sz="1800" dirty="0">
                <a:latin typeface="Calibri" panose="020F0502020204030204" pitchFamily="34" charset="0"/>
                <a:ea typeface="Calibri" panose="020F0502020204030204" pitchFamily="34" charset="0"/>
                <a:cs typeface="Calibri" panose="020F0502020204030204" pitchFamily="34" charset="0"/>
              </a:rPr>
              <a:t>σ</a:t>
            </a:r>
            <a:r>
              <a:rPr lang="en-US" sz="1800" dirty="0">
                <a:latin typeface="Calibri" panose="020F0502020204030204" pitchFamily="34" charset="0"/>
                <a:ea typeface="Calibri" panose="020F0502020204030204" pitchFamily="34" charset="0"/>
                <a:cs typeface="Calibri" panose="020F0502020204030204" pitchFamily="34" charset="0"/>
              </a:rPr>
              <a:t>). The normal distribution is often referred to as a 'bell curve’.</a:t>
            </a:r>
          </a:p>
        </p:txBody>
      </p:sp>
    </p:spTree>
    <p:extLst>
      <p:ext uri="{BB962C8B-B14F-4D97-AF65-F5344CB8AC3E}">
        <p14:creationId xmlns:p14="http://schemas.microsoft.com/office/powerpoint/2010/main" val="164827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AA76411-031A-1D8D-CBCE-51B8319A1DB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B062E76-266B-BFA5-04A3-581A25108183}"/>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2" name="Title 1">
            <a:extLst>
              <a:ext uri="{FF2B5EF4-FFF2-40B4-BE49-F238E27FC236}">
                <a16:creationId xmlns:a16="http://schemas.microsoft.com/office/drawing/2014/main" id="{3A1EE12F-9EE4-1135-FB74-6AC7DC929CA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Normal Distribution</a:t>
            </a:r>
          </a:p>
        </p:txBody>
      </p:sp>
      <p:sp>
        <p:nvSpPr>
          <p:cNvPr id="3" name="Rectangle 2">
            <a:extLst>
              <a:ext uri="{FF2B5EF4-FFF2-40B4-BE49-F238E27FC236}">
                <a16:creationId xmlns:a16="http://schemas.microsoft.com/office/drawing/2014/main" id="{E61901A8-E79A-E27B-4338-6945A2BE73FA}"/>
              </a:ext>
            </a:extLst>
          </p:cNvPr>
          <p:cNvSpPr/>
          <p:nvPr/>
        </p:nvSpPr>
        <p:spPr>
          <a:xfrm>
            <a:off x="254001" y="975500"/>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normal distribution is often referred to as a 'bell curve' because of its shape:</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Most of the values are around the center (</a:t>
            </a:r>
            <a:r>
              <a:rPr lang="el-GR" sz="1800" dirty="0">
                <a:latin typeface="Calibri" panose="020F0502020204030204" pitchFamily="34" charset="0"/>
                <a:ea typeface="Calibri" panose="020F0502020204030204" pitchFamily="34" charset="0"/>
                <a:cs typeface="Calibri" panose="020F0502020204030204" pitchFamily="34" charset="0"/>
              </a:rPr>
              <a:t>μ</a:t>
            </a:r>
            <a:r>
              <a:rPr lang="en-US" sz="1800" dirty="0">
                <a:latin typeface="Calibri" panose="020F0502020204030204" pitchFamily="34" charset="0"/>
                <a:ea typeface="Calibri" panose="020F0502020204030204" pitchFamily="34" charset="0"/>
                <a:cs typeface="Calibri" panose="020F0502020204030204" pitchFamily="34" charset="0"/>
              </a:rPr>
              <a:t>)</a:t>
            </a:r>
          </a:p>
          <a:p>
            <a:pPr marL="62388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median and mean are equal</a:t>
            </a:r>
          </a:p>
          <a:p>
            <a:pPr marL="62388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It has only one mode</a:t>
            </a:r>
          </a:p>
          <a:p>
            <a:pPr marL="62388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It is symmetric, meaning it decreases the same amount on the left and the right of the center</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area under the curve of the normal distribution represents probabilities for the data. The area under the whole curve is equal to 1, or 100%</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Here is a graph of a normal distribution with probabilities between standard deviations (</a:t>
            </a:r>
            <a:r>
              <a:rPr lang="el-GR" sz="1800" dirty="0">
                <a:latin typeface="Calibri" panose="020F0502020204030204" pitchFamily="34" charset="0"/>
                <a:ea typeface="Calibri" panose="020F0502020204030204" pitchFamily="34" charset="0"/>
                <a:cs typeface="Calibri" panose="020F0502020204030204" pitchFamily="34" charset="0"/>
              </a:rPr>
              <a:t>σ</a:t>
            </a:r>
            <a:r>
              <a:rPr lang="en-US" sz="18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236695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75BB6B1-36A3-365D-E020-91699320092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7966A42-A369-EDD7-55B6-738EAC70406B}"/>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8</a:t>
            </a:r>
          </a:p>
        </p:txBody>
      </p:sp>
      <p:sp>
        <p:nvSpPr>
          <p:cNvPr id="2" name="Title 1">
            <a:extLst>
              <a:ext uri="{FF2B5EF4-FFF2-40B4-BE49-F238E27FC236}">
                <a16:creationId xmlns:a16="http://schemas.microsoft.com/office/drawing/2014/main" id="{4013187E-6A06-9704-AA61-B65872244ADC}"/>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Normal Distribution</a:t>
            </a:r>
          </a:p>
        </p:txBody>
      </p:sp>
      <p:sp>
        <p:nvSpPr>
          <p:cNvPr id="3" name="Rectangle 2">
            <a:extLst>
              <a:ext uri="{FF2B5EF4-FFF2-40B4-BE49-F238E27FC236}">
                <a16:creationId xmlns:a16="http://schemas.microsoft.com/office/drawing/2014/main" id="{0B27D810-3E13-731B-DC26-C6442F44730E}"/>
              </a:ext>
            </a:extLst>
          </p:cNvPr>
          <p:cNvSpPr/>
          <p:nvPr/>
        </p:nvSpPr>
        <p:spPr>
          <a:xfrm>
            <a:off x="254001" y="975500"/>
            <a:ext cx="8639575" cy="88036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Roughly 68.3% of the data is within 1 standard deviation of the average (from μ-1σ to μ+1σ)</a:t>
            </a:r>
          </a:p>
        </p:txBody>
      </p:sp>
      <p:pic>
        <p:nvPicPr>
          <p:cNvPr id="5" name="Picture 4">
            <a:extLst>
              <a:ext uri="{FF2B5EF4-FFF2-40B4-BE49-F238E27FC236}">
                <a16:creationId xmlns:a16="http://schemas.microsoft.com/office/drawing/2014/main" id="{C097844A-CFE6-B539-A8CD-ADDBBAE7A463}"/>
              </a:ext>
            </a:extLst>
          </p:cNvPr>
          <p:cNvPicPr>
            <a:picLocks noChangeAspect="1"/>
          </p:cNvPicPr>
          <p:nvPr/>
        </p:nvPicPr>
        <p:blipFill>
          <a:blip r:embed="rId3"/>
          <a:srcRect l="8682" t="6472" r="7442" b="3455"/>
          <a:stretch>
            <a:fillRect/>
          </a:stretch>
        </p:blipFill>
        <p:spPr>
          <a:xfrm>
            <a:off x="3389086" y="1543883"/>
            <a:ext cx="5500913" cy="3166003"/>
          </a:xfrm>
          <a:prstGeom prst="rect">
            <a:avLst/>
          </a:prstGeom>
        </p:spPr>
      </p:pic>
      <p:sp>
        <p:nvSpPr>
          <p:cNvPr id="6" name="Rectangle 5">
            <a:extLst>
              <a:ext uri="{FF2B5EF4-FFF2-40B4-BE49-F238E27FC236}">
                <a16:creationId xmlns:a16="http://schemas.microsoft.com/office/drawing/2014/main" id="{283696DD-83E2-0AFF-6581-A2E18E94BCE3}"/>
              </a:ext>
            </a:extLst>
          </p:cNvPr>
          <p:cNvSpPr/>
          <p:nvPr/>
        </p:nvSpPr>
        <p:spPr>
          <a:xfrm>
            <a:off x="252212" y="1717819"/>
            <a:ext cx="3133297" cy="337335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Roughly 95.5% of the data is within 2 standard deviations of the average (from μ-2σ to μ+2σ)</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Roughly 99.7% of the data is within 3 standard deviations of the average (from μ-3σ to μ+3σ)</a:t>
            </a:r>
          </a:p>
        </p:txBody>
      </p:sp>
      <p:sp>
        <p:nvSpPr>
          <p:cNvPr id="8" name="TextBox 7">
            <a:extLst>
              <a:ext uri="{FF2B5EF4-FFF2-40B4-BE49-F238E27FC236}">
                <a16:creationId xmlns:a16="http://schemas.microsoft.com/office/drawing/2014/main" id="{CD6050D1-B771-D2A0-0D30-851847B488C3}"/>
              </a:ext>
            </a:extLst>
          </p:cNvPr>
          <p:cNvSpPr txBox="1"/>
          <p:nvPr/>
        </p:nvSpPr>
        <p:spPr>
          <a:xfrm>
            <a:off x="3860799" y="4770410"/>
            <a:ext cx="4644571"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 </a:t>
            </a:r>
            <a:r>
              <a:rPr lang="en-IN" b="1" dirty="0">
                <a:solidFill>
                  <a:schemeClr val="bg2"/>
                </a:solidFill>
                <a:latin typeface="Calibri" panose="020F0502020204030204" pitchFamily="34" charset="0"/>
                <a:ea typeface="Calibri" panose="020F0502020204030204" pitchFamily="34" charset="0"/>
                <a:cs typeface="Calibri" panose="020F0502020204030204" pitchFamily="34" charset="0"/>
              </a:rPr>
              <a:t>Normal Distribution </a:t>
            </a:r>
            <a:endParaRPr lang="en-IN" b="1" dirty="0"/>
          </a:p>
        </p:txBody>
      </p:sp>
    </p:spTree>
    <p:extLst>
      <p:ext uri="{BB962C8B-B14F-4D97-AF65-F5344CB8AC3E}">
        <p14:creationId xmlns:p14="http://schemas.microsoft.com/office/powerpoint/2010/main" val="26695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416357A-CDEF-FC90-9CA3-84B53BC44BE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083AD19-9C2C-9787-E6CA-C181E9FBDD5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9</a:t>
            </a:r>
          </a:p>
        </p:txBody>
      </p:sp>
      <p:sp>
        <p:nvSpPr>
          <p:cNvPr id="2" name="Title 1">
            <a:extLst>
              <a:ext uri="{FF2B5EF4-FFF2-40B4-BE49-F238E27FC236}">
                <a16:creationId xmlns:a16="http://schemas.microsoft.com/office/drawing/2014/main" id="{C73DB73B-6113-ABEE-3314-96932336DB6F}"/>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Normal Distribution</a:t>
            </a:r>
          </a:p>
        </p:txBody>
      </p:sp>
      <p:sp>
        <p:nvSpPr>
          <p:cNvPr id="3" name="Rectangle 2">
            <a:extLst>
              <a:ext uri="{FF2B5EF4-FFF2-40B4-BE49-F238E27FC236}">
                <a16:creationId xmlns:a16="http://schemas.microsoft.com/office/drawing/2014/main" id="{C069B0E6-03A3-246A-0C5A-729FCB0E8902}"/>
              </a:ext>
            </a:extLst>
          </p:cNvPr>
          <p:cNvSpPr/>
          <p:nvPr/>
        </p:nvSpPr>
        <p:spPr>
          <a:xfrm>
            <a:off x="254001" y="975500"/>
            <a:ext cx="8639575" cy="88036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Normal Distribution Formula: </a:t>
            </a:r>
            <a:r>
              <a:rPr lang="en-US" sz="1800" dirty="0">
                <a:latin typeface="Calibri" panose="020F0502020204030204" pitchFamily="34" charset="0"/>
                <a:ea typeface="Calibri" panose="020F0502020204030204" pitchFamily="34" charset="0"/>
                <a:cs typeface="Calibri" panose="020F0502020204030204" pitchFamily="34" charset="0"/>
              </a:rPr>
              <a:t>The formula for the probability density function of the Normal Distribution (Gaussian Distribution) is added below:</a:t>
            </a:r>
          </a:p>
        </p:txBody>
      </p:sp>
      <p:pic>
        <p:nvPicPr>
          <p:cNvPr id="2050" name="Picture 2" descr="Lightbox">
            <a:extLst>
              <a:ext uri="{FF2B5EF4-FFF2-40B4-BE49-F238E27FC236}">
                <a16:creationId xmlns:a16="http://schemas.microsoft.com/office/drawing/2014/main" id="{5648C17A-B871-73D9-490A-8936407CD2EA}"/>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564742" y="2178182"/>
            <a:ext cx="4317999" cy="198981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EEEB1E1-B2E4-2959-29E2-B547B8995236}"/>
              </a:ext>
            </a:extLst>
          </p:cNvPr>
          <p:cNvSpPr/>
          <p:nvPr/>
        </p:nvSpPr>
        <p:spPr>
          <a:xfrm>
            <a:off x="244954" y="1738212"/>
            <a:ext cx="4327045" cy="337335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Where: x is Random Variable</a:t>
            </a:r>
          </a:p>
          <a:p>
            <a:pPr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                    μ is Mean</a:t>
            </a:r>
          </a:p>
          <a:p>
            <a:pPr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                    σ is Standard Deviation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area under the curve of a normal distribution is always 1.</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curve traced by the upper values of the Normal Distribution is in the shape of a Bell.</a:t>
            </a:r>
          </a:p>
        </p:txBody>
      </p:sp>
      <p:sp>
        <p:nvSpPr>
          <p:cNvPr id="5" name="TextBox 4">
            <a:extLst>
              <a:ext uri="{FF2B5EF4-FFF2-40B4-BE49-F238E27FC236}">
                <a16:creationId xmlns:a16="http://schemas.microsoft.com/office/drawing/2014/main" id="{952CDB4E-A3AA-F137-9926-AF6E9370D07E}"/>
              </a:ext>
            </a:extLst>
          </p:cNvPr>
          <p:cNvSpPr txBox="1"/>
          <p:nvPr/>
        </p:nvSpPr>
        <p:spPr>
          <a:xfrm>
            <a:off x="4571999" y="4276924"/>
            <a:ext cx="4644571"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Figure-2: </a:t>
            </a:r>
            <a:r>
              <a:rPr lang="en-IN" b="1" dirty="0">
                <a:solidFill>
                  <a:schemeClr val="bg2"/>
                </a:solidFill>
                <a:latin typeface="Calibri" panose="020F0502020204030204" pitchFamily="34" charset="0"/>
                <a:ea typeface="Calibri" panose="020F0502020204030204" pitchFamily="34" charset="0"/>
                <a:cs typeface="Calibri" panose="020F0502020204030204" pitchFamily="34" charset="0"/>
              </a:rPr>
              <a:t>Normal Distribution Formula </a:t>
            </a:r>
            <a:endParaRPr lang="en-IN" b="1" dirty="0"/>
          </a:p>
        </p:txBody>
      </p:sp>
    </p:spTree>
    <p:extLst>
      <p:ext uri="{BB962C8B-B14F-4D97-AF65-F5344CB8AC3E}">
        <p14:creationId xmlns:p14="http://schemas.microsoft.com/office/powerpoint/2010/main" val="102178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8D72E80-3E0F-19AF-6D8E-4D1283C6DC9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340900B-9C0B-C2A5-0B2E-F251B5C1373B}"/>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sp>
        <p:nvSpPr>
          <p:cNvPr id="2" name="Title 1">
            <a:extLst>
              <a:ext uri="{FF2B5EF4-FFF2-40B4-BE49-F238E27FC236}">
                <a16:creationId xmlns:a16="http://schemas.microsoft.com/office/drawing/2014/main" id="{630A1591-BC1D-1BA7-C350-8B680D326042}"/>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Normal Distribution Characteristics</a:t>
            </a:r>
          </a:p>
        </p:txBody>
      </p:sp>
      <p:sp>
        <p:nvSpPr>
          <p:cNvPr id="3" name="Rectangle 2">
            <a:extLst>
              <a:ext uri="{FF2B5EF4-FFF2-40B4-BE49-F238E27FC236}">
                <a16:creationId xmlns:a16="http://schemas.microsoft.com/office/drawing/2014/main" id="{9A0465BC-7E12-98A2-33E1-FD4A935EB93B}"/>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Symmetry: </a:t>
            </a:r>
            <a:r>
              <a:rPr lang="en-US" sz="1800" dirty="0">
                <a:latin typeface="Calibri" panose="020F0502020204030204" pitchFamily="34" charset="0"/>
                <a:ea typeface="Calibri" panose="020F0502020204030204" pitchFamily="34" charset="0"/>
                <a:cs typeface="Calibri" panose="020F0502020204030204" pitchFamily="34" charset="0"/>
              </a:rPr>
              <a:t>The normal distribution is symmetric around its mean. This means the left side of the distribution mirrors the right side.</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Mean, Median, and Mode: </a:t>
            </a:r>
            <a:r>
              <a:rPr lang="en-US" sz="1800" dirty="0">
                <a:latin typeface="Calibri" panose="020F0502020204030204" pitchFamily="34" charset="0"/>
                <a:ea typeface="Calibri" panose="020F0502020204030204" pitchFamily="34" charset="0"/>
                <a:cs typeface="Calibri" panose="020F0502020204030204" pitchFamily="34" charset="0"/>
              </a:rPr>
              <a:t>In a normal distribution, the mean, median, and mode are all equal and located at the center of the distribution.</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Bell-shaped Curve: </a:t>
            </a:r>
            <a:r>
              <a:rPr lang="en-US" sz="1800" dirty="0">
                <a:latin typeface="Calibri" panose="020F0502020204030204" pitchFamily="34" charset="0"/>
                <a:ea typeface="Calibri" panose="020F0502020204030204" pitchFamily="34" charset="0"/>
                <a:cs typeface="Calibri" panose="020F0502020204030204" pitchFamily="34" charset="0"/>
              </a:rPr>
              <a:t>The curve is bell-shaped, indicating that most of the observations cluster around the central peak and the probabilities for values further away from the mean taper off equally in both directions.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Standard Deviation: </a:t>
            </a:r>
            <a:r>
              <a:rPr lang="en-US" sz="1800" dirty="0">
                <a:latin typeface="Calibri" panose="020F0502020204030204" pitchFamily="34" charset="0"/>
                <a:ea typeface="Calibri" panose="020F0502020204030204" pitchFamily="34" charset="0"/>
                <a:cs typeface="Calibri" panose="020F0502020204030204" pitchFamily="34" charset="0"/>
              </a:rPr>
              <a:t>The spread of the distribution is determined by the standard deviation. About 68% of the data falls within one standard deviation of the mean, 95% within two standard deviations, and 99.7% within three standard deviations.</a:t>
            </a:r>
          </a:p>
        </p:txBody>
      </p:sp>
    </p:spTree>
    <p:extLst>
      <p:ext uri="{BB962C8B-B14F-4D97-AF65-F5344CB8AC3E}">
        <p14:creationId xmlns:p14="http://schemas.microsoft.com/office/powerpoint/2010/main" val="858352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F094C77-23E8-A8BD-E087-467AB07744F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05C1EE3-4696-1893-28D1-7338D9956B54}"/>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11</a:t>
            </a:r>
          </a:p>
        </p:txBody>
      </p:sp>
      <p:sp>
        <p:nvSpPr>
          <p:cNvPr id="2" name="Title 1">
            <a:extLst>
              <a:ext uri="{FF2B5EF4-FFF2-40B4-BE49-F238E27FC236}">
                <a16:creationId xmlns:a16="http://schemas.microsoft.com/office/drawing/2014/main" id="{0944852B-2204-D666-3E20-3899E242E06C}"/>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Normal Distribution Examples</a:t>
            </a:r>
          </a:p>
        </p:txBody>
      </p:sp>
      <p:sp>
        <p:nvSpPr>
          <p:cNvPr id="3" name="Rectangle 2">
            <a:extLst>
              <a:ext uri="{FF2B5EF4-FFF2-40B4-BE49-F238E27FC236}">
                <a16:creationId xmlns:a16="http://schemas.microsoft.com/office/drawing/2014/main" id="{4FFC850F-5C1B-11AF-21BF-97FC78700AA7}"/>
              </a:ext>
            </a:extLst>
          </p:cNvPr>
          <p:cNvSpPr/>
          <p:nvPr/>
        </p:nvSpPr>
        <p:spPr>
          <a:xfrm>
            <a:off x="254001" y="975500"/>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We can draw a Normal Distribution for various types of data that include,</a:t>
            </a:r>
          </a:p>
          <a:p>
            <a:pPr marL="71913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Distribution of Height of People.</a:t>
            </a:r>
          </a:p>
          <a:p>
            <a:pPr marL="71913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Distribution of Errors in any Measurement.</a:t>
            </a:r>
          </a:p>
          <a:p>
            <a:pPr marL="71913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Distribution of Blood Pressure of any Patient, etc.</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Standard Deviation of Normal Distribution: </a:t>
            </a:r>
            <a:r>
              <a:rPr lang="en-US" sz="1800" dirty="0">
                <a:latin typeface="Calibri" panose="020F0502020204030204" pitchFamily="34" charset="0"/>
                <a:ea typeface="Calibri" panose="020F0502020204030204" pitchFamily="34" charset="0"/>
                <a:cs typeface="Calibri" panose="020F0502020204030204" pitchFamily="34" charset="0"/>
              </a:rPr>
              <a:t>The mean of any data spread out as a graph helps us to find the line of symmetry of the graph. Standard Deviation tells us how far the data is spread out from the mean value on either side. For smaller values of the standard deviation, the values in the graph come closer and the graph becomes narrower. For higher values of the standard deviation, the values in the graph are dispersed more, and the graph becomes wider.</a:t>
            </a:r>
          </a:p>
        </p:txBody>
      </p:sp>
    </p:spTree>
    <p:extLst>
      <p:ext uri="{BB962C8B-B14F-4D97-AF65-F5344CB8AC3E}">
        <p14:creationId xmlns:p14="http://schemas.microsoft.com/office/powerpoint/2010/main" val="2312560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06FCB9C-9360-1E40-DEDA-7CB077129FD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59B46E3-B2A7-CCA9-A8E1-E95E36334DFE}"/>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12</a:t>
            </a:r>
          </a:p>
        </p:txBody>
      </p:sp>
      <p:sp>
        <p:nvSpPr>
          <p:cNvPr id="2" name="Title 1">
            <a:extLst>
              <a:ext uri="{FF2B5EF4-FFF2-40B4-BE49-F238E27FC236}">
                <a16:creationId xmlns:a16="http://schemas.microsoft.com/office/drawing/2014/main" id="{832CE3D8-0298-D972-DEE1-9730291089DA}"/>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Normal Distribution</a:t>
            </a:r>
          </a:p>
        </p:txBody>
      </p:sp>
      <p:sp>
        <p:nvSpPr>
          <p:cNvPr id="3" name="Rectangle 2">
            <a:extLst>
              <a:ext uri="{FF2B5EF4-FFF2-40B4-BE49-F238E27FC236}">
                <a16:creationId xmlns:a16="http://schemas.microsoft.com/office/drawing/2014/main" id="{CC12B170-BE0C-C7BD-C3FC-4E0802F19118}"/>
              </a:ext>
            </a:extLst>
          </p:cNvPr>
          <p:cNvSpPr/>
          <p:nvPr/>
        </p:nvSpPr>
        <p:spPr>
          <a:xfrm>
            <a:off x="254001" y="975500"/>
            <a:ext cx="8639575" cy="4075411"/>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Generally, the normal distribution has a positive standard deviation, and the standard deviation divides the area of the normal curve into smaller parts, and each part defines the percentage of data that falls into a specific region. This is called the Empirical Rule of Standard Deviation in Normal Distribution.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Empirical Rule states that,</a:t>
            </a:r>
          </a:p>
          <a:p>
            <a:pPr marL="623888" lvl="0" indent="-285750" algn="just">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68% of the data approximately fall within one standard deviation of the mean, i.e. it falls between {Mean - One Standard Deviation, and Mean + One Standard Deviation}</a:t>
            </a:r>
          </a:p>
          <a:p>
            <a:pPr marL="623888" lvl="0" indent="-285750" algn="just">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95% of the data approximately fall within two standard deviations of the mean, i.e. it falls between {Mean - Two Standard Deviation, and Mean + Two Standard Deviation}</a:t>
            </a:r>
          </a:p>
          <a:p>
            <a:pPr marL="623888" lvl="0" indent="-285750" algn="just">
              <a:lnSpc>
                <a:spcPct val="150000"/>
              </a:lnSpc>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99.7% of the data approximately fall within a third standard deviation of the mean, i.e. it falls between {Mean - Third Standard Deviation, and Mean + Third Standard Deviation}</a:t>
            </a:r>
          </a:p>
        </p:txBody>
      </p:sp>
    </p:spTree>
    <p:extLst>
      <p:ext uri="{BB962C8B-B14F-4D97-AF65-F5344CB8AC3E}">
        <p14:creationId xmlns:p14="http://schemas.microsoft.com/office/powerpoint/2010/main" val="1247611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06FFF62-3AB5-5064-1E48-DD5E7D83FD7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065EA0A-191A-C9E6-57DA-17135A5F388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13</a:t>
            </a:r>
          </a:p>
        </p:txBody>
      </p:sp>
      <p:sp>
        <p:nvSpPr>
          <p:cNvPr id="2" name="Title 1">
            <a:extLst>
              <a:ext uri="{FF2B5EF4-FFF2-40B4-BE49-F238E27FC236}">
                <a16:creationId xmlns:a16="http://schemas.microsoft.com/office/drawing/2014/main" id="{94393947-392C-694A-A971-954E5A4EAC2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Applications of Normal Distribution</a:t>
            </a:r>
          </a:p>
        </p:txBody>
      </p:sp>
      <p:sp>
        <p:nvSpPr>
          <p:cNvPr id="3" name="Rectangle 2">
            <a:extLst>
              <a:ext uri="{FF2B5EF4-FFF2-40B4-BE49-F238E27FC236}">
                <a16:creationId xmlns:a16="http://schemas.microsoft.com/office/drawing/2014/main" id="{042C42A0-0E08-4391-2AA7-A449C2286526}"/>
              </a:ext>
            </a:extLst>
          </p:cNvPr>
          <p:cNvSpPr/>
          <p:nvPr/>
        </p:nvSpPr>
        <p:spPr>
          <a:xfrm>
            <a:off x="254001" y="975500"/>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Feature Scaling (Standardization) in Machine Learning</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Improves the performance of algorithms like SVM, KNN, and Neural Networks.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Bayesian Inference &amp; Probabilistic Models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Used in Gaussian Mixture Models (GMM) for clustering.</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Anomaly Detection like Outliers are detected if they fall beyond </a:t>
            </a:r>
            <a:r>
              <a:rPr lang="el-GR" sz="1800" dirty="0">
                <a:latin typeface="Calibri" panose="020F0502020204030204" pitchFamily="34" charset="0"/>
                <a:ea typeface="Calibri" panose="020F0502020204030204" pitchFamily="34" charset="0"/>
                <a:cs typeface="Calibri" panose="020F0502020204030204" pitchFamily="34" charset="0"/>
              </a:rPr>
              <a:t>μ ± 3σ</a:t>
            </a:r>
            <a:r>
              <a:rPr lang="en-IN" sz="1800" dirty="0">
                <a:latin typeface="Calibri" panose="020F0502020204030204" pitchFamily="34" charset="0"/>
                <a:ea typeface="Calibri" panose="020F0502020204030204" pitchFamily="34" charset="0"/>
                <a:cs typeface="Calibri" panose="020F0502020204030204" pitchFamily="34" charset="0"/>
              </a:rPr>
              <a:t> and </a:t>
            </a:r>
            <a:r>
              <a:rPr lang="en-US" sz="1800" dirty="0">
                <a:latin typeface="Calibri" panose="020F0502020204030204" pitchFamily="34" charset="0"/>
                <a:ea typeface="Calibri" panose="020F0502020204030204" pitchFamily="34" charset="0"/>
                <a:cs typeface="Calibri" panose="020F0502020204030204" pitchFamily="34" charset="0"/>
              </a:rPr>
              <a:t>used in fraud detection, network security.</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Gaussian Blurring like applies a normal-distributed kernel to smooth images and reduces noise while preserving edges.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Diffusion Models (Generative AI) like noise is added/removed in a Gaussian process (e.g., Stable Diffusion).</a:t>
            </a:r>
          </a:p>
        </p:txBody>
      </p:sp>
    </p:spTree>
    <p:extLst>
      <p:ext uri="{BB962C8B-B14F-4D97-AF65-F5344CB8AC3E}">
        <p14:creationId xmlns:p14="http://schemas.microsoft.com/office/powerpoint/2010/main" val="91297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065E072-8FC7-FB46-6810-0B5A855ED44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9D004AA-8731-748C-E583-9E0F44EB9FC4}"/>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14</a:t>
            </a:r>
          </a:p>
        </p:txBody>
      </p:sp>
      <p:sp>
        <p:nvSpPr>
          <p:cNvPr id="2" name="Title 1">
            <a:extLst>
              <a:ext uri="{FF2B5EF4-FFF2-40B4-BE49-F238E27FC236}">
                <a16:creationId xmlns:a16="http://schemas.microsoft.com/office/drawing/2014/main" id="{DF10F234-6568-6997-495F-1E206628B2DF}"/>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T Distribution</a:t>
            </a:r>
          </a:p>
        </p:txBody>
      </p:sp>
      <p:sp>
        <p:nvSpPr>
          <p:cNvPr id="3" name="Rectangle 2">
            <a:extLst>
              <a:ext uri="{FF2B5EF4-FFF2-40B4-BE49-F238E27FC236}">
                <a16:creationId xmlns:a16="http://schemas.microsoft.com/office/drawing/2014/main" id="{045B2C7E-B6D9-0627-D3C1-361E4BFEC667}"/>
              </a:ext>
            </a:extLst>
          </p:cNvPr>
          <p:cNvSpPr/>
          <p:nvPr/>
        </p:nvSpPr>
        <p:spPr>
          <a:xfrm>
            <a:off x="254001" y="975500"/>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T Distribution also called the student’s t-distribution and is used while making assumptions about a mean when we don’t know the standard deviation.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probability and statistics, the normal distribution is a bell-shaped distribution whose mean is μ and the standard deviation is σ.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t-distribution is similar to normal distribution but flatter and shorter than a normal distribution.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Here, we are going to discuss what is t-distribution, formula, table, properties, and applications.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t-score indicates how many estimated standard errors the sample mean (x̄) is away from the population mean (μ).</a:t>
            </a:r>
          </a:p>
        </p:txBody>
      </p:sp>
    </p:spTree>
    <p:extLst>
      <p:ext uri="{BB962C8B-B14F-4D97-AF65-F5344CB8AC3E}">
        <p14:creationId xmlns:p14="http://schemas.microsoft.com/office/powerpoint/2010/main" val="2687805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F044BB8-BB34-6A82-C84C-D5344E3F6A6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5F8704A-E7EB-3325-48CE-9A4C815D587E}"/>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15</a:t>
            </a:r>
          </a:p>
        </p:txBody>
      </p:sp>
      <p:sp>
        <p:nvSpPr>
          <p:cNvPr id="2" name="Title 1">
            <a:extLst>
              <a:ext uri="{FF2B5EF4-FFF2-40B4-BE49-F238E27FC236}">
                <a16:creationId xmlns:a16="http://schemas.microsoft.com/office/drawing/2014/main" id="{798DE0EE-6F86-BE48-90B6-A9354BBD803B}"/>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T Distribution</a:t>
            </a:r>
          </a:p>
        </p:txBody>
      </p:sp>
      <p:sp>
        <p:nvSpPr>
          <p:cNvPr id="3" name="Rectangle 2">
            <a:extLst>
              <a:ext uri="{FF2B5EF4-FFF2-40B4-BE49-F238E27FC236}">
                <a16:creationId xmlns:a16="http://schemas.microsoft.com/office/drawing/2014/main" id="{37A0EF74-53A7-9F9D-EBFD-250E80872DC2}"/>
              </a:ext>
            </a:extLst>
          </p:cNvPr>
          <p:cNvSpPr/>
          <p:nvPr/>
        </p:nvSpPr>
        <p:spPr>
          <a:xfrm>
            <a:off x="254001" y="975500"/>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T- Distribution Definition: </a:t>
            </a:r>
            <a:r>
              <a:rPr lang="en-US" sz="1800" dirty="0">
                <a:latin typeface="Calibri" panose="020F0502020204030204" pitchFamily="34" charset="0"/>
                <a:ea typeface="Calibri" panose="020F0502020204030204" pitchFamily="34" charset="0"/>
                <a:cs typeface="Calibri" panose="020F0502020204030204" pitchFamily="34" charset="0"/>
              </a:rPr>
              <a:t>The t-distribution is a hypothetical probability distribution. It is also known as the student’s t-distribution and used to make presumptions about a mean when the standard deviation is not known to us. It is symmetrical, bell-shaped distribution, similar to the standard normal curve. As high as the degrees of freedom (</a:t>
            </a:r>
            <a:r>
              <a:rPr lang="en-US" sz="1800" dirty="0" err="1">
                <a:latin typeface="Calibri" panose="020F0502020204030204" pitchFamily="34" charset="0"/>
                <a:ea typeface="Calibri" panose="020F0502020204030204" pitchFamily="34" charset="0"/>
                <a:cs typeface="Calibri" panose="020F0502020204030204" pitchFamily="34" charset="0"/>
              </a:rPr>
              <a:t>df</a:t>
            </a:r>
            <a:r>
              <a:rPr lang="en-US" sz="1800" dirty="0">
                <a:latin typeface="Calibri" panose="020F0502020204030204" pitchFamily="34" charset="0"/>
                <a:ea typeface="Calibri" panose="020F0502020204030204" pitchFamily="34" charset="0"/>
                <a:cs typeface="Calibri" panose="020F0502020204030204" pitchFamily="34" charset="0"/>
              </a:rPr>
              <a:t>), the closer this distribution will approximate a standard normal distribution with a mean of 0 and a standard deviation of 1.</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T Distribution Formula: </a:t>
            </a:r>
            <a:r>
              <a:rPr lang="en-US" sz="1800" dirty="0">
                <a:latin typeface="Calibri" panose="020F0502020204030204" pitchFamily="34" charset="0"/>
                <a:ea typeface="Calibri" panose="020F0502020204030204" pitchFamily="34" charset="0"/>
                <a:cs typeface="Calibri" panose="020F0502020204030204" pitchFamily="34" charset="0"/>
              </a:rPr>
              <a:t>A t-distribution is the whole set of t values measured for every possible random sample for specific sample size or a particular degree of freedom. It approximates the shape of normal distribution.</a:t>
            </a:r>
          </a:p>
        </p:txBody>
      </p:sp>
    </p:spTree>
    <p:extLst>
      <p:ext uri="{BB962C8B-B14F-4D97-AF65-F5344CB8AC3E}">
        <p14:creationId xmlns:p14="http://schemas.microsoft.com/office/powerpoint/2010/main" val="1553083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F3C7A3E-9E43-D603-75BF-0C64C7AFF79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CF381FC-EC07-0772-3188-D10099C5975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16</a:t>
            </a:r>
          </a:p>
        </p:txBody>
      </p:sp>
      <p:sp>
        <p:nvSpPr>
          <p:cNvPr id="2" name="Title 1">
            <a:extLst>
              <a:ext uri="{FF2B5EF4-FFF2-40B4-BE49-F238E27FC236}">
                <a16:creationId xmlns:a16="http://schemas.microsoft.com/office/drawing/2014/main" id="{3CC9DEEF-DDE0-8727-4F1B-053BE1DEC02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T Distribution</a:t>
            </a:r>
          </a:p>
        </p:txBody>
      </p:sp>
      <p:sp>
        <p:nvSpPr>
          <p:cNvPr id="3" name="Rectangle 2">
            <a:extLst>
              <a:ext uri="{FF2B5EF4-FFF2-40B4-BE49-F238E27FC236}">
                <a16:creationId xmlns:a16="http://schemas.microsoft.com/office/drawing/2014/main" id="{C80AF8E0-2212-6579-471B-7409751F9090}"/>
              </a:ext>
            </a:extLst>
          </p:cNvPr>
          <p:cNvSpPr/>
          <p:nvPr/>
        </p:nvSpPr>
        <p:spPr>
          <a:xfrm>
            <a:off x="254001" y="975500"/>
            <a:ext cx="8639575" cy="171136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Let x have a normal distribution with mean ‘μ’ for the sample of size ‘n’ with sample mean x̄ and the sample standard deviation ‘s’, then the t variable has student’s t-distribution with a degree of freedom, </a:t>
            </a:r>
            <a:r>
              <a:rPr lang="en-US" sz="1800" dirty="0" err="1">
                <a:latin typeface="Calibri" panose="020F0502020204030204" pitchFamily="34" charset="0"/>
                <a:ea typeface="Calibri" panose="020F0502020204030204" pitchFamily="34" charset="0"/>
                <a:cs typeface="Calibri" panose="020F0502020204030204" pitchFamily="34" charset="0"/>
              </a:rPr>
              <a:t>d.f</a:t>
            </a:r>
            <a:r>
              <a:rPr lang="en-US" sz="1800" dirty="0">
                <a:latin typeface="Calibri" panose="020F0502020204030204" pitchFamily="34" charset="0"/>
                <a:ea typeface="Calibri" panose="020F0502020204030204" pitchFamily="34" charset="0"/>
                <a:cs typeface="Calibri" panose="020F0502020204030204" pitchFamily="34" charset="0"/>
              </a:rPr>
              <a:t> = n – 1. The formula for t-distribution is given by;</a:t>
            </a:r>
          </a:p>
        </p:txBody>
      </p:sp>
      <p:pic>
        <p:nvPicPr>
          <p:cNvPr id="3074" name="Picture 2" descr="T distribution formula">
            <a:extLst>
              <a:ext uri="{FF2B5EF4-FFF2-40B4-BE49-F238E27FC236}">
                <a16:creationId xmlns:a16="http://schemas.microsoft.com/office/drawing/2014/main" id="{F993B7FB-3FA1-CAFC-1CED-74FDADFDCC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942" y="2275568"/>
            <a:ext cx="7228115" cy="2724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5712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D8D72DD-7FCB-53A2-0AAC-04F86B33C25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4372870-3C0E-605B-CD2F-3DDEA2496FEB}"/>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17</a:t>
            </a:r>
          </a:p>
        </p:txBody>
      </p:sp>
      <p:sp>
        <p:nvSpPr>
          <p:cNvPr id="2" name="Title 1">
            <a:extLst>
              <a:ext uri="{FF2B5EF4-FFF2-40B4-BE49-F238E27FC236}">
                <a16:creationId xmlns:a16="http://schemas.microsoft.com/office/drawing/2014/main" id="{26FF3460-E354-C96B-0B5C-8B45AD325DA8}"/>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T Distribution</a:t>
            </a:r>
          </a:p>
        </p:txBody>
      </p:sp>
      <p:sp>
        <p:nvSpPr>
          <p:cNvPr id="3" name="Rectangle 2">
            <a:extLst>
              <a:ext uri="{FF2B5EF4-FFF2-40B4-BE49-F238E27FC236}">
                <a16:creationId xmlns:a16="http://schemas.microsoft.com/office/drawing/2014/main" id="{02C4ED14-044F-C236-F281-8A048254F0AF}"/>
              </a:ext>
            </a:extLst>
          </p:cNvPr>
          <p:cNvSpPr/>
          <p:nvPr/>
        </p:nvSpPr>
        <p:spPr>
          <a:xfrm>
            <a:off x="254001" y="946472"/>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Properties of T Distribution</a:t>
            </a:r>
          </a:p>
          <a:p>
            <a:pPr marL="71913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It ranges from −∞ to +∞.</a:t>
            </a:r>
          </a:p>
          <a:p>
            <a:pPr marL="71913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It has a bell-shaped curve and symmetry similar to normal distribution.</a:t>
            </a:r>
          </a:p>
          <a:p>
            <a:pPr marL="71913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shape of the t-distribution varies with the change in degrees of freedom.</a:t>
            </a:r>
          </a:p>
          <a:p>
            <a:pPr marL="719138" lvl="0" indent="-285750"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The variance of the t-distribution is always greater than ‘1’ and is limited only to 3 or more degrees of freedom. </a:t>
            </a:r>
          </a:p>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When to use the t-Distribution: </a:t>
            </a:r>
            <a:r>
              <a:rPr lang="en-US" sz="1800" dirty="0">
                <a:latin typeface="Calibri" panose="020F0502020204030204" pitchFamily="34" charset="0"/>
                <a:ea typeface="Calibri" panose="020F0502020204030204" pitchFamily="34" charset="0"/>
                <a:cs typeface="Calibri" panose="020F0502020204030204" pitchFamily="34" charset="0"/>
              </a:rPr>
              <a:t>Student's t Distribution is used when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sample size is 30 or less than 30 and the population standard deviation(σ) is unknown.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population distribution must be unimodal and skewed.</a:t>
            </a:r>
          </a:p>
        </p:txBody>
      </p:sp>
    </p:spTree>
    <p:extLst>
      <p:ext uri="{BB962C8B-B14F-4D97-AF65-F5344CB8AC3E}">
        <p14:creationId xmlns:p14="http://schemas.microsoft.com/office/powerpoint/2010/main" val="1893301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C9944AB-4CA5-5CE5-A9E2-350FFFC779F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4E85E22-621A-27ED-C368-7C1F7D562AB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18</a:t>
            </a:r>
          </a:p>
        </p:txBody>
      </p:sp>
      <p:sp>
        <p:nvSpPr>
          <p:cNvPr id="2" name="Title 1">
            <a:extLst>
              <a:ext uri="{FF2B5EF4-FFF2-40B4-BE49-F238E27FC236}">
                <a16:creationId xmlns:a16="http://schemas.microsoft.com/office/drawing/2014/main" id="{E672948E-20DA-8767-79AC-5CBB154D1489}"/>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T Distribution</a:t>
            </a:r>
          </a:p>
        </p:txBody>
      </p:sp>
      <p:sp>
        <p:nvSpPr>
          <p:cNvPr id="3" name="Rectangle 2">
            <a:extLst>
              <a:ext uri="{FF2B5EF4-FFF2-40B4-BE49-F238E27FC236}">
                <a16:creationId xmlns:a16="http://schemas.microsoft.com/office/drawing/2014/main" id="{76D6B174-C1BA-AEAC-6E2B-A7827F5C4F57}"/>
              </a:ext>
            </a:extLst>
          </p:cNvPr>
          <p:cNvSpPr/>
          <p:nvPr/>
        </p:nvSpPr>
        <p:spPr>
          <a:xfrm>
            <a:off x="254001" y="975500"/>
            <a:ext cx="8639575" cy="3788858"/>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Applications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Testing a Population Mean: </a:t>
            </a:r>
            <a:r>
              <a:rPr lang="en-US" sz="1800" dirty="0">
                <a:latin typeface="Calibri" panose="020F0502020204030204" pitchFamily="34" charset="0"/>
                <a:ea typeface="Calibri" panose="020F0502020204030204" pitchFamily="34" charset="0"/>
                <a:cs typeface="Calibri" panose="020F0502020204030204" pitchFamily="34" charset="0"/>
              </a:rPr>
              <a:t>Determine if a sample mean significantly differs from a known or hypothesized population mean.</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Comparing Two Means: </a:t>
            </a:r>
            <a:r>
              <a:rPr lang="en-US" sz="1800" dirty="0">
                <a:latin typeface="Calibri" panose="020F0502020204030204" pitchFamily="34" charset="0"/>
                <a:ea typeface="Calibri" panose="020F0502020204030204" pitchFamily="34" charset="0"/>
                <a:cs typeface="Calibri" panose="020F0502020204030204" pitchFamily="34" charset="0"/>
              </a:rPr>
              <a:t>Evaluate whether two independent or paired samples have different means.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Testing Correlation: </a:t>
            </a:r>
            <a:r>
              <a:rPr lang="en-US" sz="1800" dirty="0">
                <a:latin typeface="Calibri" panose="020F0502020204030204" pitchFamily="34" charset="0"/>
                <a:ea typeface="Calibri" panose="020F0502020204030204" pitchFamily="34" charset="0"/>
                <a:cs typeface="Calibri" panose="020F0502020204030204" pitchFamily="34" charset="0"/>
              </a:rPr>
              <a:t>Assess if the correlation coefficient between two variables significantly differs from zero.</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Testing for the hypothesis of the difference between two means having the dependent sample.</a:t>
            </a:r>
          </a:p>
        </p:txBody>
      </p:sp>
    </p:spTree>
    <p:extLst>
      <p:ext uri="{BB962C8B-B14F-4D97-AF65-F5344CB8AC3E}">
        <p14:creationId xmlns:p14="http://schemas.microsoft.com/office/powerpoint/2010/main" val="613057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C9F4E05-34D3-E9F3-7713-11767E17303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F2E7AE9-E09F-915D-A263-2C7334B7154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19</a:t>
            </a:r>
          </a:p>
        </p:txBody>
      </p:sp>
      <p:sp>
        <p:nvSpPr>
          <p:cNvPr id="2" name="Title 1">
            <a:extLst>
              <a:ext uri="{FF2B5EF4-FFF2-40B4-BE49-F238E27FC236}">
                <a16:creationId xmlns:a16="http://schemas.microsoft.com/office/drawing/2014/main" id="{F9AA4CB9-5556-106B-DE03-2FD6E363C662}"/>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T Distribution</a:t>
            </a:r>
          </a:p>
        </p:txBody>
      </p:sp>
      <p:sp>
        <p:nvSpPr>
          <p:cNvPr id="3" name="Rectangle 2">
            <a:extLst>
              <a:ext uri="{FF2B5EF4-FFF2-40B4-BE49-F238E27FC236}">
                <a16:creationId xmlns:a16="http://schemas.microsoft.com/office/drawing/2014/main" id="{BD37AD5B-8785-6EEA-3B9F-63345CCE4873}"/>
              </a:ext>
            </a:extLst>
          </p:cNvPr>
          <p:cNvSpPr/>
          <p:nvPr/>
        </p:nvSpPr>
        <p:spPr>
          <a:xfrm>
            <a:off x="254001" y="975500"/>
            <a:ext cx="8639575" cy="3788858"/>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Limitations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Assumes Normality: The t-distribution relies on the assumption that the underlying population is normally distributed. Significant deviations can lead to inaccurate results.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Less Useful for Large Samples: As the sample size increases, the t-distribution approaches the normal distribution, making the latter more suitable for large datasets.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Sensitive to Outliers: Extreme values can distort results, especially in small samples where the t-distribution’s heavy tails amplify their effect.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Requires Random Sampling: Valid conclusions depend on random, independent observations. Violating these assumptions reduces the reliability of inferences.</a:t>
            </a:r>
          </a:p>
        </p:txBody>
      </p:sp>
    </p:spTree>
    <p:extLst>
      <p:ext uri="{BB962C8B-B14F-4D97-AF65-F5344CB8AC3E}">
        <p14:creationId xmlns:p14="http://schemas.microsoft.com/office/powerpoint/2010/main" val="10873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EE0F8F7-538F-E669-6CBE-9AFF479932D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5D1685D-FC1F-FCDE-79B0-FF4FAD08E30C}"/>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20</a:t>
            </a:r>
          </a:p>
        </p:txBody>
      </p:sp>
      <p:sp>
        <p:nvSpPr>
          <p:cNvPr id="2" name="Title 1">
            <a:extLst>
              <a:ext uri="{FF2B5EF4-FFF2-40B4-BE49-F238E27FC236}">
                <a16:creationId xmlns:a16="http://schemas.microsoft.com/office/drawing/2014/main" id="{AD2D82CE-E248-A183-77BC-BE3029B2E71A}"/>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RSE (Residual Standard Error)</a:t>
            </a:r>
          </a:p>
        </p:txBody>
      </p:sp>
      <p:sp>
        <p:nvSpPr>
          <p:cNvPr id="3" name="Rectangle 2">
            <a:extLst>
              <a:ext uri="{FF2B5EF4-FFF2-40B4-BE49-F238E27FC236}">
                <a16:creationId xmlns:a16="http://schemas.microsoft.com/office/drawing/2014/main" id="{1DFA8DCA-2491-9983-7BC4-D0E2F41F1527}"/>
              </a:ext>
            </a:extLst>
          </p:cNvPr>
          <p:cNvSpPr/>
          <p:nvPr/>
        </p:nvSpPr>
        <p:spPr>
          <a:xfrm>
            <a:off x="254001" y="975500"/>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Definition: </a:t>
            </a:r>
            <a:r>
              <a:rPr lang="en-US" sz="1800" dirty="0">
                <a:latin typeface="Calibri" panose="020F0502020204030204" pitchFamily="34" charset="0"/>
                <a:ea typeface="Calibri" panose="020F0502020204030204" pitchFamily="34" charset="0"/>
                <a:cs typeface="Calibri" panose="020F0502020204030204" pitchFamily="34" charset="0"/>
              </a:rPr>
              <a:t>The RSE is the standard deviation of the residuals (the differences between the observed values and the values predicted by the model). It provides an absolute measure of the typical distance that the data points fall from the regression line.</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Units: </a:t>
            </a:r>
            <a:r>
              <a:rPr lang="en-US" sz="1800" dirty="0">
                <a:latin typeface="Calibri" panose="020F0502020204030204" pitchFamily="34" charset="0"/>
                <a:ea typeface="Calibri" panose="020F0502020204030204" pitchFamily="34" charset="0"/>
                <a:cs typeface="Calibri" panose="020F0502020204030204" pitchFamily="34" charset="0"/>
              </a:rPr>
              <a:t>RSE is measured in the same units as the dependent (response) variable. For example, if you are predicting sales in dollars, the RSE will be in dollars.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Interpretation: </a:t>
            </a:r>
            <a:r>
              <a:rPr lang="en-US" sz="1800" dirty="0">
                <a:latin typeface="Calibri" panose="020F0502020204030204" pitchFamily="34" charset="0"/>
                <a:ea typeface="Calibri" panose="020F0502020204030204" pitchFamily="34" charset="0"/>
                <a:cs typeface="Calibri" panose="020F0502020204030204" pitchFamily="34" charset="0"/>
              </a:rPr>
              <a:t>A smaller RSE indicates a better-fitting model, as it means, on average, the observed values deviate less from the predicted values. </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Analogy: </a:t>
            </a:r>
            <a:r>
              <a:rPr lang="en-US" sz="1800" dirty="0">
                <a:latin typeface="Calibri" panose="020F0502020204030204" pitchFamily="34" charset="0"/>
                <a:ea typeface="Calibri" panose="020F0502020204030204" pitchFamily="34" charset="0"/>
                <a:cs typeface="Calibri" panose="020F0502020204030204" pitchFamily="34" charset="0"/>
              </a:rPr>
              <a:t>The RSE is like knowing the exact speed a car is traveling (e.g., 72 MPH faster), providing a concrete, absolute measure of the error. </a:t>
            </a:r>
          </a:p>
        </p:txBody>
      </p:sp>
    </p:spTree>
    <p:extLst>
      <p:ext uri="{BB962C8B-B14F-4D97-AF65-F5344CB8AC3E}">
        <p14:creationId xmlns:p14="http://schemas.microsoft.com/office/powerpoint/2010/main" val="3987591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C97F0B0-9582-10A0-5F1B-9B3C573F914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8048544-F15C-DD29-81DD-354ADA3F79B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21</a:t>
            </a:r>
          </a:p>
        </p:txBody>
      </p:sp>
      <p:sp>
        <p:nvSpPr>
          <p:cNvPr id="2" name="Title 1">
            <a:extLst>
              <a:ext uri="{FF2B5EF4-FFF2-40B4-BE49-F238E27FC236}">
                <a16:creationId xmlns:a16="http://schemas.microsoft.com/office/drawing/2014/main" id="{AE9B90B2-75B4-5FE4-23A9-6D1C3F9B9D07}"/>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RSE (Residual Standard Error)</a:t>
            </a:r>
          </a:p>
        </p:txBody>
      </p:sp>
      <p:sp>
        <p:nvSpPr>
          <p:cNvPr id="3" name="Rectangle 2">
            <a:extLst>
              <a:ext uri="{FF2B5EF4-FFF2-40B4-BE49-F238E27FC236}">
                <a16:creationId xmlns:a16="http://schemas.microsoft.com/office/drawing/2014/main" id="{B8B3515D-8D45-7551-2902-3116C470A0D9}"/>
              </a:ext>
            </a:extLst>
          </p:cNvPr>
          <p:cNvSpPr/>
          <p:nvPr/>
        </p:nvSpPr>
        <p:spPr>
          <a:xfrm>
            <a:off x="254001" y="975500"/>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RSE is the standard deviation of the residuals (the differences between the observed values and the values predicted by the model). It provides an absolute measure of the typical distance that the data points fall from the regression line.</a:t>
            </a:r>
          </a:p>
          <a:p>
            <a:pPr marL="285750" lvl="0" indent="-285750" algn="just">
              <a:lnSpc>
                <a:spcPct val="150000"/>
              </a:lnSpc>
              <a:buFont typeface="Wingdings" panose="05000000000000000000" pitchFamily="2" charset="2"/>
              <a:buChar char="Ø"/>
            </a:pPr>
            <a:endParaRPr lang="en-US"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Units: </a:t>
            </a:r>
            <a:r>
              <a:rPr lang="en-US" sz="1800" dirty="0">
                <a:latin typeface="Calibri" panose="020F0502020204030204" pitchFamily="34" charset="0"/>
                <a:ea typeface="Calibri" panose="020F0502020204030204" pitchFamily="34" charset="0"/>
                <a:cs typeface="Calibri" panose="020F0502020204030204" pitchFamily="34" charset="0"/>
              </a:rPr>
              <a:t>RSE is measured in the same units as the dependent (response) variable. For example, if you are predicting sales in dollars, the RSE will be in dollars.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Interpretation: </a:t>
            </a:r>
            <a:r>
              <a:rPr lang="en-US" sz="1800" dirty="0">
                <a:latin typeface="Calibri" panose="020F0502020204030204" pitchFamily="34" charset="0"/>
                <a:ea typeface="Calibri" panose="020F0502020204030204" pitchFamily="34" charset="0"/>
                <a:cs typeface="Calibri" panose="020F0502020204030204" pitchFamily="34" charset="0"/>
              </a:rPr>
              <a:t>A smaller RSE indicates a better-fitting model, as it means, on average, the observed values deviate less from the predicted values. </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Analogy: </a:t>
            </a:r>
            <a:r>
              <a:rPr lang="en-US" sz="1800" dirty="0">
                <a:latin typeface="Calibri" panose="020F0502020204030204" pitchFamily="34" charset="0"/>
                <a:ea typeface="Calibri" panose="020F0502020204030204" pitchFamily="34" charset="0"/>
                <a:cs typeface="Calibri" panose="020F0502020204030204" pitchFamily="34" charset="0"/>
              </a:rPr>
              <a:t>The RSE is like knowing the exact speed a car is traveling (e.g., 72 MPH faster), providing a concrete, absolute measure of the error. </a:t>
            </a:r>
          </a:p>
        </p:txBody>
      </p:sp>
      <p:pic>
        <p:nvPicPr>
          <p:cNvPr id="5" name="Picture 4">
            <a:extLst>
              <a:ext uri="{FF2B5EF4-FFF2-40B4-BE49-F238E27FC236}">
                <a16:creationId xmlns:a16="http://schemas.microsoft.com/office/drawing/2014/main" id="{77A81043-0BFA-A500-5EAE-8955537ED4DB}"/>
              </a:ext>
            </a:extLst>
          </p:cNvPr>
          <p:cNvPicPr>
            <a:picLocks noChangeAspect="1"/>
          </p:cNvPicPr>
          <p:nvPr/>
        </p:nvPicPr>
        <p:blipFill>
          <a:blip r:embed="rId3"/>
          <a:stretch>
            <a:fillRect/>
          </a:stretch>
        </p:blipFill>
        <p:spPr>
          <a:xfrm>
            <a:off x="3551493" y="2151093"/>
            <a:ext cx="1434163" cy="559081"/>
          </a:xfrm>
          <a:prstGeom prst="rect">
            <a:avLst/>
          </a:prstGeom>
        </p:spPr>
      </p:pic>
    </p:spTree>
    <p:extLst>
      <p:ext uri="{BB962C8B-B14F-4D97-AF65-F5344CB8AC3E}">
        <p14:creationId xmlns:p14="http://schemas.microsoft.com/office/powerpoint/2010/main" val="1507425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26EE8F1-8D72-79FD-29FD-DAF2D944F61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60C84A4-8400-B196-F69F-F740069FE1B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22</a:t>
            </a:r>
          </a:p>
        </p:txBody>
      </p:sp>
      <p:sp>
        <p:nvSpPr>
          <p:cNvPr id="2" name="Title 1">
            <a:extLst>
              <a:ext uri="{FF2B5EF4-FFF2-40B4-BE49-F238E27FC236}">
                <a16:creationId xmlns:a16="http://schemas.microsoft.com/office/drawing/2014/main" id="{3A26D5BA-FAA9-9755-3953-85C6A307E635}"/>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R² (R-squared)</a:t>
            </a:r>
          </a:p>
        </p:txBody>
      </p:sp>
      <p:sp>
        <p:nvSpPr>
          <p:cNvPr id="3" name="Rectangle 2">
            <a:extLst>
              <a:ext uri="{FF2B5EF4-FFF2-40B4-BE49-F238E27FC236}">
                <a16:creationId xmlns:a16="http://schemas.microsoft.com/office/drawing/2014/main" id="{17B05504-42B2-A03B-FC96-B12BB6C79442}"/>
              </a:ext>
            </a:extLst>
          </p:cNvPr>
          <p:cNvSpPr/>
          <p:nvPr/>
        </p:nvSpPr>
        <p:spPr>
          <a:xfrm>
            <a:off x="254001" y="975500"/>
            <a:ext cx="8639575" cy="4167744"/>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Definition: </a:t>
            </a:r>
            <a:r>
              <a:rPr lang="en-US" sz="1800" dirty="0">
                <a:latin typeface="Calibri" panose="020F0502020204030204" pitchFamily="34" charset="0"/>
                <a:ea typeface="Calibri" panose="020F0502020204030204" pitchFamily="34" charset="0"/>
                <a:cs typeface="Calibri" panose="020F0502020204030204" pitchFamily="34" charset="0"/>
              </a:rPr>
              <a:t>R² (also known as the coefficient of determination) is a relative measure that indicates the proportion of the variance in the dependent variable that is predictable from the independent variable(s). It is calculated as 1 minus the ratio of the residual sum of squares (RSS) to the total sum of squares (TSS). </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Units: </a:t>
            </a:r>
            <a:r>
              <a:rPr lang="en-US" sz="1800" dirty="0">
                <a:latin typeface="Calibri" panose="020F0502020204030204" pitchFamily="34" charset="0"/>
                <a:ea typeface="Calibri" panose="020F0502020204030204" pitchFamily="34" charset="0"/>
                <a:cs typeface="Calibri" panose="020F0502020204030204" pitchFamily="34" charset="0"/>
              </a:rPr>
              <a:t>R² is a unitless proportion (or percentage), ranging from 0 to 1 (or 0% to 100%).</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Interpretation: </a:t>
            </a:r>
            <a:r>
              <a:rPr lang="en-US" b="1" dirty="0">
                <a:latin typeface="Calibri" panose="020F0502020204030204" pitchFamily="34" charset="0"/>
                <a:ea typeface="Calibri" panose="020F0502020204030204" pitchFamily="34" charset="0"/>
                <a:cs typeface="Calibri" panose="020F0502020204030204" pitchFamily="34" charset="0"/>
              </a:rPr>
              <a:t>A higher R² value indicates a better model fit.</a:t>
            </a:r>
          </a:p>
          <a:p>
            <a:pPr marL="1704975" algn="just">
              <a:lnSpc>
                <a:spcPct val="150000"/>
              </a:lnSpc>
            </a:pPr>
            <a:r>
              <a:rPr lang="en-US" b="1" dirty="0">
                <a:latin typeface="Calibri" panose="020F0502020204030204" pitchFamily="34" charset="0"/>
                <a:ea typeface="Calibri" panose="020F0502020204030204" pitchFamily="34" charset="0"/>
                <a:cs typeface="Calibri" panose="020F0502020204030204" pitchFamily="34" charset="0"/>
              </a:rPr>
              <a:t>R² = 1: The model perfectly predicts the variability in the response variable.</a:t>
            </a:r>
          </a:p>
          <a:p>
            <a:pPr marL="1704975" algn="just">
              <a:lnSpc>
                <a:spcPct val="150000"/>
              </a:lnSpc>
            </a:pPr>
            <a:r>
              <a:rPr lang="en-US" b="1" dirty="0">
                <a:latin typeface="Calibri" panose="020F0502020204030204" pitchFamily="34" charset="0"/>
                <a:ea typeface="Calibri" panose="020F0502020204030204" pitchFamily="34" charset="0"/>
                <a:cs typeface="Calibri" panose="020F0502020204030204" pitchFamily="34" charset="0"/>
              </a:rPr>
              <a:t>R² = 0: The model explains none of the variability in the response variable (it predicts no better than the mean of the dependent variable).</a:t>
            </a:r>
          </a:p>
          <a:p>
            <a:pPr marL="1704975" lvl="0" algn="just">
              <a:lnSpc>
                <a:spcPct val="150000"/>
              </a:lnSpc>
            </a:pPr>
            <a:r>
              <a:rPr lang="en-US" b="1" dirty="0">
                <a:latin typeface="Calibri" panose="020F0502020204030204" pitchFamily="34" charset="0"/>
                <a:ea typeface="Calibri" panose="020F0502020204030204" pitchFamily="34" charset="0"/>
                <a:cs typeface="Calibri" panose="020F0502020204030204" pitchFamily="34" charset="0"/>
              </a:rPr>
              <a:t>An R² of 0.61 means that 61% of the variability in the dependent variable is explained by the model.</a:t>
            </a:r>
          </a:p>
        </p:txBody>
      </p:sp>
      <p:pic>
        <p:nvPicPr>
          <p:cNvPr id="4098" name="Picture 2" descr="Looking at R-Squared. In data science ...">
            <a:extLst>
              <a:ext uri="{FF2B5EF4-FFF2-40B4-BE49-F238E27FC236}">
                <a16:creationId xmlns:a16="http://schemas.microsoft.com/office/drawing/2014/main" id="{C37F1780-8497-904A-C31A-10D05123CB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5014" y="2213428"/>
            <a:ext cx="2255157" cy="538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5948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05FAEFA-BE81-88E2-FBB8-D79866BB80E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A5550F7-A332-719A-E1A9-EB4DDDB91FF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23</a:t>
            </a:r>
          </a:p>
        </p:txBody>
      </p:sp>
      <p:sp>
        <p:nvSpPr>
          <p:cNvPr id="2" name="Title 1">
            <a:extLst>
              <a:ext uri="{FF2B5EF4-FFF2-40B4-BE49-F238E27FC236}">
                <a16:creationId xmlns:a16="http://schemas.microsoft.com/office/drawing/2014/main" id="{F32B0876-41C6-7825-00F3-7BDC05E048F7}"/>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R² (R-squared)</a:t>
            </a:r>
          </a:p>
        </p:txBody>
      </p:sp>
      <p:sp>
        <p:nvSpPr>
          <p:cNvPr id="3" name="Rectangle 2">
            <a:extLst>
              <a:ext uri="{FF2B5EF4-FFF2-40B4-BE49-F238E27FC236}">
                <a16:creationId xmlns:a16="http://schemas.microsoft.com/office/drawing/2014/main" id="{122A1D30-B772-5F1E-8BF0-FE08075F9EAA}"/>
              </a:ext>
            </a:extLst>
          </p:cNvPr>
          <p:cNvSpPr/>
          <p:nvPr/>
        </p:nvSpPr>
        <p:spPr>
          <a:xfrm>
            <a:off x="254001" y="975500"/>
            <a:ext cx="8639575" cy="88036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Analogy: </a:t>
            </a:r>
            <a:r>
              <a:rPr lang="en-US" sz="1800" dirty="0">
                <a:latin typeface="Calibri" panose="020F0502020204030204" pitchFamily="34" charset="0"/>
                <a:ea typeface="Calibri" panose="020F0502020204030204" pitchFamily="34" charset="0"/>
                <a:cs typeface="Calibri" panose="020F0502020204030204" pitchFamily="34" charset="0"/>
              </a:rPr>
              <a:t>R² is like knowing a car went "80% faster" – it's a relative measure that sounds impressive, but its practical significance depends on the original context/scale. </a:t>
            </a:r>
          </a:p>
        </p:txBody>
      </p:sp>
      <p:pic>
        <p:nvPicPr>
          <p:cNvPr id="8" name="Picture 7">
            <a:extLst>
              <a:ext uri="{FF2B5EF4-FFF2-40B4-BE49-F238E27FC236}">
                <a16:creationId xmlns:a16="http://schemas.microsoft.com/office/drawing/2014/main" id="{BD981597-EB9F-172C-665C-43652F4A16A2}"/>
              </a:ext>
            </a:extLst>
          </p:cNvPr>
          <p:cNvPicPr>
            <a:picLocks noChangeAspect="1"/>
          </p:cNvPicPr>
          <p:nvPr/>
        </p:nvPicPr>
        <p:blipFill>
          <a:blip r:embed="rId3"/>
          <a:stretch>
            <a:fillRect/>
          </a:stretch>
        </p:blipFill>
        <p:spPr>
          <a:xfrm>
            <a:off x="4441370" y="1835195"/>
            <a:ext cx="4448629" cy="3222318"/>
          </a:xfrm>
          <a:prstGeom prst="rect">
            <a:avLst/>
          </a:prstGeom>
        </p:spPr>
      </p:pic>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EE9528C7-8B5D-70BC-7775-0700C7806B57}"/>
                  </a:ext>
                </a:extLst>
              </p:cNvPr>
              <p:cNvSpPr/>
              <p:nvPr/>
            </p:nvSpPr>
            <p:spPr>
              <a:xfrm>
                <a:off x="252213" y="1731683"/>
                <a:ext cx="4319788" cy="3382721"/>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IN" sz="1800" dirty="0">
                    <a:latin typeface="Calibri" panose="020F0502020204030204" pitchFamily="34" charset="0"/>
                    <a:ea typeface="Calibri" panose="020F0502020204030204" pitchFamily="34" charset="0"/>
                    <a:cs typeface="Calibri" panose="020F0502020204030204" pitchFamily="34" charset="0"/>
                  </a:rPr>
                  <a:t>Adjusted </a:t>
                </a:r>
                <a14:m>
                  <m:oMath xmlns:m="http://schemas.openxmlformats.org/officeDocument/2006/math">
                    <m:sSup>
                      <m:sSupPr>
                        <m:ctrlPr>
                          <a:rPr lang="ar-AE" sz="1800"/>
                        </m:ctrlPr>
                      </m:sSupPr>
                      <m:e>
                        <m:r>
                          <a:rPr lang="ar-AE" sz="1800" b="0" i="1"/>
                          <m:t>𝑅</m:t>
                        </m:r>
                      </m:e>
                      <m:sup>
                        <m:r>
                          <a:rPr lang="ar-AE" sz="1800" b="0" i="1"/>
                          <m:t>2</m:t>
                        </m:r>
                      </m:sup>
                    </m:sSup>
                  </m:oMath>
                </a14:m>
                <a:r>
                  <a:rPr lang="en-IN" sz="1800" dirty="0">
                    <a:latin typeface="Calibri" panose="020F0502020204030204" pitchFamily="34" charset="0"/>
                    <a:ea typeface="Calibri" panose="020F0502020204030204" pitchFamily="34" charset="0"/>
                    <a:cs typeface="Calibri" panose="020F0502020204030204" pitchFamily="34" charset="0"/>
                  </a:rPr>
                  <a:t>is a modified form of </a:t>
                </a:r>
                <a14:m>
                  <m:oMath xmlns:m="http://schemas.openxmlformats.org/officeDocument/2006/math">
                    <m:sSup>
                      <m:sSupPr>
                        <m:ctrlPr>
                          <a:rPr lang="ar-AE" sz="1800"/>
                        </m:ctrlPr>
                      </m:sSupPr>
                      <m:e>
                        <m:r>
                          <a:rPr lang="ar-AE" sz="1800" b="0" i="1"/>
                          <m:t>𝑅</m:t>
                        </m:r>
                      </m:e>
                      <m:sup>
                        <m:r>
                          <a:rPr lang="ar-AE" sz="1800" b="0" i="1"/>
                          <m:t>2</m:t>
                        </m:r>
                      </m:sup>
                    </m:sSup>
                  </m:oMath>
                </a14:m>
                <a:r>
                  <a:rPr lang="en-IN" sz="1800" dirty="0">
                    <a:latin typeface="Calibri" panose="020F0502020204030204" pitchFamily="34" charset="0"/>
                    <a:ea typeface="Calibri" panose="020F0502020204030204" pitchFamily="34" charset="0"/>
                    <a:cs typeface="Calibri" panose="020F0502020204030204" pitchFamily="34" charset="0"/>
                  </a:rPr>
                  <a:t>that penalizes adding unnecessary predictors in a regression model.</a:t>
                </a:r>
              </a:p>
              <a:p>
                <a:pPr marL="285750" lvl="0" indent="-285750" algn="just">
                  <a:lnSpc>
                    <a:spcPct val="150000"/>
                  </a:lnSpc>
                  <a:buFont typeface="Wingdings" panose="05000000000000000000" pitchFamily="2" charset="2"/>
                  <a:buChar char="Ø"/>
                </a:pPr>
                <a:endParaRPr lang="en-IN" sz="1800"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Where: 𝑛 = number of observations</a:t>
                </a:r>
              </a:p>
              <a:p>
                <a:pPr marL="987425"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𝑝 = number of predictors (independent variables)</a:t>
                </a:r>
              </a:p>
              <a:p>
                <a:pPr marL="987425"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𝑅</a:t>
                </a:r>
                <a:r>
                  <a:rPr lang="en-US" sz="1800" baseline="30000" dirty="0">
                    <a:latin typeface="Calibri" panose="020F0502020204030204" pitchFamily="34" charset="0"/>
                    <a:ea typeface="Calibri" panose="020F0502020204030204" pitchFamily="34" charset="0"/>
                    <a:cs typeface="Calibri" panose="020F0502020204030204" pitchFamily="34" charset="0"/>
                  </a:rPr>
                  <a:t>2</a:t>
                </a:r>
                <a:r>
                  <a:rPr lang="en-US" sz="1800" dirty="0">
                    <a:latin typeface="Calibri" panose="020F0502020204030204" pitchFamily="34" charset="0"/>
                    <a:ea typeface="Calibri" panose="020F0502020204030204" pitchFamily="34" charset="0"/>
                    <a:cs typeface="Calibri" panose="020F0502020204030204" pitchFamily="34" charset="0"/>
                  </a:rPr>
                  <a:t> = coefficient of determination</a:t>
                </a:r>
              </a:p>
            </p:txBody>
          </p:sp>
        </mc:Choice>
        <mc:Fallback>
          <p:sp>
            <p:nvSpPr>
              <p:cNvPr id="4" name="Rectangle 3">
                <a:extLst>
                  <a:ext uri="{FF2B5EF4-FFF2-40B4-BE49-F238E27FC236}">
                    <a16:creationId xmlns:a16="http://schemas.microsoft.com/office/drawing/2014/main" id="{EE9528C7-8B5D-70BC-7775-0700C7806B57}"/>
                  </a:ext>
                </a:extLst>
              </p:cNvPr>
              <p:cNvSpPr>
                <a:spLocks noRot="1" noChangeAspect="1" noMove="1" noResize="1" noEditPoints="1" noAdjustHandles="1" noChangeArrowheads="1" noChangeShapeType="1" noTextEdit="1"/>
              </p:cNvSpPr>
              <p:nvPr/>
            </p:nvSpPr>
            <p:spPr>
              <a:xfrm>
                <a:off x="252213" y="1731683"/>
                <a:ext cx="4319788" cy="3382721"/>
              </a:xfrm>
              <a:prstGeom prst="rect">
                <a:avLst/>
              </a:prstGeom>
              <a:blipFill>
                <a:blip r:embed="rId4"/>
                <a:stretch>
                  <a:fillRect l="-846" r="-1128" b="-1982"/>
                </a:stretch>
              </a:blipFill>
            </p:spPr>
            <p:txBody>
              <a:bodyPr/>
              <a:lstStyle/>
              <a:p>
                <a:r>
                  <a:rPr lang="en-IN">
                    <a:noFill/>
                  </a:rPr>
                  <a:t> </a:t>
                </a:r>
              </a:p>
            </p:txBody>
          </p:sp>
        </mc:Fallback>
      </mc:AlternateContent>
      <p:pic>
        <p:nvPicPr>
          <p:cNvPr id="6" name="Picture 5" descr="A number of mathematical equations&#10;&#10;AI-generated content may be incorrect.">
            <a:extLst>
              <a:ext uri="{FF2B5EF4-FFF2-40B4-BE49-F238E27FC236}">
                <a16:creationId xmlns:a16="http://schemas.microsoft.com/office/drawing/2014/main" id="{8FC84626-E427-0AE1-4A8B-9AD78684946B}"/>
              </a:ext>
            </a:extLst>
          </p:cNvPr>
          <p:cNvPicPr>
            <a:picLocks noChangeAspect="1"/>
          </p:cNvPicPr>
          <p:nvPr/>
        </p:nvPicPr>
        <p:blipFill>
          <a:blip r:embed="rId5"/>
          <a:stretch>
            <a:fillRect/>
          </a:stretch>
        </p:blipFill>
        <p:spPr>
          <a:xfrm>
            <a:off x="1343976" y="2981901"/>
            <a:ext cx="2407968" cy="582433"/>
          </a:xfrm>
          <a:prstGeom prst="rect">
            <a:avLst/>
          </a:prstGeom>
        </p:spPr>
      </p:pic>
    </p:spTree>
    <p:extLst>
      <p:ext uri="{BB962C8B-B14F-4D97-AF65-F5344CB8AC3E}">
        <p14:creationId xmlns:p14="http://schemas.microsoft.com/office/powerpoint/2010/main" val="3898394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E70D516-C9B5-6DA1-7D7A-C396DC4DF67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5FBB8E4-ADBE-5EAD-D215-F1FE88686A14}"/>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24</a:t>
            </a:r>
          </a:p>
        </p:txBody>
      </p:sp>
      <p:sp>
        <p:nvSpPr>
          <p:cNvPr id="2" name="Title 1">
            <a:extLst>
              <a:ext uri="{FF2B5EF4-FFF2-40B4-BE49-F238E27FC236}">
                <a16:creationId xmlns:a16="http://schemas.microsoft.com/office/drawing/2014/main" id="{4C9A0B04-3E75-995B-AF3F-76AB07EE1EB2}"/>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RSE Vs R²</a:t>
            </a:r>
          </a:p>
        </p:txBody>
      </p:sp>
      <p:graphicFrame>
        <p:nvGraphicFramePr>
          <p:cNvPr id="4" name="Table 3">
            <a:extLst>
              <a:ext uri="{FF2B5EF4-FFF2-40B4-BE49-F238E27FC236}">
                <a16:creationId xmlns:a16="http://schemas.microsoft.com/office/drawing/2014/main" id="{951EA49A-9364-B9D0-9947-3384A857193F}"/>
              </a:ext>
            </a:extLst>
          </p:cNvPr>
          <p:cNvGraphicFramePr>
            <a:graphicFrameLocks noGrp="1"/>
          </p:cNvGraphicFramePr>
          <p:nvPr>
            <p:extLst>
              <p:ext uri="{D42A27DB-BD31-4B8C-83A1-F6EECF244321}">
                <p14:modId xmlns:p14="http://schemas.microsoft.com/office/powerpoint/2010/main" val="1564534267"/>
              </p:ext>
            </p:extLst>
          </p:nvPr>
        </p:nvGraphicFramePr>
        <p:xfrm>
          <a:off x="254826" y="1133115"/>
          <a:ext cx="8638751" cy="3797031"/>
        </p:xfrm>
        <a:graphic>
          <a:graphicData uri="http://schemas.openxmlformats.org/drawingml/2006/table">
            <a:tbl>
              <a:tblPr/>
              <a:tblGrid>
                <a:gridCol w="2159687">
                  <a:extLst>
                    <a:ext uri="{9D8B030D-6E8A-4147-A177-3AD203B41FA5}">
                      <a16:colId xmlns:a16="http://schemas.microsoft.com/office/drawing/2014/main" val="906761218"/>
                    </a:ext>
                  </a:extLst>
                </a:gridCol>
                <a:gridCol w="3239532">
                  <a:extLst>
                    <a:ext uri="{9D8B030D-6E8A-4147-A177-3AD203B41FA5}">
                      <a16:colId xmlns:a16="http://schemas.microsoft.com/office/drawing/2014/main" val="3932734007"/>
                    </a:ext>
                  </a:extLst>
                </a:gridCol>
                <a:gridCol w="3239532">
                  <a:extLst>
                    <a:ext uri="{9D8B030D-6E8A-4147-A177-3AD203B41FA5}">
                      <a16:colId xmlns:a16="http://schemas.microsoft.com/office/drawing/2014/main" val="546439524"/>
                    </a:ext>
                  </a:extLst>
                </a:gridCol>
              </a:tblGrid>
              <a:tr h="305112">
                <a:tc>
                  <a:txBody>
                    <a:bodyPr/>
                    <a:lstStyle/>
                    <a:p>
                      <a:pPr algn="ctr" rtl="0" fontAlgn="base">
                        <a:spcAft>
                          <a:spcPts val="750"/>
                        </a:spcAft>
                        <a:buNone/>
                      </a:pPr>
                      <a:r>
                        <a:rPr lang="en-IN" sz="1200" b="1">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Characterists</a:t>
                      </a:r>
                    </a:p>
                  </a:txBody>
                  <a:tcPr marL="31076" marR="31076" marT="51794" marB="5179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tc>
                  <a:txBody>
                    <a:bodyPr/>
                    <a:lstStyle/>
                    <a:p>
                      <a:pPr algn="ctr" rtl="0" fontAlgn="base">
                        <a:spcAft>
                          <a:spcPts val="750"/>
                        </a:spcAft>
                        <a:buNone/>
                      </a:pPr>
                      <a:r>
                        <a:rPr lang="en-IN" sz="1200" b="1">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R Squared</a:t>
                      </a:r>
                    </a:p>
                  </a:txBody>
                  <a:tcPr marL="51794" marR="51794" marT="51794" marB="5179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tc>
                  <a:txBody>
                    <a:bodyPr/>
                    <a:lstStyle/>
                    <a:p>
                      <a:pPr algn="ctr" rtl="0" fontAlgn="base">
                        <a:spcAft>
                          <a:spcPts val="750"/>
                        </a:spcAft>
                        <a:buNone/>
                      </a:pPr>
                      <a:r>
                        <a:rPr lang="en-IN" sz="1200" b="1">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Standard Error</a:t>
                      </a:r>
                    </a:p>
                  </a:txBody>
                  <a:tcPr marL="51794" marR="51794" marT="51794" marB="51794"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extLst>
                  <a:ext uri="{0D108BD9-81ED-4DB2-BD59-A6C34878D82A}">
                    <a16:rowId xmlns:a16="http://schemas.microsoft.com/office/drawing/2014/main" val="2475021393"/>
                  </a:ext>
                </a:extLst>
              </a:tr>
              <a:tr h="842473">
                <a:tc>
                  <a:txBody>
                    <a:bodyPr/>
                    <a:lstStyle/>
                    <a:p>
                      <a:pPr algn="ctr" rtl="0" fontAlgn="base">
                        <a:spcAft>
                          <a:spcPts val="750"/>
                        </a:spcAft>
                        <a:buNone/>
                      </a:pPr>
                      <a:r>
                        <a:rPr lang="en-IN" sz="1200" b="1">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Objective</a:t>
                      </a:r>
                    </a:p>
                  </a:txBody>
                  <a:tcPr marL="31076" marR="31076" marT="38483" marB="38483"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tc>
                  <a:txBody>
                    <a:bodyPr/>
                    <a:lstStyle/>
                    <a:p>
                      <a:pPr algn="l" rtl="0" fontAlgn="base">
                        <a:spcAft>
                          <a:spcPts val="750"/>
                        </a:spcAft>
                        <a:buNone/>
                      </a:pPr>
                      <a:r>
                        <a:rPr lang="en-US" sz="1200" b="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The objective of R squared is to determine how much is the strength of relationship between Independent and Dependent variables</a:t>
                      </a:r>
                    </a:p>
                  </a:txBody>
                  <a:tcPr marL="51794" marR="51794" marT="72511" marB="72511"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l" rtl="0" fontAlgn="base">
                        <a:spcAft>
                          <a:spcPts val="750"/>
                        </a:spcAft>
                        <a:buNone/>
                      </a:pPr>
                      <a:r>
                        <a:rPr lang="en-US" sz="1200" b="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The objective of this metric is to find the average distance between actual values and the predicted values through which the regression line passes.</a:t>
                      </a:r>
                    </a:p>
                  </a:txBody>
                  <a:tcPr marL="51794" marR="51794" marT="72511" marB="72511"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extLst>
                  <a:ext uri="{0D108BD9-81ED-4DB2-BD59-A6C34878D82A}">
                    <a16:rowId xmlns:a16="http://schemas.microsoft.com/office/drawing/2014/main" val="3056853790"/>
                  </a:ext>
                </a:extLst>
              </a:tr>
              <a:tr h="773538">
                <a:tc>
                  <a:txBody>
                    <a:bodyPr/>
                    <a:lstStyle/>
                    <a:p>
                      <a:pPr algn="ctr" rtl="0" fontAlgn="base">
                        <a:spcAft>
                          <a:spcPts val="750"/>
                        </a:spcAft>
                        <a:buNone/>
                      </a:pPr>
                      <a:r>
                        <a:rPr lang="en-IN" sz="1200" b="1">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Measurement Focus</a:t>
                      </a:r>
                    </a:p>
                  </a:txBody>
                  <a:tcPr marL="31076" marR="31076" marT="38483" marB="38483"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tc>
                  <a:txBody>
                    <a:bodyPr/>
                    <a:lstStyle/>
                    <a:p>
                      <a:pPr algn="l" rtl="0" fontAlgn="base">
                        <a:spcAft>
                          <a:spcPts val="750"/>
                        </a:spcAft>
                        <a:buNone/>
                      </a:pPr>
                      <a:r>
                        <a:rPr lang="en-US" sz="1200" b="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R-Squared lies between 0 and 1.</a:t>
                      </a:r>
                    </a:p>
                    <a:p>
                      <a:pPr algn="l" rtl="0" fontAlgn="base">
                        <a:spcAft>
                          <a:spcPts val="750"/>
                        </a:spcAft>
                        <a:buNone/>
                      </a:pPr>
                      <a:br>
                        <a:rPr lang="en-US" sz="1200" b="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br>
                      <a:endParaRPr lang="en-US" sz="1200" b="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endParaRPr>
                    </a:p>
                  </a:txBody>
                  <a:tcPr marL="51794" marR="51794" marT="72511" marB="72511"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l" rtl="0" fontAlgn="base">
                        <a:spcAft>
                          <a:spcPts val="750"/>
                        </a:spcAft>
                        <a:buNone/>
                      </a:pPr>
                      <a:r>
                        <a:rPr lang="en-US" sz="1200" b="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Standard error does not lie between 0 and 1.</a:t>
                      </a:r>
                    </a:p>
                  </a:txBody>
                  <a:tcPr marL="51794" marR="51794" marT="72511" marB="72511"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extLst>
                  <a:ext uri="{0D108BD9-81ED-4DB2-BD59-A6C34878D82A}">
                    <a16:rowId xmlns:a16="http://schemas.microsoft.com/office/drawing/2014/main" val="3562916816"/>
                  </a:ext>
                </a:extLst>
              </a:tr>
              <a:tr h="500930">
                <a:tc>
                  <a:txBody>
                    <a:bodyPr/>
                    <a:lstStyle/>
                    <a:p>
                      <a:pPr algn="ctr" rtl="0" fontAlgn="base">
                        <a:spcAft>
                          <a:spcPts val="750"/>
                        </a:spcAft>
                        <a:buNone/>
                      </a:pPr>
                      <a:r>
                        <a:rPr lang="en-IN" sz="1200" b="1">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Purpose and use</a:t>
                      </a:r>
                    </a:p>
                  </a:txBody>
                  <a:tcPr marL="31076" marR="31076" marT="38483" marB="38483"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tc>
                  <a:txBody>
                    <a:bodyPr/>
                    <a:lstStyle/>
                    <a:p>
                      <a:pPr algn="l" rtl="0" fontAlgn="base">
                        <a:spcAft>
                          <a:spcPts val="750"/>
                        </a:spcAft>
                        <a:buNone/>
                      </a:pPr>
                      <a:r>
                        <a:rPr lang="en-US" sz="1200" b="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R2-squared is used for comparison between two models.</a:t>
                      </a:r>
                    </a:p>
                  </a:txBody>
                  <a:tcPr marL="51794" marR="51794" marT="72511" marB="72511"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l" rtl="0" fontAlgn="base">
                        <a:spcAft>
                          <a:spcPts val="750"/>
                        </a:spcAft>
                        <a:buNone/>
                      </a:pPr>
                      <a:r>
                        <a:rPr lang="en-US" sz="1200" b="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Helps to determine the precision of predictions</a:t>
                      </a:r>
                    </a:p>
                  </a:txBody>
                  <a:tcPr marL="51794" marR="51794" marT="72511" marB="72511"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extLst>
                  <a:ext uri="{0D108BD9-81ED-4DB2-BD59-A6C34878D82A}">
                    <a16:rowId xmlns:a16="http://schemas.microsoft.com/office/drawing/2014/main" val="1249695026"/>
                  </a:ext>
                </a:extLst>
              </a:tr>
              <a:tr h="671701">
                <a:tc>
                  <a:txBody>
                    <a:bodyPr/>
                    <a:lstStyle/>
                    <a:p>
                      <a:pPr algn="ctr" rtl="0" fontAlgn="base">
                        <a:spcAft>
                          <a:spcPts val="750"/>
                        </a:spcAft>
                        <a:buNone/>
                      </a:pPr>
                      <a:r>
                        <a:rPr lang="en-IN" sz="1200" b="1">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Interpretation</a:t>
                      </a:r>
                    </a:p>
                  </a:txBody>
                  <a:tcPr marL="31076" marR="31076" marT="38483" marB="38483"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tc>
                  <a:txBody>
                    <a:bodyPr/>
                    <a:lstStyle/>
                    <a:p>
                      <a:pPr algn="l" rtl="0" fontAlgn="base">
                        <a:spcAft>
                          <a:spcPts val="750"/>
                        </a:spcAft>
                        <a:buNone/>
                      </a:pPr>
                      <a:r>
                        <a:rPr lang="en-US" sz="1200" b="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Higher the value more is the variability between dependent and independent variable.</a:t>
                      </a:r>
                    </a:p>
                  </a:txBody>
                  <a:tcPr marL="51794" marR="51794" marT="72511" marB="72511"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l" rtl="0" fontAlgn="base">
                        <a:spcAft>
                          <a:spcPts val="750"/>
                        </a:spcAft>
                        <a:buNone/>
                      </a:pPr>
                      <a:r>
                        <a:rPr lang="en-US" sz="1200" b="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Lower the value better is the model.</a:t>
                      </a:r>
                    </a:p>
                  </a:txBody>
                  <a:tcPr marL="51794" marR="51794" marT="72511" marB="72511"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extLst>
                  <a:ext uri="{0D108BD9-81ED-4DB2-BD59-A6C34878D82A}">
                    <a16:rowId xmlns:a16="http://schemas.microsoft.com/office/drawing/2014/main" val="1042379571"/>
                  </a:ext>
                </a:extLst>
              </a:tr>
              <a:tr h="671701">
                <a:tc>
                  <a:txBody>
                    <a:bodyPr/>
                    <a:lstStyle/>
                    <a:p>
                      <a:pPr algn="ctr" rtl="0" fontAlgn="base">
                        <a:spcAft>
                          <a:spcPts val="750"/>
                        </a:spcAft>
                        <a:buNone/>
                      </a:pPr>
                      <a:r>
                        <a:rPr lang="en-US" sz="1200" b="1">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Relationship Between the Two Metrics</a:t>
                      </a:r>
                    </a:p>
                  </a:txBody>
                  <a:tcPr marL="31076" marR="31076" marT="38483" marB="38483"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F9F9"/>
                    </a:solidFill>
                  </a:tcPr>
                </a:tc>
                <a:tc>
                  <a:txBody>
                    <a:bodyPr/>
                    <a:lstStyle/>
                    <a:p>
                      <a:pPr algn="l" rtl="0" fontAlgn="base">
                        <a:spcAft>
                          <a:spcPts val="750"/>
                        </a:spcAft>
                        <a:buNone/>
                      </a:pPr>
                      <a:r>
                        <a:rPr lang="en-US" sz="1200" b="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There is no formula-based relationship but as one decreases the other one increases and vice versa</a:t>
                      </a:r>
                    </a:p>
                  </a:txBody>
                  <a:tcPr marL="51794" marR="51794" marT="72511" marB="72511"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tc>
                  <a:txBody>
                    <a:bodyPr/>
                    <a:lstStyle/>
                    <a:p>
                      <a:pPr algn="l" rtl="0" fontAlgn="base">
                        <a:spcAft>
                          <a:spcPts val="750"/>
                        </a:spcAft>
                        <a:buNone/>
                      </a:pPr>
                      <a:r>
                        <a:rPr lang="en-US" sz="1200" b="0" dirty="0">
                          <a:solidFill>
                            <a:sysClr val="windowText" lastClr="000000"/>
                          </a:solidFill>
                          <a:effectLst/>
                          <a:latin typeface="Calibri" panose="020F0502020204030204" pitchFamily="34" charset="0"/>
                          <a:ea typeface="Calibri" panose="020F0502020204030204" pitchFamily="34" charset="0"/>
                          <a:cs typeface="Calibri" panose="020F0502020204030204" pitchFamily="34" charset="0"/>
                        </a:rPr>
                        <a:t>There is no formula-based relationship but as one decreases the other one increases and vice versa</a:t>
                      </a:r>
                    </a:p>
                  </a:txBody>
                  <a:tcPr marL="51794" marR="51794" marT="72511" marB="72511"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FFFFF"/>
                    </a:solidFill>
                  </a:tcPr>
                </a:tc>
                <a:extLst>
                  <a:ext uri="{0D108BD9-81ED-4DB2-BD59-A6C34878D82A}">
                    <a16:rowId xmlns:a16="http://schemas.microsoft.com/office/drawing/2014/main" val="1341100241"/>
                  </a:ext>
                </a:extLst>
              </a:tr>
            </a:tbl>
          </a:graphicData>
        </a:graphic>
      </p:graphicFrame>
    </p:spTree>
    <p:extLst>
      <p:ext uri="{BB962C8B-B14F-4D97-AF65-F5344CB8AC3E}">
        <p14:creationId xmlns:p14="http://schemas.microsoft.com/office/powerpoint/2010/main" val="63518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942DB27-E3BA-9739-00EA-45A212FA963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7A670B3-FE73-5182-DB8C-9ACC90F7DABD}"/>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25</a:t>
            </a:r>
          </a:p>
        </p:txBody>
      </p:sp>
      <p:sp>
        <p:nvSpPr>
          <p:cNvPr id="2" name="Title 1">
            <a:extLst>
              <a:ext uri="{FF2B5EF4-FFF2-40B4-BE49-F238E27FC236}">
                <a16:creationId xmlns:a16="http://schemas.microsoft.com/office/drawing/2014/main" id="{E84F97FA-EC63-EDD0-3F9E-9D6E079FC1F7}"/>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Applications of the Topic</a:t>
            </a:r>
          </a:p>
        </p:txBody>
      </p:sp>
      <p:sp>
        <p:nvSpPr>
          <p:cNvPr id="3" name="Rectangle 2">
            <a:extLst>
              <a:ext uri="{FF2B5EF4-FFF2-40B4-BE49-F238E27FC236}">
                <a16:creationId xmlns:a16="http://schemas.microsoft.com/office/drawing/2014/main" id="{AC4933E1-3A88-D50F-E6E4-1FB3E7A79734}"/>
              </a:ext>
            </a:extLst>
          </p:cNvPr>
          <p:cNvSpPr/>
          <p:nvPr/>
        </p:nvSpPr>
        <p:spPr>
          <a:xfrm>
            <a:off x="254001" y="939215"/>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Here are applications: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Model's natural measurements: height, weight, blood pressure, IQ, exam marks etc.</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Used to model measurement errors and noise in instruments and sensors.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Forms the basis of many statistical tests (z-test, many parametric tests assume normality).By Central Limit Theorem, sample means of many distributions tend to be normal → used for confidence intervals and hypothesis testing.</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Used in quality control (control charts, process variation).Used in finance to approximate asset returns and risk modelling.</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Used when sample size is small and population standard deviation (σ) is unknown.</a:t>
            </a:r>
          </a:p>
        </p:txBody>
      </p:sp>
    </p:spTree>
    <p:extLst>
      <p:ext uri="{BB962C8B-B14F-4D97-AF65-F5344CB8AC3E}">
        <p14:creationId xmlns:p14="http://schemas.microsoft.com/office/powerpoint/2010/main" val="57932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F09172B-2DD7-486F-62A3-3E96CFB371E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0E19259-205C-E0BB-37C6-F68103667DAC}"/>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26</a:t>
            </a:r>
          </a:p>
        </p:txBody>
      </p:sp>
      <p:sp>
        <p:nvSpPr>
          <p:cNvPr id="2" name="Title 1">
            <a:extLst>
              <a:ext uri="{FF2B5EF4-FFF2-40B4-BE49-F238E27FC236}">
                <a16:creationId xmlns:a16="http://schemas.microsoft.com/office/drawing/2014/main" id="{94CBCA41-DDDE-2CBE-E950-47D5BA436101}"/>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Applications of the Topic</a:t>
            </a:r>
          </a:p>
        </p:txBody>
      </p:sp>
      <p:sp>
        <p:nvSpPr>
          <p:cNvPr id="3" name="Rectangle 2">
            <a:extLst>
              <a:ext uri="{FF2B5EF4-FFF2-40B4-BE49-F238E27FC236}">
                <a16:creationId xmlns:a16="http://schemas.microsoft.com/office/drawing/2014/main" id="{AD44F15C-1ED2-11CD-DAFB-70FF319BEA0B}"/>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Here are some more applications: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Construction of confidence intervals for the mean when 𝑛n is small.</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One-sample and two-sample t-tests for comparing means (e.g., before vs after treatment).Testing regression coefficients (slope, intercept) in linear regression → each coefficient’s t-statistic follows a t-distribution under assumptions.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Robust when data is approximately normal but sample size is limited (like &lt; 30).</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Used as an estimate of the true error standard deviation (σ).</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Helps compare how well different regression models fit the data (lower RSE is better, other things equal).</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Measures goodness of fit of regression.</a:t>
            </a:r>
          </a:p>
        </p:txBody>
      </p:sp>
    </p:spTree>
    <p:extLst>
      <p:ext uri="{BB962C8B-B14F-4D97-AF65-F5344CB8AC3E}">
        <p14:creationId xmlns:p14="http://schemas.microsoft.com/office/powerpoint/2010/main" val="1568412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4F1C1FB-C899-5DBE-C42F-B1D10C95C32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CE59AD7-C1A8-1276-52A6-379528A20A2E}"/>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27</a:t>
            </a:r>
          </a:p>
        </p:txBody>
      </p:sp>
      <p:sp>
        <p:nvSpPr>
          <p:cNvPr id="2" name="Title 1">
            <a:extLst>
              <a:ext uri="{FF2B5EF4-FFF2-40B4-BE49-F238E27FC236}">
                <a16:creationId xmlns:a16="http://schemas.microsoft.com/office/drawing/2014/main" id="{65625B2D-5E70-705A-DA8E-AA76A0A61FA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Summary of the Lecture</a:t>
            </a:r>
          </a:p>
        </p:txBody>
      </p:sp>
      <p:sp>
        <p:nvSpPr>
          <p:cNvPr id="3" name="Rectangle 2">
            <a:extLst>
              <a:ext uri="{FF2B5EF4-FFF2-40B4-BE49-F238E27FC236}">
                <a16:creationId xmlns:a16="http://schemas.microsoft.com/office/drawing/2014/main" id="{8EC0002B-FFFF-77E6-EC94-99CFC49F336E}"/>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this lecture, we studied how the Normal distribution is used to model natural continuous data (like height, weight, exam marks) and measurement errors, and how, via the Central Limit Theorem, it underpins confidence intervals and many hypothesis tests.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We then saw that the t-distribution is used when the sample size is small and the population standard deviation is unknown, especially in t-tests and in testing regression coefficients. In the context of regression, we introduced RSE (Residual Standard Error) as an estimate of the average prediction error in the same units as the response variable, and R² (Coefficient of Determination) as a measure of how much of the variation in the dependent variable is explained by the model. </a:t>
            </a:r>
          </a:p>
        </p:txBody>
      </p:sp>
    </p:spTree>
    <p:extLst>
      <p:ext uri="{BB962C8B-B14F-4D97-AF65-F5344CB8AC3E}">
        <p14:creationId xmlns:p14="http://schemas.microsoft.com/office/powerpoint/2010/main" val="421483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6E56EA3-16F5-E76E-14E4-37F3EB84294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8A45607-6A54-9997-9F78-69F2A1F673C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28</a:t>
            </a:r>
          </a:p>
        </p:txBody>
      </p:sp>
      <p:sp>
        <p:nvSpPr>
          <p:cNvPr id="2" name="Title 1">
            <a:extLst>
              <a:ext uri="{FF2B5EF4-FFF2-40B4-BE49-F238E27FC236}">
                <a16:creationId xmlns:a16="http://schemas.microsoft.com/office/drawing/2014/main" id="{D86599D1-32E9-56EA-04F7-5C299DA2C714}"/>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Next Lecture</a:t>
            </a:r>
          </a:p>
        </p:txBody>
      </p:sp>
      <p:sp>
        <p:nvSpPr>
          <p:cNvPr id="3" name="Rectangle 2">
            <a:extLst>
              <a:ext uri="{FF2B5EF4-FFF2-40B4-BE49-F238E27FC236}">
                <a16:creationId xmlns:a16="http://schemas.microsoft.com/office/drawing/2014/main" id="{D118AC76-7B90-6FF0-0952-01F49F273CF9}"/>
              </a:ext>
            </a:extLst>
          </p:cNvPr>
          <p:cNvSpPr/>
          <p:nvPr/>
        </p:nvSpPr>
        <p:spPr>
          <a:xfrm>
            <a:off x="254001" y="939215"/>
            <a:ext cx="8639575" cy="1965282"/>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next lecture, we are going to cover:</a:t>
            </a:r>
          </a:p>
          <a:p>
            <a:pPr marL="285750" lvl="0" indent="-285750" algn="just">
              <a:lnSpc>
                <a:spcPct val="150000"/>
              </a:lnSpc>
              <a:buFont typeface="Wingdings" panose="05000000000000000000" pitchFamily="2" charset="2"/>
              <a:buChar char="Ø"/>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536575" lvl="0" indent="-19843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K-Nearest Neighbor Classifier</a:t>
            </a:r>
          </a:p>
          <a:p>
            <a:pPr marL="536575" lvl="0" indent="-19843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Maximum Margin Classification</a:t>
            </a:r>
          </a:p>
          <a:p>
            <a:pPr lvl="0" algn="just">
              <a:lnSpc>
                <a:spcPct val="150000"/>
              </a:lnSpc>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4356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E035788-6F59-DCF3-2897-BC56C4CEB92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89FB0CA-6899-88FD-503C-2C28AD374E5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29</a:t>
            </a:r>
          </a:p>
        </p:txBody>
      </p:sp>
      <p:sp>
        <p:nvSpPr>
          <p:cNvPr id="2" name="Title 1">
            <a:extLst>
              <a:ext uri="{FF2B5EF4-FFF2-40B4-BE49-F238E27FC236}">
                <a16:creationId xmlns:a16="http://schemas.microsoft.com/office/drawing/2014/main" id="{294DB9DE-E12E-9A84-B19B-87EFEE3B7869}"/>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Quiz/ FAQ’s</a:t>
            </a:r>
          </a:p>
        </p:txBody>
      </p:sp>
      <p:sp>
        <p:nvSpPr>
          <p:cNvPr id="3" name="Rectangle 2">
            <a:extLst>
              <a:ext uri="{FF2B5EF4-FFF2-40B4-BE49-F238E27FC236}">
                <a16:creationId xmlns:a16="http://schemas.microsoft.com/office/drawing/2014/main" id="{B0927368-5887-20F7-C08C-383823E01449}"/>
              </a:ext>
            </a:extLst>
          </p:cNvPr>
          <p:cNvSpPr/>
          <p:nvPr/>
        </p:nvSpPr>
        <p:spPr>
          <a:xfrm>
            <a:off x="252212" y="910186"/>
            <a:ext cx="8639575" cy="4204356"/>
          </a:xfrm>
          <a:prstGeom prst="rect">
            <a:avLst/>
          </a:prstGeom>
        </p:spPr>
        <p:txBody>
          <a:bodyPr wrap="square">
            <a:spAutoFit/>
          </a:bodyPr>
          <a:lstStyle/>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What is the Normal distribution?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Give two real-life examples where Normal distribution is applicable.</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What does the t-distribution represent?</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When do we use t-distribution instead of Normal distribution?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Define RSE in regression.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Define R² and explain what it measures.</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What is the range of R² and what do its values indicate?</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Why is RSE measured in the same units as the response variable?</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How is R² different from Adjusted R²?Why is t-distribution preferred for small sample mean estimation?</a:t>
            </a:r>
          </a:p>
        </p:txBody>
      </p:sp>
    </p:spTree>
    <p:extLst>
      <p:ext uri="{BB962C8B-B14F-4D97-AF65-F5344CB8AC3E}">
        <p14:creationId xmlns:p14="http://schemas.microsoft.com/office/powerpoint/2010/main" val="7353385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4C8FAA3-8A72-FCD2-A3A9-059A1C150C7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CEADB68-92EB-1164-3301-82219E06EE4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30</a:t>
            </a:r>
          </a:p>
        </p:txBody>
      </p:sp>
      <p:sp>
        <p:nvSpPr>
          <p:cNvPr id="2" name="Title 1">
            <a:extLst>
              <a:ext uri="{FF2B5EF4-FFF2-40B4-BE49-F238E27FC236}">
                <a16:creationId xmlns:a16="http://schemas.microsoft.com/office/drawing/2014/main" id="{BD989C70-81BD-824C-D52A-A8BE3A38777E}"/>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References/ Articles/ Videos</a:t>
            </a:r>
          </a:p>
        </p:txBody>
      </p:sp>
      <p:graphicFrame>
        <p:nvGraphicFramePr>
          <p:cNvPr id="4" name="Table 3">
            <a:extLst>
              <a:ext uri="{FF2B5EF4-FFF2-40B4-BE49-F238E27FC236}">
                <a16:creationId xmlns:a16="http://schemas.microsoft.com/office/drawing/2014/main" id="{AC276061-E2FC-9825-D1CF-3706195FC13C}"/>
              </a:ext>
            </a:extLst>
          </p:cNvPr>
          <p:cNvGraphicFramePr>
            <a:graphicFrameLocks noGrp="1"/>
          </p:cNvGraphicFramePr>
          <p:nvPr>
            <p:extLst>
              <p:ext uri="{D42A27DB-BD31-4B8C-83A1-F6EECF244321}">
                <p14:modId xmlns:p14="http://schemas.microsoft.com/office/powerpoint/2010/main" val="2950123059"/>
              </p:ext>
            </p:extLst>
          </p:nvPr>
        </p:nvGraphicFramePr>
        <p:xfrm>
          <a:off x="311150" y="1167945"/>
          <a:ext cx="8521700" cy="3662338"/>
        </p:xfrm>
        <a:graphic>
          <a:graphicData uri="http://schemas.openxmlformats.org/drawingml/2006/table">
            <a:tbl>
              <a:tblPr>
                <a:tableStyleId>{97377635-EB9D-4884-B79A-0D259F93817B}</a:tableStyleId>
              </a:tblPr>
              <a:tblGrid>
                <a:gridCol w="617764">
                  <a:extLst>
                    <a:ext uri="{9D8B030D-6E8A-4147-A177-3AD203B41FA5}">
                      <a16:colId xmlns:a16="http://schemas.microsoft.com/office/drawing/2014/main" val="2462611782"/>
                    </a:ext>
                  </a:extLst>
                </a:gridCol>
                <a:gridCol w="7903936">
                  <a:extLst>
                    <a:ext uri="{9D8B030D-6E8A-4147-A177-3AD203B41FA5}">
                      <a16:colId xmlns:a16="http://schemas.microsoft.com/office/drawing/2014/main" val="3473227875"/>
                    </a:ext>
                  </a:extLst>
                </a:gridCol>
              </a:tblGrid>
              <a:tr h="341314">
                <a:tc gridSpan="2">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Text/ Reference Books</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730715912"/>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T1</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Massaron</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L., &amp; Boschetti, A. (2016). Regression analysis with Python. </a:t>
                      </a: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Packt</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Publishing Ltd.</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851104895"/>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T2</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Jajuga</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00643724"/>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T3</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Bishop, C. M., &amp; Bishop, H. (2023). Deep learning: Foundations and concepts. Springer Nature.</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4140295978"/>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R1</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Matloff, N. (2017). Statistical regression and classification: from linear models to machine learning. Chapman and Hall/CRC.</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45350956"/>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R2</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Jajuga</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992068614"/>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R3</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Vishnoi</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V. K., Chauhan, N. R., &amp; Kumar, K. (2024). An introduction to deep learning. </a:t>
                      </a: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Xoffencerpublication</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100232723"/>
                  </a:ext>
                </a:extLst>
              </a:tr>
            </a:tbl>
          </a:graphicData>
        </a:graphic>
      </p:graphicFrame>
    </p:spTree>
    <p:extLst>
      <p:ext uri="{BB962C8B-B14F-4D97-AF65-F5344CB8AC3E}">
        <p14:creationId xmlns:p14="http://schemas.microsoft.com/office/powerpoint/2010/main" val="15905816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2F170DA-4FB0-780A-165F-96871258C4A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16FD4E1-DE68-EDFC-57AF-3025781CAD0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31</a:t>
            </a:r>
          </a:p>
        </p:txBody>
      </p:sp>
      <p:sp>
        <p:nvSpPr>
          <p:cNvPr id="2" name="Title 1">
            <a:extLst>
              <a:ext uri="{FF2B5EF4-FFF2-40B4-BE49-F238E27FC236}">
                <a16:creationId xmlns:a16="http://schemas.microsoft.com/office/drawing/2014/main" id="{629AD58F-AFA5-005A-FEC5-E7F0E57D909C}"/>
              </a:ext>
            </a:extLst>
          </p:cNvPr>
          <p:cNvSpPr txBox="1">
            <a:spLocks/>
          </p:cNvSpPr>
          <p:nvPr/>
        </p:nvSpPr>
        <p:spPr>
          <a:xfrm>
            <a:off x="653144" y="65313"/>
            <a:ext cx="8040914" cy="806675"/>
          </a:xfrm>
          <a:prstGeom prst="rect">
            <a:avLst/>
          </a:prstGeom>
        </p:spPr>
        <p:txBody>
          <a:bodyPr>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sp>
        <p:nvSpPr>
          <p:cNvPr id="3" name="Rectangle 2">
            <a:extLst>
              <a:ext uri="{FF2B5EF4-FFF2-40B4-BE49-F238E27FC236}">
                <a16:creationId xmlns:a16="http://schemas.microsoft.com/office/drawing/2014/main" id="{54DF2A59-6EAD-B15A-4AA6-7257F44129B9}"/>
              </a:ext>
            </a:extLst>
          </p:cNvPr>
          <p:cNvSpPr/>
          <p:nvPr/>
        </p:nvSpPr>
        <p:spPr>
          <a:xfrm>
            <a:off x="254001" y="939215"/>
            <a:ext cx="8639575" cy="4204869"/>
          </a:xfrm>
          <a:prstGeom prst="rect">
            <a:avLst/>
          </a:prstGeom>
        </p:spPr>
        <p:txBody>
          <a:bodyPr wrap="square">
            <a:spAutoFit/>
          </a:bodyPr>
          <a:lstStyle/>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3"/>
              </a:rPr>
              <a:t>https://youtu.be/lqeUEVVIDD0</a:t>
            </a:r>
            <a:endParaRPr lang="en-US" sz="1700" dirty="0">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4"/>
              </a:rPr>
              <a:t>https://youtu.be/QxqxdQ_g2uw</a:t>
            </a:r>
            <a:endParaRPr lang="en-US" sz="1700" dirty="0">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5"/>
              </a:rPr>
              <a:t>https://www.coursera.org/learn/ai-for-real-world-intelligence-systems?source=admin-share</a:t>
            </a:r>
            <a:r>
              <a:rPr lang="en-US" sz="1700" dirty="0">
                <a:latin typeface="Calibri" panose="020F0502020204030204" pitchFamily="34" charset="0"/>
                <a:ea typeface="Calibri" panose="020F0502020204030204" pitchFamily="34" charset="0"/>
                <a:cs typeface="Calibri" panose="020F0502020204030204" pitchFamily="34" charset="0"/>
              </a:rPr>
              <a:t> </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5"/>
              </a:rPr>
              <a:t>https://www.coursera.org/learn/ai-for-real-world-intelligence-systems?source=admin-share</a:t>
            </a:r>
            <a:r>
              <a:rPr lang="en-US" sz="1700" dirty="0">
                <a:latin typeface="Calibri" panose="020F0502020204030204" pitchFamily="34" charset="0"/>
                <a:ea typeface="Calibri" panose="020F0502020204030204" pitchFamily="34" charset="0"/>
                <a:cs typeface="Calibri" panose="020F0502020204030204" pitchFamily="34" charset="0"/>
              </a:rPr>
              <a:t> </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6"/>
              </a:rPr>
              <a:t>https://www.coursera.org/learn/deep-learning-applications-in-vision?source=admin-share</a:t>
            </a:r>
            <a:r>
              <a:rPr lang="en-US" sz="1700" dirty="0">
                <a:latin typeface="Calibri" panose="020F0502020204030204" pitchFamily="34" charset="0"/>
                <a:ea typeface="Calibri" panose="020F0502020204030204" pitchFamily="34" charset="0"/>
                <a:cs typeface="Calibri" panose="020F0502020204030204" pitchFamily="34" charset="0"/>
              </a:rPr>
              <a:t> </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6"/>
              </a:rPr>
              <a:t>https://www.coursera.org/learn/deep-learning-applications-in-vision?source=admin-share</a:t>
            </a:r>
            <a:r>
              <a:rPr lang="en-US" sz="1700" dirty="0">
                <a:latin typeface="Calibri" panose="020F0502020204030204" pitchFamily="34" charset="0"/>
                <a:ea typeface="Calibri" panose="020F0502020204030204" pitchFamily="34" charset="0"/>
                <a:cs typeface="Calibri" panose="020F0502020204030204" pitchFamily="34" charset="0"/>
              </a:rPr>
              <a:t> </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7"/>
              </a:rPr>
              <a:t>https://www.coursera.org/learn/ismdl?source=admin-share</a:t>
            </a:r>
            <a:endParaRPr lang="en-US" sz="1700" dirty="0">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8"/>
              </a:rPr>
              <a:t>https://youtu.be/Q-TtIPF0fCU</a:t>
            </a:r>
            <a:endParaRPr lang="en-US" sz="17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831198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0" y="4569812"/>
            <a:ext cx="9144000" cy="573688"/>
          </a:xfrm>
          <a:prstGeom prst="rect">
            <a:avLst/>
          </a:prstGeom>
          <a:noFill/>
          <a:ln>
            <a:noFill/>
          </a:ln>
        </p:spPr>
        <p:txBody>
          <a:bodyPr spcFirstLastPara="1" wrap="square" lIns="91425" tIns="45700" rIns="91425" bIns="45700" anchor="t" anchorCtr="0">
            <a:normAutofit/>
          </a:bodyPr>
          <a:lstStyle/>
          <a:p>
            <a:pPr marL="342900" indent="-342900" algn="just">
              <a:lnSpc>
                <a:spcPct val="100000"/>
              </a:lnSpc>
              <a:spcBef>
                <a:spcPts val="0"/>
              </a:spcBef>
              <a:buNone/>
            </a:pP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 	</a:t>
            </a:r>
            <a:r>
              <a:rPr lang="en-US" sz="2600" b="1"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Note: </a:t>
            </a: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Scan this QR code to provide anonymous feedback.</a:t>
            </a:r>
            <a:endParaRPr sz="2400" b="1" i="0" u="none" strike="noStrike" cap="none" dirty="0">
              <a:solidFill>
                <a:schemeClr val="bg2"/>
              </a:solidFill>
              <a:latin typeface="Times New Roman"/>
              <a:ea typeface="Times New Roman"/>
              <a:cs typeface="Times New Roman"/>
              <a:sym typeface="Times New Roman"/>
            </a:endParaRPr>
          </a:p>
        </p:txBody>
      </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32</a:t>
            </a:r>
          </a:p>
        </p:txBody>
      </p:sp>
      <p:pic>
        <p:nvPicPr>
          <p:cNvPr id="3" name="Picture 2">
            <a:extLst>
              <a:ext uri="{FF2B5EF4-FFF2-40B4-BE49-F238E27FC236}">
                <a16:creationId xmlns:a16="http://schemas.microsoft.com/office/drawing/2014/main" id="{638C0E15-F736-DB2F-B389-5746B3632B42}"/>
              </a:ext>
            </a:extLst>
          </p:cNvPr>
          <p:cNvPicPr>
            <a:picLocks noChangeAspect="1"/>
          </p:cNvPicPr>
          <p:nvPr/>
        </p:nvPicPr>
        <p:blipFill>
          <a:blip r:embed="rId3"/>
          <a:stretch>
            <a:fillRect/>
          </a:stretch>
        </p:blipFill>
        <p:spPr>
          <a:xfrm>
            <a:off x="2714172" y="684476"/>
            <a:ext cx="4354285" cy="3887549"/>
          </a:xfrm>
          <a:prstGeom prst="rect">
            <a:avLst/>
          </a:prstGeom>
        </p:spPr>
      </p:pic>
    </p:spTree>
    <p:extLst>
      <p:ext uri="{BB962C8B-B14F-4D97-AF65-F5344CB8AC3E}">
        <p14:creationId xmlns:p14="http://schemas.microsoft.com/office/powerpoint/2010/main" val="32179637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0" y="1669143"/>
            <a:ext cx="9144000" cy="1685036"/>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115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For queries</a:t>
            </a:r>
          </a:p>
          <a:p>
            <a:r>
              <a:rPr lang="en-US" sz="2000" b="1" dirty="0">
                <a:latin typeface="Calibri" panose="020F0502020204030204" pitchFamily="34" charset="0"/>
                <a:ea typeface="Calibri" panose="020F0502020204030204" pitchFamily="34" charset="0"/>
                <a:cs typeface="Calibri" panose="020F0502020204030204" pitchFamily="34" charset="0"/>
              </a:rPr>
              <a:t>Email: </a:t>
            </a:r>
            <a:r>
              <a:rPr lang="en-US" sz="2000" dirty="0">
                <a:latin typeface="Calibri" panose="020F0502020204030204" pitchFamily="34" charset="0"/>
                <a:ea typeface="Calibri" panose="020F0502020204030204" pitchFamily="34" charset="0"/>
                <a:cs typeface="Calibri" panose="020F0502020204030204" pitchFamily="34" charset="0"/>
              </a:rPr>
              <a:t>siddharth.e12853@cumail.in</a:t>
            </a:r>
          </a:p>
        </p:txBody>
      </p:sp>
      <p:sp>
        <p:nvSpPr>
          <p:cNvPr id="5" name="TextBox 4"/>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33</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1432</TotalTime>
  <Words>3622</Words>
  <Application>Microsoft Office PowerPoint</Application>
  <PresentationFormat>On-screen Show (16:9)</PresentationFormat>
  <Paragraphs>282</Paragraphs>
  <Slides>34</Slides>
  <Notes>34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Calibri</vt:lpstr>
      <vt:lpstr>Lato</vt:lpstr>
      <vt:lpstr>Arial</vt:lpstr>
      <vt:lpstr>Wingdings</vt:lpstr>
      <vt:lpstr>Vladimir Script</vt:lpstr>
      <vt:lpstr>Times New Roman</vt:lpstr>
      <vt:lpstr>Cambria</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Siddharth Kumar</cp:lastModifiedBy>
  <cp:revision>271</cp:revision>
  <dcterms:modified xsi:type="dcterms:W3CDTF">2025-12-22T15:19:25Z</dcterms:modified>
</cp:coreProperties>
</file>