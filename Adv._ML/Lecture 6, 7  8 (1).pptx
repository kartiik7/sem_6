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3"/>
  </p:notesMasterIdLst>
  <p:handoutMasterIdLst>
    <p:handoutMasterId r:id="rId34"/>
  </p:handoutMasterIdLst>
  <p:sldIdLst>
    <p:sldId id="256" r:id="rId2"/>
    <p:sldId id="395" r:id="rId3"/>
    <p:sldId id="308" r:id="rId4"/>
    <p:sldId id="309" r:id="rId5"/>
    <p:sldId id="310" r:id="rId6"/>
    <p:sldId id="311" r:id="rId7"/>
    <p:sldId id="312" r:id="rId8"/>
    <p:sldId id="396" r:id="rId9"/>
    <p:sldId id="397" r:id="rId10"/>
    <p:sldId id="401" r:id="rId11"/>
    <p:sldId id="402" r:id="rId12"/>
    <p:sldId id="403" r:id="rId13"/>
    <p:sldId id="404" r:id="rId14"/>
    <p:sldId id="405" r:id="rId15"/>
    <p:sldId id="406" r:id="rId16"/>
    <p:sldId id="407" r:id="rId17"/>
    <p:sldId id="408" r:id="rId18"/>
    <p:sldId id="409" r:id="rId19"/>
    <p:sldId id="410" r:id="rId20"/>
    <p:sldId id="411" r:id="rId21"/>
    <p:sldId id="412" r:id="rId22"/>
    <p:sldId id="413" r:id="rId23"/>
    <p:sldId id="414" r:id="rId24"/>
    <p:sldId id="370" r:id="rId25"/>
    <p:sldId id="373" r:id="rId26"/>
    <p:sldId id="374" r:id="rId27"/>
    <p:sldId id="375" r:id="rId28"/>
    <p:sldId id="376" r:id="rId29"/>
    <p:sldId id="377" r:id="rId30"/>
    <p:sldId id="307" r:id="rId31"/>
    <p:sldId id="305" r:id="rId32"/>
  </p:sldIdLst>
  <p:sldSz cx="9144000" cy="5143500" type="screen16x9"/>
  <p:notesSz cx="6858000" cy="9144000"/>
  <p:embeddedFontLst>
    <p:embeddedFont>
      <p:font typeface="Cambria" panose="02040503050406030204" pitchFamily="18" charset="0"/>
      <p:regular r:id="rId35"/>
      <p:bold r:id="rId36"/>
      <p:italic r:id="rId37"/>
      <p:boldItalic r:id="rId38"/>
    </p:embeddedFont>
    <p:embeddedFont>
      <p:font typeface="Lato" panose="020F0502020204030203" pitchFamily="34" charset="0"/>
      <p:regular r:id="rId39"/>
      <p:bold r:id="rId40"/>
      <p:italic r:id="rId41"/>
      <p:boldItalic r:id="rId42"/>
    </p:embeddedFont>
    <p:embeddedFont>
      <p:font typeface="Vladimir Script" panose="03050402040407070305" pitchFamily="66" charset="0"/>
      <p:regular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0"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04" autoAdjust="0"/>
  </p:normalViewPr>
  <p:slideViewPr>
    <p:cSldViewPr snapToGrid="0">
      <p:cViewPr varScale="1">
        <p:scale>
          <a:sx n="88" d="100"/>
          <a:sy n="88" d="100"/>
        </p:scale>
        <p:origin x="588" y="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handoutMaster" Target="handoutMasters/handoutMaster1.xml"/><Relationship Id="rId42" Type="http://schemas.openxmlformats.org/officeDocument/2006/relationships/font" Target="fonts/font8.fntdata"/><Relationship Id="rId84"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8" Type="http://schemas.openxmlformats.org/officeDocument/2006/relationships/slide" Target="slides/slide7.xml"/><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font" Target="fonts/font7.fntdata"/><Relationship Id="rId8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9B809D-6ED6-587F-BB95-5957722B98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4F80FB5-5BC0-7B8E-8E12-B22202F8E8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62F495-7282-46A0-973C-B2C5688CF367}" type="datetimeFigureOut">
              <a:rPr lang="en-IN" smtClean="0"/>
              <a:t>03-12-2025</a:t>
            </a:fld>
            <a:endParaRPr lang="en-IN"/>
          </a:p>
        </p:txBody>
      </p:sp>
      <p:sp>
        <p:nvSpPr>
          <p:cNvPr id="4" name="Footer Placeholder 3">
            <a:extLst>
              <a:ext uri="{FF2B5EF4-FFF2-40B4-BE49-F238E27FC236}">
                <a16:creationId xmlns:a16="http://schemas.microsoft.com/office/drawing/2014/main" id="{621B4BEF-1062-CF90-94F5-0D84A30E08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7B9952C-A29B-EE9B-C695-6827185477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9E412C-8FF0-451F-B78D-23681CAA499D}" type="slidenum">
              <a:rPr lang="en-IN" smtClean="0"/>
              <a:t>‹#›</a:t>
            </a:fld>
            <a:endParaRPr lang="en-IN"/>
          </a:p>
        </p:txBody>
      </p:sp>
    </p:spTree>
    <p:extLst>
      <p:ext uri="{BB962C8B-B14F-4D97-AF65-F5344CB8AC3E}">
        <p14:creationId xmlns:p14="http://schemas.microsoft.com/office/powerpoint/2010/main" val="400323505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F22B2D-5F79-437B-A011-BBC47D7BB1D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65DE9DE-CAE0-65AA-61A3-2DA78D76F1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530DD55-91C2-3B5A-5142-0DACDB3C90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71817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14C13F4-FB1C-C20C-026B-CE5D32314A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A6557A7-7A72-CF03-86A2-E7BE372A41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3E7F3F2-ED29-5428-E7DD-EFE3B240A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789313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043034-63D9-A039-93E5-1764AB2793A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C57E03B-6D6D-B7F8-237E-E7CF90C06A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1306E5B-8032-D26B-CD43-5AED70BC6F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037099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894A85-83AF-7440-397E-527B54822C6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9C2093A-3BD4-9A88-C5E2-F7C31E7A08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6DECF4C-468D-CCE2-03E4-E19F9D825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66495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68ED189-E8E3-7069-CB28-E59A2FA65CA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0A7FE95-7554-96B9-DA63-10263205F4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AF71D8EA-9D6E-4B29-D288-301D3C1747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595282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C5D20C1-7B56-F01E-814B-388F6825465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00C878C-3DE8-1648-F7D8-9DA5CA2861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78D6E58-4156-9833-6227-2E52C704F5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99653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14ACF2-CBCA-1D86-90F6-32E15422441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23E6A8B-1640-F7CE-0E31-323A48B667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3C9A192-1218-7471-E709-55F5DBF031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600782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7DA7E5B-4795-2D6B-F3A8-20740D2F6D4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E6017B-9573-ED9D-F829-A3C031DDAD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338C144-D9EF-C446-693C-3C185E0767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41052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4353FAD-6988-FA8E-0CEA-55B7EF5F21E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EFD64D-BD38-C693-3D99-BD05DDCDD1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D0434B9-91D2-6C41-5FE9-6D805444A0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330877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1627ECD-4872-1C51-E50B-7F0AF9E586E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1D0B690-67A4-0E0A-A3DD-91F6AAA9B0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3E4C731-CB09-B3E0-5354-2F64A7C279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23978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772708B-63D7-EF90-EBEC-467587EDD46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0B250CF-61A1-5B65-2DEE-AE9CFC1D4D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5682978-F19B-4CDE-37C9-643126F99E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32352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82750E3-100A-5216-9587-08293407655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198CEA7-6F21-5F9A-2196-1936E5D5CE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ECB7EA5-DFC1-F4CA-BA2B-D88ECEB0D1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536258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6895A98-B66D-D60D-B6DD-62B25954410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BF5ABCC-E3C7-BE4F-F3E5-95E034DE82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B3E10C5-6478-4033-8CCC-C5A865AB85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56799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DF20CB3-C83A-AC82-273C-507A685670F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EC291BA-1F34-3CFD-068E-ECF1EF79BEE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DCE179D6-8BC8-2D26-947A-B7DFD5C419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642532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6F145CB-4706-CFE9-23B1-C76A3EA3A4C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7FFE713-E5EC-28BD-1FCB-02F993969A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5D32F072-D92B-3065-F9C0-556FA62170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924061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5E13A5F-617A-9A08-151C-B7DB02945FE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3D92484-0A00-D922-6E03-3C97A41382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A2923FFF-7640-4F84-9E4A-BD7F8ECB70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924014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0216812-D8E5-A42D-8856-66BB4325415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C0C70DB-DB23-D8EA-79EB-D6E10EF8B7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53A9E71C-AA3D-F03B-A9B8-11E289A0CA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32329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6309D4E-CB48-F3D7-85BD-A799A36C343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5F559BC-60AF-EB07-BFF7-FD680E9A39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3C794C29-D23C-020C-8041-D69F53CBE3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5640603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CEAA4B8-3375-2761-B347-06CEB4B319C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9895A12-F8D4-DA15-A9DE-5044C5C7E3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93F897C3-6396-FAE1-FC88-9A705514A9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7854218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908D1C4-1DC4-A642-B05C-EAF22041108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7DF6E76-158B-16D0-03D5-509F1D6B1C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4FCD8C86-852D-7275-2680-0479A8042A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3025422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D84DA5D-B4C5-5462-E526-4AC13DACD3C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E1C407E-C63D-F718-21DA-93434B851A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86CC2377-C733-AE44-9A97-3AFA4EB3B9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2580779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F870998-5AD5-37EE-11F0-0057066D836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42F551-0BEA-B7AE-96ED-C0084DD1CB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7173E983-D4BA-3F27-79A5-8F183F2B6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646891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FA77362-E813-B9D1-32D3-5E9C3D02398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EE8BD31-C77D-61D3-5FCD-173896A901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411DAC1-C9A2-9CDC-559C-2193D54D16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971716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817DC0F-94B4-8791-4D78-14CFC851F20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8406BF-38F5-13DE-5BC5-EA4A3B07D4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0C7E46A-048B-8AB5-E0FF-1CC7DE151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9139994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2B56442-3C7C-962E-3BDA-37D85BE1FD7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B525C3B-8460-D113-DAF7-49D9569CA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9997AB6D-ABCC-1690-248D-DADEB2898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563032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D12E867-6D8B-518F-E142-893872952C9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F87AE17-BB90-EC3E-153F-D5445788DE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47FBE7-93FC-2416-906D-E19A987BC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1719731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EA5CA5-6785-8D65-5F10-0981FA005E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AA2EA74-CD63-B572-D9EE-548ED51846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AFBCA2B-AD55-3BF9-7430-F09A1B4D4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684010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3418237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microsoft.com/office/2007/relationships/hdphoto" Target="../media/hdphoto3.wdp"/></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microsoft.com/office/2007/relationships/hdphoto" Target="../media/hdphoto4.wdp"/></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microsoft.com/office/2007/relationships/hdphoto" Target="../media/hdphoto5.wdp"/></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youtu.be/pRSqKgwOd5k"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hyperlink" Target="https://youtu.be/pjYgiOE7E8o"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14350" y="664368"/>
            <a:ext cx="8213400" cy="4494010"/>
          </a:xfrm>
          <a:prstGeom prst="rect">
            <a:avLst/>
          </a:prstGeom>
          <a:noFill/>
          <a:ln>
            <a:noFill/>
          </a:ln>
        </p:spPr>
        <p:txBody>
          <a:bodyPr spcFirstLastPara="1" wrap="square" lIns="91425" tIns="45700" rIns="91425" bIns="45700" anchor="t" anchorCtr="0">
            <a:spAutoFit/>
          </a:bodyPr>
          <a:lstStyle/>
          <a:p>
            <a:pPr lvl="0" algn="ctr">
              <a:lnSpc>
                <a:spcPct val="90000"/>
              </a:lnSpc>
              <a:buClr>
                <a:schemeClr val="dk1"/>
              </a:buClr>
              <a:buSzPts val="32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lang="en-US" sz="105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1120"/>
              </a:spcBef>
              <a:buClr>
                <a:schemeClr val="dk1"/>
              </a:buClr>
              <a:buSzPts val="32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AIT-CSE (AIML)</a:t>
            </a:r>
          </a:p>
          <a:p>
            <a:pPr lvl="0" algn="ctr">
              <a:lnSpc>
                <a:spcPct val="90000"/>
              </a:lnSpc>
              <a:spcBef>
                <a:spcPts val="1120"/>
              </a:spcBef>
              <a:buClr>
                <a:schemeClr val="dk1"/>
              </a:buClr>
              <a:buSzPts val="2800"/>
            </a:pP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endParaRPr>
          </a:p>
          <a:p>
            <a:pPr lvl="0"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CS221: B.E. CSE (AIML)</a:t>
            </a:r>
          </a:p>
          <a:p>
            <a:pPr lvl="0"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5</a:t>
            </a:r>
            <a:r>
              <a:rPr lang="en-US" sz="2000"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Semester </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ADVANCED MACHINE LEARNING &amp; MATHEMATICAL MODELLING</a:t>
            </a:r>
            <a:endParaRPr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(23CSH-382)</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1                     Lecture No. 6, 7 &amp; 8</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Maxima and Minima for Several Variables and Convexity of Errors Function</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Mr. Siddharth Kumar (E12853)                                          Assistant Professor</a:t>
            </a: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Jan-May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2" name="Title 1">
            <a:extLst>
              <a:ext uri="{FF2B5EF4-FFF2-40B4-BE49-F238E27FC236}">
                <a16:creationId xmlns:a16="http://schemas.microsoft.com/office/drawing/2014/main" id="{ECAE4A14-02B1-C18D-9874-FFC261FDEE0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OBJECTIVES</a:t>
            </a:r>
          </a:p>
        </p:txBody>
      </p:sp>
      <p:sp>
        <p:nvSpPr>
          <p:cNvPr id="3" name="Rectangle 2">
            <a:extLst>
              <a:ext uri="{FF2B5EF4-FFF2-40B4-BE49-F238E27FC236}">
                <a16:creationId xmlns:a16="http://schemas.microsoft.com/office/drawing/2014/main" id="{0220D0D4-31AB-9369-35E4-0090B3DE8E31}"/>
              </a:ext>
            </a:extLst>
          </p:cNvPr>
          <p:cNvSpPr/>
          <p:nvPr/>
        </p:nvSpPr>
        <p:spPr>
          <a:xfrm>
            <a:off x="254001" y="892662"/>
            <a:ext cx="8639575" cy="4162934"/>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The course aims to:</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develop a strong mathematical foundation for regression-based predictive modelling using calculus, matrix algebra, and probability theory.</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provide an in-depth understanding of supervised classification algorithms including KNN, Support Vector Machines, and ensemble-based boosting approaches.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equip learners to implement clustering and probabilistic reasoning models such as Spectral Clustering, Markov Chains, Bayesian Networks, and HMMs.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cultivate the ability to design neural networks, implement multilayer perceptron, and optimize training using backpropagation and regularization strategies.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expose students to advanced deep learning frameworks, feature abstraction hierarchies, and performance enhancement through hyper-parameter tuning &amp; dropout.</a:t>
            </a:r>
          </a:p>
        </p:txBody>
      </p:sp>
    </p:spTree>
    <p:extLst>
      <p:ext uri="{BB962C8B-B14F-4D97-AF65-F5344CB8AC3E}">
        <p14:creationId xmlns:p14="http://schemas.microsoft.com/office/powerpoint/2010/main" val="2622060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4A61545-6A4D-7017-B491-26E651BDFB5C}"/>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8EF9DA49-4951-E941-E241-14B3A2DD2F28}"/>
              </a:ext>
            </a:extLst>
          </p:cNvPr>
          <p:cNvGraphicFramePr>
            <a:graphicFrameLocks noGrp="1"/>
          </p:cNvGraphicFramePr>
          <p:nvPr>
            <p:extLst>
              <p:ext uri="{D42A27DB-BD31-4B8C-83A1-F6EECF244321}">
                <p14:modId xmlns:p14="http://schemas.microsoft.com/office/powerpoint/2010/main" val="684569464"/>
              </p:ext>
            </p:extLst>
          </p:nvPr>
        </p:nvGraphicFramePr>
        <p:xfrm>
          <a:off x="370114" y="1343576"/>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CO1</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Recall the foundational concepts, terminology, and mathematical principles underlying regression, classification and clustering approaches.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3" name="Table 12">
            <a:extLst>
              <a:ext uri="{FF2B5EF4-FFF2-40B4-BE49-F238E27FC236}">
                <a16:creationId xmlns:a16="http://schemas.microsoft.com/office/drawing/2014/main" id="{8AF2C682-CBF0-7E25-04B3-5860944E6A64}"/>
              </a:ext>
            </a:extLst>
          </p:cNvPr>
          <p:cNvGraphicFramePr>
            <a:graphicFrameLocks noGrp="1"/>
          </p:cNvGraphicFramePr>
          <p:nvPr>
            <p:extLst>
              <p:ext uri="{D42A27DB-BD31-4B8C-83A1-F6EECF244321}">
                <p14:modId xmlns:p14="http://schemas.microsoft.com/office/powerpoint/2010/main" val="3082222650"/>
              </p:ext>
            </p:extLst>
          </p:nvPr>
        </p:nvGraphicFramePr>
        <p:xfrm>
          <a:off x="370114" y="1982202"/>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CO2</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Illustrate the working mechanisms, characteristics, and theoretical concept of regression, clustering and classification techniques in machine learning.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F9FA6A1-E183-6583-0A92-556DD6E08F84}"/>
              </a:ext>
            </a:extLst>
          </p:cNvPr>
          <p:cNvGraphicFramePr>
            <a:graphicFrameLocks noGrp="1"/>
          </p:cNvGraphicFramePr>
          <p:nvPr>
            <p:extLst>
              <p:ext uri="{D42A27DB-BD31-4B8C-83A1-F6EECF244321}">
                <p14:modId xmlns:p14="http://schemas.microsoft.com/office/powerpoint/2010/main" val="516881431"/>
              </p:ext>
            </p:extLst>
          </p:nvPr>
        </p:nvGraphicFramePr>
        <p:xfrm>
          <a:off x="370114" y="2613573"/>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CO3</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Apply appropriate regression, clustering and classification algorithms to solve real-world machine learning tasks while addressing performance constraints.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5" name="Table 14">
            <a:extLst>
              <a:ext uri="{FF2B5EF4-FFF2-40B4-BE49-F238E27FC236}">
                <a16:creationId xmlns:a16="http://schemas.microsoft.com/office/drawing/2014/main" id="{9E480C33-6C30-CAFC-63F4-B97B14E40ABA}"/>
              </a:ext>
            </a:extLst>
          </p:cNvPr>
          <p:cNvGraphicFramePr>
            <a:graphicFrameLocks noGrp="1"/>
          </p:cNvGraphicFramePr>
          <p:nvPr>
            <p:extLst>
              <p:ext uri="{D42A27DB-BD31-4B8C-83A1-F6EECF244321}">
                <p14:modId xmlns:p14="http://schemas.microsoft.com/office/powerpoint/2010/main" val="2737371272"/>
              </p:ext>
            </p:extLst>
          </p:nvPr>
        </p:nvGraphicFramePr>
        <p:xfrm>
          <a:off x="370114" y="3237687"/>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CO4</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Analyze and evaluate machine learning models using performance parameters to identify the best-suited techniques for specific applications regression, clustering and classification algorithms.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6" name="Table 15">
            <a:extLst>
              <a:ext uri="{FF2B5EF4-FFF2-40B4-BE49-F238E27FC236}">
                <a16:creationId xmlns:a16="http://schemas.microsoft.com/office/drawing/2014/main" id="{0B770020-E808-C51E-98C3-E13DADE63EE9}"/>
              </a:ext>
            </a:extLst>
          </p:cNvPr>
          <p:cNvGraphicFramePr>
            <a:graphicFrameLocks noGrp="1"/>
          </p:cNvGraphicFramePr>
          <p:nvPr>
            <p:extLst>
              <p:ext uri="{D42A27DB-BD31-4B8C-83A1-F6EECF244321}">
                <p14:modId xmlns:p14="http://schemas.microsoft.com/office/powerpoint/2010/main" val="882298138"/>
              </p:ext>
            </p:extLst>
          </p:nvPr>
        </p:nvGraphicFramePr>
        <p:xfrm>
          <a:off x="370114" y="4137573"/>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CO5</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Design and implement optimized machine learning solutions by integrating regression, clustering and classification models to solve complex predictive and decision-making problems.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Box 6">
            <a:extLst>
              <a:ext uri="{FF2B5EF4-FFF2-40B4-BE49-F238E27FC236}">
                <a16:creationId xmlns:a16="http://schemas.microsoft.com/office/drawing/2014/main" id="{C964D7DB-49E2-0809-DAE7-02B55DB97E8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2" name="Title 1">
            <a:extLst>
              <a:ext uri="{FF2B5EF4-FFF2-40B4-BE49-F238E27FC236}">
                <a16:creationId xmlns:a16="http://schemas.microsoft.com/office/drawing/2014/main" id="{E1D54E92-E639-32C0-A586-5312C258AEC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OUTCOMES</a:t>
            </a:r>
          </a:p>
        </p:txBody>
      </p:sp>
      <p:sp>
        <p:nvSpPr>
          <p:cNvPr id="3" name="Rectangle 2">
            <a:extLst>
              <a:ext uri="{FF2B5EF4-FFF2-40B4-BE49-F238E27FC236}">
                <a16:creationId xmlns:a16="http://schemas.microsoft.com/office/drawing/2014/main" id="{58E5231A-4FC6-A6AC-94D4-178AF49865FC}"/>
              </a:ext>
            </a:extLst>
          </p:cNvPr>
          <p:cNvSpPr/>
          <p:nvPr/>
        </p:nvSpPr>
        <p:spPr>
          <a:xfrm>
            <a:off x="254001" y="910187"/>
            <a:ext cx="8639575"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On completion of this course, the students shall be able to:</a:t>
            </a:r>
          </a:p>
        </p:txBody>
      </p:sp>
      <p:pic>
        <p:nvPicPr>
          <p:cNvPr id="17" name="Graphic 16" descr="Chevron arrows with solid fill">
            <a:extLst>
              <a:ext uri="{FF2B5EF4-FFF2-40B4-BE49-F238E27FC236}">
                <a16:creationId xmlns:a16="http://schemas.microsoft.com/office/drawing/2014/main" id="{AF23AD74-45C8-B11F-E1A2-6C388C2AE5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49828" y="1510650"/>
            <a:ext cx="346172" cy="216000"/>
          </a:xfrm>
          <a:prstGeom prst="rect">
            <a:avLst/>
          </a:prstGeom>
        </p:spPr>
      </p:pic>
    </p:spTree>
    <p:extLst>
      <p:ext uri="{BB962C8B-B14F-4D97-AF65-F5344CB8AC3E}">
        <p14:creationId xmlns:p14="http://schemas.microsoft.com/office/powerpoint/2010/main" val="1237911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BA1C71-5597-1CAF-83DC-D1B0724D01D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D13D930-9507-CC43-84EB-91691F0190B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2" name="Title 1">
            <a:extLst>
              <a:ext uri="{FF2B5EF4-FFF2-40B4-BE49-F238E27FC236}">
                <a16:creationId xmlns:a16="http://schemas.microsoft.com/office/drawing/2014/main" id="{36F199A5-4917-785C-8A51-52FAF96C844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Unit-I Syllabus</a:t>
            </a:r>
          </a:p>
        </p:txBody>
      </p:sp>
      <p:graphicFrame>
        <p:nvGraphicFramePr>
          <p:cNvPr id="4" name="Table 3">
            <a:extLst>
              <a:ext uri="{FF2B5EF4-FFF2-40B4-BE49-F238E27FC236}">
                <a16:creationId xmlns:a16="http://schemas.microsoft.com/office/drawing/2014/main" id="{A166E992-8616-65C5-081E-F77864CBB031}"/>
              </a:ext>
            </a:extLst>
          </p:cNvPr>
          <p:cNvGraphicFramePr>
            <a:graphicFrameLocks noGrp="1"/>
          </p:cNvGraphicFramePr>
          <p:nvPr>
            <p:extLst>
              <p:ext uri="{D42A27DB-BD31-4B8C-83A1-F6EECF244321}">
                <p14:modId xmlns:p14="http://schemas.microsoft.com/office/powerpoint/2010/main" val="1364968001"/>
              </p:ext>
            </p:extLst>
          </p:nvPr>
        </p:nvGraphicFramePr>
        <p:xfrm>
          <a:off x="229850" y="1141413"/>
          <a:ext cx="8663726" cy="3764415"/>
        </p:xfrm>
        <a:graphic>
          <a:graphicData uri="http://schemas.openxmlformats.org/drawingml/2006/table">
            <a:tbl>
              <a:tblPr>
                <a:tableStyleId>{97377635-EB9D-4884-B79A-0D259F93817B}</a:tableStyleId>
              </a:tblPr>
              <a:tblGrid>
                <a:gridCol w="1620721">
                  <a:extLst>
                    <a:ext uri="{9D8B030D-6E8A-4147-A177-3AD203B41FA5}">
                      <a16:colId xmlns:a16="http://schemas.microsoft.com/office/drawing/2014/main" val="1126371409"/>
                    </a:ext>
                  </a:extLst>
                </a:gridCol>
                <a:gridCol w="5239658">
                  <a:extLst>
                    <a:ext uri="{9D8B030D-6E8A-4147-A177-3AD203B41FA5}">
                      <a16:colId xmlns:a16="http://schemas.microsoft.com/office/drawing/2014/main" val="1782746869"/>
                    </a:ext>
                  </a:extLst>
                </a:gridCol>
                <a:gridCol w="1803347">
                  <a:extLst>
                    <a:ext uri="{9D8B030D-6E8A-4147-A177-3AD203B41FA5}">
                      <a16:colId xmlns:a16="http://schemas.microsoft.com/office/drawing/2014/main" val="3681176613"/>
                    </a:ext>
                  </a:extLst>
                </a:gridCol>
              </a:tblGrid>
              <a:tr h="727032">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Unit-1</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Contact Hours: 15</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526595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Linear and Polynomial Regression, Maxima and Minima of Function of One Variable, Rank, Eigen Values and Eigen Vectors, Positive &amp; Negative Definite/Semi-definite Matrices</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29645259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Error Estimation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Maxima and Minima of Function of Several Variables, Convexity of Errors Function, Building Simple Linear Regression Model by Solving Normal Equations, Gradient Descent, Stochastic &amp; Mini-batch Gradient Descent Algorithm</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4128748859"/>
                  </a:ext>
                </a:extLst>
              </a:tr>
              <a:tr h="743189">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Probability Theory</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IN"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Discrete Probability Distributions, Continuous Probability Distributions, Normal Distribution and t-Distributions, RSE, R</a:t>
                      </a:r>
                      <a:r>
                        <a:rPr lang="en-IN" sz="1600" u="none" strike="noStrike" baseline="300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2</a:t>
                      </a:r>
                      <a:endParaRPr lang="en-IN"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1161209939"/>
                  </a:ext>
                </a:extLst>
              </a:tr>
            </a:tbl>
          </a:graphicData>
        </a:graphic>
      </p:graphicFrame>
    </p:spTree>
    <p:extLst>
      <p:ext uri="{BB962C8B-B14F-4D97-AF65-F5344CB8AC3E}">
        <p14:creationId xmlns:p14="http://schemas.microsoft.com/office/powerpoint/2010/main" val="105206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722E90B-B4A7-48D2-134C-7BE9400BCFE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581164-F321-1B9B-5200-D60D63C15EE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sp>
        <p:nvSpPr>
          <p:cNvPr id="2" name="Title 1">
            <a:extLst>
              <a:ext uri="{FF2B5EF4-FFF2-40B4-BE49-F238E27FC236}">
                <a16:creationId xmlns:a16="http://schemas.microsoft.com/office/drawing/2014/main" id="{7EAEDE0E-C752-EC85-96D1-82A2D2EF1B3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SUGGESTIVE READINGS</a:t>
            </a:r>
          </a:p>
        </p:txBody>
      </p:sp>
      <p:sp>
        <p:nvSpPr>
          <p:cNvPr id="3" name="Rectangle 2">
            <a:extLst>
              <a:ext uri="{FF2B5EF4-FFF2-40B4-BE49-F238E27FC236}">
                <a16:creationId xmlns:a16="http://schemas.microsoft.com/office/drawing/2014/main" id="{D8857202-6F71-EB21-98DA-0053464F2129}"/>
              </a:ext>
            </a:extLst>
          </p:cNvPr>
          <p:cNvSpPr/>
          <p:nvPr/>
        </p:nvSpPr>
        <p:spPr>
          <a:xfrm>
            <a:off x="145143" y="1026299"/>
            <a:ext cx="8748433"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Text Books / Reference Books:</a:t>
            </a:r>
          </a:p>
        </p:txBody>
      </p:sp>
      <p:graphicFrame>
        <p:nvGraphicFramePr>
          <p:cNvPr id="6" name="Table 5">
            <a:extLst>
              <a:ext uri="{FF2B5EF4-FFF2-40B4-BE49-F238E27FC236}">
                <a16:creationId xmlns:a16="http://schemas.microsoft.com/office/drawing/2014/main" id="{7477AE26-3BC7-08F1-986D-BD55F4C4E6F5}"/>
              </a:ext>
            </a:extLst>
          </p:cNvPr>
          <p:cNvGraphicFramePr>
            <a:graphicFrameLocks noGrp="1"/>
          </p:cNvGraphicFramePr>
          <p:nvPr>
            <p:extLst>
              <p:ext uri="{D42A27DB-BD31-4B8C-83A1-F6EECF244321}">
                <p14:modId xmlns:p14="http://schemas.microsoft.com/office/powerpoint/2010/main" val="809687966"/>
              </p:ext>
            </p:extLst>
          </p:nvPr>
        </p:nvGraphicFramePr>
        <p:xfrm>
          <a:off x="250425" y="1421421"/>
          <a:ext cx="8639574" cy="3711434"/>
        </p:xfrm>
        <a:graphic>
          <a:graphicData uri="http://schemas.openxmlformats.org/drawingml/2006/table">
            <a:tbl>
              <a:tblPr>
                <a:tableStyleId>{5C22544A-7EE6-4342-B048-85BDC9FD1C3A}</a:tableStyleId>
              </a:tblPr>
              <a:tblGrid>
                <a:gridCol w="8639574">
                  <a:extLst>
                    <a:ext uri="{9D8B030D-6E8A-4147-A177-3AD203B41FA5}">
                      <a16:colId xmlns:a16="http://schemas.microsoft.com/office/drawing/2014/main" val="2230290221"/>
                    </a:ext>
                  </a:extLst>
                </a:gridCol>
              </a:tblGrid>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TEXT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43485506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T1: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Massaron</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Packt</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Publishing Ltd.</a:t>
                      </a:r>
                    </a:p>
                  </a:txBody>
                  <a:tcPr marL="5684" marR="5684" marT="5684" marB="0" anchor="ctr">
                    <a:solidFill>
                      <a:schemeClr val="bg1"/>
                    </a:solidFill>
                  </a:tcPr>
                </a:tc>
                <a:extLst>
                  <a:ext uri="{0D108BD9-81ED-4DB2-BD59-A6C34878D82A}">
                    <a16:rowId xmlns:a16="http://schemas.microsoft.com/office/drawing/2014/main" val="12432470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27248658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T3: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p>
                  </a:txBody>
                  <a:tcPr marL="5684" marR="5684" marT="5684" marB="0" anchor="ctr">
                    <a:solidFill>
                      <a:schemeClr val="bg1"/>
                    </a:solidFill>
                  </a:tcPr>
                </a:tc>
                <a:extLst>
                  <a:ext uri="{0D108BD9-81ED-4DB2-BD59-A6C34878D82A}">
                    <a16:rowId xmlns:a16="http://schemas.microsoft.com/office/drawing/2014/main" val="1593588325"/>
                  </a:ext>
                </a:extLst>
              </a:tr>
              <a:tr h="276998">
                <a:tc>
                  <a:txBody>
                    <a:bodyPr/>
                    <a:lstStyle/>
                    <a:p>
                      <a:pPr algn="just" fontAlgn="ctr"/>
                      <a:endPar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3980535516"/>
                  </a:ext>
                </a:extLst>
              </a:tr>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REFERENCE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91661051"/>
                  </a:ext>
                </a:extLst>
              </a:tr>
              <a:tr h="376622">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R1: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p>
                  </a:txBody>
                  <a:tcPr marL="5684" marR="5684" marT="5684" marB="0" anchor="ctr">
                    <a:solidFill>
                      <a:schemeClr val="bg1"/>
                    </a:solidFill>
                  </a:tcPr>
                </a:tc>
                <a:extLst>
                  <a:ext uri="{0D108BD9-81ED-4DB2-BD59-A6C34878D82A}">
                    <a16:rowId xmlns:a16="http://schemas.microsoft.com/office/drawing/2014/main" val="1123111606"/>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337323854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R3: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Vishnoi</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Xoffencer</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publication.</a:t>
                      </a:r>
                    </a:p>
                  </a:txBody>
                  <a:tcPr marL="5684" marR="5684" marT="5684" marB="0" anchor="ctr">
                    <a:solidFill>
                      <a:schemeClr val="bg1"/>
                    </a:solidFill>
                  </a:tcPr>
                </a:tc>
                <a:extLst>
                  <a:ext uri="{0D108BD9-81ED-4DB2-BD59-A6C34878D82A}">
                    <a16:rowId xmlns:a16="http://schemas.microsoft.com/office/drawing/2014/main" val="766468309"/>
                  </a:ext>
                </a:extLst>
              </a:tr>
              <a:tr h="0">
                <a:tc>
                  <a:txBody>
                    <a:bodyPr/>
                    <a:lstStyle/>
                    <a:p>
                      <a:pPr algn="just" fontAlgn="ctr"/>
                      <a:endPar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54666440"/>
                  </a:ext>
                </a:extLst>
              </a:tr>
            </a:tbl>
          </a:graphicData>
        </a:graphic>
      </p:graphicFrame>
    </p:spTree>
    <p:extLst>
      <p:ext uri="{BB962C8B-B14F-4D97-AF65-F5344CB8AC3E}">
        <p14:creationId xmlns:p14="http://schemas.microsoft.com/office/powerpoint/2010/main" val="1686286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2933D2-A694-4C02-9490-F8DF1D65E6E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AAB8138-C22D-D138-96A2-E61790B9550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5</a:t>
            </a:r>
          </a:p>
        </p:txBody>
      </p:sp>
      <p:sp>
        <p:nvSpPr>
          <p:cNvPr id="2" name="Title 1">
            <a:extLst>
              <a:ext uri="{FF2B5EF4-FFF2-40B4-BE49-F238E27FC236}">
                <a16:creationId xmlns:a16="http://schemas.microsoft.com/office/drawing/2014/main" id="{8FD457F1-73E5-C92E-69E7-B0F511A2510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Rectangle 2">
            <a:extLst>
              <a:ext uri="{FF2B5EF4-FFF2-40B4-BE49-F238E27FC236}">
                <a16:creationId xmlns:a16="http://schemas.microsoft.com/office/drawing/2014/main" id="{24A4B515-1583-F553-4D7C-021764E7BA41}"/>
              </a:ext>
            </a:extLst>
          </p:cNvPr>
          <p:cNvSpPr/>
          <p:nvPr/>
        </p:nvSpPr>
        <p:spPr>
          <a:xfrm>
            <a:off x="197783" y="1033556"/>
            <a:ext cx="8695793" cy="2468368"/>
          </a:xfrm>
          <a:prstGeom prst="rect">
            <a:avLst/>
          </a:prstGeom>
        </p:spPr>
        <p:txBody>
          <a:bodyPr wrap="square">
            <a:spAutoFit/>
          </a:bodyPr>
          <a:lstStyle/>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Maxima and Minima of Function of Several Variables</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Convexity of Errors Function</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Building Simple Linear Regression Model by Solving Normal Equations</a:t>
            </a:r>
          </a:p>
          <a:p>
            <a:pPr marL="285750" indent="-285750" algn="just">
              <a:lnSpc>
                <a:spcPct val="200000"/>
              </a:lnSpc>
              <a:buFont typeface="Times New Roman" panose="02020603050405020304" pitchFamily="18" charset="0"/>
              <a:buChar char="֍"/>
            </a:pP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73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34909B9-6679-B88A-741C-4D6D5F86F14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09B94D8-943E-B0BF-A653-233A369617DA}"/>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6</a:t>
            </a:r>
          </a:p>
        </p:txBody>
      </p:sp>
      <p:sp>
        <p:nvSpPr>
          <p:cNvPr id="2" name="Title 1">
            <a:extLst>
              <a:ext uri="{FF2B5EF4-FFF2-40B4-BE49-F238E27FC236}">
                <a16:creationId xmlns:a16="http://schemas.microsoft.com/office/drawing/2014/main" id="{DAFF8230-3BDF-FEDF-4508-298C8474C584}"/>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Maxima and Minima of Function of Several Variables</a:t>
            </a:r>
          </a:p>
        </p:txBody>
      </p:sp>
      <p:sp>
        <p:nvSpPr>
          <p:cNvPr id="3" name="Rectangle 2">
            <a:extLst>
              <a:ext uri="{FF2B5EF4-FFF2-40B4-BE49-F238E27FC236}">
                <a16:creationId xmlns:a16="http://schemas.microsoft.com/office/drawing/2014/main" id="{C36F8375-605C-8925-3932-CAAD5D4BB49C}"/>
              </a:ext>
            </a:extLst>
          </p:cNvPr>
          <p:cNvSpPr/>
          <p:nvPr/>
        </p:nvSpPr>
        <p:spPr>
          <a:xfrm>
            <a:off x="254001" y="975500"/>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Maxima and Minima refer to the highest and lowest points of a function's graph, respectively, within a given domain.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These points are also called turning points since the slope of the function (derivative) becomes zero at these positions.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1. Function of Several Variables</a:t>
            </a:r>
          </a:p>
          <a:p>
            <a:pPr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Let                                         𝑓: 𝑅</a:t>
            </a:r>
            <a:r>
              <a:rPr lang="en-US" sz="1800" baseline="30000" dirty="0">
                <a:latin typeface="Calibri" panose="020F0502020204030204" pitchFamily="34" charset="0"/>
                <a:ea typeface="Calibri" panose="020F0502020204030204" pitchFamily="34" charset="0"/>
                <a:cs typeface="Calibri" panose="020F0502020204030204" pitchFamily="34" charset="0"/>
              </a:rPr>
              <a:t>𝑛</a:t>
            </a:r>
            <a:r>
              <a:rPr lang="en-US" sz="1800" dirty="0">
                <a:latin typeface="Calibri" panose="020F0502020204030204" pitchFamily="34" charset="0"/>
                <a:ea typeface="Calibri" panose="020F0502020204030204" pitchFamily="34" charset="0"/>
                <a:cs typeface="Calibri" panose="020F0502020204030204" pitchFamily="34" charset="0"/>
              </a:rPr>
              <a:t>→𝑅,              𝑓=𝑓(𝑥</a:t>
            </a:r>
            <a:r>
              <a:rPr lang="en-US" sz="1800" baseline="-25000" dirty="0">
                <a:latin typeface="Calibri" panose="020F0502020204030204" pitchFamily="34" charset="0"/>
                <a:ea typeface="Calibri" panose="020F0502020204030204" pitchFamily="34" charset="0"/>
                <a:cs typeface="Calibri" panose="020F0502020204030204" pitchFamily="34" charset="0"/>
              </a:rPr>
              <a:t>1</a:t>
            </a:r>
            <a:r>
              <a:rPr lang="en-US" sz="1800" dirty="0">
                <a:latin typeface="Calibri" panose="020F0502020204030204" pitchFamily="34" charset="0"/>
                <a:ea typeface="Calibri" panose="020F0502020204030204" pitchFamily="34" charset="0"/>
                <a:cs typeface="Calibri" panose="020F0502020204030204" pitchFamily="34" charset="0"/>
              </a:rPr>
              <a:t>,𝑥</a:t>
            </a:r>
            <a:r>
              <a:rPr lang="en-US" sz="1800" baseline="-25000" dirty="0">
                <a:latin typeface="Calibri" panose="020F0502020204030204" pitchFamily="34" charset="0"/>
                <a:ea typeface="Calibri" panose="020F0502020204030204" pitchFamily="34" charset="0"/>
                <a:cs typeface="Calibri" panose="020F0502020204030204" pitchFamily="34" charset="0"/>
              </a:rPr>
              <a:t>2</a:t>
            </a:r>
            <a:r>
              <a:rPr lang="en-US" sz="1800" dirty="0">
                <a:latin typeface="Calibri" panose="020F0502020204030204" pitchFamily="34" charset="0"/>
                <a:ea typeface="Calibri" panose="020F0502020204030204" pitchFamily="34" charset="0"/>
                <a:cs typeface="Calibri" panose="020F0502020204030204" pitchFamily="34" charset="0"/>
              </a:rPr>
              <a:t>,…,𝑥</a:t>
            </a:r>
            <a:r>
              <a:rPr lang="en-US" sz="1800" baseline="-25000" dirty="0">
                <a:latin typeface="Calibri" panose="020F0502020204030204" pitchFamily="34" charset="0"/>
                <a:ea typeface="Calibri" panose="020F0502020204030204" pitchFamily="34" charset="0"/>
                <a:cs typeface="Calibri" panose="020F0502020204030204" pitchFamily="34" charset="0"/>
              </a:rPr>
              <a:t>𝑛</a:t>
            </a:r>
            <a:r>
              <a:rPr lang="en-US" sz="1800" dirty="0">
                <a:latin typeface="Calibri" panose="020F0502020204030204" pitchFamily="34" charset="0"/>
                <a:ea typeface="Calibri" panose="020F0502020204030204" pitchFamily="34" charset="0"/>
                <a:cs typeface="Calibri" panose="020F0502020204030204" pitchFamily="34" charset="0"/>
              </a:rPr>
              <a:t>)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We are interested in points where 𝑓 attains:</a:t>
            </a:r>
          </a:p>
          <a:p>
            <a:pPr marL="623888" lvl="0" indent="-26828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Local maximum</a:t>
            </a:r>
          </a:p>
          <a:p>
            <a:pPr marL="623888" lvl="0" indent="-26828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Local minimum</a:t>
            </a:r>
          </a:p>
          <a:p>
            <a:pPr marL="623888" lvl="0" indent="-26828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Or saddle points (neither max nor min)</a:t>
            </a:r>
          </a:p>
        </p:txBody>
      </p:sp>
    </p:spTree>
    <p:extLst>
      <p:ext uri="{BB962C8B-B14F-4D97-AF65-F5344CB8AC3E}">
        <p14:creationId xmlns:p14="http://schemas.microsoft.com/office/powerpoint/2010/main" val="164827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0D9FDA3-6BBF-F2E6-8EF2-18D8343FF6A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C87DFF4-7D1D-28BE-0ED6-1FF044B4EA9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Title 1">
            <a:extLst>
              <a:ext uri="{FF2B5EF4-FFF2-40B4-BE49-F238E27FC236}">
                <a16:creationId xmlns:a16="http://schemas.microsoft.com/office/drawing/2014/main" id="{A75F5A73-127E-BF51-16AB-E9561E9A8C41}"/>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Maxima and Minima of Function of Several Variables</a:t>
            </a:r>
          </a:p>
        </p:txBody>
      </p:sp>
      <p:sp>
        <p:nvSpPr>
          <p:cNvPr id="3" name="Rectangle 2">
            <a:extLst>
              <a:ext uri="{FF2B5EF4-FFF2-40B4-BE49-F238E27FC236}">
                <a16:creationId xmlns:a16="http://schemas.microsoft.com/office/drawing/2014/main" id="{553B37E5-3A85-8176-AC73-F3E9D9C7928F}"/>
              </a:ext>
            </a:extLst>
          </p:cNvPr>
          <p:cNvSpPr/>
          <p:nvPr/>
        </p:nvSpPr>
        <p:spPr>
          <a:xfrm>
            <a:off x="254001" y="975500"/>
            <a:ext cx="8639575" cy="337335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2. Local Maxima and Minima (Definitions)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Let 𝑥</a:t>
            </a:r>
            <a:r>
              <a:rPr lang="en-US" sz="1800" baseline="-25000" dirty="0">
                <a:latin typeface="Calibri" panose="020F0502020204030204" pitchFamily="34" charset="0"/>
                <a:ea typeface="Calibri" panose="020F0502020204030204" pitchFamily="34" charset="0"/>
                <a:cs typeface="Calibri" panose="020F0502020204030204" pitchFamily="34" charset="0"/>
              </a:rPr>
              <a:t>0 </a:t>
            </a:r>
            <a:r>
              <a:rPr lang="en-US" sz="1800" dirty="0">
                <a:latin typeface="Calibri" panose="020F0502020204030204" pitchFamily="34" charset="0"/>
                <a:ea typeface="Calibri" panose="020F0502020204030204" pitchFamily="34" charset="0"/>
                <a:cs typeface="Calibri" panose="020F0502020204030204" pitchFamily="34" charset="0"/>
              </a:rPr>
              <a:t>∈ 𝑅</a:t>
            </a:r>
            <a:r>
              <a:rPr lang="en-US" sz="1800" baseline="30000" dirty="0">
                <a:latin typeface="Calibri" panose="020F0502020204030204" pitchFamily="34" charset="0"/>
                <a:ea typeface="Calibri" panose="020F0502020204030204" pitchFamily="34" charset="0"/>
                <a:cs typeface="Calibri" panose="020F0502020204030204" pitchFamily="34" charset="0"/>
              </a:rPr>
              <a:t>𝑛</a:t>
            </a:r>
            <a:r>
              <a:rPr lang="en-US" sz="1800" dirty="0">
                <a:latin typeface="Calibri" panose="020F0502020204030204" pitchFamily="34" charset="0"/>
                <a:ea typeface="Calibri" panose="020F0502020204030204" pitchFamily="34" charset="0"/>
                <a:cs typeface="Calibri" panose="020F0502020204030204" pitchFamily="34" charset="0"/>
              </a:rPr>
              <a:t> be a point.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Local minimum at 𝑥</a:t>
            </a:r>
            <a:r>
              <a:rPr lang="en-US" sz="1800" baseline="-25000" dirty="0">
                <a:latin typeface="Calibri" panose="020F0502020204030204" pitchFamily="34" charset="0"/>
                <a:ea typeface="Calibri" panose="020F0502020204030204" pitchFamily="34" charset="0"/>
                <a:cs typeface="Calibri" panose="020F0502020204030204" pitchFamily="34" charset="0"/>
              </a:rPr>
              <a:t>0</a:t>
            </a:r>
            <a:r>
              <a:rPr lang="en-US" sz="1800" dirty="0">
                <a:latin typeface="Calibri" panose="020F0502020204030204" pitchFamily="34" charset="0"/>
                <a:ea typeface="Calibri" panose="020F0502020204030204" pitchFamily="34" charset="0"/>
                <a:cs typeface="Calibri" panose="020F0502020204030204" pitchFamily="34" charset="0"/>
              </a:rPr>
              <a:t>:</a:t>
            </a:r>
          </a:p>
          <a:p>
            <a:pPr lvl="0" algn="ctr">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There exists 𝛿&gt;0such that𝑓(𝑥)≥𝑓(𝑥</a:t>
            </a:r>
            <a:r>
              <a:rPr lang="en-US" sz="1800" baseline="-25000" dirty="0">
                <a:latin typeface="Calibri" panose="020F0502020204030204" pitchFamily="34" charset="0"/>
                <a:ea typeface="Calibri" panose="020F0502020204030204" pitchFamily="34" charset="0"/>
                <a:cs typeface="Calibri" panose="020F0502020204030204" pitchFamily="34" charset="0"/>
              </a:rPr>
              <a:t>0</a:t>
            </a:r>
            <a:r>
              <a:rPr lang="en-US" sz="1800" dirty="0">
                <a:latin typeface="Calibri" panose="020F0502020204030204" pitchFamily="34" charset="0"/>
                <a:ea typeface="Calibri" panose="020F0502020204030204" pitchFamily="34" charset="0"/>
                <a:cs typeface="Calibri" panose="020F0502020204030204" pitchFamily="34" charset="0"/>
              </a:rPr>
              <a:t>) for all ∥𝑥−𝑥0∥&lt;𝛿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Local maximum at 𝑥</a:t>
            </a:r>
            <a:r>
              <a:rPr lang="en-US" sz="1800" baseline="-25000" dirty="0">
                <a:latin typeface="Calibri" panose="020F0502020204030204" pitchFamily="34" charset="0"/>
                <a:ea typeface="Calibri" panose="020F0502020204030204" pitchFamily="34" charset="0"/>
                <a:cs typeface="Calibri" panose="020F0502020204030204" pitchFamily="34" charset="0"/>
              </a:rPr>
              <a:t>0</a:t>
            </a:r>
            <a:r>
              <a:rPr lang="en-US" sz="1800" dirty="0">
                <a:latin typeface="Calibri" panose="020F0502020204030204" pitchFamily="34" charset="0"/>
                <a:ea typeface="Calibri" panose="020F0502020204030204" pitchFamily="34" charset="0"/>
                <a:cs typeface="Calibri" panose="020F0502020204030204" pitchFamily="34" charset="0"/>
              </a:rPr>
              <a:t>​:</a:t>
            </a:r>
          </a:p>
          <a:p>
            <a:pPr lvl="0" algn="ctr">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There exists 𝛿&gt;0such that𝑓(𝑥)≤𝑓(𝑥0)for all ∥𝑥−𝑥0∥&lt;𝛿f</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Saddle point: 𝑥</a:t>
            </a:r>
            <a:r>
              <a:rPr lang="en-US" sz="1800" baseline="-25000" dirty="0">
                <a:latin typeface="Calibri" panose="020F0502020204030204" pitchFamily="34" charset="0"/>
                <a:ea typeface="Calibri" panose="020F0502020204030204" pitchFamily="34" charset="0"/>
                <a:cs typeface="Calibri" panose="020F0502020204030204" pitchFamily="34" charset="0"/>
              </a:rPr>
              <a:t>0</a:t>
            </a:r>
            <a:r>
              <a:rPr lang="en-US" sz="1800" dirty="0">
                <a:latin typeface="Calibri" panose="020F0502020204030204" pitchFamily="34" charset="0"/>
                <a:ea typeface="Calibri" panose="020F0502020204030204" pitchFamily="34" charset="0"/>
                <a:cs typeface="Calibri" panose="020F0502020204030204" pitchFamily="34" charset="0"/>
              </a:rPr>
              <a:t> is a critical point where 𝑓 is neither a local min nor a local max (in some directions it increases, in others it decreases).</a:t>
            </a:r>
          </a:p>
        </p:txBody>
      </p:sp>
    </p:spTree>
    <p:extLst>
      <p:ext uri="{BB962C8B-B14F-4D97-AF65-F5344CB8AC3E}">
        <p14:creationId xmlns:p14="http://schemas.microsoft.com/office/powerpoint/2010/main" val="1219177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5FF0DD4-3FBD-751D-75E3-3321A6C80AB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1262C8B-51E4-D349-1A61-615636BBD02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sp>
        <p:nvSpPr>
          <p:cNvPr id="2" name="Title 1">
            <a:extLst>
              <a:ext uri="{FF2B5EF4-FFF2-40B4-BE49-F238E27FC236}">
                <a16:creationId xmlns:a16="http://schemas.microsoft.com/office/drawing/2014/main" id="{DD4FE876-37E2-DE8E-042E-9E0310722B44}"/>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Convexity of Errors Function</a:t>
            </a:r>
          </a:p>
        </p:txBody>
      </p:sp>
      <p:sp>
        <p:nvSpPr>
          <p:cNvPr id="3" name="Rectangle 2">
            <a:extLst>
              <a:ext uri="{FF2B5EF4-FFF2-40B4-BE49-F238E27FC236}">
                <a16:creationId xmlns:a16="http://schemas.microsoft.com/office/drawing/2014/main" id="{D11329FB-5122-6BED-3B05-4E935A255257}"/>
              </a:ext>
            </a:extLst>
          </p:cNvPr>
          <p:cNvSpPr/>
          <p:nvPr/>
        </p:nvSpPr>
        <p:spPr>
          <a:xfrm>
            <a:off x="254001" y="960986"/>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the field of machine learning, the main objective is to find the most “fit” model trained over a particular task or a bunch of tasks.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To do this, one needs to optimize the loss/cost function, and this will assist in minimizing error.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One needs to know the nature of concave and convex functions since they are the ones that assist in optimizing problems effectively.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These convex and concave functions form the foundation of many machine learning algorithms and influence the minimization of loss for training stability.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this chapter, we’ll learn what concave and convex functions are, their differences, and how they impact the optimization strategies in machine learning.</a:t>
            </a:r>
          </a:p>
        </p:txBody>
      </p:sp>
    </p:spTree>
    <p:extLst>
      <p:ext uri="{BB962C8B-B14F-4D97-AF65-F5344CB8AC3E}">
        <p14:creationId xmlns:p14="http://schemas.microsoft.com/office/powerpoint/2010/main" val="294630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747A188-ED90-4BC8-2B19-01C948571AD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D07A1BF-9741-9DF1-2441-2DF9BC08214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9</a:t>
            </a:r>
          </a:p>
        </p:txBody>
      </p:sp>
      <p:sp>
        <p:nvSpPr>
          <p:cNvPr id="2" name="Title 1">
            <a:extLst>
              <a:ext uri="{FF2B5EF4-FFF2-40B4-BE49-F238E27FC236}">
                <a16:creationId xmlns:a16="http://schemas.microsoft.com/office/drawing/2014/main" id="{A351FC84-F070-3A31-20FA-0AB13768B643}"/>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Convexity of Errors Function</a:t>
            </a:r>
          </a:p>
        </p:txBody>
      </p:sp>
      <p:sp>
        <p:nvSpPr>
          <p:cNvPr id="3" name="Rectangle 2">
            <a:extLst>
              <a:ext uri="{FF2B5EF4-FFF2-40B4-BE49-F238E27FC236}">
                <a16:creationId xmlns:a16="http://schemas.microsoft.com/office/drawing/2014/main" id="{85A216F7-5A5F-F20A-3622-F88AED9BFADD}"/>
              </a:ext>
            </a:extLst>
          </p:cNvPr>
          <p:cNvSpPr/>
          <p:nvPr/>
        </p:nvSpPr>
        <p:spPr>
          <a:xfrm>
            <a:off x="254001" y="960986"/>
            <a:ext cx="8639575" cy="2126864"/>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What is a Convex Function?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mathematical terms, a real-valued function is convex if the line segment between any two points on the graph of the function lies above the two points.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simple terms, the convex function graph is shaped like a “cup “ or “U”.</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 function is said to be convex if and only if the region above its graph is a convex set.</a:t>
            </a:r>
          </a:p>
        </p:txBody>
      </p:sp>
      <p:pic>
        <p:nvPicPr>
          <p:cNvPr id="5" name="Picture 4">
            <a:extLst>
              <a:ext uri="{FF2B5EF4-FFF2-40B4-BE49-F238E27FC236}">
                <a16:creationId xmlns:a16="http://schemas.microsoft.com/office/drawing/2014/main" id="{BC9C549B-4C66-E822-7C0C-9BF37E37FC60}"/>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616856" y="3176848"/>
            <a:ext cx="7992668" cy="1351677"/>
          </a:xfrm>
          <a:prstGeom prst="rect">
            <a:avLst/>
          </a:prstGeom>
        </p:spPr>
      </p:pic>
    </p:spTree>
    <p:extLst>
      <p:ext uri="{BB962C8B-B14F-4D97-AF65-F5344CB8AC3E}">
        <p14:creationId xmlns:p14="http://schemas.microsoft.com/office/powerpoint/2010/main" val="3821206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A3494B9-E0F3-3C16-8DA8-369CEBE4911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BE09D7D-3CC2-CFC6-0EEE-B62E2F53EE9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2" name="Title 1">
            <a:extLst>
              <a:ext uri="{FF2B5EF4-FFF2-40B4-BE49-F238E27FC236}">
                <a16:creationId xmlns:a16="http://schemas.microsoft.com/office/drawing/2014/main" id="{4A822CA7-E940-2052-2031-A687C9CA75AD}"/>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Convexity of Errors Function</a:t>
            </a:r>
          </a:p>
        </p:txBody>
      </p:sp>
      <p:sp>
        <p:nvSpPr>
          <p:cNvPr id="3" name="Rectangle 2">
            <a:extLst>
              <a:ext uri="{FF2B5EF4-FFF2-40B4-BE49-F238E27FC236}">
                <a16:creationId xmlns:a16="http://schemas.microsoft.com/office/drawing/2014/main" id="{02AAC7B5-0005-BF04-0DC3-1B01F4E51A8C}"/>
              </a:ext>
            </a:extLst>
          </p:cNvPr>
          <p:cNvSpPr/>
          <p:nvPr/>
        </p:nvSpPr>
        <p:spPr>
          <a:xfrm>
            <a:off x="254002" y="960986"/>
            <a:ext cx="4245428"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mathematical terms, a real-valued function is convex if the line segment between any two points on the graph of the function lies above the two points.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simple terms, the convex function graph is shaped like a “cup “ or “U”.</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 function is said to be convex if and only if the region above its graph is a convex set.</a:t>
            </a:r>
          </a:p>
        </p:txBody>
      </p:sp>
      <p:pic>
        <p:nvPicPr>
          <p:cNvPr id="4" name="Picture 3">
            <a:extLst>
              <a:ext uri="{FF2B5EF4-FFF2-40B4-BE49-F238E27FC236}">
                <a16:creationId xmlns:a16="http://schemas.microsoft.com/office/drawing/2014/main" id="{C7D0E35A-9494-E935-3BA3-CBDBD7CB378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l="21428" t="17562" r="20555" b="14247"/>
          <a:stretch>
            <a:fillRect/>
          </a:stretch>
        </p:blipFill>
        <p:spPr>
          <a:xfrm>
            <a:off x="4499430" y="1262472"/>
            <a:ext cx="4390568" cy="3185886"/>
          </a:xfrm>
          <a:prstGeom prst="rect">
            <a:avLst/>
          </a:prstGeom>
        </p:spPr>
      </p:pic>
      <p:sp>
        <p:nvSpPr>
          <p:cNvPr id="6" name="TextBox 5">
            <a:extLst>
              <a:ext uri="{FF2B5EF4-FFF2-40B4-BE49-F238E27FC236}">
                <a16:creationId xmlns:a16="http://schemas.microsoft.com/office/drawing/2014/main" id="{9133F8C9-675F-13B0-99B6-E58F7AF07E0B}"/>
              </a:ext>
            </a:extLst>
          </p:cNvPr>
          <p:cNvSpPr txBox="1"/>
          <p:nvPr/>
        </p:nvSpPr>
        <p:spPr>
          <a:xfrm>
            <a:off x="4318000" y="4438922"/>
            <a:ext cx="464457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 Convex Function Curve</a:t>
            </a:r>
            <a:endParaRPr lang="en-IN" b="1" dirty="0"/>
          </a:p>
        </p:txBody>
      </p:sp>
    </p:spTree>
    <p:extLst>
      <p:ext uri="{BB962C8B-B14F-4D97-AF65-F5344CB8AC3E}">
        <p14:creationId xmlns:p14="http://schemas.microsoft.com/office/powerpoint/2010/main" val="394829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5A4D660-25DA-7D58-F07C-829768984EC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79A56BB-2DA5-4981-D85F-F36370621CA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sp>
        <p:nvSpPr>
          <p:cNvPr id="2" name="Title 1">
            <a:extLst>
              <a:ext uri="{FF2B5EF4-FFF2-40B4-BE49-F238E27FC236}">
                <a16:creationId xmlns:a16="http://schemas.microsoft.com/office/drawing/2014/main" id="{01066063-FC8F-11CF-BF72-ED2758240A08}"/>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Convexity of Errors Function</a:t>
            </a:r>
          </a:p>
        </p:txBody>
      </p:sp>
      <p:sp>
        <p:nvSpPr>
          <p:cNvPr id="3" name="Rectangle 2">
            <a:extLst>
              <a:ext uri="{FF2B5EF4-FFF2-40B4-BE49-F238E27FC236}">
                <a16:creationId xmlns:a16="http://schemas.microsoft.com/office/drawing/2014/main" id="{D63B5298-48F5-978B-276C-EF543ABBA556}"/>
              </a:ext>
            </a:extLst>
          </p:cNvPr>
          <p:cNvSpPr/>
          <p:nvPr/>
        </p:nvSpPr>
        <p:spPr>
          <a:xfrm>
            <a:off x="254001" y="960986"/>
            <a:ext cx="8639575" cy="2542363"/>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What is a Concave Function?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Any function that is not a convex function is said to be a concave function. Mathematically, a concave function curves downwards or has multiple peaks and valleys.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This means that if any two points are present in the subset that contains the whole segment joining them, then it’s a convex function, otherwise, it’s a concave function.</a:t>
            </a:r>
          </a:p>
        </p:txBody>
      </p:sp>
      <p:pic>
        <p:nvPicPr>
          <p:cNvPr id="5" name="Picture 4">
            <a:extLst>
              <a:ext uri="{FF2B5EF4-FFF2-40B4-BE49-F238E27FC236}">
                <a16:creationId xmlns:a16="http://schemas.microsoft.com/office/drawing/2014/main" id="{9707410E-C5FD-A596-54BA-55A1273E245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631371" y="3410857"/>
            <a:ext cx="8258628" cy="1516743"/>
          </a:xfrm>
          <a:prstGeom prst="rect">
            <a:avLst/>
          </a:prstGeom>
        </p:spPr>
      </p:pic>
    </p:spTree>
    <p:extLst>
      <p:ext uri="{BB962C8B-B14F-4D97-AF65-F5344CB8AC3E}">
        <p14:creationId xmlns:p14="http://schemas.microsoft.com/office/powerpoint/2010/main" val="15778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7DF0BE3-B71C-2A04-E65A-9E8680A155F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BB5000C-B672-95EB-9005-C9DCDFA0E06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
        <p:nvSpPr>
          <p:cNvPr id="2" name="Title 1">
            <a:extLst>
              <a:ext uri="{FF2B5EF4-FFF2-40B4-BE49-F238E27FC236}">
                <a16:creationId xmlns:a16="http://schemas.microsoft.com/office/drawing/2014/main" id="{17FEE87E-EC02-99CA-B626-096CA9F68088}"/>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Convexity of Errors Function</a:t>
            </a:r>
          </a:p>
        </p:txBody>
      </p:sp>
      <p:sp>
        <p:nvSpPr>
          <p:cNvPr id="3" name="Rectangle 2">
            <a:extLst>
              <a:ext uri="{FF2B5EF4-FFF2-40B4-BE49-F238E27FC236}">
                <a16:creationId xmlns:a16="http://schemas.microsoft.com/office/drawing/2014/main" id="{B69D7866-BDC9-9F54-00C4-6DC452EFCA2E}"/>
              </a:ext>
            </a:extLst>
          </p:cNvPr>
          <p:cNvSpPr/>
          <p:nvPr/>
        </p:nvSpPr>
        <p:spPr>
          <a:xfrm>
            <a:off x="254001" y="960986"/>
            <a:ext cx="5006862" cy="2957861"/>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This inequality violates the convexity condition. Here is the characteristic curve for a concave function: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Loss/Cost functions: </a:t>
            </a:r>
            <a:r>
              <a:rPr lang="en-US" sz="1800" dirty="0">
                <a:latin typeface="Calibri" panose="020F0502020204030204" pitchFamily="34" charset="0"/>
                <a:ea typeface="Calibri" panose="020F0502020204030204" pitchFamily="34" charset="0"/>
                <a:cs typeface="Calibri" panose="020F0502020204030204" pitchFamily="34" charset="0"/>
              </a:rPr>
              <a:t>Loss function is the difference between the actual value and the predicted value of the machine learning algorithm from a single record. </a:t>
            </a:r>
          </a:p>
        </p:txBody>
      </p:sp>
      <p:pic>
        <p:nvPicPr>
          <p:cNvPr id="5" name="Picture 4">
            <a:extLst>
              <a:ext uri="{FF2B5EF4-FFF2-40B4-BE49-F238E27FC236}">
                <a16:creationId xmlns:a16="http://schemas.microsoft.com/office/drawing/2014/main" id="{1561E5C8-3C17-42AF-2E10-99FE70375C55}"/>
              </a:ext>
            </a:extLst>
          </p:cNvPr>
          <p:cNvPicPr>
            <a:picLocks noChangeAspect="1"/>
          </p:cNvPicPr>
          <p:nvPr/>
        </p:nvPicPr>
        <p:blipFill>
          <a:blip r:embed="rId3"/>
          <a:srcRect l="20991" t="7415" r="20904" b="7052"/>
          <a:stretch>
            <a:fillRect/>
          </a:stretch>
        </p:blipFill>
        <p:spPr>
          <a:xfrm>
            <a:off x="5260863" y="960986"/>
            <a:ext cx="3490687" cy="2489200"/>
          </a:xfrm>
          <a:prstGeom prst="rect">
            <a:avLst/>
          </a:prstGeom>
        </p:spPr>
      </p:pic>
      <p:sp>
        <p:nvSpPr>
          <p:cNvPr id="6" name="TextBox 5">
            <a:extLst>
              <a:ext uri="{FF2B5EF4-FFF2-40B4-BE49-F238E27FC236}">
                <a16:creationId xmlns:a16="http://schemas.microsoft.com/office/drawing/2014/main" id="{F5214A50-0450-5455-CD06-4F3C382F6207}"/>
              </a:ext>
            </a:extLst>
          </p:cNvPr>
          <p:cNvSpPr txBox="1"/>
          <p:nvPr/>
        </p:nvSpPr>
        <p:spPr>
          <a:xfrm>
            <a:off x="5392057" y="3385295"/>
            <a:ext cx="3490687"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Figure-2: Characteristic Curve</a:t>
            </a:r>
            <a:endParaRPr lang="en-IN" b="1" dirty="0"/>
          </a:p>
        </p:txBody>
      </p:sp>
      <p:sp>
        <p:nvSpPr>
          <p:cNvPr id="8" name="Rectangle 7">
            <a:extLst>
              <a:ext uri="{FF2B5EF4-FFF2-40B4-BE49-F238E27FC236}">
                <a16:creationId xmlns:a16="http://schemas.microsoft.com/office/drawing/2014/main" id="{B83B1A71-7576-D91D-BA7E-C9C396C7F3FE}"/>
              </a:ext>
            </a:extLst>
          </p:cNvPr>
          <p:cNvSpPr/>
          <p:nvPr/>
        </p:nvSpPr>
        <p:spPr>
          <a:xfrm>
            <a:off x="254000" y="3813043"/>
            <a:ext cx="8628743" cy="129586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While the cost function aggregated the difference for the entire dataset.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Loss and cost functions play an important role in guiding the optimization of a machine learning algorithm.</a:t>
            </a:r>
          </a:p>
        </p:txBody>
      </p:sp>
    </p:spTree>
    <p:extLst>
      <p:ext uri="{BB962C8B-B14F-4D97-AF65-F5344CB8AC3E}">
        <p14:creationId xmlns:p14="http://schemas.microsoft.com/office/powerpoint/2010/main" val="166156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B42DFAD-8790-900A-F071-FCC99EDB17D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8581790-7725-06DF-DE1B-322F96B4F7F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
        <p:nvSpPr>
          <p:cNvPr id="2" name="Title 1">
            <a:extLst>
              <a:ext uri="{FF2B5EF4-FFF2-40B4-BE49-F238E27FC236}">
                <a16:creationId xmlns:a16="http://schemas.microsoft.com/office/drawing/2014/main" id="{469ADD7D-9992-81AE-384A-EDF1F2DF723B}"/>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Convexity of Errors Function</a:t>
            </a:r>
          </a:p>
        </p:txBody>
      </p:sp>
      <p:sp>
        <p:nvSpPr>
          <p:cNvPr id="3" name="Rectangle 2">
            <a:extLst>
              <a:ext uri="{FF2B5EF4-FFF2-40B4-BE49-F238E27FC236}">
                <a16:creationId xmlns:a16="http://schemas.microsoft.com/office/drawing/2014/main" id="{152B6B9A-7A0B-F0EA-EB2C-8985FB9FED5E}"/>
              </a:ext>
            </a:extLst>
          </p:cNvPr>
          <p:cNvSpPr/>
          <p:nvPr/>
        </p:nvSpPr>
        <p:spPr>
          <a:xfrm>
            <a:off x="254001" y="960986"/>
            <a:ext cx="8639575" cy="129586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They show quantitatively how well the model is performing, which serves as a measure for optimization techniques like gradient descent, and how much the model parameters need to be adjusted. </a:t>
            </a:r>
          </a:p>
        </p:txBody>
      </p:sp>
      <p:pic>
        <p:nvPicPr>
          <p:cNvPr id="4" name="Picture 3">
            <a:extLst>
              <a:ext uri="{FF2B5EF4-FFF2-40B4-BE49-F238E27FC236}">
                <a16:creationId xmlns:a16="http://schemas.microsoft.com/office/drawing/2014/main" id="{AEB673C1-10A9-8B43-0D7D-94A4211D5775}"/>
              </a:ext>
            </a:extLst>
          </p:cNvPr>
          <p:cNvPicPr>
            <a:picLocks noChangeAspect="1"/>
          </p:cNvPicPr>
          <p:nvPr/>
        </p:nvPicPr>
        <p:blipFill>
          <a:blip r:embed="rId3"/>
          <a:srcRect b="42857"/>
          <a:stretch>
            <a:fillRect/>
          </a:stretch>
        </p:blipFill>
        <p:spPr>
          <a:xfrm>
            <a:off x="3831770" y="1981200"/>
            <a:ext cx="4973865" cy="2939143"/>
          </a:xfrm>
          <a:prstGeom prst="rect">
            <a:avLst/>
          </a:prstGeom>
        </p:spPr>
      </p:pic>
      <p:sp>
        <p:nvSpPr>
          <p:cNvPr id="5" name="Rectangle 4">
            <a:extLst>
              <a:ext uri="{FF2B5EF4-FFF2-40B4-BE49-F238E27FC236}">
                <a16:creationId xmlns:a16="http://schemas.microsoft.com/office/drawing/2014/main" id="{5E20E962-6DF5-EA75-F8C1-FC2764E0ED93}"/>
              </a:ext>
            </a:extLst>
          </p:cNvPr>
          <p:cNvSpPr/>
          <p:nvPr/>
        </p:nvSpPr>
        <p:spPr>
          <a:xfrm>
            <a:off x="250424" y="2351519"/>
            <a:ext cx="3493405" cy="2126864"/>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By minimizing these values, the model gradually increases its accuracy by reducing the difference between predicted and actual values.</a:t>
            </a:r>
          </a:p>
        </p:txBody>
      </p:sp>
    </p:spTree>
    <p:extLst>
      <p:ext uri="{BB962C8B-B14F-4D97-AF65-F5344CB8AC3E}">
        <p14:creationId xmlns:p14="http://schemas.microsoft.com/office/powerpoint/2010/main" val="2035675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B38E49A-9189-5246-8A56-BBB7791D9B2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0F89AB8-892C-FFD5-F72C-10EBF5753A8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sp>
        <p:nvSpPr>
          <p:cNvPr id="2" name="Title 1">
            <a:extLst>
              <a:ext uri="{FF2B5EF4-FFF2-40B4-BE49-F238E27FC236}">
                <a16:creationId xmlns:a16="http://schemas.microsoft.com/office/drawing/2014/main" id="{0E146FF1-748F-86B6-8B87-1A7CA472BC5E}"/>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Regression Model by Solving Normal Equations</a:t>
            </a:r>
          </a:p>
        </p:txBody>
      </p:sp>
      <p:sp>
        <p:nvSpPr>
          <p:cNvPr id="3" name="Rectangle 2">
            <a:extLst>
              <a:ext uri="{FF2B5EF4-FFF2-40B4-BE49-F238E27FC236}">
                <a16:creationId xmlns:a16="http://schemas.microsoft.com/office/drawing/2014/main" id="{ED64CB58-D099-1D14-120C-6B7FF6F5E21A}"/>
              </a:ext>
            </a:extLst>
          </p:cNvPr>
          <p:cNvSpPr/>
          <p:nvPr/>
        </p:nvSpPr>
        <p:spPr>
          <a:xfrm>
            <a:off x="254001" y="960986"/>
            <a:ext cx="8639575"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Building Simple Linear Regression Model by Solving Normal Equations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Linear regression is a popular method for understanding how different factors (independent variables) affect an outcome (dependent variable.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At its core, linear regression aims to find the best-fitting line that minimizes the error between observed data points and predicted values.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One efficient method to achieve this is through the use of the normal equation.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this chapter, we will understand in-depth into the details of the normal equation, its mathematical derivation, implementation, and comparison with other optimization methods like gradient descent.</a:t>
            </a:r>
          </a:p>
        </p:txBody>
      </p:sp>
    </p:spTree>
    <p:extLst>
      <p:ext uri="{BB962C8B-B14F-4D97-AF65-F5344CB8AC3E}">
        <p14:creationId xmlns:p14="http://schemas.microsoft.com/office/powerpoint/2010/main" val="313894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A5B1457-0A2C-F188-C09F-43BA302419A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01C2558-9518-AD5C-0415-C1301A2128F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15</a:t>
            </a:r>
          </a:p>
        </p:txBody>
      </p:sp>
      <p:sp>
        <p:nvSpPr>
          <p:cNvPr id="2" name="Title 1">
            <a:extLst>
              <a:ext uri="{FF2B5EF4-FFF2-40B4-BE49-F238E27FC236}">
                <a16:creationId xmlns:a16="http://schemas.microsoft.com/office/drawing/2014/main" id="{B6055619-B3D3-9799-E34F-81ECCD79D730}"/>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Regression Model by Solving Normal Equations</a:t>
            </a:r>
          </a:p>
        </p:txBody>
      </p:sp>
      <p:sp>
        <p:nvSpPr>
          <p:cNvPr id="3" name="Rectangle 2">
            <a:extLst>
              <a:ext uri="{FF2B5EF4-FFF2-40B4-BE49-F238E27FC236}">
                <a16:creationId xmlns:a16="http://schemas.microsoft.com/office/drawing/2014/main" id="{8412EBBB-94CC-2C39-D396-4B1FD13E4920}"/>
              </a:ext>
            </a:extLst>
          </p:cNvPr>
          <p:cNvSpPr/>
          <p:nvPr/>
        </p:nvSpPr>
        <p:spPr>
          <a:xfrm>
            <a:off x="254001" y="960986"/>
            <a:ext cx="8639575" cy="88036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normal equation is a mathematical formula that provides a straightforward way to calculate the coefficients (β) in linear regression.</a:t>
            </a:r>
          </a:p>
        </p:txBody>
      </p:sp>
      <p:pic>
        <p:nvPicPr>
          <p:cNvPr id="5" name="Picture 4">
            <a:extLst>
              <a:ext uri="{FF2B5EF4-FFF2-40B4-BE49-F238E27FC236}">
                <a16:creationId xmlns:a16="http://schemas.microsoft.com/office/drawing/2014/main" id="{B9EE799D-8277-C4BD-3A7D-4AB9B6EDBBAC}"/>
              </a:ext>
            </a:extLst>
          </p:cNvPr>
          <p:cNvPicPr>
            <a:picLocks noChangeAspect="1"/>
          </p:cNvPicPr>
          <p:nvPr/>
        </p:nvPicPr>
        <p:blipFill>
          <a:blip r:embed="rId3"/>
          <a:stretch>
            <a:fillRect/>
          </a:stretch>
        </p:blipFill>
        <p:spPr>
          <a:xfrm>
            <a:off x="645886" y="1841355"/>
            <a:ext cx="8171543" cy="2955614"/>
          </a:xfrm>
          <a:prstGeom prst="rect">
            <a:avLst/>
          </a:prstGeom>
        </p:spPr>
      </p:pic>
      <p:sp>
        <p:nvSpPr>
          <p:cNvPr id="6" name="TextBox 5">
            <a:extLst>
              <a:ext uri="{FF2B5EF4-FFF2-40B4-BE49-F238E27FC236}">
                <a16:creationId xmlns:a16="http://schemas.microsoft.com/office/drawing/2014/main" id="{2F8C6CF1-9F6A-B45B-8CF7-31088011AA77}"/>
              </a:ext>
            </a:extLst>
          </p:cNvPr>
          <p:cNvSpPr txBox="1"/>
          <p:nvPr/>
        </p:nvSpPr>
        <p:spPr>
          <a:xfrm>
            <a:off x="2598057" y="4770410"/>
            <a:ext cx="4920343"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Figure-3: Linear Regression using Normal Equation</a:t>
            </a:r>
            <a:endParaRPr lang="en-IN" b="1" dirty="0"/>
          </a:p>
        </p:txBody>
      </p:sp>
    </p:spTree>
    <p:extLst>
      <p:ext uri="{BB962C8B-B14F-4D97-AF65-F5344CB8AC3E}">
        <p14:creationId xmlns:p14="http://schemas.microsoft.com/office/powerpoint/2010/main" val="315967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05297F0-2806-7742-86F1-D03067690D6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2CDB7C7-F6B3-1967-F6D7-75982690625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16</a:t>
            </a:r>
          </a:p>
        </p:txBody>
      </p:sp>
      <p:sp>
        <p:nvSpPr>
          <p:cNvPr id="2" name="Title 1">
            <a:extLst>
              <a:ext uri="{FF2B5EF4-FFF2-40B4-BE49-F238E27FC236}">
                <a16:creationId xmlns:a16="http://schemas.microsoft.com/office/drawing/2014/main" id="{B314B5E7-56C8-15E4-83A7-D95D2C2CD2D6}"/>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Regression Model by Solving Normal Equations</a:t>
            </a:r>
          </a:p>
        </p:txBody>
      </p:sp>
      <p:sp>
        <p:nvSpPr>
          <p:cNvPr id="3" name="Rectangle 2">
            <a:extLst>
              <a:ext uri="{FF2B5EF4-FFF2-40B4-BE49-F238E27FC236}">
                <a16:creationId xmlns:a16="http://schemas.microsoft.com/office/drawing/2014/main" id="{4339CB4F-63D6-DA15-06BA-5AB4BC66877F}"/>
              </a:ext>
            </a:extLst>
          </p:cNvPr>
          <p:cNvSpPr/>
          <p:nvPr/>
        </p:nvSpPr>
        <p:spPr>
          <a:xfrm>
            <a:off x="254001" y="960986"/>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Instead of using trial-and-error or iterative methods, the normal equation allows us to find the best coefficients directly. The formula for the normal equation is:</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the above equation, </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θ: hypothesis parameters that define it the best. </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X: Input feature value of each instance. </a:t>
            </a:r>
          </a:p>
          <a:p>
            <a:pPr marL="536575" lvl="0" indent="-180975"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Y: Output value of each instance. </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Normal Equation leverages the power of matrix algebra to efficiently handle multiple independent variables in linear regression. </a:t>
            </a:r>
          </a:p>
        </p:txBody>
      </p:sp>
      <p:pic>
        <p:nvPicPr>
          <p:cNvPr id="5122" name="Picture 2" descr="Lightbox">
            <a:extLst>
              <a:ext uri="{FF2B5EF4-FFF2-40B4-BE49-F238E27FC236}">
                <a16:creationId xmlns:a16="http://schemas.microsoft.com/office/drawing/2014/main" id="{A07B847A-0A6C-F96B-99EC-D0CB8359226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3367087" y="1863126"/>
            <a:ext cx="2409825"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43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DB4DCC7-3AAA-D9F4-BE68-958036D5244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D919FE0-960F-77DB-0B70-585AD53457E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Title 1">
            <a:extLst>
              <a:ext uri="{FF2B5EF4-FFF2-40B4-BE49-F238E27FC236}">
                <a16:creationId xmlns:a16="http://schemas.microsoft.com/office/drawing/2014/main" id="{22BC7A52-85D1-AE11-009C-D27BAB7FDBFD}"/>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Regression Model by Solving Normal Equations</a:t>
            </a:r>
          </a:p>
        </p:txBody>
      </p:sp>
      <p:sp>
        <p:nvSpPr>
          <p:cNvPr id="3" name="Rectangle 2">
            <a:extLst>
              <a:ext uri="{FF2B5EF4-FFF2-40B4-BE49-F238E27FC236}">
                <a16:creationId xmlns:a16="http://schemas.microsoft.com/office/drawing/2014/main" id="{3848D666-8BA6-B147-2C3C-746C57821B0F}"/>
              </a:ext>
            </a:extLst>
          </p:cNvPr>
          <p:cNvSpPr/>
          <p:nvPr/>
        </p:nvSpPr>
        <p:spPr>
          <a:xfrm>
            <a:off x="254001" y="960986"/>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By organizing the data into matrices, the equation helps in linear transformations and calculations that simplify the process of finding the best-fitting coefficients.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One of the significant advantages of the Normal Equation is its computational efficiency, especially for small to medium-sized datasets.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Unlike iterative methods such as gradient descent, which require multiple passes over the data to converge on the optimal coefficients, the Normal Equation calculates all coefficients in one shot.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This results in faster computations and a straightforward implementation when the dataset size is manageable.</a:t>
            </a:r>
          </a:p>
        </p:txBody>
      </p:sp>
    </p:spTree>
    <p:extLst>
      <p:ext uri="{BB962C8B-B14F-4D97-AF65-F5344CB8AC3E}">
        <p14:creationId xmlns:p14="http://schemas.microsoft.com/office/powerpoint/2010/main" val="183295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7B72CD3-E38B-8C6F-9635-6E8C06E126A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C5AF5AF-1332-9906-97A0-6C1C37A85B2B}"/>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
        <p:nvSpPr>
          <p:cNvPr id="2" name="Title 1">
            <a:extLst>
              <a:ext uri="{FF2B5EF4-FFF2-40B4-BE49-F238E27FC236}">
                <a16:creationId xmlns:a16="http://schemas.microsoft.com/office/drawing/2014/main" id="{27F4960B-F2C3-8C71-082E-EF07444C9495}"/>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Regression Model by Solving Normal Equations</a:t>
            </a:r>
          </a:p>
        </p:txBody>
      </p:sp>
      <p:sp>
        <p:nvSpPr>
          <p:cNvPr id="3" name="Rectangle 2">
            <a:extLst>
              <a:ext uri="{FF2B5EF4-FFF2-40B4-BE49-F238E27FC236}">
                <a16:creationId xmlns:a16="http://schemas.microsoft.com/office/drawing/2014/main" id="{3E01A0F1-DF19-11FF-079B-653D5AEB1092}"/>
              </a:ext>
            </a:extLst>
          </p:cNvPr>
          <p:cNvSpPr/>
          <p:nvPr/>
        </p:nvSpPr>
        <p:spPr>
          <a:xfrm>
            <a:off x="254001" y="960986"/>
            <a:ext cx="8639575" cy="2126864"/>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However, it is essential to note that as the number of features or data points increases significantly, the computation of the inverse of the matrix can become computationally expensive, leading to potential issues with numerical stability.</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Mathematical Derivation: Behind the Equation</a:t>
            </a:r>
          </a:p>
          <a:p>
            <a:pPr lvl="0" algn="just">
              <a:lnSpc>
                <a:spcPct val="150000"/>
              </a:lnSpc>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A0B45A26-7A8B-3CEB-D884-08F43818EAC1}"/>
              </a:ext>
            </a:extLst>
          </p:cNvPr>
          <p:cNvPicPr>
            <a:picLocks noChangeAspect="1"/>
          </p:cNvPicPr>
          <p:nvPr/>
        </p:nvPicPr>
        <p:blipFill>
          <a:blip r:embed="rId3"/>
          <a:stretch>
            <a:fillRect/>
          </a:stretch>
        </p:blipFill>
        <p:spPr>
          <a:xfrm>
            <a:off x="3548744" y="2571749"/>
            <a:ext cx="5299502" cy="2413908"/>
          </a:xfrm>
          <a:prstGeom prst="rect">
            <a:avLst/>
          </a:prstGeom>
        </p:spPr>
      </p:pic>
      <p:sp>
        <p:nvSpPr>
          <p:cNvPr id="6" name="Rectangle 5">
            <a:extLst>
              <a:ext uri="{FF2B5EF4-FFF2-40B4-BE49-F238E27FC236}">
                <a16:creationId xmlns:a16="http://schemas.microsoft.com/office/drawing/2014/main" id="{6EBE263D-83C8-B84C-DEB1-F4C5B7E216BF}"/>
              </a:ext>
            </a:extLst>
          </p:cNvPr>
          <p:cNvSpPr/>
          <p:nvPr/>
        </p:nvSpPr>
        <p:spPr>
          <a:xfrm>
            <a:off x="295754" y="2586263"/>
            <a:ext cx="3252989" cy="2126864"/>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To derive the Normal Equation, we start with the least squares minimization problem, aiming to minimize the sum of squared residuals:</a:t>
            </a:r>
          </a:p>
        </p:txBody>
      </p:sp>
    </p:spTree>
    <p:extLst>
      <p:ext uri="{BB962C8B-B14F-4D97-AF65-F5344CB8AC3E}">
        <p14:creationId xmlns:p14="http://schemas.microsoft.com/office/powerpoint/2010/main" val="374325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E497F63-F26F-F484-A1CC-C1A6567B36B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1ABBBDB-85F1-FEB1-7BA0-182EEBA2ABC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
        <p:nvSpPr>
          <p:cNvPr id="2" name="Title 1">
            <a:extLst>
              <a:ext uri="{FF2B5EF4-FFF2-40B4-BE49-F238E27FC236}">
                <a16:creationId xmlns:a16="http://schemas.microsoft.com/office/drawing/2014/main" id="{D9CB983E-8C68-73D6-E286-4BFCB4B24F8B}"/>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Regression Model by Solving Normal Equations</a:t>
            </a:r>
          </a:p>
        </p:txBody>
      </p:sp>
      <p:sp>
        <p:nvSpPr>
          <p:cNvPr id="3" name="Rectangle 2">
            <a:extLst>
              <a:ext uri="{FF2B5EF4-FFF2-40B4-BE49-F238E27FC236}">
                <a16:creationId xmlns:a16="http://schemas.microsoft.com/office/drawing/2014/main" id="{FB260A91-1C2D-EDDF-C147-912E63D405A2}"/>
              </a:ext>
            </a:extLst>
          </p:cNvPr>
          <p:cNvSpPr/>
          <p:nvPr/>
        </p:nvSpPr>
        <p:spPr>
          <a:xfrm>
            <a:off x="254001" y="960986"/>
            <a:ext cx="8639575" cy="880369"/>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Explanation of the Hypothesis Function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Given the hypothesis function, </a:t>
            </a:r>
          </a:p>
        </p:txBody>
      </p:sp>
      <p:pic>
        <p:nvPicPr>
          <p:cNvPr id="5" name="Picture 4">
            <a:extLst>
              <a:ext uri="{FF2B5EF4-FFF2-40B4-BE49-F238E27FC236}">
                <a16:creationId xmlns:a16="http://schemas.microsoft.com/office/drawing/2014/main" id="{5AE35E1A-3E85-ECE7-D894-7B98D0BE537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250424" y="1841355"/>
            <a:ext cx="8639575" cy="3042702"/>
          </a:xfrm>
          <a:prstGeom prst="rect">
            <a:avLst/>
          </a:prstGeom>
        </p:spPr>
      </p:pic>
    </p:spTree>
    <p:extLst>
      <p:ext uri="{BB962C8B-B14F-4D97-AF65-F5344CB8AC3E}">
        <p14:creationId xmlns:p14="http://schemas.microsoft.com/office/powerpoint/2010/main" val="2887805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4831272-DB8F-CEBC-AE5B-DB58B108D48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B943E6F-EBB0-BA8D-5459-4E80B12CA5C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20</a:t>
            </a:r>
          </a:p>
        </p:txBody>
      </p:sp>
      <p:sp>
        <p:nvSpPr>
          <p:cNvPr id="2" name="Title 1">
            <a:extLst>
              <a:ext uri="{FF2B5EF4-FFF2-40B4-BE49-F238E27FC236}">
                <a16:creationId xmlns:a16="http://schemas.microsoft.com/office/drawing/2014/main" id="{E9A8F36E-843D-B55E-E6C4-F57352A75BD1}"/>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Regression Model by Solving Normal Equations</a:t>
            </a:r>
          </a:p>
        </p:txBody>
      </p:sp>
      <p:sp>
        <p:nvSpPr>
          <p:cNvPr id="3" name="Rectangle 2">
            <a:extLst>
              <a:ext uri="{FF2B5EF4-FFF2-40B4-BE49-F238E27FC236}">
                <a16:creationId xmlns:a16="http://schemas.microsoft.com/office/drawing/2014/main" id="{1E9E3EB4-D319-0410-8A72-3CE4E4E25698}"/>
              </a:ext>
            </a:extLst>
          </p:cNvPr>
          <p:cNvSpPr/>
          <p:nvPr/>
        </p:nvSpPr>
        <p:spPr>
          <a:xfrm>
            <a:off x="254001" y="960986"/>
            <a:ext cx="8639575"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The Normal Equation vs Gradient Descent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These are the two primary methods for estimating the coefficients (parameters) in Linear Regression Model.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Each method has its unique advantages and considerations, making them suitable for different scenarios.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Let's see a detailed comparison between these two approaches. The normal equation provides an analytical solution, computing the optimal parameters in a single step.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Gradient descent uses an iterative approach, updating the parameters until convergence.</a:t>
            </a:r>
          </a:p>
        </p:txBody>
      </p:sp>
    </p:spTree>
    <p:extLst>
      <p:ext uri="{BB962C8B-B14F-4D97-AF65-F5344CB8AC3E}">
        <p14:creationId xmlns:p14="http://schemas.microsoft.com/office/powerpoint/2010/main" val="138476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E25DF7E-44AD-0B9E-225C-4CD6AC8A256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A2BE982-E77F-B2A2-C05C-A36B59C8B86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21</a:t>
            </a:r>
          </a:p>
        </p:txBody>
      </p:sp>
      <p:sp>
        <p:nvSpPr>
          <p:cNvPr id="2" name="Title 1">
            <a:extLst>
              <a:ext uri="{FF2B5EF4-FFF2-40B4-BE49-F238E27FC236}">
                <a16:creationId xmlns:a16="http://schemas.microsoft.com/office/drawing/2014/main" id="{860C0FB4-D7BD-08D1-F7FD-C1AECFF250F4}"/>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Regression Model by Solving Normal Equations</a:t>
            </a:r>
          </a:p>
        </p:txBody>
      </p:sp>
      <p:sp>
        <p:nvSpPr>
          <p:cNvPr id="3" name="Rectangle 2">
            <a:extLst>
              <a:ext uri="{FF2B5EF4-FFF2-40B4-BE49-F238E27FC236}">
                <a16:creationId xmlns:a16="http://schemas.microsoft.com/office/drawing/2014/main" id="{53E6FCE3-4AFA-61F3-19CD-AF5EF0BB9086}"/>
              </a:ext>
            </a:extLst>
          </p:cNvPr>
          <p:cNvSpPr/>
          <p:nvPr/>
        </p:nvSpPr>
        <p:spPr>
          <a:xfrm>
            <a:off x="254001" y="960986"/>
            <a:ext cx="8639575" cy="4169731"/>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Normal Equation provides a closed-form solution to linear regression, allowing for the computation of optimal coefficients in one step.</a:t>
            </a:r>
          </a:p>
          <a:p>
            <a:pPr marL="719138" lvl="0" indent="-285750" algn="just">
              <a:lnSpc>
                <a:spcPct val="20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This method is efficient for small to medium-sized datasets because it relies on straightforward matrix operations.</a:t>
            </a:r>
          </a:p>
          <a:p>
            <a:pPr marL="719138" lvl="0" indent="-285750" algn="just">
              <a:lnSpc>
                <a:spcPct val="20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However, its dependence on matrix inversion can become computationally expensive with large datasets.</a:t>
            </a:r>
          </a:p>
          <a:p>
            <a:pPr marL="719138" lvl="0" indent="-285750" algn="just">
              <a:lnSpc>
                <a:spcPct val="20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Additionally, the Normal Equation does not require hyperparameter tuning, making its implementation simpler.</a:t>
            </a:r>
          </a:p>
        </p:txBody>
      </p:sp>
    </p:spTree>
    <p:extLst>
      <p:ext uri="{BB962C8B-B14F-4D97-AF65-F5344CB8AC3E}">
        <p14:creationId xmlns:p14="http://schemas.microsoft.com/office/powerpoint/2010/main" val="3707585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0" end="14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140" end="25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charRg st="256" end="35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charRg st="358" end="46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0EB1F11-E6C4-713A-E2B6-D731794F72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CEA2F50-B7F2-46FC-F279-45FA5B794FE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22</a:t>
            </a:r>
          </a:p>
        </p:txBody>
      </p:sp>
      <p:sp>
        <p:nvSpPr>
          <p:cNvPr id="2" name="Title 1">
            <a:extLst>
              <a:ext uri="{FF2B5EF4-FFF2-40B4-BE49-F238E27FC236}">
                <a16:creationId xmlns:a16="http://schemas.microsoft.com/office/drawing/2014/main" id="{F84D2E3B-7AAE-B850-517E-98D050A59BB9}"/>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Regression Model by Solving Normal Equations</a:t>
            </a:r>
          </a:p>
        </p:txBody>
      </p:sp>
      <p:sp>
        <p:nvSpPr>
          <p:cNvPr id="3" name="Rectangle 2">
            <a:extLst>
              <a:ext uri="{FF2B5EF4-FFF2-40B4-BE49-F238E27FC236}">
                <a16:creationId xmlns:a16="http://schemas.microsoft.com/office/drawing/2014/main" id="{3558188F-2583-450F-23A0-8B2343887E7F}"/>
              </a:ext>
            </a:extLst>
          </p:cNvPr>
          <p:cNvSpPr/>
          <p:nvPr/>
        </p:nvSpPr>
        <p:spPr>
          <a:xfrm>
            <a:off x="254001" y="960986"/>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contrast, Gradient Descent is an iterative optimization algorithm that adjusts the coefficients incrementally based on the gradient of the cost function.</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This method is particularly effective for large datasets, as it can process data points one at a time or in mini-batches, thereby reducing memory requirements.</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While Gradient Descent may take longer to converge compared to the Normal Equation, its performance can be significantly influenced by the choice of learning rate, which necessitates some degree of hyperparameter tuning.</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Furthermore, there are several variants of Gradient Descent, including stochastic and mini-batch methods, that can improve convergence speed and model generalization.</a:t>
            </a:r>
          </a:p>
        </p:txBody>
      </p:sp>
    </p:spTree>
    <p:extLst>
      <p:ext uri="{BB962C8B-B14F-4D97-AF65-F5344CB8AC3E}">
        <p14:creationId xmlns:p14="http://schemas.microsoft.com/office/powerpoint/2010/main" val="250756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942DB27-E3BA-9739-00EA-45A212FA963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A670B3-FE73-5182-DB8C-9ACC90F7DAB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23</a:t>
            </a:r>
          </a:p>
        </p:txBody>
      </p:sp>
      <p:sp>
        <p:nvSpPr>
          <p:cNvPr id="2" name="Title 1">
            <a:extLst>
              <a:ext uri="{FF2B5EF4-FFF2-40B4-BE49-F238E27FC236}">
                <a16:creationId xmlns:a16="http://schemas.microsoft.com/office/drawing/2014/main" id="{E84F97FA-EC63-EDD0-3F9E-9D6E079FC1F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Applications of the Topic</a:t>
            </a:r>
          </a:p>
        </p:txBody>
      </p:sp>
      <p:sp>
        <p:nvSpPr>
          <p:cNvPr id="3" name="Rectangle 2">
            <a:extLst>
              <a:ext uri="{FF2B5EF4-FFF2-40B4-BE49-F238E27FC236}">
                <a16:creationId xmlns:a16="http://schemas.microsoft.com/office/drawing/2014/main" id="{AC4933E1-3A88-D50F-E6E4-1FB3E7A79734}"/>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are applications: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Optimization of machine learning model parameters.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Hyperparameter tuning to maximize accuracy or minimize error.</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Profit maximization and cost minimization in economics.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Guarantees global minimum in optimization problems.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Ensures stable convergence of gradient descent algorithms.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Helps select ML loss functions with reliable behavior.</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Reduces risk of local minima in training.</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Fast model fitting for small/medium datasets.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Explainable predictive modeling in business and healthcare.</a:t>
            </a:r>
          </a:p>
        </p:txBody>
      </p:sp>
    </p:spTree>
    <p:extLst>
      <p:ext uri="{BB962C8B-B14F-4D97-AF65-F5344CB8AC3E}">
        <p14:creationId xmlns:p14="http://schemas.microsoft.com/office/powerpoint/2010/main" val="5793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23" end="7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charRg st="74" end="13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charRg st="136" end="19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charRg st="192" end="24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charRg st="244" end="30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charRg st="303" end="35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charRg st="358" end="40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charRg st="400" end="44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charRg st="446" end="50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F1C1FB-C899-5DBE-C42F-B1D10C95C32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CE59AD7-C1A8-1276-52A6-379528A20A2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24</a:t>
            </a:r>
          </a:p>
        </p:txBody>
      </p:sp>
      <p:sp>
        <p:nvSpPr>
          <p:cNvPr id="2" name="Title 1">
            <a:extLst>
              <a:ext uri="{FF2B5EF4-FFF2-40B4-BE49-F238E27FC236}">
                <a16:creationId xmlns:a16="http://schemas.microsoft.com/office/drawing/2014/main" id="{65625B2D-5E70-705A-DA8E-AA76A0A61FA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Summary of the Lecture</a:t>
            </a:r>
          </a:p>
        </p:txBody>
      </p:sp>
      <p:sp>
        <p:nvSpPr>
          <p:cNvPr id="3" name="Rectangle 2">
            <a:extLst>
              <a:ext uri="{FF2B5EF4-FFF2-40B4-BE49-F238E27FC236}">
                <a16:creationId xmlns:a16="http://schemas.microsoft.com/office/drawing/2014/main" id="{8EC0002B-FFFF-77E6-EC94-99CFC49F336E}"/>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lecture focused on fundamental mathematical concepts used in machine learning and data science for optimization and model building. It began with the study of maxima and minima in functions of several variables, which is essential for solving optimization problems that arise in model training, parameter tuning, and engineering.</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concept of convexity of error functions was then introduced, highlighting its importance in ensuring reliable and stable optimization. Convex error functions guarantee a single global minimum, enabling methods like gradient descent.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Finally, the lecture discussed how to construct a simple linear regression model using normal equations. This method provides a direct formula to compute model parameters without iterative techniques, making it effective for small datasets.</a:t>
            </a:r>
          </a:p>
        </p:txBody>
      </p:sp>
    </p:spTree>
    <p:extLst>
      <p:ext uri="{BB962C8B-B14F-4D97-AF65-F5344CB8AC3E}">
        <p14:creationId xmlns:p14="http://schemas.microsoft.com/office/powerpoint/2010/main" val="421483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6E56EA3-16F5-E76E-14E4-37F3EB84294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A45607-6A54-9997-9F78-69F2A1F673C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25</a:t>
            </a:r>
          </a:p>
        </p:txBody>
      </p:sp>
      <p:sp>
        <p:nvSpPr>
          <p:cNvPr id="2" name="Title 1">
            <a:extLst>
              <a:ext uri="{FF2B5EF4-FFF2-40B4-BE49-F238E27FC236}">
                <a16:creationId xmlns:a16="http://schemas.microsoft.com/office/drawing/2014/main" id="{D86599D1-32E9-56EA-04F7-5C299DA2C71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Next Lecture</a:t>
            </a:r>
          </a:p>
        </p:txBody>
      </p:sp>
      <p:sp>
        <p:nvSpPr>
          <p:cNvPr id="3" name="Rectangle 2">
            <a:extLst>
              <a:ext uri="{FF2B5EF4-FFF2-40B4-BE49-F238E27FC236}">
                <a16:creationId xmlns:a16="http://schemas.microsoft.com/office/drawing/2014/main" id="{D118AC76-7B90-6FF0-0952-01F49F273CF9}"/>
              </a:ext>
            </a:extLst>
          </p:cNvPr>
          <p:cNvSpPr/>
          <p:nvPr/>
        </p:nvSpPr>
        <p:spPr>
          <a:xfrm>
            <a:off x="254001" y="939215"/>
            <a:ext cx="8639575" cy="2403863"/>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next lecture, we are going to cover:</a:t>
            </a:r>
          </a:p>
          <a:p>
            <a:pPr marL="285750" lvl="0" indent="-285750" algn="just">
              <a:lnSpc>
                <a:spcPct val="150000"/>
              </a:lnSpc>
              <a:buFont typeface="Wingdings" panose="05000000000000000000" pitchFamily="2" charset="2"/>
              <a:buChar char="Ø"/>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36575" lvl="0" indent="-198438" algn="just">
              <a:lnSpc>
                <a:spcPct val="150000"/>
              </a:lnSpc>
              <a:buFont typeface="Arial" panose="020B0604020202020204" pitchFamily="34" charset="0"/>
              <a:buChar char="•"/>
            </a:pPr>
            <a:r>
              <a:rPr lang="fr-FR" sz="1800" dirty="0">
                <a:latin typeface="Calibri" panose="020F0502020204030204" pitchFamily="34" charset="0"/>
                <a:ea typeface="Calibri" panose="020F0502020204030204" pitchFamily="34" charset="0"/>
                <a:cs typeface="Calibri" panose="020F0502020204030204" pitchFamily="34" charset="0"/>
              </a:rPr>
              <a:t>Gradient Descent</a:t>
            </a:r>
          </a:p>
          <a:p>
            <a:pPr marL="536575" lvl="0" indent="-198438" algn="just">
              <a:lnSpc>
                <a:spcPct val="150000"/>
              </a:lnSpc>
              <a:buFont typeface="Arial" panose="020B0604020202020204" pitchFamily="34" charset="0"/>
              <a:buChar char="•"/>
            </a:pPr>
            <a:r>
              <a:rPr lang="fr-FR" sz="1800" dirty="0">
                <a:latin typeface="Calibri" panose="020F0502020204030204" pitchFamily="34" charset="0"/>
                <a:ea typeface="Calibri" panose="020F0502020204030204" pitchFamily="34" charset="0"/>
                <a:cs typeface="Calibri" panose="020F0502020204030204" pitchFamily="34" charset="0"/>
              </a:rPr>
              <a:t>Stochastic Gradient Descent Algorithms</a:t>
            </a:r>
          </a:p>
          <a:p>
            <a:pPr marL="536575" lvl="0" indent="-198438" algn="just">
              <a:lnSpc>
                <a:spcPct val="150000"/>
              </a:lnSpc>
              <a:buFont typeface="Arial" panose="020B0604020202020204" pitchFamily="34" charset="0"/>
              <a:buChar char="•"/>
            </a:pPr>
            <a:r>
              <a:rPr lang="fr-FR" sz="1800" dirty="0">
                <a:latin typeface="Calibri" panose="020F0502020204030204" pitchFamily="34" charset="0"/>
                <a:ea typeface="Calibri" panose="020F0502020204030204" pitchFamily="34" charset="0"/>
                <a:cs typeface="Calibri" panose="020F0502020204030204" pitchFamily="34" charset="0"/>
              </a:rPr>
              <a:t>Mini-Batch Gradient Descent Algorithms</a:t>
            </a:r>
          </a:p>
          <a:p>
            <a:pPr lvl="0" algn="just">
              <a:lnSpc>
                <a:spcPct val="150000"/>
              </a:lnSpc>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435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E035788-6F59-DCF3-2897-BC56C4CEB92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9FB0CA-6899-88FD-503C-2C28AD374E5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26</a:t>
            </a:r>
          </a:p>
        </p:txBody>
      </p:sp>
      <p:sp>
        <p:nvSpPr>
          <p:cNvPr id="2" name="Title 1">
            <a:extLst>
              <a:ext uri="{FF2B5EF4-FFF2-40B4-BE49-F238E27FC236}">
                <a16:creationId xmlns:a16="http://schemas.microsoft.com/office/drawing/2014/main" id="{294DB9DE-E12E-9A84-B19B-87EFEE3B786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Quiz/ FAQ’s</a:t>
            </a:r>
          </a:p>
        </p:txBody>
      </p:sp>
      <p:sp>
        <p:nvSpPr>
          <p:cNvPr id="3" name="Rectangle 2">
            <a:extLst>
              <a:ext uri="{FF2B5EF4-FFF2-40B4-BE49-F238E27FC236}">
                <a16:creationId xmlns:a16="http://schemas.microsoft.com/office/drawing/2014/main" id="{B0927368-5887-20F7-C08C-383823E01449}"/>
              </a:ext>
            </a:extLst>
          </p:cNvPr>
          <p:cNvSpPr/>
          <p:nvPr/>
        </p:nvSpPr>
        <p:spPr>
          <a:xfrm>
            <a:off x="252212" y="1156929"/>
            <a:ext cx="8639575" cy="3788858"/>
          </a:xfrm>
          <a:prstGeom prst="rect">
            <a:avLst/>
          </a:prstGeom>
        </p:spPr>
        <p:txBody>
          <a:bodyPr wrap="square">
            <a:spAutoFit/>
          </a:bodyPr>
          <a:lstStyle/>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Define maxima and minima for a function of several variables.</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Explain the condition for local maxima/minima using partial derivatives.</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is the Hessian matrix and how is it used in optimization?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is a convex function? Give its mathematical definition.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Why is convexity important in machine learning?</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Explain how convexity ensures the existence of a global minimum.</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Derive the normal equations for linear regression.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State the formula for computing regression coefficients using normal equations.</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Compare gradient descent and normal equation methods.</a:t>
            </a:r>
          </a:p>
        </p:txBody>
      </p:sp>
    </p:spTree>
    <p:extLst>
      <p:ext uri="{BB962C8B-B14F-4D97-AF65-F5344CB8AC3E}">
        <p14:creationId xmlns:p14="http://schemas.microsoft.com/office/powerpoint/2010/main" val="735338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4C8FAA3-8A72-FCD2-A3A9-059A1C150C7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CEADB68-92EB-1164-3301-82219E06EE4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27</a:t>
            </a:r>
          </a:p>
        </p:txBody>
      </p:sp>
      <p:sp>
        <p:nvSpPr>
          <p:cNvPr id="2" name="Title 1">
            <a:extLst>
              <a:ext uri="{FF2B5EF4-FFF2-40B4-BE49-F238E27FC236}">
                <a16:creationId xmlns:a16="http://schemas.microsoft.com/office/drawing/2014/main" id="{BD989C70-81BD-824C-D52A-A8BE3A38777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References/ Articles/ Videos</a:t>
            </a:r>
          </a:p>
        </p:txBody>
      </p:sp>
      <p:graphicFrame>
        <p:nvGraphicFramePr>
          <p:cNvPr id="4" name="Table 3">
            <a:extLst>
              <a:ext uri="{FF2B5EF4-FFF2-40B4-BE49-F238E27FC236}">
                <a16:creationId xmlns:a16="http://schemas.microsoft.com/office/drawing/2014/main" id="{AC276061-E2FC-9825-D1CF-3706195FC13C}"/>
              </a:ext>
            </a:extLst>
          </p:cNvPr>
          <p:cNvGraphicFramePr>
            <a:graphicFrameLocks noGrp="1"/>
          </p:cNvGraphicFramePr>
          <p:nvPr>
            <p:extLst>
              <p:ext uri="{D42A27DB-BD31-4B8C-83A1-F6EECF244321}">
                <p14:modId xmlns:p14="http://schemas.microsoft.com/office/powerpoint/2010/main" val="2950123059"/>
              </p:ext>
            </p:extLst>
          </p:nvPr>
        </p:nvGraphicFramePr>
        <p:xfrm>
          <a:off x="311150" y="1167945"/>
          <a:ext cx="8521700" cy="3662338"/>
        </p:xfrm>
        <a:graphic>
          <a:graphicData uri="http://schemas.openxmlformats.org/drawingml/2006/table">
            <a:tbl>
              <a:tblPr>
                <a:tableStyleId>{97377635-EB9D-4884-B79A-0D259F93817B}</a:tableStyleId>
              </a:tblPr>
              <a:tblGrid>
                <a:gridCol w="617764">
                  <a:extLst>
                    <a:ext uri="{9D8B030D-6E8A-4147-A177-3AD203B41FA5}">
                      <a16:colId xmlns:a16="http://schemas.microsoft.com/office/drawing/2014/main" val="2462611782"/>
                    </a:ext>
                  </a:extLst>
                </a:gridCol>
                <a:gridCol w="7903936">
                  <a:extLst>
                    <a:ext uri="{9D8B030D-6E8A-4147-A177-3AD203B41FA5}">
                      <a16:colId xmlns:a16="http://schemas.microsoft.com/office/drawing/2014/main" val="3473227875"/>
                    </a:ext>
                  </a:extLst>
                </a:gridCol>
              </a:tblGrid>
              <a:tr h="341314">
                <a:tc gridSpan="2">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Text/ Reference Books</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730715912"/>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Massaron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Packt</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Publishing Ltd.</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851104895"/>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0064372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140295978"/>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5350956"/>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9206861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Vishnoi</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Xoffencerpublication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100232723"/>
                  </a:ext>
                </a:extLst>
              </a:tr>
            </a:tbl>
          </a:graphicData>
        </a:graphic>
      </p:graphicFrame>
    </p:spTree>
    <p:extLst>
      <p:ext uri="{BB962C8B-B14F-4D97-AF65-F5344CB8AC3E}">
        <p14:creationId xmlns:p14="http://schemas.microsoft.com/office/powerpoint/2010/main" val="1590581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2F170DA-4FB0-780A-165F-96871258C4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16FD4E1-DE68-EDFC-57AF-3025781CAD0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28</a:t>
            </a:r>
          </a:p>
        </p:txBody>
      </p:sp>
      <p:sp>
        <p:nvSpPr>
          <p:cNvPr id="2" name="Title 1">
            <a:extLst>
              <a:ext uri="{FF2B5EF4-FFF2-40B4-BE49-F238E27FC236}">
                <a16:creationId xmlns:a16="http://schemas.microsoft.com/office/drawing/2014/main" id="{629AD58F-AFA5-005A-FEC5-E7F0E57D909C}"/>
              </a:ext>
            </a:extLst>
          </p:cNvPr>
          <p:cNvSpPr txBox="1">
            <a:spLocks/>
          </p:cNvSpPr>
          <p:nvPr/>
        </p:nvSpPr>
        <p:spPr>
          <a:xfrm>
            <a:off x="653144" y="65313"/>
            <a:ext cx="8040914"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Rectangle 2">
            <a:extLst>
              <a:ext uri="{FF2B5EF4-FFF2-40B4-BE49-F238E27FC236}">
                <a16:creationId xmlns:a16="http://schemas.microsoft.com/office/drawing/2014/main" id="{54DF2A59-6EAD-B15A-4AA6-7257F44129B9}"/>
              </a:ext>
            </a:extLst>
          </p:cNvPr>
          <p:cNvSpPr/>
          <p:nvPr/>
        </p:nvSpPr>
        <p:spPr>
          <a:xfrm>
            <a:off x="254001" y="939215"/>
            <a:ext cx="8639575" cy="4204869"/>
          </a:xfrm>
          <a:prstGeom prst="rect">
            <a:avLst/>
          </a:prstGeom>
        </p:spPr>
        <p:txBody>
          <a:bodyPr wrap="square">
            <a:spAutoFit/>
          </a:bodyPr>
          <a:lstStyle/>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3"/>
              </a:rPr>
              <a:t>https://youtu.be/pRSqKgwOd5k</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4"/>
              </a:rPr>
              <a:t>https://youtu.be/pjYgiOE7E8o</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https://www.coursera.org/learn/ismdl?source=admin-share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https://www.coursera.org/learn/ai-for-real-world-intelligence-systems?source=admin-share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https://www.coursera.org/learn/ai-for-real-world-intelligence-systems?source=admin-share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https://www.coursera.org/learn/deep-learning-applications-in-vision?source=admin-share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https://www.coursera.org/learn/deep-learning-applications-in-vision?source=admin-share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https://www.coursera.org/learn/ismdl?source=admin-share</a:t>
            </a:r>
          </a:p>
        </p:txBody>
      </p:sp>
    </p:spTree>
    <p:extLst>
      <p:ext uri="{BB962C8B-B14F-4D97-AF65-F5344CB8AC3E}">
        <p14:creationId xmlns:p14="http://schemas.microsoft.com/office/powerpoint/2010/main" val="4283119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0" y="4569812"/>
            <a:ext cx="9144000" cy="573688"/>
          </a:xfrm>
          <a:prstGeom prst="rect">
            <a:avLst/>
          </a:prstGeom>
          <a:noFill/>
          <a:ln>
            <a:noFill/>
          </a:ln>
        </p:spPr>
        <p:txBody>
          <a:bodyPr spcFirstLastPara="1" wrap="square" lIns="91425" tIns="45700" rIns="91425" bIns="45700" anchor="t" anchorCtr="0">
            <a:normAutofit/>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r>
              <a:rPr lang="en-US" sz="2600" b="1"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Note: </a:t>
            </a: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Scan this QR code to provide anonymous feedback.</a:t>
            </a:r>
            <a:endParaRPr sz="2400" b="1" i="0" u="none" strike="noStrike" cap="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29</a:t>
            </a:r>
          </a:p>
        </p:txBody>
      </p:sp>
      <p:pic>
        <p:nvPicPr>
          <p:cNvPr id="3" name="Picture 2">
            <a:extLst>
              <a:ext uri="{FF2B5EF4-FFF2-40B4-BE49-F238E27FC236}">
                <a16:creationId xmlns:a16="http://schemas.microsoft.com/office/drawing/2014/main" id="{638C0E15-F736-DB2F-B389-5746B3632B42}"/>
              </a:ext>
            </a:extLst>
          </p:cNvPr>
          <p:cNvPicPr>
            <a:picLocks noChangeAspect="1"/>
          </p:cNvPicPr>
          <p:nvPr/>
        </p:nvPicPr>
        <p:blipFill>
          <a:blip r:embed="rId3"/>
          <a:stretch>
            <a:fillRect/>
          </a:stretch>
        </p:blipFill>
        <p:spPr>
          <a:xfrm>
            <a:off x="2714172" y="684476"/>
            <a:ext cx="4354285" cy="3887549"/>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0" y="1669143"/>
            <a:ext cx="9144000" cy="1685036"/>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15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For queries</a:t>
            </a:r>
          </a:p>
          <a:p>
            <a:r>
              <a:rPr lang="en-US" sz="2000" b="1" dirty="0">
                <a:latin typeface="Calibri" panose="020F0502020204030204" pitchFamily="34" charset="0"/>
                <a:ea typeface="Calibri" panose="020F0502020204030204" pitchFamily="34" charset="0"/>
                <a:cs typeface="Calibri" panose="020F0502020204030204" pitchFamily="34" charset="0"/>
              </a:rPr>
              <a:t>Email: </a:t>
            </a:r>
            <a:r>
              <a:rPr lang="en-US" sz="2000" dirty="0">
                <a:latin typeface="Calibri" panose="020F0502020204030204" pitchFamily="34" charset="0"/>
                <a:ea typeface="Calibri" panose="020F0502020204030204" pitchFamily="34" charset="0"/>
                <a:cs typeface="Calibri" panose="020F0502020204030204" pitchFamily="34" charset="0"/>
              </a:rPr>
              <a:t>siddharth.e12853@cumail.in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30</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1156</TotalTime>
  <Words>2738</Words>
  <Application>Microsoft Office PowerPoint</Application>
  <PresentationFormat>On-screen Show (16:9)</PresentationFormat>
  <Paragraphs>240</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Times New Roman</vt:lpstr>
      <vt:lpstr>Cambria</vt:lpstr>
      <vt:lpstr>Lato</vt:lpstr>
      <vt:lpstr>Calibri</vt:lpstr>
      <vt:lpstr>Vladimir Script</vt:lpstr>
      <vt:lpstr>Wingdings</vt:lpstr>
      <vt:lpstr>Arial</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Siddharth Kumar</cp:lastModifiedBy>
  <cp:revision>254</cp:revision>
  <dcterms:modified xsi:type="dcterms:W3CDTF">2025-12-02T20:26:24Z</dcterms:modified>
</cp:coreProperties>
</file>