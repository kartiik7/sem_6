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media/image5.jpg" ContentType="image/jpg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358" r:id="rId2"/>
    <p:sldId id="359" r:id="rId3"/>
    <p:sldId id="297" r:id="rId4"/>
    <p:sldId id="360" r:id="rId5"/>
    <p:sldId id="361" r:id="rId6"/>
    <p:sldId id="284" r:id="rId7"/>
    <p:sldId id="311" r:id="rId8"/>
    <p:sldId id="312" r:id="rId9"/>
    <p:sldId id="354" r:id="rId10"/>
    <p:sldId id="355" r:id="rId11"/>
    <p:sldId id="356" r:id="rId12"/>
    <p:sldId id="357" r:id="rId13"/>
    <p:sldId id="342" r:id="rId14"/>
    <p:sldId id="288" r:id="rId15"/>
    <p:sldId id="301" r:id="rId16"/>
    <p:sldId id="343" r:id="rId17"/>
    <p:sldId id="307" r:id="rId18"/>
    <p:sldId id="364" r:id="rId19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Lato" panose="020F0502020204030203" pitchFamily="34" charset="0"/>
      <p:regular r:id="rId26"/>
      <p:bold r:id="rId27"/>
      <p:italic r:id="rId28"/>
      <p:boldItalic r:id="rId29"/>
    </p:embeddedFont>
    <p:embeddedFont>
      <p:font typeface="Vladimir Script" panose="03050402040407070305" pitchFamily="66" charset="0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702841-D4EF-4E4F-84DF-C1285AEE217C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IN"/>
        </a:p>
      </dgm:t>
    </dgm:pt>
    <dgm:pt modelId="{7C70DBC2-A800-4E0D-917B-E29DEF53C98C}">
      <dgm:prSet custT="1"/>
      <dgm:spPr/>
      <dgm:t>
        <a:bodyPr/>
        <a:lstStyle/>
        <a:p>
          <a:r>
            <a:rPr lang="en-IN" sz="2000" b="0" i="0" dirty="0">
              <a:latin typeface="Calibri" panose="020F0502020204030204" pitchFamily="34" charset="0"/>
              <a:cs typeface="Calibri" panose="020F0502020204030204" pitchFamily="34" charset="0"/>
            </a:rPr>
            <a:t>Waterfall model</a:t>
          </a:r>
          <a:endParaRPr lang="en-IN" sz="20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14D1401-B402-4AA9-BB69-2BF295ACBBA0}" type="parTrans" cxnId="{D59C6F20-DBA6-4C1A-9C6F-21AD5D499BBD}">
      <dgm:prSet/>
      <dgm:spPr/>
      <dgm:t>
        <a:bodyPr/>
        <a:lstStyle/>
        <a:p>
          <a:endParaRPr lang="en-IN"/>
        </a:p>
      </dgm:t>
    </dgm:pt>
    <dgm:pt modelId="{6930A86E-9E89-4FDB-9388-7659442C2A8C}" type="sibTrans" cxnId="{D59C6F20-DBA6-4C1A-9C6F-21AD5D499BBD}">
      <dgm:prSet/>
      <dgm:spPr/>
      <dgm:t>
        <a:bodyPr/>
        <a:lstStyle/>
        <a:p>
          <a:endParaRPr lang="en-IN"/>
        </a:p>
      </dgm:t>
    </dgm:pt>
    <dgm:pt modelId="{D307E310-073A-47D8-8EF7-7F22830123E1}">
      <dgm:prSet custT="1"/>
      <dgm:spPr/>
      <dgm:t>
        <a:bodyPr/>
        <a:lstStyle/>
        <a:p>
          <a:r>
            <a:rPr lang="en-IN" sz="2000" b="0" i="0">
              <a:latin typeface="Calibri" panose="020F0502020204030204" pitchFamily="34" charset="0"/>
              <a:cs typeface="Calibri" panose="020F0502020204030204" pitchFamily="34" charset="0"/>
            </a:rPr>
            <a:t>Iterative model</a:t>
          </a:r>
          <a:endParaRPr lang="en-IN" sz="2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50E2E10-D6EB-4CB6-8C40-2C229F2D0D40}" type="parTrans" cxnId="{E2891953-8313-4DB4-9039-C8E93951E2FE}">
      <dgm:prSet/>
      <dgm:spPr/>
      <dgm:t>
        <a:bodyPr/>
        <a:lstStyle/>
        <a:p>
          <a:endParaRPr lang="en-IN"/>
        </a:p>
      </dgm:t>
    </dgm:pt>
    <dgm:pt modelId="{9D0A0EAE-BC64-4D46-B750-2105255E331D}" type="sibTrans" cxnId="{E2891953-8313-4DB4-9039-C8E93951E2FE}">
      <dgm:prSet/>
      <dgm:spPr/>
      <dgm:t>
        <a:bodyPr/>
        <a:lstStyle/>
        <a:p>
          <a:endParaRPr lang="en-IN"/>
        </a:p>
      </dgm:t>
    </dgm:pt>
    <dgm:pt modelId="{93CC9A31-27DA-4F7C-9F22-39EDC7D3D761}">
      <dgm:prSet custT="1"/>
      <dgm:spPr/>
      <dgm:t>
        <a:bodyPr/>
        <a:lstStyle/>
        <a:p>
          <a:r>
            <a:rPr lang="en-IN" sz="2000" b="0" i="0" dirty="0">
              <a:latin typeface="Calibri" panose="020F0502020204030204" pitchFamily="34" charset="0"/>
              <a:cs typeface="Calibri" panose="020F0502020204030204" pitchFamily="34" charset="0"/>
            </a:rPr>
            <a:t>Spiral model</a:t>
          </a:r>
          <a:endParaRPr lang="en-IN" sz="20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DE2A2BE-4ED2-41D0-B27E-C6969F6DC0DA}" type="parTrans" cxnId="{B286F9D1-A5AB-4F46-9CBA-2D5EFFD5188B}">
      <dgm:prSet/>
      <dgm:spPr/>
      <dgm:t>
        <a:bodyPr/>
        <a:lstStyle/>
        <a:p>
          <a:endParaRPr lang="en-IN"/>
        </a:p>
      </dgm:t>
    </dgm:pt>
    <dgm:pt modelId="{BC84C6B1-A061-4F4A-9D39-717334CEC9BE}" type="sibTrans" cxnId="{B286F9D1-A5AB-4F46-9CBA-2D5EFFD5188B}">
      <dgm:prSet/>
      <dgm:spPr/>
      <dgm:t>
        <a:bodyPr/>
        <a:lstStyle/>
        <a:p>
          <a:endParaRPr lang="en-IN"/>
        </a:p>
      </dgm:t>
    </dgm:pt>
    <dgm:pt modelId="{ACD63E40-734E-4EE7-8C37-DD8CB8CF1895}">
      <dgm:prSet custT="1"/>
      <dgm:spPr/>
      <dgm:t>
        <a:bodyPr/>
        <a:lstStyle/>
        <a:p>
          <a:r>
            <a:rPr lang="en-IN" sz="2000" b="0" i="0" dirty="0">
              <a:latin typeface="Calibri" panose="020F0502020204030204" pitchFamily="34" charset="0"/>
              <a:cs typeface="Calibri" panose="020F0502020204030204" pitchFamily="34" charset="0"/>
            </a:rPr>
            <a:t>V-shaped model</a:t>
          </a:r>
          <a:endParaRPr lang="en-IN" sz="20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D631575-E535-4559-A099-E294079477DD}" type="parTrans" cxnId="{8B47FC9E-B5AE-46A0-9D43-00A020F7C0E0}">
      <dgm:prSet/>
      <dgm:spPr/>
      <dgm:t>
        <a:bodyPr/>
        <a:lstStyle/>
        <a:p>
          <a:endParaRPr lang="en-IN"/>
        </a:p>
      </dgm:t>
    </dgm:pt>
    <dgm:pt modelId="{2B77F52C-24FE-4C2D-B2DF-E8978B222905}" type="sibTrans" cxnId="{8B47FC9E-B5AE-46A0-9D43-00A020F7C0E0}">
      <dgm:prSet/>
      <dgm:spPr/>
      <dgm:t>
        <a:bodyPr/>
        <a:lstStyle/>
        <a:p>
          <a:endParaRPr lang="en-IN"/>
        </a:p>
      </dgm:t>
    </dgm:pt>
    <dgm:pt modelId="{2F37799D-AC87-4BB6-A78B-B1DFFFD1BBEE}">
      <dgm:prSet custT="1"/>
      <dgm:spPr/>
      <dgm:t>
        <a:bodyPr/>
        <a:lstStyle/>
        <a:p>
          <a:r>
            <a:rPr lang="en-IN" sz="2000" b="0" i="0" dirty="0">
              <a:latin typeface="Calibri" panose="020F0502020204030204" pitchFamily="34" charset="0"/>
              <a:cs typeface="Calibri" panose="020F0502020204030204" pitchFamily="34" charset="0"/>
            </a:rPr>
            <a:t>Agile model</a:t>
          </a:r>
          <a:endParaRPr lang="en-IN" sz="20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77A0D96-B2F9-42F5-8815-2C584ED89FF4}" type="parTrans" cxnId="{918BB18B-5D86-4243-9B01-A0A4E3BE13C9}">
      <dgm:prSet/>
      <dgm:spPr/>
      <dgm:t>
        <a:bodyPr/>
        <a:lstStyle/>
        <a:p>
          <a:endParaRPr lang="en-IN"/>
        </a:p>
      </dgm:t>
    </dgm:pt>
    <dgm:pt modelId="{7FD9B2F2-C40C-4945-86CB-04F557CACC03}" type="sibTrans" cxnId="{918BB18B-5D86-4243-9B01-A0A4E3BE13C9}">
      <dgm:prSet/>
      <dgm:spPr/>
      <dgm:t>
        <a:bodyPr/>
        <a:lstStyle/>
        <a:p>
          <a:endParaRPr lang="en-IN"/>
        </a:p>
      </dgm:t>
    </dgm:pt>
    <dgm:pt modelId="{385A9738-60D9-4CB9-B030-3DE612FF7D10}" type="pres">
      <dgm:prSet presAssocID="{57702841-D4EF-4E4F-84DF-C1285AEE217C}" presName="linear" presStyleCnt="0">
        <dgm:presLayoutVars>
          <dgm:animLvl val="lvl"/>
          <dgm:resizeHandles val="exact"/>
        </dgm:presLayoutVars>
      </dgm:prSet>
      <dgm:spPr/>
    </dgm:pt>
    <dgm:pt modelId="{F8CE14AF-2885-4E41-9D01-29722B6059C2}" type="pres">
      <dgm:prSet presAssocID="{7C70DBC2-A800-4E0D-917B-E29DEF53C98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53D6E3E-8027-4FB1-B83E-033A26485F9B}" type="pres">
      <dgm:prSet presAssocID="{6930A86E-9E89-4FDB-9388-7659442C2A8C}" presName="spacer" presStyleCnt="0"/>
      <dgm:spPr/>
    </dgm:pt>
    <dgm:pt modelId="{32B3355B-E464-494E-B8AA-56D9EC6C08A7}" type="pres">
      <dgm:prSet presAssocID="{D307E310-073A-47D8-8EF7-7F22830123E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2570CA5-5171-423C-8427-83AED94ECCCA}" type="pres">
      <dgm:prSet presAssocID="{9D0A0EAE-BC64-4D46-B750-2105255E331D}" presName="spacer" presStyleCnt="0"/>
      <dgm:spPr/>
    </dgm:pt>
    <dgm:pt modelId="{23FCA363-EEA1-44C0-BB73-4D8483C04979}" type="pres">
      <dgm:prSet presAssocID="{93CC9A31-27DA-4F7C-9F22-39EDC7D3D76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58044C2-FD09-4729-B3AF-04CC9B3225E2}" type="pres">
      <dgm:prSet presAssocID="{BC84C6B1-A061-4F4A-9D39-717334CEC9BE}" presName="spacer" presStyleCnt="0"/>
      <dgm:spPr/>
    </dgm:pt>
    <dgm:pt modelId="{A6C0F7EA-2F04-4ABF-B88B-4FBD0A9CDBE1}" type="pres">
      <dgm:prSet presAssocID="{ACD63E40-734E-4EE7-8C37-DD8CB8CF189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373FF63-D26B-45E3-AC84-146078468D90}" type="pres">
      <dgm:prSet presAssocID="{2B77F52C-24FE-4C2D-B2DF-E8978B222905}" presName="spacer" presStyleCnt="0"/>
      <dgm:spPr/>
    </dgm:pt>
    <dgm:pt modelId="{ED3C3924-B477-4DDE-BA2B-9AAF589E79BB}" type="pres">
      <dgm:prSet presAssocID="{2F37799D-AC87-4BB6-A78B-B1DFFFD1BBE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4D11802-7AF8-40F3-BD51-6DF35F9ADE70}" type="presOf" srcId="{D307E310-073A-47D8-8EF7-7F22830123E1}" destId="{32B3355B-E464-494E-B8AA-56D9EC6C08A7}" srcOrd="0" destOrd="0" presId="urn:microsoft.com/office/officeart/2005/8/layout/vList2"/>
    <dgm:cxn modelId="{D59C6F20-DBA6-4C1A-9C6F-21AD5D499BBD}" srcId="{57702841-D4EF-4E4F-84DF-C1285AEE217C}" destId="{7C70DBC2-A800-4E0D-917B-E29DEF53C98C}" srcOrd="0" destOrd="0" parTransId="{014D1401-B402-4AA9-BB69-2BF295ACBBA0}" sibTransId="{6930A86E-9E89-4FDB-9388-7659442C2A8C}"/>
    <dgm:cxn modelId="{7227A436-3962-41EC-9C23-8D8B19DEE80B}" type="presOf" srcId="{7C70DBC2-A800-4E0D-917B-E29DEF53C98C}" destId="{F8CE14AF-2885-4E41-9D01-29722B6059C2}" srcOrd="0" destOrd="0" presId="urn:microsoft.com/office/officeart/2005/8/layout/vList2"/>
    <dgm:cxn modelId="{E2891953-8313-4DB4-9039-C8E93951E2FE}" srcId="{57702841-D4EF-4E4F-84DF-C1285AEE217C}" destId="{D307E310-073A-47D8-8EF7-7F22830123E1}" srcOrd="1" destOrd="0" parTransId="{B50E2E10-D6EB-4CB6-8C40-2C229F2D0D40}" sibTransId="{9D0A0EAE-BC64-4D46-B750-2105255E331D}"/>
    <dgm:cxn modelId="{918BB18B-5D86-4243-9B01-A0A4E3BE13C9}" srcId="{57702841-D4EF-4E4F-84DF-C1285AEE217C}" destId="{2F37799D-AC87-4BB6-A78B-B1DFFFD1BBEE}" srcOrd="4" destOrd="0" parTransId="{977A0D96-B2F9-42F5-8815-2C584ED89FF4}" sibTransId="{7FD9B2F2-C40C-4945-86CB-04F557CACC03}"/>
    <dgm:cxn modelId="{C655F58C-4FC7-42A5-9F9C-BC3883FE1BE6}" type="presOf" srcId="{2F37799D-AC87-4BB6-A78B-B1DFFFD1BBEE}" destId="{ED3C3924-B477-4DDE-BA2B-9AAF589E79BB}" srcOrd="0" destOrd="0" presId="urn:microsoft.com/office/officeart/2005/8/layout/vList2"/>
    <dgm:cxn modelId="{8B47FC9E-B5AE-46A0-9D43-00A020F7C0E0}" srcId="{57702841-D4EF-4E4F-84DF-C1285AEE217C}" destId="{ACD63E40-734E-4EE7-8C37-DD8CB8CF1895}" srcOrd="3" destOrd="0" parTransId="{3D631575-E535-4559-A099-E294079477DD}" sibTransId="{2B77F52C-24FE-4C2D-B2DF-E8978B222905}"/>
    <dgm:cxn modelId="{03365AA6-89CE-40C9-86FD-74E5D4E28C8A}" type="presOf" srcId="{57702841-D4EF-4E4F-84DF-C1285AEE217C}" destId="{385A9738-60D9-4CB9-B030-3DE612FF7D10}" srcOrd="0" destOrd="0" presId="urn:microsoft.com/office/officeart/2005/8/layout/vList2"/>
    <dgm:cxn modelId="{99D407BF-4BD1-4632-9FE5-06892E29C428}" type="presOf" srcId="{ACD63E40-734E-4EE7-8C37-DD8CB8CF1895}" destId="{A6C0F7EA-2F04-4ABF-B88B-4FBD0A9CDBE1}" srcOrd="0" destOrd="0" presId="urn:microsoft.com/office/officeart/2005/8/layout/vList2"/>
    <dgm:cxn modelId="{B286F9D1-A5AB-4F46-9CBA-2D5EFFD5188B}" srcId="{57702841-D4EF-4E4F-84DF-C1285AEE217C}" destId="{93CC9A31-27DA-4F7C-9F22-39EDC7D3D761}" srcOrd="2" destOrd="0" parTransId="{0DE2A2BE-4ED2-41D0-B27E-C6969F6DC0DA}" sibTransId="{BC84C6B1-A061-4F4A-9D39-717334CEC9BE}"/>
    <dgm:cxn modelId="{950F17F8-886E-453F-91A6-DE51CAC4CE42}" type="presOf" srcId="{93CC9A31-27DA-4F7C-9F22-39EDC7D3D761}" destId="{23FCA363-EEA1-44C0-BB73-4D8483C04979}" srcOrd="0" destOrd="0" presId="urn:microsoft.com/office/officeart/2005/8/layout/vList2"/>
    <dgm:cxn modelId="{2A1EBC59-3C7E-4509-A33B-E26CFF3A803B}" type="presParOf" srcId="{385A9738-60D9-4CB9-B030-3DE612FF7D10}" destId="{F8CE14AF-2885-4E41-9D01-29722B6059C2}" srcOrd="0" destOrd="0" presId="urn:microsoft.com/office/officeart/2005/8/layout/vList2"/>
    <dgm:cxn modelId="{FFE0F18D-E4A0-42B0-8026-FAC7C45249C4}" type="presParOf" srcId="{385A9738-60D9-4CB9-B030-3DE612FF7D10}" destId="{053D6E3E-8027-4FB1-B83E-033A26485F9B}" srcOrd="1" destOrd="0" presId="urn:microsoft.com/office/officeart/2005/8/layout/vList2"/>
    <dgm:cxn modelId="{34C0AC1E-0330-4CCB-B22B-E54E9B134182}" type="presParOf" srcId="{385A9738-60D9-4CB9-B030-3DE612FF7D10}" destId="{32B3355B-E464-494E-B8AA-56D9EC6C08A7}" srcOrd="2" destOrd="0" presId="urn:microsoft.com/office/officeart/2005/8/layout/vList2"/>
    <dgm:cxn modelId="{9C8168C7-DEA6-41A3-9A8C-80FFF1EB60C1}" type="presParOf" srcId="{385A9738-60D9-4CB9-B030-3DE612FF7D10}" destId="{A2570CA5-5171-423C-8427-83AED94ECCCA}" srcOrd="3" destOrd="0" presId="urn:microsoft.com/office/officeart/2005/8/layout/vList2"/>
    <dgm:cxn modelId="{2D3BE2F2-9502-4127-A4DA-42D067042F56}" type="presParOf" srcId="{385A9738-60D9-4CB9-B030-3DE612FF7D10}" destId="{23FCA363-EEA1-44C0-BB73-4D8483C04979}" srcOrd="4" destOrd="0" presId="urn:microsoft.com/office/officeart/2005/8/layout/vList2"/>
    <dgm:cxn modelId="{11D3FE11-B6C8-4017-B983-0D7FD9F7DA58}" type="presParOf" srcId="{385A9738-60D9-4CB9-B030-3DE612FF7D10}" destId="{B58044C2-FD09-4729-B3AF-04CC9B3225E2}" srcOrd="5" destOrd="0" presId="urn:microsoft.com/office/officeart/2005/8/layout/vList2"/>
    <dgm:cxn modelId="{389D4CF8-25FF-4500-AF7A-D84587B4360F}" type="presParOf" srcId="{385A9738-60D9-4CB9-B030-3DE612FF7D10}" destId="{A6C0F7EA-2F04-4ABF-B88B-4FBD0A9CDBE1}" srcOrd="6" destOrd="0" presId="urn:microsoft.com/office/officeart/2005/8/layout/vList2"/>
    <dgm:cxn modelId="{330FFC8F-E842-4998-82FB-EBB45F5CBC05}" type="presParOf" srcId="{385A9738-60D9-4CB9-B030-3DE612FF7D10}" destId="{E373FF63-D26B-45E3-AC84-146078468D90}" srcOrd="7" destOrd="0" presId="urn:microsoft.com/office/officeart/2005/8/layout/vList2"/>
    <dgm:cxn modelId="{E1EC6B8E-21F6-4B4A-86C2-B71881046811}" type="presParOf" srcId="{385A9738-60D9-4CB9-B030-3DE612FF7D10}" destId="{ED3C3924-B477-4DDE-BA2B-9AAF589E79B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CE14AF-2885-4E41-9D01-29722B6059C2}">
      <dsp:nvSpPr>
        <dsp:cNvPr id="0" name=""/>
        <dsp:cNvSpPr/>
      </dsp:nvSpPr>
      <dsp:spPr>
        <a:xfrm>
          <a:off x="0" y="192"/>
          <a:ext cx="4864607" cy="43417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 dirty="0">
              <a:latin typeface="Calibri" panose="020F0502020204030204" pitchFamily="34" charset="0"/>
              <a:cs typeface="Calibri" panose="020F0502020204030204" pitchFamily="34" charset="0"/>
            </a:rPr>
            <a:t>Waterfall model</a:t>
          </a:r>
          <a:endParaRPr lang="en-IN" sz="20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1195" y="21387"/>
        <a:ext cx="4822217" cy="391789"/>
      </dsp:txXfrm>
    </dsp:sp>
    <dsp:sp modelId="{32B3355B-E464-494E-B8AA-56D9EC6C08A7}">
      <dsp:nvSpPr>
        <dsp:cNvPr id="0" name=""/>
        <dsp:cNvSpPr/>
      </dsp:nvSpPr>
      <dsp:spPr>
        <a:xfrm>
          <a:off x="0" y="448434"/>
          <a:ext cx="4864607" cy="43417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>
              <a:latin typeface="Calibri" panose="020F0502020204030204" pitchFamily="34" charset="0"/>
              <a:cs typeface="Calibri" panose="020F0502020204030204" pitchFamily="34" charset="0"/>
            </a:rPr>
            <a:t>Iterative model</a:t>
          </a:r>
          <a:endParaRPr lang="en-IN" sz="2000" kern="120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1195" y="469629"/>
        <a:ext cx="4822217" cy="391789"/>
      </dsp:txXfrm>
    </dsp:sp>
    <dsp:sp modelId="{23FCA363-EEA1-44C0-BB73-4D8483C04979}">
      <dsp:nvSpPr>
        <dsp:cNvPr id="0" name=""/>
        <dsp:cNvSpPr/>
      </dsp:nvSpPr>
      <dsp:spPr>
        <a:xfrm>
          <a:off x="0" y="896676"/>
          <a:ext cx="4864607" cy="43417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 dirty="0">
              <a:latin typeface="Calibri" panose="020F0502020204030204" pitchFamily="34" charset="0"/>
              <a:cs typeface="Calibri" panose="020F0502020204030204" pitchFamily="34" charset="0"/>
            </a:rPr>
            <a:t>Spiral model</a:t>
          </a:r>
          <a:endParaRPr lang="en-IN" sz="20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1195" y="917871"/>
        <a:ext cx="4822217" cy="391789"/>
      </dsp:txXfrm>
    </dsp:sp>
    <dsp:sp modelId="{A6C0F7EA-2F04-4ABF-B88B-4FBD0A9CDBE1}">
      <dsp:nvSpPr>
        <dsp:cNvPr id="0" name=""/>
        <dsp:cNvSpPr/>
      </dsp:nvSpPr>
      <dsp:spPr>
        <a:xfrm>
          <a:off x="0" y="1344918"/>
          <a:ext cx="4864607" cy="43417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 dirty="0">
              <a:latin typeface="Calibri" panose="020F0502020204030204" pitchFamily="34" charset="0"/>
              <a:cs typeface="Calibri" panose="020F0502020204030204" pitchFamily="34" charset="0"/>
            </a:rPr>
            <a:t>V-shaped model</a:t>
          </a:r>
          <a:endParaRPr lang="en-IN" sz="20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1195" y="1366113"/>
        <a:ext cx="4822217" cy="391789"/>
      </dsp:txXfrm>
    </dsp:sp>
    <dsp:sp modelId="{ED3C3924-B477-4DDE-BA2B-9AAF589E79BB}">
      <dsp:nvSpPr>
        <dsp:cNvPr id="0" name=""/>
        <dsp:cNvSpPr/>
      </dsp:nvSpPr>
      <dsp:spPr>
        <a:xfrm>
          <a:off x="0" y="1793161"/>
          <a:ext cx="4864607" cy="43417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 dirty="0">
              <a:latin typeface="Calibri" panose="020F0502020204030204" pitchFamily="34" charset="0"/>
              <a:cs typeface="Calibri" panose="020F0502020204030204" pitchFamily="34" charset="0"/>
            </a:rPr>
            <a:t>Agile model</a:t>
          </a:r>
          <a:endParaRPr lang="en-IN" sz="20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1195" y="1814356"/>
        <a:ext cx="4822217" cy="3917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22C6AF8-29EE-B898-AED3-AF70CD88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4E2CBAD-82BD-A0FC-7CFF-1A422C3864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5B335324-82D2-FD4A-92A0-750403AE05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80684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AF8D011-1978-0123-5CB2-07F259488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1F30FEB0-AB40-4EED-9FDB-BD2BDC5B18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0132642-52DF-B83A-52A1-4C0392323C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1119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BB2C93B-7FE2-A8D6-21D2-CB1FAAB4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35863A3-7B58-0DD0-4438-352440F08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C70A685-A7E2-6333-F188-6854C8061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19162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9D894A85-83AF-7440-397E-527B5482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9C2093A-3BD4-9A88-C5E2-F7C31E7A08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6DECF4C-468D-CCE2-03E4-E19F9D8253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66495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93AD7010-0466-94D1-9C82-49D082DCC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50773054-E519-4226-C194-0838F781F2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7FB88B95-2559-3E17-E033-A12AF78A1D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11051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1FD7304F-B123-B0B1-67D3-22CB22C79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932DBF11-416F-C300-0D71-B9F011A1EA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5AEFB29-EAD2-756E-029A-8B5866944F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524478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FE2704E4-255B-9B8E-3671-2D04D544F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6CEFBDD-879C-35D5-0FCA-87B5696A19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47CE74-89BE-DCD3-B92F-C46CB4C1A7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71416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D173346-3278-3307-A6AE-94FC96724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EAFA027-E119-020B-B761-7ABF3F319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7D73BA5-ECCC-A003-CD00-1C1BBC9AB3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819841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75D2C4F5-7F4F-5DCB-F96B-37C60018C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D57E03E-39A2-E47D-C7BF-AE5FEFA5EE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96BE8867-9251-D2B6-4578-5AC4D8E4F3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561794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E8ADC68-4769-829F-6A35-A35D9A46D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67B2B9E-9D50-2C83-E7F1-5454981E6B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DC983E0-C0B7-2694-D301-FFB9E22AA6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902970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939931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18896A3-CA15-4C87-8FB7-24487FE5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9BF4E4D-8363-3E77-BFA5-048BFD297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1179ABD-E767-1A65-FB79-9B790ADA6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70333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933566B8-DF3A-05B0-31BF-3E9330E90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6E1D4698-774E-05EC-35A8-C442A34DE0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9F45E652-90CA-7AD8-28F6-16ACCE6A23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443842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18237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3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courses.nptel.ac.in/noc25_cs108/preview?utm_source=chatgpt.com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youtube.com/watch?v=Z6f9ckEElsU&amp;utm_source=chatgpt.com" TargetMode="External"/><Relationship Id="rId4" Type="http://schemas.openxmlformats.org/officeDocument/2006/relationships/hyperlink" Target="https://www.youtube.com/watch?v=IHx9ImEMuzQ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698809" y="973866"/>
            <a:ext cx="7997747" cy="390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</a:t>
            </a: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ENGINEERING 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AIT-CSE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IN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B.E CSE </a:t>
            </a:r>
            <a:endParaRPr lang="en-IN" sz="2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IN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AIML/ 6</a:t>
            </a:r>
            <a:r>
              <a:rPr lang="en-IN" sz="2400" baseline="30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th</a:t>
            </a:r>
            <a:endParaRPr lang="en-IN" sz="24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IN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SOFTWARE ENGINEERING </a:t>
            </a:r>
            <a:br>
              <a:rPr lang="en-IN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23CSH-374</a:t>
            </a:r>
            <a:r>
              <a:rPr lang="en-IN" sz="24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ctr">
              <a:spcBef>
                <a:spcPts val="1120"/>
              </a:spcBef>
              <a:buSzPts val="3200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 Name : Dr Geeta Rani             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CUmail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-ID : geeta.e15227@cumail.in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Designation : Associate Professor</a:t>
            </a:r>
            <a:endParaRPr lang="en-US" sz="3600"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0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99AA823F-7647-EC23-1D1D-BE99682D0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68E489D-DEF7-172C-BBAC-D35CA1568FA2}"/>
              </a:ext>
            </a:extLst>
          </p:cNvPr>
          <p:cNvGrpSpPr/>
          <p:nvPr/>
        </p:nvGrpSpPr>
        <p:grpSpPr>
          <a:xfrm>
            <a:off x="557644" y="482539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18D3AC0D-843C-8079-7685-CF8E1B7049E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0A2AB195-9CC4-1DA1-CFC9-569DD2CAE32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Course Objectives 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26FD4B4-7817-D0EB-1F71-78AE2F3112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33058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7C741A-FADA-20D3-9798-F44278B29F12}"/>
              </a:ext>
            </a:extLst>
          </p:cNvPr>
          <p:cNvSpPr txBox="1"/>
          <p:nvPr/>
        </p:nvSpPr>
        <p:spPr>
          <a:xfrm>
            <a:off x="757500" y="898115"/>
            <a:ext cx="7796667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Understand fundamental software engineering processes, SDLC models, and requirement engineering techniques used in real-world projects.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Apply modeling concepts, design principles, and UML diagrams to represent system structures and behaviors effectively.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Analyze various software development, design, and testing strategies to determine their suitability for different project scenarios.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Evaluate software solutions and project management practices based on quality metrics, design principles, and testing outcomes.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Create structured requirement documents, UML models, test plans, and project management artifacts for medium-scale software systems.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432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4BED8776-82A9-C3BD-5844-FF0540513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00E0E5BE-FA8F-5957-A3CD-8C1DD3BFF409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89AB046-BF5D-9FB0-A377-F7F7D02D466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E02AF8FA-0EE9-C2FB-6C1E-80FEF5B5E3A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Course Outcomes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C9CDB22-B6A6-EEC4-E538-5F62E68049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F55B9C3-0D82-6862-B56F-2DBD19B3AEFD}"/>
              </a:ext>
            </a:extLst>
          </p:cNvPr>
          <p:cNvGraphicFramePr>
            <a:graphicFrameLocks noGrp="1"/>
          </p:cNvGraphicFramePr>
          <p:nvPr/>
        </p:nvGraphicFramePr>
        <p:xfrm>
          <a:off x="748144" y="1079124"/>
          <a:ext cx="7382396" cy="377075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44436">
                  <a:extLst>
                    <a:ext uri="{9D8B030D-6E8A-4147-A177-3AD203B41FA5}">
                      <a16:colId xmlns:a16="http://schemas.microsoft.com/office/drawing/2014/main" val="194261115"/>
                    </a:ext>
                  </a:extLst>
                </a:gridCol>
                <a:gridCol w="6537960">
                  <a:extLst>
                    <a:ext uri="{9D8B030D-6E8A-4147-A177-3AD203B41FA5}">
                      <a16:colId xmlns:a16="http://schemas.microsoft.com/office/drawing/2014/main" val="3570576572"/>
                    </a:ext>
                  </a:extLst>
                </a:gridCol>
              </a:tblGrid>
              <a:tr h="547437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sym typeface="Arial"/>
                        </a:rPr>
                        <a:t>CO No.</a:t>
                      </a:r>
                      <a:endParaRPr lang="en-IN" sz="1600" b="1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sym typeface="Arial"/>
                        </a:rPr>
                        <a:t>Statement</a:t>
                      </a:r>
                      <a:endParaRPr lang="en-IN" sz="1600" b="1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914877"/>
                  </a:ext>
                </a:extLst>
              </a:tr>
              <a:tr h="5577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CO1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Explain SDLC models, requirement principles, testing strategies, and project management concepts.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5475364"/>
                  </a:ext>
                </a:extLst>
              </a:tr>
              <a:tr h="5577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CO2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Construct UML diagrams and apply design patterns to solve software design problems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46710"/>
                  </a:ext>
                </a:extLst>
              </a:tr>
              <a:tr h="5577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CO3</a:t>
                      </a:r>
                      <a:endParaRPr lang="en-IN" sz="1800" b="0" i="0" u="none" strike="noStrike" cap="none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Compare SDLC models, testing strategies for different scenarios.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3777814"/>
                  </a:ext>
                </a:extLst>
              </a:tr>
              <a:tr h="5577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CO4</a:t>
                      </a:r>
                      <a:endParaRPr lang="en-IN" sz="1800" b="0" i="0" u="none" strike="noStrike" cap="none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Assess testing strategies, maintenance approaches, and project metrics to ensure software quality.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2861669"/>
                  </a:ext>
                </a:extLst>
              </a:tr>
              <a:tr h="8365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CO5</a:t>
                      </a:r>
                      <a:endParaRPr lang="en-IN" sz="1800" b="0" i="0" u="none" strike="noStrike" cap="none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Develop complete requirement specifications, design models, test plans, and project management documents (including Jira-based defect tracking) for real-world case studies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9479134"/>
                  </a:ext>
                </a:extLst>
              </a:tr>
            </a:tbl>
          </a:graphicData>
        </a:graphic>
      </p:graphicFrame>
      <p:pic>
        <p:nvPicPr>
          <p:cNvPr id="3" name="Graphic 2" descr="Chevron arrows with solid fill">
            <a:extLst>
              <a:ext uri="{FF2B5EF4-FFF2-40B4-BE49-F238E27FC236}">
                <a16:creationId xmlns:a16="http://schemas.microsoft.com/office/drawing/2014/main" id="{2139EB93-65F3-1AFD-8324-B3DCBE9220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319098" y="1800210"/>
            <a:ext cx="346172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374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IN" sz="4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Suggestive Readings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2EB782-99A3-BCFF-B22A-E7B8A5618FAF}"/>
              </a:ext>
            </a:extLst>
          </p:cNvPr>
          <p:cNvSpPr txBox="1"/>
          <p:nvPr/>
        </p:nvSpPr>
        <p:spPr>
          <a:xfrm>
            <a:off x="780333" y="1275011"/>
            <a:ext cx="8001000" cy="3569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Text Books: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Pressman, R. S., “Software Engineering: A Practitioner’s Approach,” McGraw Hill.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Ian Sommerville, “Software Engineering,” Pearson.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Reference Books: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Pankaj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Jalote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“An Integrated Approach to Software Engineering,”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Narosa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Ghezzi, Jazayeri,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Mandrioli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“Fundamentals of Software Engineering,” PHI.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429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616475" y="562737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Unit-I Syllabus </a:t>
              </a: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777444-8FB4-66CE-F759-157378208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982330"/>
              </p:ext>
            </p:extLst>
          </p:nvPr>
        </p:nvGraphicFramePr>
        <p:xfrm>
          <a:off x="815340" y="1537527"/>
          <a:ext cx="7719060" cy="2875922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827493">
                  <a:extLst>
                    <a:ext uri="{9D8B030D-6E8A-4147-A177-3AD203B41FA5}">
                      <a16:colId xmlns:a16="http://schemas.microsoft.com/office/drawing/2014/main" val="38313313"/>
                    </a:ext>
                  </a:extLst>
                </a:gridCol>
                <a:gridCol w="5891567">
                  <a:extLst>
                    <a:ext uri="{9D8B030D-6E8A-4147-A177-3AD203B41FA5}">
                      <a16:colId xmlns:a16="http://schemas.microsoft.com/office/drawing/2014/main" val="1926233377"/>
                    </a:ext>
                  </a:extLst>
                </a:gridCol>
              </a:tblGrid>
              <a:tr h="779926">
                <a:tc>
                  <a:txBody>
                    <a:bodyPr/>
                    <a:lstStyle/>
                    <a:p>
                      <a:pPr marR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/>
                        </a:rPr>
                        <a:t>Unit</a:t>
                      </a:r>
                      <a:r>
                        <a:rPr lang="en-GB" sz="1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/>
                        </a:rPr>
                        <a:t>-1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/>
                        </a:rPr>
                        <a:t>Unit 1: Software Process and Requirement Engineering (15 hours)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5392206"/>
                  </a:ext>
                </a:extLst>
              </a:tr>
              <a:tr h="779926"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spcAft>
                          <a:spcPts val="80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Chapter 1.1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buClr>
                          <a:srgbClr val="000000"/>
                        </a:buClr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Software Engineering: Introduction, SDLC, Agile vs Traditional models.</a:t>
                      </a:r>
                      <a:endParaRPr lang="en-IN" sz="1800" b="0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8326827"/>
                  </a:ext>
                </a:extLst>
              </a:tr>
              <a:tr h="779926"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spcAft>
                          <a:spcPts val="80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Chapter 1.2</a:t>
                      </a:r>
                      <a:endParaRPr lang="en-IN" sz="1800" b="1" i="0" u="none" strike="noStrike" cap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buClr>
                          <a:srgbClr val="000000"/>
                        </a:buClr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Requirement Engineering: Elicitation, Analysis, Specification, Validation.</a:t>
                      </a:r>
                      <a:endParaRPr lang="en-IN" sz="1800" b="0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942923"/>
                  </a:ext>
                </a:extLst>
              </a:tr>
              <a:tr h="534677"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spcAft>
                          <a:spcPts val="80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Chapter 1.3</a:t>
                      </a:r>
                      <a:endParaRPr lang="en-IN" sz="1800" b="1" i="0" u="none" strike="noStrike" cap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buClr>
                          <a:srgbClr val="000000"/>
                        </a:buClr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Case Studies: Requirements in online payment systems.</a:t>
                      </a:r>
                      <a:endParaRPr lang="en-IN" sz="1800" b="0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356180"/>
                  </a:ext>
                </a:extLst>
              </a:tr>
            </a:tbl>
          </a:graphicData>
        </a:graphic>
      </p:graphicFrame>
      <p:pic>
        <p:nvPicPr>
          <p:cNvPr id="3" name="Graphic 2" descr="Chevron arrows with solid fill">
            <a:extLst>
              <a:ext uri="{FF2B5EF4-FFF2-40B4-BE49-F238E27FC236}">
                <a16:creationId xmlns:a16="http://schemas.microsoft.com/office/drawing/2014/main" id="{E135E308-1A0E-79EB-6C0F-C38D5CB8C5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475578" y="2463750"/>
            <a:ext cx="346172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648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F165C73-F363-A304-734E-7CBF8D3F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7B7C442-1162-E7EE-DA61-E33D8E4C9122}"/>
              </a:ext>
            </a:extLst>
          </p:cNvPr>
          <p:cNvGrpSpPr/>
          <p:nvPr/>
        </p:nvGrpSpPr>
        <p:grpSpPr>
          <a:xfrm>
            <a:off x="760020" y="218172"/>
            <a:ext cx="826522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8E0F9992-62FC-4C63-BED6-091FF56DEF0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FBE6ABC-C3B9-AA73-42F9-036BD547E8E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Recap of Previous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B576DE2-C283-2E3E-CC36-4B7ABE8B8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15CC39-A72D-8FB2-99C2-19067840EBFA}"/>
              </a:ext>
            </a:extLst>
          </p:cNvPr>
          <p:cNvSpPr txBox="1">
            <a:spLocks/>
          </p:cNvSpPr>
          <p:nvPr/>
        </p:nvSpPr>
        <p:spPr>
          <a:xfrm>
            <a:off x="663976" y="806676"/>
            <a:ext cx="7945548" cy="353015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fontAlgn="base" hangingPunct="1">
              <a:spcBef>
                <a:spcPts val="600"/>
              </a:spcBef>
              <a:spcAft>
                <a:spcPts val="600"/>
              </a:spcAft>
              <a:buFont typeface="Wingdings" charset="2"/>
              <a:buChar char="²"/>
              <a:defRPr sz="24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1pPr>
            <a:lvl2pPr marL="742950" indent="-285750" algn="l" defTabSz="457200" rtl="0" eaLnBrk="1" fontAlgn="base" hangingPunct="1">
              <a:spcBef>
                <a:spcPts val="300"/>
              </a:spcBef>
              <a:spcAft>
                <a:spcPts val="300"/>
              </a:spcAft>
              <a:buFont typeface="Wingdings" charset="2"/>
              <a:buChar char="§"/>
              <a:defRPr sz="20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buClrTx/>
              <a:defRPr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Software Development Life Cycle (SDLC) is a process used by the software industry to design, develop and test high-quality software. The SDLC aims to produce high-quality software that meets or exceeds customer expectations, is completed within the estimated time and cost.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46424D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Essential software product attributes are maintainability, dependability and security, efficiency, and acceptability.</a:t>
            </a:r>
          </a:p>
          <a:p>
            <a:pPr algn="just">
              <a:buClrTx/>
              <a:buSzPct val="142857"/>
              <a:tabLst>
                <a:tab pos="139065" algn="l"/>
              </a:tabLst>
              <a:defRPr/>
            </a:pPr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The Software Development Life Cycle (SDLC) consists of seven essential phases: Planning, Requirements Analysis, Design, Coding, Testing, Deployment, and Maintenance, that ensure successful software development, from concept to continuous improvement.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512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D2933D2-A694-4C02-9490-F8DF1D65E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AAB8138-C22D-D138-96A2-E61790B95501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D457F1-73E5-C92E-69E7-B0F511A25100}"/>
              </a:ext>
            </a:extLst>
          </p:cNvPr>
          <p:cNvSpPr txBox="1">
            <a:spLocks/>
          </p:cNvSpPr>
          <p:nvPr/>
        </p:nvSpPr>
        <p:spPr>
          <a:xfrm>
            <a:off x="36285" y="65313"/>
            <a:ext cx="9056915" cy="806675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of Contents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A4B515-1583-F553-4D7C-021764E7BA41}"/>
              </a:ext>
            </a:extLst>
          </p:cNvPr>
          <p:cNvSpPr/>
          <p:nvPr/>
        </p:nvSpPr>
        <p:spPr>
          <a:xfrm>
            <a:off x="197783" y="1033556"/>
            <a:ext cx="8695793" cy="2468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Times New Roman" panose="02020603050405020304" pitchFamily="18" charset="0"/>
              <a:buChar char="֍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SDLC Models </a:t>
            </a:r>
          </a:p>
          <a:p>
            <a:pPr marL="285750" indent="-285750" algn="just">
              <a:lnSpc>
                <a:spcPct val="150000"/>
              </a:lnSpc>
              <a:buFont typeface="Times New Roman" panose="02020603050405020304" pitchFamily="18" charset="0"/>
              <a:buChar char="֍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Waterfall Model</a:t>
            </a:r>
          </a:p>
          <a:p>
            <a:pPr marL="285750" indent="-285750" algn="just">
              <a:lnSpc>
                <a:spcPct val="150000"/>
              </a:lnSpc>
              <a:buFont typeface="Times New Roman" panose="02020603050405020304" pitchFamily="18" charset="0"/>
              <a:buChar char="֍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Agile Model</a:t>
            </a:r>
          </a:p>
          <a:p>
            <a:pPr marL="285750" indent="-285750" algn="just">
              <a:lnSpc>
                <a:spcPct val="150000"/>
              </a:lnSpc>
              <a:buFont typeface="Times New Roman" panose="02020603050405020304" pitchFamily="18" charset="0"/>
              <a:buChar char="֍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</a:t>
            </a:r>
          </a:p>
          <a:p>
            <a:pPr marL="285750" indent="-285750" algn="just">
              <a:lnSpc>
                <a:spcPct val="200000"/>
              </a:lnSpc>
              <a:buFont typeface="Times New Roman" panose="02020603050405020304" pitchFamily="18" charset="0"/>
              <a:buChar char="֍"/>
            </a:pP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36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1E1FC50-B7F1-B097-7B87-53D1593CF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>
            <a:extLst>
              <a:ext uri="{FF2B5EF4-FFF2-40B4-BE49-F238E27FC236}">
                <a16:creationId xmlns:a16="http://schemas.microsoft.com/office/drawing/2014/main" id="{59FFB20B-DF8E-511B-C144-80724FEB5F31}"/>
              </a:ext>
            </a:extLst>
          </p:cNvPr>
          <p:cNvSpPr/>
          <p:nvPr/>
        </p:nvSpPr>
        <p:spPr>
          <a:xfrm>
            <a:off x="783770" y="218172"/>
            <a:ext cx="8946970" cy="4446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40ACE6-91B1-D4F3-5558-E09B917B1C22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1FC49A-2E1E-3AD3-61F3-62380FAFED2D}"/>
              </a:ext>
            </a:extLst>
          </p:cNvPr>
          <p:cNvSpPr txBox="1"/>
          <p:nvPr/>
        </p:nvSpPr>
        <p:spPr>
          <a:xfrm>
            <a:off x="1104900" y="271737"/>
            <a:ext cx="7322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buSzPts val="1900"/>
            </a:pPr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Software Development Life Cycle</a:t>
            </a:r>
            <a:endParaRPr lang="en-IN" sz="4000" b="1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E128E74C-4A95-1053-BE43-93DCA1F2ADEF}"/>
              </a:ext>
            </a:extLst>
          </p:cNvPr>
          <p:cNvSpPr txBox="1"/>
          <p:nvPr/>
        </p:nvSpPr>
        <p:spPr>
          <a:xfrm>
            <a:off x="564656" y="1279409"/>
            <a:ext cx="3405364" cy="34515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7795" marR="0" lvl="0" indent="-125095" algn="just" defTabSz="914400" eaLnBrk="1" fontAlgn="auto" latinLnBrk="0" hangingPunct="1">
              <a:spcBef>
                <a:spcPts val="95"/>
              </a:spcBef>
              <a:spcAft>
                <a:spcPts val="0"/>
              </a:spcAft>
              <a:buClrTx/>
              <a:buSzPct val="142857"/>
              <a:buFont typeface="Arial"/>
              <a:buChar char="•"/>
              <a:tabLst>
                <a:tab pos="137795" algn="l"/>
              </a:tabLst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SDLC</a:t>
            </a:r>
            <a:r>
              <a:rPr kumimoji="0" sz="1800" b="1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stands</a:t>
            </a:r>
            <a:r>
              <a:rPr kumimoji="0" sz="18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kumimoji="0" sz="18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Software</a:t>
            </a:r>
            <a:r>
              <a:rPr kumimoji="0" sz="1800" b="0" i="1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Development</a:t>
            </a:r>
            <a:r>
              <a:rPr kumimoji="0" sz="1800" b="0" i="1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Life</a:t>
            </a:r>
            <a:r>
              <a:rPr kumimoji="0" sz="1800" b="0" i="1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Cycle</a:t>
            </a:r>
            <a:endParaRPr kumimoji="0" lang="en-US" sz="1800" b="0" i="1" u="none" strike="noStrike" kern="0" cap="none" spc="-1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7160" marR="5080" lvl="0" indent="-125095" algn="just" defTabSz="914400" eaLnBrk="1" fontAlgn="auto" latinLnBrk="0" hangingPunct="1">
              <a:spcBef>
                <a:spcPts val="315"/>
              </a:spcBef>
              <a:spcAft>
                <a:spcPts val="0"/>
              </a:spcAft>
              <a:buClrTx/>
              <a:buSzPct val="142857"/>
              <a:buFont typeface="Arial"/>
              <a:buChar char="•"/>
              <a:tabLst>
                <a:tab pos="13906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0" sz="18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process</a:t>
            </a:r>
            <a:r>
              <a:rPr kumimoji="0" sz="18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kumimoji="0" sz="18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developing,</a:t>
            </a:r>
            <a:r>
              <a:rPr kumimoji="0" sz="18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designing,</a:t>
            </a:r>
            <a:r>
              <a:rPr kumimoji="0" sz="18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kumimoji="0" sz="18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maintaining</a:t>
            </a:r>
            <a:r>
              <a:rPr kumimoji="0" sz="18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0" sz="18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software</a:t>
            </a:r>
            <a:r>
              <a:rPr kumimoji="0" sz="18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project</a:t>
            </a:r>
            <a:r>
              <a:rPr kumimoji="0" sz="18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kumimoji="0" sz="18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ensuring</a:t>
            </a:r>
            <a:r>
              <a:rPr kumimoji="0" sz="18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kumimoji="0" sz="18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all</a:t>
            </a:r>
            <a:r>
              <a:rPr kumimoji="0" sz="18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unctionalities</a:t>
            </a:r>
            <a:r>
              <a:rPr kumimoji="0" sz="18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along</a:t>
            </a:r>
            <a:r>
              <a:rPr kumimoji="0" sz="1800" b="0" i="0" u="none" strike="noStrike" kern="0" cap="none" spc="5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kumimoji="0" sz="18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user</a:t>
            </a:r>
            <a:r>
              <a:rPr kumimoji="0" sz="18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requirements,</a:t>
            </a:r>
            <a:r>
              <a:rPr kumimoji="0" sz="18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objectives,</a:t>
            </a:r>
            <a:r>
              <a:rPr kumimoji="0" sz="18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kumimoji="0" sz="18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end</a:t>
            </a:r>
            <a:r>
              <a:rPr kumimoji="0" sz="18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goals</a:t>
            </a:r>
            <a:r>
              <a:rPr kumimoji="0" sz="18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kumimoji="0" sz="18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addressed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7795" marR="0" lvl="0" indent="-125095" algn="just" defTabSz="914400" eaLnBrk="1" fontAlgn="auto" latinLnBrk="0" hangingPunct="1">
              <a:spcBef>
                <a:spcPts val="635"/>
              </a:spcBef>
              <a:spcAft>
                <a:spcPts val="0"/>
              </a:spcAft>
              <a:buClrTx/>
              <a:buSzPct val="142857"/>
              <a:buFont typeface="Arial"/>
              <a:buChar char="•"/>
              <a:tabLst>
                <a:tab pos="13779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kumimoji="0" sz="18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SDLC,</a:t>
            </a:r>
            <a:r>
              <a:rPr kumimoji="0" sz="18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0" sz="18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software</a:t>
            </a:r>
            <a:r>
              <a:rPr kumimoji="0" sz="18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project’s</a:t>
            </a:r>
            <a:r>
              <a:rPr kumimoji="0" sz="18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quality</a:t>
            </a:r>
            <a:r>
              <a:rPr kumimoji="0" sz="18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kumimoji="0" sz="18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0" sz="18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overall</a:t>
            </a:r>
            <a:r>
              <a:rPr kumimoji="0" sz="18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software</a:t>
            </a:r>
            <a:r>
              <a:rPr kumimoji="0" sz="18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development</a:t>
            </a:r>
            <a:r>
              <a:rPr kumimoji="0" sz="18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process</a:t>
            </a:r>
            <a:r>
              <a:rPr kumimoji="0" sz="18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get</a:t>
            </a:r>
            <a:r>
              <a:rPr kumimoji="0" sz="18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enhanced.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object 10">
            <a:extLst>
              <a:ext uri="{FF2B5EF4-FFF2-40B4-BE49-F238E27FC236}">
                <a16:creationId xmlns:a16="http://schemas.microsoft.com/office/drawing/2014/main" id="{DF4A9B7A-858F-594B-2CF0-6E6296D7867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73216" y="975360"/>
            <a:ext cx="4170684" cy="361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081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2026723F-9FA3-54E0-0A96-8EE8B87EC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>
            <a:extLst>
              <a:ext uri="{FF2B5EF4-FFF2-40B4-BE49-F238E27FC236}">
                <a16:creationId xmlns:a16="http://schemas.microsoft.com/office/drawing/2014/main" id="{DCF4F293-55CC-9996-6C84-A24CC0AC4D27}"/>
              </a:ext>
            </a:extLst>
          </p:cNvPr>
          <p:cNvSpPr/>
          <p:nvPr/>
        </p:nvSpPr>
        <p:spPr>
          <a:xfrm>
            <a:off x="783770" y="218172"/>
            <a:ext cx="8946970" cy="4446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3C2C0E-B854-77B6-FEED-3D97805D78B8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E8FE2D-D473-C59B-BD6E-417B02A934CB}"/>
              </a:ext>
            </a:extLst>
          </p:cNvPr>
          <p:cNvSpPr txBox="1"/>
          <p:nvPr/>
        </p:nvSpPr>
        <p:spPr>
          <a:xfrm>
            <a:off x="2013686" y="271737"/>
            <a:ext cx="6406414" cy="516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lang="en-IN" sz="4000" b="1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Popular SDLC Models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109F83F-A8B6-D61E-85E7-DB54FBC445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3376947"/>
              </p:ext>
            </p:extLst>
          </p:nvPr>
        </p:nvGraphicFramePr>
        <p:xfrm>
          <a:off x="1905000" y="1656866"/>
          <a:ext cx="4864608" cy="22275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44859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70E2F961-DBC2-EA07-987E-AC6D2B79F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>
            <a:extLst>
              <a:ext uri="{FF2B5EF4-FFF2-40B4-BE49-F238E27FC236}">
                <a16:creationId xmlns:a16="http://schemas.microsoft.com/office/drawing/2014/main" id="{190B2618-F24F-5F09-7F72-0234D668FD2F}"/>
              </a:ext>
            </a:extLst>
          </p:cNvPr>
          <p:cNvSpPr/>
          <p:nvPr/>
        </p:nvSpPr>
        <p:spPr>
          <a:xfrm>
            <a:off x="783770" y="218172"/>
            <a:ext cx="8946970" cy="4446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E5CEF3-BB33-92D3-1D3E-A4E827875D13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0DBC69-D006-8C98-9C87-484C9C641366}"/>
              </a:ext>
            </a:extLst>
          </p:cNvPr>
          <p:cNvSpPr txBox="1"/>
          <p:nvPr/>
        </p:nvSpPr>
        <p:spPr>
          <a:xfrm>
            <a:off x="2013686" y="369052"/>
            <a:ext cx="4865648" cy="410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75"/>
              </a:lnSpc>
            </a:pPr>
            <a:r>
              <a:rPr lang="en-IN" sz="4000" b="1" i="0" u="none" strike="noStrike" dirty="0">
                <a:solidFill>
                  <a:schemeClr val="bg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Waterfall model </a:t>
            </a:r>
            <a:endParaRPr lang="en-IN" sz="4000" b="1" i="0" dirty="0">
              <a:solidFill>
                <a:schemeClr val="bg2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C39901-1927-7994-C9EC-FAB9AC492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540" y="1086753"/>
            <a:ext cx="6309360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131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2D2B853-FCDC-564F-264B-447C84039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>
            <a:extLst>
              <a:ext uri="{FF2B5EF4-FFF2-40B4-BE49-F238E27FC236}">
                <a16:creationId xmlns:a16="http://schemas.microsoft.com/office/drawing/2014/main" id="{6BB02DBD-17E3-3332-F8DA-836FD8122BD6}"/>
              </a:ext>
            </a:extLst>
          </p:cNvPr>
          <p:cNvSpPr/>
          <p:nvPr/>
        </p:nvSpPr>
        <p:spPr>
          <a:xfrm>
            <a:off x="783770" y="218172"/>
            <a:ext cx="8946970" cy="4446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64DC70-AE4A-285A-2FA9-A18EA1ACC735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046230-CFF8-62F7-DB8A-0AAC9875C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906" y="1497139"/>
            <a:ext cx="5967790" cy="29715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451FD5-62AE-D305-BDDB-0FAC6AE81398}"/>
              </a:ext>
            </a:extLst>
          </p:cNvPr>
          <p:cNvSpPr txBox="1"/>
          <p:nvPr/>
        </p:nvSpPr>
        <p:spPr>
          <a:xfrm>
            <a:off x="1104900" y="271737"/>
            <a:ext cx="7322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buSzPts val="1900"/>
            </a:pPr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Software Development Life Cycle</a:t>
            </a:r>
            <a:endParaRPr lang="en-IN" sz="4000" b="1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483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E15E6E3-2ED7-4EC1-87DD-A2D6E16BD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>
            <a:extLst>
              <a:ext uri="{FF2B5EF4-FFF2-40B4-BE49-F238E27FC236}">
                <a16:creationId xmlns:a16="http://schemas.microsoft.com/office/drawing/2014/main" id="{9A56FC69-B683-5FD7-FE8D-297BC2DF3278}"/>
              </a:ext>
            </a:extLst>
          </p:cNvPr>
          <p:cNvSpPr/>
          <p:nvPr/>
        </p:nvSpPr>
        <p:spPr>
          <a:xfrm>
            <a:off x="783770" y="218172"/>
            <a:ext cx="8946970" cy="4446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107268-EEC4-892C-906D-4C3F107CA494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E9471F-F1AA-AFFF-00F1-A32FF8F0D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980" y="971633"/>
            <a:ext cx="5692140" cy="39407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53AC81-893D-7242-DFA4-E138963CC69C}"/>
              </a:ext>
            </a:extLst>
          </p:cNvPr>
          <p:cNvSpPr txBox="1"/>
          <p:nvPr/>
        </p:nvSpPr>
        <p:spPr>
          <a:xfrm>
            <a:off x="1104900" y="271737"/>
            <a:ext cx="7322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buSzPts val="1900"/>
            </a:pPr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Software Development Life Cycle</a:t>
            </a:r>
            <a:endParaRPr lang="en-IN" sz="4000" b="1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721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4157EE15-7D4A-61FD-30E3-8F354EE8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876FACB-8334-8AE1-431B-0101F29F92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BD7B1D-B2E9-C5D1-A570-EAC7145E7E3B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F62297-D3D7-1ABF-F467-892430B04553}"/>
              </a:ext>
            </a:extLst>
          </p:cNvPr>
          <p:cNvSpPr txBox="1">
            <a:spLocks/>
          </p:cNvSpPr>
          <p:nvPr/>
        </p:nvSpPr>
        <p:spPr bwMode="auto">
          <a:xfrm>
            <a:off x="871728" y="0"/>
            <a:ext cx="6873874" cy="836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b="1" u="none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1pPr>
            <a:lvl2pPr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2pPr>
            <a:lvl3pPr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3pPr>
            <a:lvl4pPr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4pPr>
            <a:lvl5pPr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rgbClr val="46424D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Summary 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46424D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DE973E3-C765-6FE2-1745-3AD054AE45A5}"/>
              </a:ext>
            </a:extLst>
          </p:cNvPr>
          <p:cNvSpPr txBox="1">
            <a:spLocks/>
          </p:cNvSpPr>
          <p:nvPr/>
        </p:nvSpPr>
        <p:spPr>
          <a:xfrm>
            <a:off x="663976" y="806675"/>
            <a:ext cx="7722524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fontAlgn="base" hangingPunct="1">
              <a:spcBef>
                <a:spcPts val="600"/>
              </a:spcBef>
              <a:spcAft>
                <a:spcPts val="600"/>
              </a:spcAft>
              <a:buFont typeface="Wingdings" charset="2"/>
              <a:buChar char="²"/>
              <a:defRPr sz="24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1pPr>
            <a:lvl2pPr marL="742950" indent="-285750" algn="l" defTabSz="457200" rtl="0" eaLnBrk="1" fontAlgn="base" hangingPunct="1">
              <a:spcBef>
                <a:spcPts val="300"/>
              </a:spcBef>
              <a:spcAft>
                <a:spcPts val="300"/>
              </a:spcAft>
              <a:buFont typeface="Wingdings" charset="2"/>
              <a:buChar char="§"/>
              <a:defRPr sz="20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charset="2"/>
              <a:buChar char="²"/>
              <a:tabLst/>
              <a:defRPr/>
            </a:pPr>
            <a:r>
              <a:rPr lang="en-US" b="0" i="0" dirty="0">
                <a:effectLst/>
                <a:latin typeface="fkGroteskNeue"/>
              </a:rPr>
              <a:t>The Software Development Life Cycle (SDLC) is a structured process used by development teams to design, build, test, and maintain high-quality software efficiently and cost-effectively. SDLC divides the software development process into distinct phases, each with specific goals and deliverables, ensuring systematic progress and continuous improvement.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46424D"/>
              </a:solidFill>
              <a:effectLst/>
              <a:uLnTx/>
              <a:uFillTx/>
              <a:latin typeface="Arial"/>
              <a:ea typeface="ＭＳ Ｐゴシック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5400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FAQ’s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b="0" i="0" dirty="0">
                <a:solidFill>
                  <a:schemeClr val="bg2"/>
                </a:solidFill>
                <a:effectLst/>
                <a:latin typeface="fkGroteskNeue"/>
              </a:rPr>
              <a:t>What are the main phases of the SDLC?</a:t>
            </a:r>
          </a:p>
          <a:p>
            <a:pPr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b="0" i="0" dirty="0">
                <a:solidFill>
                  <a:schemeClr val="bg2"/>
                </a:solidFill>
                <a:effectLst/>
                <a:latin typeface="fkGroteskNeue"/>
              </a:rPr>
              <a:t>Why is the SDLC important in software engineering?</a:t>
            </a:r>
            <a:endParaRPr lang="en-US" dirty="0">
              <a:solidFill>
                <a:schemeClr val="bg2"/>
              </a:solidFill>
              <a:latin typeface="fkGroteskNeue"/>
            </a:endParaRPr>
          </a:p>
          <a:p>
            <a:pPr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b="0" i="0" dirty="0">
                <a:solidFill>
                  <a:schemeClr val="bg2"/>
                </a:solidFill>
                <a:effectLst/>
                <a:latin typeface="fkGroteskNeue"/>
              </a:rPr>
              <a:t>What is the purpose of the maintenance phase in SDLC?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027036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87ED0C6-7719-FB97-ED94-7F5CE38D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1D700B6-6EB7-B931-A6BA-3293795C4FD6}"/>
              </a:ext>
            </a:extLst>
          </p:cNvPr>
          <p:cNvGrpSpPr/>
          <p:nvPr/>
        </p:nvGrpSpPr>
        <p:grpSpPr>
          <a:xfrm>
            <a:off x="715861" y="-42871"/>
            <a:ext cx="8277101" cy="1217475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9F7BC64-7A52-69C2-0340-DEC4747604C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D12C81D-38E2-6BA8-4944-E9161F70F1EA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28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Faculty-curated videos, NPTEL, Coursera, LinkedIn, or other relevant learning resources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AD00F48-AF9F-87AF-B3AB-2CA9606A4E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8900" y="1455288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b="1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lvl="0" indent="-457200" algn="just">
              <a:lnSpc>
                <a:spcPct val="100000"/>
              </a:lnSpc>
              <a:buFont typeface="Arial"/>
              <a:buAutoNum type="arabicPeriod"/>
            </a:pPr>
            <a:r>
              <a:rPr lang="en-US" sz="18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NPTEL — “Software Engineering” course from IIT Kharagpur / Indian Institutes </a:t>
            </a:r>
            <a:r>
              <a:rPr lang="en-US" sz="1800" dirty="0">
                <a:solidFill>
                  <a:srgbClr val="1C3678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https://onlinecourses.nptel.ac.in/noc25_cs108/preview?utm_source=chatgpt.</a:t>
            </a:r>
            <a:r>
              <a:rPr lang="en-US" sz="18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</a:t>
            </a:r>
            <a:endParaRPr lang="en-US" sz="1800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indent="-457200" algn="just">
              <a:lnSpc>
                <a:spcPct val="100000"/>
              </a:lnSpc>
              <a:buFont typeface="Arial"/>
              <a:buAutoNum type="arabicPeriod"/>
            </a:pPr>
            <a:r>
              <a:rPr lang="en-US" sz="1800" dirty="0">
                <a:solidFill>
                  <a:schemeClr val="bg2"/>
                </a:solidFill>
              </a:rPr>
              <a:t>CS &amp; IT Tutorials by Vrushali — “SE 1: Learn Software Engineering from Scratch” (YouTube) </a:t>
            </a:r>
            <a:r>
              <a:rPr lang="en-US" sz="1800" dirty="0">
                <a:solidFill>
                  <a:srgbClr val="1C3678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</a:t>
            </a:r>
            <a:r>
              <a:rPr lang="en-US" sz="1800" dirty="0">
                <a:solidFill>
                  <a:schemeClr val="bg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IHx9ImEMuzQ</a:t>
            </a:r>
            <a:endParaRPr lang="en-US" sz="1800" dirty="0">
              <a:solidFill>
                <a:schemeClr val="bg2"/>
              </a:solidFill>
            </a:endParaRPr>
          </a:p>
          <a:p>
            <a:pPr lvl="0" indent="-457200" algn="just">
              <a:lnSpc>
                <a:spcPct val="100000"/>
              </a:lnSpc>
              <a:buFont typeface="Arial"/>
              <a:buAutoNum type="arabicPeriod"/>
            </a:pPr>
            <a:r>
              <a:rPr lang="en-US" sz="1800" dirty="0" err="1">
                <a:solidFill>
                  <a:schemeClr val="bg2"/>
                </a:solidFill>
              </a:rPr>
              <a:t>nptelhrd</a:t>
            </a:r>
            <a:r>
              <a:rPr lang="en-US" sz="1800" dirty="0">
                <a:solidFill>
                  <a:schemeClr val="bg2"/>
                </a:solidFill>
              </a:rPr>
              <a:t> (IIT/Bombay) — Lecture series “Introduction to Software Engineering” (free video lecture) </a:t>
            </a:r>
            <a:r>
              <a:rPr lang="en-US" sz="1800" dirty="0">
                <a:solidFill>
                  <a:srgbClr val="1C3678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https://www.youtube.com/watch?v=Z6f9ckEElsU&amp;utm_source=chatgpt.</a:t>
            </a:r>
            <a:r>
              <a:rPr lang="en-US" sz="1800" dirty="0">
                <a:solidFill>
                  <a:schemeClr val="bg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</a:t>
            </a:r>
            <a:endParaRPr lang="en-US" sz="1800" dirty="0">
              <a:solidFill>
                <a:schemeClr val="bg2"/>
              </a:solidFill>
            </a:endParaRPr>
          </a:p>
          <a:p>
            <a:pPr lvl="0" indent="-457200" algn="just">
              <a:lnSpc>
                <a:spcPct val="100000"/>
              </a:lnSpc>
              <a:buFont typeface="Arial"/>
              <a:buAutoNum type="arabicPeriod"/>
            </a:pPr>
            <a:r>
              <a:rPr lang="en-US" sz="1800" dirty="0">
                <a:solidFill>
                  <a:schemeClr val="bg2"/>
                </a:solidFill>
              </a:rPr>
              <a:t>Coursera – Introduction to Software Engineering (IBM) </a:t>
            </a:r>
            <a:r>
              <a:rPr lang="en-IN" sz="1800" dirty="0">
                <a:solidFill>
                  <a:schemeClr val="bg2"/>
                </a:solidFill>
              </a:rPr>
              <a:t>https://www.coursera.org/learn/introduction-to-software-engineering</a:t>
            </a:r>
            <a:endParaRPr sz="1800" b="0" i="0" u="none" dirty="0">
              <a:solidFill>
                <a:schemeClr val="bg2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288866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AA525799-B627-EABD-6F95-B01E70B35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11A8074-A1E1-E4EA-4297-A979F5985FAF}"/>
              </a:ext>
            </a:extLst>
          </p:cNvPr>
          <p:cNvGrpSpPr/>
          <p:nvPr/>
        </p:nvGrpSpPr>
        <p:grpSpPr>
          <a:xfrm>
            <a:off x="715861" y="-42871"/>
            <a:ext cx="8277101" cy="1217475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1E88B249-9EB8-982D-7990-60FD26BC1333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A78F93E-F041-2AD9-DC64-C940C34E84ED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Next lecture 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D9A8891-1ED0-3C05-9B83-BB4C9C0EB9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6520" y="1863313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Agile software development and Their characteristic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BD43D-1BAA-ABC7-D202-004C2BF4B386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73454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Class-Wise </a:t>
              </a: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32CA7B-4AE1-6762-631D-C29ACAADD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091" y="1525581"/>
            <a:ext cx="3858016" cy="276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963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geeta.e15227@cumail.in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22657475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176AE18-B432-4A0C-8613-ACF6D2C40FA0}">
  <we:reference id="wa104051163" version="1.2.0.3" store="en-US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5322</TotalTime>
  <Words>823</Words>
  <Application>Microsoft Office PowerPoint</Application>
  <PresentationFormat>On-screen Show (16:9)</PresentationFormat>
  <Paragraphs>109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Calibri</vt:lpstr>
      <vt:lpstr>Arial</vt:lpstr>
      <vt:lpstr>Vladimir Script</vt:lpstr>
      <vt:lpstr>Arial Black</vt:lpstr>
      <vt:lpstr>Lato</vt:lpstr>
      <vt:lpstr>fkGroteskNeue</vt:lpstr>
      <vt:lpstr>Wingdings</vt:lpstr>
      <vt:lpstr>Cambria</vt:lpstr>
      <vt:lpstr>Times New Roman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Geeta arora</cp:lastModifiedBy>
  <cp:revision>80</cp:revision>
  <dcterms:modified xsi:type="dcterms:W3CDTF">2025-12-10T08:15:11Z</dcterms:modified>
</cp:coreProperties>
</file>