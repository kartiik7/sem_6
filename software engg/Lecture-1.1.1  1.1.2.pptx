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heme/themeOverride2.xml" ContentType="application/vnd.openxmlformats-officedocument.themeOverr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32"/>
  </p:notesMasterIdLst>
  <p:sldIdLst>
    <p:sldId id="344" r:id="rId2"/>
    <p:sldId id="345" r:id="rId3"/>
    <p:sldId id="297" r:id="rId4"/>
    <p:sldId id="346" r:id="rId5"/>
    <p:sldId id="306" r:id="rId6"/>
    <p:sldId id="311" r:id="rId7"/>
    <p:sldId id="347" r:id="rId8"/>
    <p:sldId id="348" r:id="rId9"/>
    <p:sldId id="320" r:id="rId10"/>
    <p:sldId id="321" r:id="rId11"/>
    <p:sldId id="327" r:id="rId12"/>
    <p:sldId id="331" r:id="rId13"/>
    <p:sldId id="328" r:id="rId14"/>
    <p:sldId id="322" r:id="rId15"/>
    <p:sldId id="312" r:id="rId16"/>
    <p:sldId id="323" r:id="rId17"/>
    <p:sldId id="350" r:id="rId18"/>
    <p:sldId id="325" r:id="rId19"/>
    <p:sldId id="287" r:id="rId20"/>
    <p:sldId id="332" r:id="rId21"/>
    <p:sldId id="316" r:id="rId22"/>
    <p:sldId id="351" r:id="rId23"/>
    <p:sldId id="317" r:id="rId24"/>
    <p:sldId id="353" r:id="rId25"/>
    <p:sldId id="342" r:id="rId26"/>
    <p:sldId id="288" r:id="rId27"/>
    <p:sldId id="301" r:id="rId28"/>
    <p:sldId id="343" r:id="rId29"/>
    <p:sldId id="307" r:id="rId30"/>
    <p:sldId id="305" r:id="rId31"/>
  </p:sldIdLst>
  <p:sldSz cx="9144000" cy="5143500" type="screen16x9"/>
  <p:notesSz cx="6858000" cy="9144000"/>
  <p:embeddedFontLst>
    <p:embeddedFont>
      <p:font typeface="Arial Black" panose="020B0A04020102020204" pitchFamily="34" charset="0"/>
      <p:bold r:id="rId33"/>
    </p:embeddedFont>
    <p:embeddedFont>
      <p:font typeface="Cambria" panose="02040503050406030204" pitchFamily="18" charset="0"/>
      <p:regular r:id="rId34"/>
      <p:bold r:id="rId35"/>
      <p:italic r:id="rId36"/>
      <p:boldItalic r:id="rId37"/>
    </p:embeddedFont>
    <p:embeddedFont>
      <p:font typeface="Lato" panose="020F0502020204030203" pitchFamily="34" charset="0"/>
      <p:regular r:id="rId38"/>
      <p:bold r:id="rId39"/>
      <p:italic r:id="rId40"/>
      <p:boldItalic r:id="rId41"/>
    </p:embeddedFont>
    <p:embeddedFont>
      <p:font typeface="Vladimir Script" panose="03050402040407070305" pitchFamily="66" charset="0"/>
      <p:regular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3"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086" autoAdjust="0"/>
  </p:normalViewPr>
  <p:slideViewPr>
    <p:cSldViewPr snapToGrid="0">
      <p:cViewPr varScale="1">
        <p:scale>
          <a:sx n="78" d="100"/>
          <a:sy n="78" d="100"/>
        </p:scale>
        <p:origin x="940" y="6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9.fntdata"/><Relationship Id="rId5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F884AA-D05A-49D1-B6BE-3365021D44A1}" type="doc">
      <dgm:prSet loTypeId="urn:microsoft.com/office/officeart/2005/8/layout/vList2" loCatId="list" qsTypeId="urn:microsoft.com/office/officeart/2005/8/quickstyle/simple1" qsCatId="simple" csTypeId="urn:microsoft.com/office/officeart/2005/8/colors/accent0_2" csCatId="mainScheme"/>
      <dgm:spPr/>
      <dgm:t>
        <a:bodyPr/>
        <a:lstStyle/>
        <a:p>
          <a:endParaRPr lang="en-IN"/>
        </a:p>
      </dgm:t>
    </dgm:pt>
    <dgm:pt modelId="{B8E595A5-5337-4086-9CF0-9705F67BB736}">
      <dgm:prSet custT="1"/>
      <dgm:spPr/>
      <dgm:t>
        <a:bodyPr/>
        <a:lstStyle/>
        <a:p>
          <a:r>
            <a:rPr lang="en-US" sz="2000" b="0" i="0" dirty="0">
              <a:latin typeface="Calibri" panose="020F0502020204030204" pitchFamily="34" charset="0"/>
              <a:cs typeface="Calibri" panose="020F0502020204030204" pitchFamily="34" charset="0"/>
            </a:rPr>
            <a:t>Program: Set of instructions for a specific task</a:t>
          </a:r>
          <a:endParaRPr lang="en-IN" sz="2000" dirty="0">
            <a:latin typeface="Calibri" panose="020F0502020204030204" pitchFamily="34" charset="0"/>
            <a:cs typeface="Calibri" panose="020F0502020204030204" pitchFamily="34" charset="0"/>
          </a:endParaRPr>
        </a:p>
      </dgm:t>
    </dgm:pt>
    <dgm:pt modelId="{59625624-3527-4C6C-A059-4BBA0BF999D7}" type="parTrans" cxnId="{0D27D782-31FC-4906-9389-5589E919CD3B}">
      <dgm:prSet/>
      <dgm:spPr/>
      <dgm:t>
        <a:bodyPr/>
        <a:lstStyle/>
        <a:p>
          <a:endParaRPr lang="en-IN"/>
        </a:p>
      </dgm:t>
    </dgm:pt>
    <dgm:pt modelId="{393C5D83-15E2-44B0-B739-3FBF990733C0}" type="sibTrans" cxnId="{0D27D782-31FC-4906-9389-5589E919CD3B}">
      <dgm:prSet/>
      <dgm:spPr/>
      <dgm:t>
        <a:bodyPr/>
        <a:lstStyle/>
        <a:p>
          <a:endParaRPr lang="en-IN"/>
        </a:p>
      </dgm:t>
    </dgm:pt>
    <dgm:pt modelId="{D2CEAEEA-EC8F-4ACE-879E-61C168ACCECA}">
      <dgm:prSet custT="1"/>
      <dgm:spPr/>
      <dgm:t>
        <a:bodyPr/>
        <a:lstStyle/>
        <a:p>
          <a:r>
            <a:rPr lang="en-US" sz="2000" b="0" i="0" dirty="0">
              <a:latin typeface="Calibri" panose="020F0502020204030204" pitchFamily="34" charset="0"/>
              <a:cs typeface="Calibri" panose="020F0502020204030204" pitchFamily="34" charset="0"/>
            </a:rPr>
            <a:t>Software: Collection of programs + data + documents</a:t>
          </a:r>
          <a:endParaRPr lang="en-IN" sz="2000" dirty="0">
            <a:latin typeface="Calibri" panose="020F0502020204030204" pitchFamily="34" charset="0"/>
            <a:cs typeface="Calibri" panose="020F0502020204030204" pitchFamily="34" charset="0"/>
          </a:endParaRPr>
        </a:p>
      </dgm:t>
    </dgm:pt>
    <dgm:pt modelId="{768EF31B-AB54-420C-A05A-63C563C073C2}" type="parTrans" cxnId="{66808631-AF9E-4484-89C8-2B6A952308C1}">
      <dgm:prSet/>
      <dgm:spPr/>
      <dgm:t>
        <a:bodyPr/>
        <a:lstStyle/>
        <a:p>
          <a:endParaRPr lang="en-IN"/>
        </a:p>
      </dgm:t>
    </dgm:pt>
    <dgm:pt modelId="{7CA8C7DD-0C8A-40C3-BE21-202561978FB4}" type="sibTrans" cxnId="{66808631-AF9E-4484-89C8-2B6A952308C1}">
      <dgm:prSet/>
      <dgm:spPr/>
      <dgm:t>
        <a:bodyPr/>
        <a:lstStyle/>
        <a:p>
          <a:endParaRPr lang="en-IN"/>
        </a:p>
      </dgm:t>
    </dgm:pt>
    <dgm:pt modelId="{72EA7E1B-02D5-449E-915E-075ADB85E6B8}">
      <dgm:prSet custT="1"/>
      <dgm:spPr/>
      <dgm:t>
        <a:bodyPr/>
        <a:lstStyle/>
        <a:p>
          <a:r>
            <a:rPr lang="en-US" sz="2000" b="0" i="0" dirty="0">
              <a:latin typeface="Calibri" panose="020F0502020204030204" pitchFamily="34" charset="0"/>
              <a:cs typeface="Calibri" panose="020F0502020204030204" pitchFamily="34" charset="0"/>
            </a:rPr>
            <a:t>Software Engineering: Structured approach to software development</a:t>
          </a:r>
          <a:endParaRPr lang="en-IN" sz="2000" dirty="0">
            <a:latin typeface="Calibri" panose="020F0502020204030204" pitchFamily="34" charset="0"/>
            <a:cs typeface="Calibri" panose="020F0502020204030204" pitchFamily="34" charset="0"/>
          </a:endParaRPr>
        </a:p>
      </dgm:t>
    </dgm:pt>
    <dgm:pt modelId="{132A2F95-64A1-4499-8E76-8926A61E3A63}" type="parTrans" cxnId="{3B68BA0D-DCA2-4D4C-A77E-3C21A52D7725}">
      <dgm:prSet/>
      <dgm:spPr/>
      <dgm:t>
        <a:bodyPr/>
        <a:lstStyle/>
        <a:p>
          <a:endParaRPr lang="en-IN"/>
        </a:p>
      </dgm:t>
    </dgm:pt>
    <dgm:pt modelId="{7CF973C1-77CE-4E04-BC1A-566A89870EC8}" type="sibTrans" cxnId="{3B68BA0D-DCA2-4D4C-A77E-3C21A52D7725}">
      <dgm:prSet/>
      <dgm:spPr/>
      <dgm:t>
        <a:bodyPr/>
        <a:lstStyle/>
        <a:p>
          <a:endParaRPr lang="en-IN"/>
        </a:p>
      </dgm:t>
    </dgm:pt>
    <dgm:pt modelId="{4ED87A10-441D-4C15-9DF0-7B81A723670C}" type="pres">
      <dgm:prSet presAssocID="{F1F884AA-D05A-49D1-B6BE-3365021D44A1}" presName="linear" presStyleCnt="0">
        <dgm:presLayoutVars>
          <dgm:animLvl val="lvl"/>
          <dgm:resizeHandles val="exact"/>
        </dgm:presLayoutVars>
      </dgm:prSet>
      <dgm:spPr/>
    </dgm:pt>
    <dgm:pt modelId="{824AC438-D23B-450D-83C7-A3FF4FE52BE6}" type="pres">
      <dgm:prSet presAssocID="{B8E595A5-5337-4086-9CF0-9705F67BB736}" presName="parentText" presStyleLbl="node1" presStyleIdx="0" presStyleCnt="3">
        <dgm:presLayoutVars>
          <dgm:chMax val="0"/>
          <dgm:bulletEnabled val="1"/>
        </dgm:presLayoutVars>
      </dgm:prSet>
      <dgm:spPr/>
    </dgm:pt>
    <dgm:pt modelId="{BDCACDC0-103E-4C62-A44C-740D567F0A8A}" type="pres">
      <dgm:prSet presAssocID="{393C5D83-15E2-44B0-B739-3FBF990733C0}" presName="spacer" presStyleCnt="0"/>
      <dgm:spPr/>
    </dgm:pt>
    <dgm:pt modelId="{4B837652-EDC2-4098-9DFB-2D0A4FAC4F30}" type="pres">
      <dgm:prSet presAssocID="{D2CEAEEA-EC8F-4ACE-879E-61C168ACCECA}" presName="parentText" presStyleLbl="node1" presStyleIdx="1" presStyleCnt="3">
        <dgm:presLayoutVars>
          <dgm:chMax val="0"/>
          <dgm:bulletEnabled val="1"/>
        </dgm:presLayoutVars>
      </dgm:prSet>
      <dgm:spPr/>
    </dgm:pt>
    <dgm:pt modelId="{984B956F-30A8-460A-80EF-BC94C5812227}" type="pres">
      <dgm:prSet presAssocID="{7CA8C7DD-0C8A-40C3-BE21-202561978FB4}" presName="spacer" presStyleCnt="0"/>
      <dgm:spPr/>
    </dgm:pt>
    <dgm:pt modelId="{C227F467-FB8F-4DFF-B84C-ABC859075C68}" type="pres">
      <dgm:prSet presAssocID="{72EA7E1B-02D5-449E-915E-075ADB85E6B8}" presName="parentText" presStyleLbl="node1" presStyleIdx="2" presStyleCnt="3">
        <dgm:presLayoutVars>
          <dgm:chMax val="0"/>
          <dgm:bulletEnabled val="1"/>
        </dgm:presLayoutVars>
      </dgm:prSet>
      <dgm:spPr/>
    </dgm:pt>
  </dgm:ptLst>
  <dgm:cxnLst>
    <dgm:cxn modelId="{3B68BA0D-DCA2-4D4C-A77E-3C21A52D7725}" srcId="{F1F884AA-D05A-49D1-B6BE-3365021D44A1}" destId="{72EA7E1B-02D5-449E-915E-075ADB85E6B8}" srcOrd="2" destOrd="0" parTransId="{132A2F95-64A1-4499-8E76-8926A61E3A63}" sibTransId="{7CF973C1-77CE-4E04-BC1A-566A89870EC8}"/>
    <dgm:cxn modelId="{2F2A301C-FA27-40E4-9B4A-3C6DD559CD41}" type="presOf" srcId="{D2CEAEEA-EC8F-4ACE-879E-61C168ACCECA}" destId="{4B837652-EDC2-4098-9DFB-2D0A4FAC4F30}" srcOrd="0" destOrd="0" presId="urn:microsoft.com/office/officeart/2005/8/layout/vList2"/>
    <dgm:cxn modelId="{66808631-AF9E-4484-89C8-2B6A952308C1}" srcId="{F1F884AA-D05A-49D1-B6BE-3365021D44A1}" destId="{D2CEAEEA-EC8F-4ACE-879E-61C168ACCECA}" srcOrd="1" destOrd="0" parTransId="{768EF31B-AB54-420C-A05A-63C563C073C2}" sibTransId="{7CA8C7DD-0C8A-40C3-BE21-202561978FB4}"/>
    <dgm:cxn modelId="{93A02969-6FF4-450D-9E69-C7B54DC58058}" type="presOf" srcId="{72EA7E1B-02D5-449E-915E-075ADB85E6B8}" destId="{C227F467-FB8F-4DFF-B84C-ABC859075C68}" srcOrd="0" destOrd="0" presId="urn:microsoft.com/office/officeart/2005/8/layout/vList2"/>
    <dgm:cxn modelId="{5DD98A4C-E9F2-4D73-A56B-3977429BAAAF}" type="presOf" srcId="{B8E595A5-5337-4086-9CF0-9705F67BB736}" destId="{824AC438-D23B-450D-83C7-A3FF4FE52BE6}" srcOrd="0" destOrd="0" presId="urn:microsoft.com/office/officeart/2005/8/layout/vList2"/>
    <dgm:cxn modelId="{24FE237F-15B6-4AA5-BA3B-D50B1D33E126}" type="presOf" srcId="{F1F884AA-D05A-49D1-B6BE-3365021D44A1}" destId="{4ED87A10-441D-4C15-9DF0-7B81A723670C}" srcOrd="0" destOrd="0" presId="urn:microsoft.com/office/officeart/2005/8/layout/vList2"/>
    <dgm:cxn modelId="{0D27D782-31FC-4906-9389-5589E919CD3B}" srcId="{F1F884AA-D05A-49D1-B6BE-3365021D44A1}" destId="{B8E595A5-5337-4086-9CF0-9705F67BB736}" srcOrd="0" destOrd="0" parTransId="{59625624-3527-4C6C-A059-4BBA0BF999D7}" sibTransId="{393C5D83-15E2-44B0-B739-3FBF990733C0}"/>
    <dgm:cxn modelId="{867A13EE-F763-4C3B-B54D-FC0CF6B97C35}" type="presParOf" srcId="{4ED87A10-441D-4C15-9DF0-7B81A723670C}" destId="{824AC438-D23B-450D-83C7-A3FF4FE52BE6}" srcOrd="0" destOrd="0" presId="urn:microsoft.com/office/officeart/2005/8/layout/vList2"/>
    <dgm:cxn modelId="{4245CD59-A21B-4181-8DDE-6DE8CAF4D885}" type="presParOf" srcId="{4ED87A10-441D-4C15-9DF0-7B81A723670C}" destId="{BDCACDC0-103E-4C62-A44C-740D567F0A8A}" srcOrd="1" destOrd="0" presId="urn:microsoft.com/office/officeart/2005/8/layout/vList2"/>
    <dgm:cxn modelId="{C2FEFD6E-9EEF-46AD-9B9D-DF170CED33CB}" type="presParOf" srcId="{4ED87A10-441D-4C15-9DF0-7B81A723670C}" destId="{4B837652-EDC2-4098-9DFB-2D0A4FAC4F30}" srcOrd="2" destOrd="0" presId="urn:microsoft.com/office/officeart/2005/8/layout/vList2"/>
    <dgm:cxn modelId="{41AECA68-48D5-47DF-85AC-8A4E90595E43}" type="presParOf" srcId="{4ED87A10-441D-4C15-9DF0-7B81A723670C}" destId="{984B956F-30A8-460A-80EF-BC94C5812227}" srcOrd="3" destOrd="0" presId="urn:microsoft.com/office/officeart/2005/8/layout/vList2"/>
    <dgm:cxn modelId="{37B149E6-A4C2-4B70-B534-0F08C9844EE2}" type="presParOf" srcId="{4ED87A10-441D-4C15-9DF0-7B81A723670C}" destId="{C227F467-FB8F-4DFF-B84C-ABC859075C68}"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FFF51DC-FA25-4BEF-A72C-DE29BC3193FE}" type="doc">
      <dgm:prSet loTypeId="urn:microsoft.com/office/officeart/2005/8/layout/vList2" loCatId="list" qsTypeId="urn:microsoft.com/office/officeart/2005/8/quickstyle/simple3" qsCatId="simple" csTypeId="urn:microsoft.com/office/officeart/2005/8/colors/accent1_2" csCatId="accent1"/>
      <dgm:spPr/>
      <dgm:t>
        <a:bodyPr/>
        <a:lstStyle/>
        <a:p>
          <a:endParaRPr lang="en-IN"/>
        </a:p>
      </dgm:t>
    </dgm:pt>
    <dgm:pt modelId="{CA0791F2-82EF-4CC3-AC41-3605DC99A7D6}">
      <dgm:prSet custT="1"/>
      <dgm:spPr/>
      <dgm:t>
        <a:bodyPr/>
        <a:lstStyle/>
        <a:p>
          <a:r>
            <a:rPr lang="en-US" sz="2000" b="0" i="0">
              <a:solidFill>
                <a:schemeClr val="bg2"/>
              </a:solidFill>
              <a:latin typeface="Calibri" panose="020F0502020204030204" pitchFamily="34" charset="0"/>
              <a:cs typeface="Calibri" panose="020F0502020204030204" pitchFamily="34" charset="0"/>
            </a:rPr>
            <a:t>Manage complexity</a:t>
          </a:r>
          <a:endParaRPr lang="en-IN" sz="2000" dirty="0">
            <a:solidFill>
              <a:schemeClr val="bg2"/>
            </a:solidFill>
            <a:latin typeface="Calibri" panose="020F0502020204030204" pitchFamily="34" charset="0"/>
            <a:cs typeface="Calibri" panose="020F0502020204030204" pitchFamily="34" charset="0"/>
          </a:endParaRPr>
        </a:p>
      </dgm:t>
    </dgm:pt>
    <dgm:pt modelId="{E8A49C49-1B4D-418D-9C37-7FD9712659E1}" type="parTrans" cxnId="{4EAB2D04-AD4A-4142-9B0E-F0A81D2BB18B}">
      <dgm:prSet/>
      <dgm:spPr/>
      <dgm:t>
        <a:bodyPr/>
        <a:lstStyle/>
        <a:p>
          <a:endParaRPr lang="en-IN">
            <a:solidFill>
              <a:schemeClr val="bg2"/>
            </a:solidFill>
          </a:endParaRPr>
        </a:p>
      </dgm:t>
    </dgm:pt>
    <dgm:pt modelId="{99FFB94F-09DA-464E-863B-DAF85B15A703}" type="sibTrans" cxnId="{4EAB2D04-AD4A-4142-9B0E-F0A81D2BB18B}">
      <dgm:prSet/>
      <dgm:spPr/>
      <dgm:t>
        <a:bodyPr/>
        <a:lstStyle/>
        <a:p>
          <a:endParaRPr lang="en-IN">
            <a:solidFill>
              <a:schemeClr val="bg2"/>
            </a:solidFill>
          </a:endParaRPr>
        </a:p>
      </dgm:t>
    </dgm:pt>
    <dgm:pt modelId="{3D7487E0-41D0-4750-94C9-51DBC69E2FF9}">
      <dgm:prSet custT="1"/>
      <dgm:spPr/>
      <dgm:t>
        <a:bodyPr/>
        <a:lstStyle/>
        <a:p>
          <a:r>
            <a:rPr lang="en-US" sz="2000" b="0" i="0" dirty="0">
              <a:solidFill>
                <a:schemeClr val="bg2"/>
              </a:solidFill>
              <a:latin typeface="Calibri" panose="020F0502020204030204" pitchFamily="34" charset="0"/>
              <a:cs typeface="Calibri" panose="020F0502020204030204" pitchFamily="34" charset="0"/>
            </a:rPr>
            <a:t>Improve quality</a:t>
          </a:r>
          <a:endParaRPr lang="en-IN" sz="2000" dirty="0">
            <a:solidFill>
              <a:schemeClr val="bg2"/>
            </a:solidFill>
            <a:latin typeface="Calibri" panose="020F0502020204030204" pitchFamily="34" charset="0"/>
            <a:cs typeface="Calibri" panose="020F0502020204030204" pitchFamily="34" charset="0"/>
          </a:endParaRPr>
        </a:p>
      </dgm:t>
    </dgm:pt>
    <dgm:pt modelId="{B2F1CF59-45D7-4762-BB4B-ACFC3F285759}" type="parTrans" cxnId="{23238DF2-320C-4AEF-9E00-C2EEDF08240E}">
      <dgm:prSet/>
      <dgm:spPr/>
      <dgm:t>
        <a:bodyPr/>
        <a:lstStyle/>
        <a:p>
          <a:endParaRPr lang="en-IN">
            <a:solidFill>
              <a:schemeClr val="bg2"/>
            </a:solidFill>
          </a:endParaRPr>
        </a:p>
      </dgm:t>
    </dgm:pt>
    <dgm:pt modelId="{C6C96FFD-E68C-4B7A-B175-E6395B807A87}" type="sibTrans" cxnId="{23238DF2-320C-4AEF-9E00-C2EEDF08240E}">
      <dgm:prSet/>
      <dgm:spPr/>
      <dgm:t>
        <a:bodyPr/>
        <a:lstStyle/>
        <a:p>
          <a:endParaRPr lang="en-IN">
            <a:solidFill>
              <a:schemeClr val="bg2"/>
            </a:solidFill>
          </a:endParaRPr>
        </a:p>
      </dgm:t>
    </dgm:pt>
    <dgm:pt modelId="{936FA10D-BC20-4FD1-9378-4E0EDD3026AE}">
      <dgm:prSet custT="1"/>
      <dgm:spPr/>
      <dgm:t>
        <a:bodyPr/>
        <a:lstStyle/>
        <a:p>
          <a:r>
            <a:rPr lang="en-US" sz="2000" b="0" i="0" dirty="0">
              <a:solidFill>
                <a:schemeClr val="bg2"/>
              </a:solidFill>
              <a:latin typeface="Calibri" panose="020F0502020204030204" pitchFamily="34" charset="0"/>
              <a:cs typeface="Calibri" panose="020F0502020204030204" pitchFamily="34" charset="0"/>
            </a:rPr>
            <a:t>Reduce development time</a:t>
          </a:r>
          <a:endParaRPr lang="en-IN" sz="2000" dirty="0">
            <a:solidFill>
              <a:schemeClr val="bg2"/>
            </a:solidFill>
            <a:latin typeface="Calibri" panose="020F0502020204030204" pitchFamily="34" charset="0"/>
            <a:cs typeface="Calibri" panose="020F0502020204030204" pitchFamily="34" charset="0"/>
          </a:endParaRPr>
        </a:p>
      </dgm:t>
    </dgm:pt>
    <dgm:pt modelId="{58DF79CC-9A4A-40D9-8021-4CCCF4EA2872}" type="parTrans" cxnId="{C60D6EAB-83C5-4F46-96BD-142E85FCBAB2}">
      <dgm:prSet/>
      <dgm:spPr/>
      <dgm:t>
        <a:bodyPr/>
        <a:lstStyle/>
        <a:p>
          <a:endParaRPr lang="en-IN">
            <a:solidFill>
              <a:schemeClr val="bg2"/>
            </a:solidFill>
          </a:endParaRPr>
        </a:p>
      </dgm:t>
    </dgm:pt>
    <dgm:pt modelId="{9E52B632-D453-4E5B-BF4A-B21A5160260D}" type="sibTrans" cxnId="{C60D6EAB-83C5-4F46-96BD-142E85FCBAB2}">
      <dgm:prSet/>
      <dgm:spPr/>
      <dgm:t>
        <a:bodyPr/>
        <a:lstStyle/>
        <a:p>
          <a:endParaRPr lang="en-IN">
            <a:solidFill>
              <a:schemeClr val="bg2"/>
            </a:solidFill>
          </a:endParaRPr>
        </a:p>
      </dgm:t>
    </dgm:pt>
    <dgm:pt modelId="{A780F34A-025C-4EBF-8A33-19DBE0B704B9}">
      <dgm:prSet custT="1"/>
      <dgm:spPr/>
      <dgm:t>
        <a:bodyPr/>
        <a:lstStyle/>
        <a:p>
          <a:r>
            <a:rPr lang="en-US" sz="2000" b="0" i="0" dirty="0">
              <a:solidFill>
                <a:schemeClr val="bg2"/>
              </a:solidFill>
              <a:latin typeface="Calibri" panose="020F0502020204030204" pitchFamily="34" charset="0"/>
              <a:cs typeface="Calibri" panose="020F0502020204030204" pitchFamily="34" charset="0"/>
            </a:rPr>
            <a:t>Ensure maintainability</a:t>
          </a:r>
          <a:endParaRPr lang="en-IN" sz="2000" dirty="0">
            <a:solidFill>
              <a:schemeClr val="bg2"/>
            </a:solidFill>
            <a:latin typeface="Calibri" panose="020F0502020204030204" pitchFamily="34" charset="0"/>
            <a:cs typeface="Calibri" panose="020F0502020204030204" pitchFamily="34" charset="0"/>
          </a:endParaRPr>
        </a:p>
      </dgm:t>
    </dgm:pt>
    <dgm:pt modelId="{8EB03778-E314-4FFB-9579-0C4CC7C172DC}" type="parTrans" cxnId="{47D3E019-8C5D-4A6D-983A-6F1F6F8460D5}">
      <dgm:prSet/>
      <dgm:spPr/>
      <dgm:t>
        <a:bodyPr/>
        <a:lstStyle/>
        <a:p>
          <a:endParaRPr lang="en-IN">
            <a:solidFill>
              <a:schemeClr val="bg2"/>
            </a:solidFill>
          </a:endParaRPr>
        </a:p>
      </dgm:t>
    </dgm:pt>
    <dgm:pt modelId="{0D9FB358-4D2C-4EA5-9E02-F1F880C246D0}" type="sibTrans" cxnId="{47D3E019-8C5D-4A6D-983A-6F1F6F8460D5}">
      <dgm:prSet/>
      <dgm:spPr/>
      <dgm:t>
        <a:bodyPr/>
        <a:lstStyle/>
        <a:p>
          <a:endParaRPr lang="en-IN">
            <a:solidFill>
              <a:schemeClr val="bg2"/>
            </a:solidFill>
          </a:endParaRPr>
        </a:p>
      </dgm:t>
    </dgm:pt>
    <dgm:pt modelId="{5B6C76EC-0EDF-44CB-B70B-8F965188BF4C}" type="pres">
      <dgm:prSet presAssocID="{9FFF51DC-FA25-4BEF-A72C-DE29BC3193FE}" presName="linear" presStyleCnt="0">
        <dgm:presLayoutVars>
          <dgm:animLvl val="lvl"/>
          <dgm:resizeHandles val="exact"/>
        </dgm:presLayoutVars>
      </dgm:prSet>
      <dgm:spPr/>
    </dgm:pt>
    <dgm:pt modelId="{95A2D594-8011-4611-BE4D-8D8F637BA4D4}" type="pres">
      <dgm:prSet presAssocID="{CA0791F2-82EF-4CC3-AC41-3605DC99A7D6}" presName="parentText" presStyleLbl="node1" presStyleIdx="0" presStyleCnt="4">
        <dgm:presLayoutVars>
          <dgm:chMax val="0"/>
          <dgm:bulletEnabled val="1"/>
        </dgm:presLayoutVars>
      </dgm:prSet>
      <dgm:spPr/>
    </dgm:pt>
    <dgm:pt modelId="{B2547F96-A229-4452-B1AB-8AB3BF0A06A9}" type="pres">
      <dgm:prSet presAssocID="{99FFB94F-09DA-464E-863B-DAF85B15A703}" presName="spacer" presStyleCnt="0"/>
      <dgm:spPr/>
    </dgm:pt>
    <dgm:pt modelId="{49DE9ED7-70F0-4AF3-99CF-2651D1D43B40}" type="pres">
      <dgm:prSet presAssocID="{3D7487E0-41D0-4750-94C9-51DBC69E2FF9}" presName="parentText" presStyleLbl="node1" presStyleIdx="1" presStyleCnt="4">
        <dgm:presLayoutVars>
          <dgm:chMax val="0"/>
          <dgm:bulletEnabled val="1"/>
        </dgm:presLayoutVars>
      </dgm:prSet>
      <dgm:spPr/>
    </dgm:pt>
    <dgm:pt modelId="{74B9D4F7-73C6-4BE3-BD5A-F69012465F3A}" type="pres">
      <dgm:prSet presAssocID="{C6C96FFD-E68C-4B7A-B175-E6395B807A87}" presName="spacer" presStyleCnt="0"/>
      <dgm:spPr/>
    </dgm:pt>
    <dgm:pt modelId="{7E107495-9941-4EF9-B727-B84CB471E122}" type="pres">
      <dgm:prSet presAssocID="{936FA10D-BC20-4FD1-9378-4E0EDD3026AE}" presName="parentText" presStyleLbl="node1" presStyleIdx="2" presStyleCnt="4">
        <dgm:presLayoutVars>
          <dgm:chMax val="0"/>
          <dgm:bulletEnabled val="1"/>
        </dgm:presLayoutVars>
      </dgm:prSet>
      <dgm:spPr/>
    </dgm:pt>
    <dgm:pt modelId="{141C9492-73FA-4105-96AB-F41C4B0A8F08}" type="pres">
      <dgm:prSet presAssocID="{9E52B632-D453-4E5B-BF4A-B21A5160260D}" presName="spacer" presStyleCnt="0"/>
      <dgm:spPr/>
    </dgm:pt>
    <dgm:pt modelId="{C4A2A99A-1D68-48CE-BA4A-6DC5638E3530}" type="pres">
      <dgm:prSet presAssocID="{A780F34A-025C-4EBF-8A33-19DBE0B704B9}" presName="parentText" presStyleLbl="node1" presStyleIdx="3" presStyleCnt="4">
        <dgm:presLayoutVars>
          <dgm:chMax val="0"/>
          <dgm:bulletEnabled val="1"/>
        </dgm:presLayoutVars>
      </dgm:prSet>
      <dgm:spPr/>
    </dgm:pt>
  </dgm:ptLst>
  <dgm:cxnLst>
    <dgm:cxn modelId="{4EAB2D04-AD4A-4142-9B0E-F0A81D2BB18B}" srcId="{9FFF51DC-FA25-4BEF-A72C-DE29BC3193FE}" destId="{CA0791F2-82EF-4CC3-AC41-3605DC99A7D6}" srcOrd="0" destOrd="0" parTransId="{E8A49C49-1B4D-418D-9C37-7FD9712659E1}" sibTransId="{99FFB94F-09DA-464E-863B-DAF85B15A703}"/>
    <dgm:cxn modelId="{79E4C706-D94F-49AA-B3C1-B1323C7D79C4}" type="presOf" srcId="{A780F34A-025C-4EBF-8A33-19DBE0B704B9}" destId="{C4A2A99A-1D68-48CE-BA4A-6DC5638E3530}" srcOrd="0" destOrd="0" presId="urn:microsoft.com/office/officeart/2005/8/layout/vList2"/>
    <dgm:cxn modelId="{47D3E019-8C5D-4A6D-983A-6F1F6F8460D5}" srcId="{9FFF51DC-FA25-4BEF-A72C-DE29BC3193FE}" destId="{A780F34A-025C-4EBF-8A33-19DBE0B704B9}" srcOrd="3" destOrd="0" parTransId="{8EB03778-E314-4FFB-9579-0C4CC7C172DC}" sibTransId="{0D9FB358-4D2C-4EA5-9E02-F1F880C246D0}"/>
    <dgm:cxn modelId="{3E65936C-F7B8-4BF1-B146-5C547441D724}" type="presOf" srcId="{CA0791F2-82EF-4CC3-AC41-3605DC99A7D6}" destId="{95A2D594-8011-4611-BE4D-8D8F637BA4D4}" srcOrd="0" destOrd="0" presId="urn:microsoft.com/office/officeart/2005/8/layout/vList2"/>
    <dgm:cxn modelId="{02280F58-42D2-42F3-9456-F9057E4D5829}" type="presOf" srcId="{936FA10D-BC20-4FD1-9378-4E0EDD3026AE}" destId="{7E107495-9941-4EF9-B727-B84CB471E122}" srcOrd="0" destOrd="0" presId="urn:microsoft.com/office/officeart/2005/8/layout/vList2"/>
    <dgm:cxn modelId="{C60D6EAB-83C5-4F46-96BD-142E85FCBAB2}" srcId="{9FFF51DC-FA25-4BEF-A72C-DE29BC3193FE}" destId="{936FA10D-BC20-4FD1-9378-4E0EDD3026AE}" srcOrd="2" destOrd="0" parTransId="{58DF79CC-9A4A-40D9-8021-4CCCF4EA2872}" sibTransId="{9E52B632-D453-4E5B-BF4A-B21A5160260D}"/>
    <dgm:cxn modelId="{59D7C3B8-C954-4EF1-8925-1C84E3D43FBD}" type="presOf" srcId="{9FFF51DC-FA25-4BEF-A72C-DE29BC3193FE}" destId="{5B6C76EC-0EDF-44CB-B70B-8F965188BF4C}" srcOrd="0" destOrd="0" presId="urn:microsoft.com/office/officeart/2005/8/layout/vList2"/>
    <dgm:cxn modelId="{BD5FA6DE-6283-4511-B573-ECEEEE3F5BB9}" type="presOf" srcId="{3D7487E0-41D0-4750-94C9-51DBC69E2FF9}" destId="{49DE9ED7-70F0-4AF3-99CF-2651D1D43B40}" srcOrd="0" destOrd="0" presId="urn:microsoft.com/office/officeart/2005/8/layout/vList2"/>
    <dgm:cxn modelId="{23238DF2-320C-4AEF-9E00-C2EEDF08240E}" srcId="{9FFF51DC-FA25-4BEF-A72C-DE29BC3193FE}" destId="{3D7487E0-41D0-4750-94C9-51DBC69E2FF9}" srcOrd="1" destOrd="0" parTransId="{B2F1CF59-45D7-4762-BB4B-ACFC3F285759}" sibTransId="{C6C96FFD-E68C-4B7A-B175-E6395B807A87}"/>
    <dgm:cxn modelId="{7575A190-C97F-43C4-A1BD-8D863D6DCA8B}" type="presParOf" srcId="{5B6C76EC-0EDF-44CB-B70B-8F965188BF4C}" destId="{95A2D594-8011-4611-BE4D-8D8F637BA4D4}" srcOrd="0" destOrd="0" presId="urn:microsoft.com/office/officeart/2005/8/layout/vList2"/>
    <dgm:cxn modelId="{6FE2CF44-AB79-4AE4-9115-6E5E44734A01}" type="presParOf" srcId="{5B6C76EC-0EDF-44CB-B70B-8F965188BF4C}" destId="{B2547F96-A229-4452-B1AB-8AB3BF0A06A9}" srcOrd="1" destOrd="0" presId="urn:microsoft.com/office/officeart/2005/8/layout/vList2"/>
    <dgm:cxn modelId="{562D6A27-BBFE-4061-BDB8-243BE33230B0}" type="presParOf" srcId="{5B6C76EC-0EDF-44CB-B70B-8F965188BF4C}" destId="{49DE9ED7-70F0-4AF3-99CF-2651D1D43B40}" srcOrd="2" destOrd="0" presId="urn:microsoft.com/office/officeart/2005/8/layout/vList2"/>
    <dgm:cxn modelId="{0855E722-41E5-4420-A4FF-4B455575ECC1}" type="presParOf" srcId="{5B6C76EC-0EDF-44CB-B70B-8F965188BF4C}" destId="{74B9D4F7-73C6-4BE3-BD5A-F69012465F3A}" srcOrd="3" destOrd="0" presId="urn:microsoft.com/office/officeart/2005/8/layout/vList2"/>
    <dgm:cxn modelId="{6C2ED509-D60C-4511-94BA-46AE714612B6}" type="presParOf" srcId="{5B6C76EC-0EDF-44CB-B70B-8F965188BF4C}" destId="{7E107495-9941-4EF9-B727-B84CB471E122}" srcOrd="4" destOrd="0" presId="urn:microsoft.com/office/officeart/2005/8/layout/vList2"/>
    <dgm:cxn modelId="{C735D94D-A1A6-4FD7-B96A-AE10AC836C10}" type="presParOf" srcId="{5B6C76EC-0EDF-44CB-B70B-8F965188BF4C}" destId="{141C9492-73FA-4105-96AB-F41C4B0A8F08}" srcOrd="5" destOrd="0" presId="urn:microsoft.com/office/officeart/2005/8/layout/vList2"/>
    <dgm:cxn modelId="{E5968175-D92C-4774-BFA4-4EFEDDB51A23}" type="presParOf" srcId="{5B6C76EC-0EDF-44CB-B70B-8F965188BF4C}" destId="{C4A2A99A-1D68-48CE-BA4A-6DC5638E3530}"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4AC438-D23B-450D-83C7-A3FF4FE52BE6}">
      <dsp:nvSpPr>
        <dsp:cNvPr id="0" name=""/>
        <dsp:cNvSpPr/>
      </dsp:nvSpPr>
      <dsp:spPr>
        <a:xfrm>
          <a:off x="0" y="17599"/>
          <a:ext cx="7411036" cy="730080"/>
        </a:xfrm>
        <a:prstGeom prst="round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latin typeface="Calibri" panose="020F0502020204030204" pitchFamily="34" charset="0"/>
              <a:cs typeface="Calibri" panose="020F0502020204030204" pitchFamily="34" charset="0"/>
            </a:rPr>
            <a:t>Program: Set of instructions for a specific task</a:t>
          </a:r>
          <a:endParaRPr lang="en-IN" sz="2000" kern="1200" dirty="0">
            <a:latin typeface="Calibri" panose="020F0502020204030204" pitchFamily="34" charset="0"/>
            <a:cs typeface="Calibri" panose="020F0502020204030204" pitchFamily="34" charset="0"/>
          </a:endParaRPr>
        </a:p>
      </dsp:txBody>
      <dsp:txXfrm>
        <a:off x="35640" y="53239"/>
        <a:ext cx="7339756" cy="658800"/>
      </dsp:txXfrm>
    </dsp:sp>
    <dsp:sp modelId="{4B837652-EDC2-4098-9DFB-2D0A4FAC4F30}">
      <dsp:nvSpPr>
        <dsp:cNvPr id="0" name=""/>
        <dsp:cNvSpPr/>
      </dsp:nvSpPr>
      <dsp:spPr>
        <a:xfrm>
          <a:off x="0" y="859999"/>
          <a:ext cx="7411036" cy="730080"/>
        </a:xfrm>
        <a:prstGeom prst="round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latin typeface="Calibri" panose="020F0502020204030204" pitchFamily="34" charset="0"/>
              <a:cs typeface="Calibri" panose="020F0502020204030204" pitchFamily="34" charset="0"/>
            </a:rPr>
            <a:t>Software: Collection of programs + data + documents</a:t>
          </a:r>
          <a:endParaRPr lang="en-IN" sz="2000" kern="1200" dirty="0">
            <a:latin typeface="Calibri" panose="020F0502020204030204" pitchFamily="34" charset="0"/>
            <a:cs typeface="Calibri" panose="020F0502020204030204" pitchFamily="34" charset="0"/>
          </a:endParaRPr>
        </a:p>
      </dsp:txBody>
      <dsp:txXfrm>
        <a:off x="35640" y="895639"/>
        <a:ext cx="7339756" cy="658800"/>
      </dsp:txXfrm>
    </dsp:sp>
    <dsp:sp modelId="{C227F467-FB8F-4DFF-B84C-ABC859075C68}">
      <dsp:nvSpPr>
        <dsp:cNvPr id="0" name=""/>
        <dsp:cNvSpPr/>
      </dsp:nvSpPr>
      <dsp:spPr>
        <a:xfrm>
          <a:off x="0" y="1702400"/>
          <a:ext cx="7411036" cy="730080"/>
        </a:xfrm>
        <a:prstGeom prst="round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latin typeface="Calibri" panose="020F0502020204030204" pitchFamily="34" charset="0"/>
              <a:cs typeface="Calibri" panose="020F0502020204030204" pitchFamily="34" charset="0"/>
            </a:rPr>
            <a:t>Software Engineering: Structured approach to software development</a:t>
          </a:r>
          <a:endParaRPr lang="en-IN" sz="2000" kern="1200" dirty="0">
            <a:latin typeface="Calibri" panose="020F0502020204030204" pitchFamily="34" charset="0"/>
            <a:cs typeface="Calibri" panose="020F0502020204030204" pitchFamily="34" charset="0"/>
          </a:endParaRPr>
        </a:p>
      </dsp:txBody>
      <dsp:txXfrm>
        <a:off x="35640" y="1738040"/>
        <a:ext cx="7339756" cy="6588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A2D594-8011-4611-BE4D-8D8F637BA4D4}">
      <dsp:nvSpPr>
        <dsp:cNvPr id="0" name=""/>
        <dsp:cNvSpPr/>
      </dsp:nvSpPr>
      <dsp:spPr>
        <a:xfrm>
          <a:off x="0" y="16504"/>
          <a:ext cx="6969076" cy="61776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solidFill>
                <a:schemeClr val="bg2"/>
              </a:solidFill>
              <a:latin typeface="Calibri" panose="020F0502020204030204" pitchFamily="34" charset="0"/>
              <a:cs typeface="Calibri" panose="020F0502020204030204" pitchFamily="34" charset="0"/>
            </a:rPr>
            <a:t>Manage complexity</a:t>
          </a:r>
          <a:endParaRPr lang="en-IN" sz="2000" kern="1200" dirty="0">
            <a:solidFill>
              <a:schemeClr val="bg2"/>
            </a:solidFill>
            <a:latin typeface="Calibri" panose="020F0502020204030204" pitchFamily="34" charset="0"/>
            <a:cs typeface="Calibri" panose="020F0502020204030204" pitchFamily="34" charset="0"/>
          </a:endParaRPr>
        </a:p>
      </dsp:txBody>
      <dsp:txXfrm>
        <a:off x="30157" y="46661"/>
        <a:ext cx="6908762" cy="557446"/>
      </dsp:txXfrm>
    </dsp:sp>
    <dsp:sp modelId="{49DE9ED7-70F0-4AF3-99CF-2651D1D43B40}">
      <dsp:nvSpPr>
        <dsp:cNvPr id="0" name=""/>
        <dsp:cNvSpPr/>
      </dsp:nvSpPr>
      <dsp:spPr>
        <a:xfrm>
          <a:off x="0" y="729304"/>
          <a:ext cx="6969076" cy="61776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solidFill>
                <a:schemeClr val="bg2"/>
              </a:solidFill>
              <a:latin typeface="Calibri" panose="020F0502020204030204" pitchFamily="34" charset="0"/>
              <a:cs typeface="Calibri" panose="020F0502020204030204" pitchFamily="34" charset="0"/>
            </a:rPr>
            <a:t>Improve quality</a:t>
          </a:r>
          <a:endParaRPr lang="en-IN" sz="2000" kern="1200" dirty="0">
            <a:solidFill>
              <a:schemeClr val="bg2"/>
            </a:solidFill>
            <a:latin typeface="Calibri" panose="020F0502020204030204" pitchFamily="34" charset="0"/>
            <a:cs typeface="Calibri" panose="020F0502020204030204" pitchFamily="34" charset="0"/>
          </a:endParaRPr>
        </a:p>
      </dsp:txBody>
      <dsp:txXfrm>
        <a:off x="30157" y="759461"/>
        <a:ext cx="6908762" cy="557446"/>
      </dsp:txXfrm>
    </dsp:sp>
    <dsp:sp modelId="{7E107495-9941-4EF9-B727-B84CB471E122}">
      <dsp:nvSpPr>
        <dsp:cNvPr id="0" name=""/>
        <dsp:cNvSpPr/>
      </dsp:nvSpPr>
      <dsp:spPr>
        <a:xfrm>
          <a:off x="0" y="1442105"/>
          <a:ext cx="6969076" cy="61776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solidFill>
                <a:schemeClr val="bg2"/>
              </a:solidFill>
              <a:latin typeface="Calibri" panose="020F0502020204030204" pitchFamily="34" charset="0"/>
              <a:cs typeface="Calibri" panose="020F0502020204030204" pitchFamily="34" charset="0"/>
            </a:rPr>
            <a:t>Reduce development time</a:t>
          </a:r>
          <a:endParaRPr lang="en-IN" sz="2000" kern="1200" dirty="0">
            <a:solidFill>
              <a:schemeClr val="bg2"/>
            </a:solidFill>
            <a:latin typeface="Calibri" panose="020F0502020204030204" pitchFamily="34" charset="0"/>
            <a:cs typeface="Calibri" panose="020F0502020204030204" pitchFamily="34" charset="0"/>
          </a:endParaRPr>
        </a:p>
      </dsp:txBody>
      <dsp:txXfrm>
        <a:off x="30157" y="1472262"/>
        <a:ext cx="6908762" cy="557446"/>
      </dsp:txXfrm>
    </dsp:sp>
    <dsp:sp modelId="{C4A2A99A-1D68-48CE-BA4A-6DC5638E3530}">
      <dsp:nvSpPr>
        <dsp:cNvPr id="0" name=""/>
        <dsp:cNvSpPr/>
      </dsp:nvSpPr>
      <dsp:spPr>
        <a:xfrm>
          <a:off x="0" y="2154905"/>
          <a:ext cx="6969076" cy="61776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solidFill>
                <a:schemeClr val="bg2"/>
              </a:solidFill>
              <a:latin typeface="Calibri" panose="020F0502020204030204" pitchFamily="34" charset="0"/>
              <a:cs typeface="Calibri" panose="020F0502020204030204" pitchFamily="34" charset="0"/>
            </a:rPr>
            <a:t>Ensure maintainability</a:t>
          </a:r>
          <a:endParaRPr lang="en-IN" sz="2000" kern="1200" dirty="0">
            <a:solidFill>
              <a:schemeClr val="bg2"/>
            </a:solidFill>
            <a:latin typeface="Calibri" panose="020F0502020204030204" pitchFamily="34" charset="0"/>
            <a:cs typeface="Calibri" panose="020F0502020204030204" pitchFamily="34" charset="0"/>
          </a:endParaRPr>
        </a:p>
      </dsp:txBody>
      <dsp:txXfrm>
        <a:off x="30157" y="2185062"/>
        <a:ext cx="6908762" cy="55744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22C6AF8-29EE-B898-AED3-AF70CD88001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4E2CBAD-82BD-A0FC-7CFF-1A422C3864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5B335324-82D2-FD4A-92A0-750403AE05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80684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AF8D011-1978-0123-5CB2-07F259488BA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F30FEB0-AB40-4EED-9FDB-BD2BDC5B187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0132642-52DF-B83A-52A1-4C0392323C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211195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9D8B882-0A42-A997-B7C2-B7E4A790F75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0D5EBF7-7AF6-6579-8561-57B613E948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533F13B-1510-E87D-A49C-D1857BE0DD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26200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BF395B1-0DDA-EC2D-8CD4-6D4FF14A330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424A4F30-E86A-115B-0CE7-D952412617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6889E4CB-D564-C918-3A24-F3AEE033CE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459637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D894A85-83AF-7440-397E-527B54822C63}"/>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9C2093A-3BD4-9A88-C5E2-F7C31E7A083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6DECF4C-468D-CCE2-03E4-E19F9D8253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66495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46B46A1-E1E5-8D6A-0DB7-2AB157A5849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D373D03-1E14-5E0D-54C8-2240C7A2FE6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3928EE1-FB8E-DD5C-C69B-1D153A5CAC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047764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3F568BC-1CCF-709F-781E-E09F0B8CFEE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C999C61-F847-7B6F-81D0-D41F332941A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62BF7135-F040-795D-5737-20E99918C5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268655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209DD4B-9294-0796-BADF-D6006BD9605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D8E1C25-4628-02C7-3E2D-EE7CAB1B81B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DDDB51D-9E67-05B3-605F-C2B4BE00A2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989718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59D48E49-138B-7790-9E37-81B2813821D3}"/>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3F0A6EC9-981A-A1CD-3F85-9437966F732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637FC054-F528-4DA6-FAA1-17DDAA5E8B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598011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A443A85-2F43-F110-8740-346A552D495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0DC3D2C-04F7-1F0F-89A0-4CC47C1CE9D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82B7E60B-BC7F-3A38-2B0E-249612D46E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128280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89A24FB-B7A3-21BB-A5AA-7FB9B201884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9066426E-ED5E-2B1C-5C92-830A667AABF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ECE49C5C-3977-C111-4457-EC42AF6A43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740433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B00E57A-E5DE-E15A-00A6-12E4419A413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C894C2C-165A-4270-4A16-936B2DF4DF9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EFDEAF82-ED1E-563F-9ACB-B160C173DA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037081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B600AD0-5F47-89BD-5D40-9183A5D22093}"/>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503976F4-C552-B2D8-E539-20174E6FC01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741409E-B597-37BB-1DBB-3AB9BB49FC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67067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3AD7010-0466-94D1-9C82-49D082DCC36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50773054-E519-4226-C194-0838F781F2B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FB88B95-2559-3E17-E033-A12AF78A1D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0510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C170D60-AFFC-04BE-006C-841401FEC0D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97E17D07-A2A4-7D9E-88E5-3B1633F29B7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E9FF82FC-0859-AB14-99F7-440B4004A9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367149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B0A33B8-BB3F-3EFE-44BC-FA226F779CCE}"/>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DAD6C0C-D2F9-A7DA-B216-4F527E2B0D2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E910D292-D8C7-FE0C-814C-34A787A9BD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210192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0BE0693-2A21-A217-C060-D8B4CB9E0C0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9D9B412-D206-5B56-D970-13E4DB1B94A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2D41105E-CA84-92CD-13C1-8491C223FC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896749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E3C6B5E-FCDB-9EF8-CC17-386914C32A7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9253D92-9448-ACDA-7653-E48E9D40B73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0C9986F-9DA2-F02D-1CFE-06C0DD4719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050552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1F37E270-D1AC-A8BE-7321-073936E4684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2D5C93A-045E-F747-B098-C466E933253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67AB1DE-E9BE-065A-6C5E-44F239CF2A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319218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A47BC6E-1E13-7452-19F9-FD1AC7E198A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3A3C340-061E-80A2-40F7-1C6662E0FFA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D8BB373-B48A-4196-C0F3-D1A23F4FA9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095661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0149232-9437-7B59-8773-2597572A408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E2B4292-4A18-24B7-69BF-308420295DE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19EB7F4-E328-0A1B-2028-714017CFC5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097073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8B6DBEC-941D-C21A-C793-B559CA745C0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BF3644E-77E0-DFEB-0564-34CDA31D9C9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5FC450D8-343D-6AE0-6280-1D7A7A3B30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356128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4D4F31F-8958-B93C-8650-959D5C67EF9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52F6531A-D648-0727-D6A9-991F60AB291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20A135F9-66DD-2FB0-51E6-E2795432D2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273123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E8ADC68-4769-829F-6A35-A35D9A46DDC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F67B2B9E-9D50-2C83-E7F1-5454981E6B3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DC983E0-C0B7-2694-D301-FFB9E22AA6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902970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939931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18896A3-CA15-4C87-8FB7-24487FE577F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9BF4E4D-8363-3E77-BFA5-048BFD297E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1179ABD-E767-1A65-FB79-9B790ADA68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170333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33566B8-DF3A-05B0-31BF-3E9330E905FA}"/>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E1D4698-774E-05EC-35A8-C442A34DE00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F45E652-90CA-7AD8-28F6-16ACCE6A23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443842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418237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6" y="22034"/>
            <a:ext cx="652311" cy="10489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311700" y="445025"/>
            <a:ext cx="8520600" cy="5727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830392" y="1191256"/>
            <a:ext cx="745763" cy="45826"/>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9" name="Google Shape;29;p3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830392" y="1191256"/>
            <a:ext cx="745763" cy="45826"/>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36" name="Google Shape;36;p3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830392" y="1191256"/>
            <a:ext cx="745763" cy="45826"/>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4" name="Google Shape;44;p34"/>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830392" y="1191256"/>
            <a:ext cx="745763" cy="45826"/>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3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830392" y="1191256"/>
            <a:ext cx="745763" cy="45826"/>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0" name="Google Shape;60;p36"/>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830392" y="4169130"/>
            <a:ext cx="745763" cy="45826"/>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7" name="Google Shape;67;p3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830392" y="1191256"/>
            <a:ext cx="745763" cy="45826"/>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74" name="Google Shape;74;p38"/>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75" name="Google Shape;75;p38"/>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830392" y="4169130"/>
            <a:ext cx="745763" cy="45826"/>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5" name="Google Shape;85;p40"/>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311700" y="445025"/>
            <a:ext cx="852060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750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62"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3"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s://onlinecourses.nptel.ac.in/noc25_cs108/preview?utm_source=chatgpt.com"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hyperlink" Target="https://www.youtube.com/watch?v=IHx9ImEMuzQ" TargetMode="External"/><Relationship Id="rId4" Type="http://schemas.openxmlformats.org/officeDocument/2006/relationships/hyperlink" Target="https://www.youtube.com/watch?v=Z6f9ckEElsU&amp;utm_source=chatgpt.com"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7" y="1217517"/>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 name="Google Shape;102;p1"/>
          <p:cNvSpPr txBox="1"/>
          <p:nvPr/>
        </p:nvSpPr>
        <p:spPr>
          <a:xfrm>
            <a:off x="698809" y="973866"/>
            <a:ext cx="7997747" cy="3905644"/>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chemeClr val="dk1"/>
              </a:buClr>
              <a:buSzPts val="3200"/>
              <a:buFont typeface="Arial Black"/>
              <a:buNone/>
            </a:pP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a:t>
            </a: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ENGINEERING </a:t>
            </a:r>
            <a:endParaRPr sz="105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ctr" rtl="0">
              <a:lnSpc>
                <a:spcPct val="90000"/>
              </a:lnSpc>
              <a:spcBef>
                <a:spcPts val="1120"/>
              </a:spcBef>
              <a:spcAft>
                <a:spcPts val="0"/>
              </a:spcAft>
              <a:buClr>
                <a:schemeClr val="dk1"/>
              </a:buClr>
              <a:buSzPts val="3200"/>
              <a:buFont typeface="Arial Black"/>
              <a:buNone/>
            </a:pP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AIT-CSE</a:t>
            </a:r>
            <a:endParaRPr sz="105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lvl="0" algn="ctr">
              <a:lnSpc>
                <a:spcPct val="90000"/>
              </a:lnSpc>
              <a:spcBef>
                <a:spcPts val="1120"/>
              </a:spcBef>
              <a:buClr>
                <a:schemeClr val="dk1"/>
              </a:buClr>
              <a:buSzPts val="2800"/>
            </a:pPr>
            <a:r>
              <a:rPr lang="en-IN" sz="24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B.E CSE </a:t>
            </a:r>
            <a:endParaRPr lang="en-IN" sz="20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ctr">
              <a:lnSpc>
                <a:spcPct val="90000"/>
              </a:lnSpc>
              <a:spcBef>
                <a:spcPts val="1120"/>
              </a:spcBef>
              <a:buClr>
                <a:schemeClr val="dk1"/>
              </a:buClr>
              <a:buSzPts val="2800"/>
            </a:pPr>
            <a:r>
              <a:rPr lang="en-IN" sz="24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AIML/ 6</a:t>
            </a:r>
            <a:r>
              <a:rPr lang="en-IN" sz="2400" baseline="30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th</a:t>
            </a:r>
            <a:endParaRPr lang="en-IN" sz="24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endParaRPr>
          </a:p>
          <a:p>
            <a:pPr algn="ctr">
              <a:spcBef>
                <a:spcPts val="1120"/>
              </a:spcBef>
              <a:buSzPts val="3200"/>
            </a:pPr>
            <a:r>
              <a:rPr lang="en-IN" sz="2800" dirty="0">
                <a:latin typeface="Times New Roman" panose="02020603050405020304" pitchFamily="18" charset="0"/>
                <a:ea typeface="Times New Roman" panose="02020603050405020304" pitchFamily="18" charset="0"/>
              </a:rPr>
              <a:t>SOFTWARE ENGINEERING </a:t>
            </a:r>
            <a:br>
              <a:rPr lang="en-IN" sz="2800" dirty="0">
                <a:latin typeface="Times New Roman" panose="02020603050405020304" pitchFamily="18" charset="0"/>
                <a:ea typeface="Times New Roman" panose="02020603050405020304" pitchFamily="18" charset="0"/>
              </a:rPr>
            </a:br>
            <a:r>
              <a:rPr lang="en-US" sz="2400" dirty="0">
                <a:solidFill>
                  <a:schemeClr val="bg2"/>
                </a:solidFill>
                <a:latin typeface="Calibri" panose="020F0502020204030204" pitchFamily="34" charset="0"/>
                <a:cs typeface="Calibri" panose="020F0502020204030204" pitchFamily="34" charset="0"/>
              </a:rPr>
              <a:t>23CSH-374</a:t>
            </a:r>
            <a:r>
              <a:rPr lang="en-IN" sz="2400" dirty="0">
                <a:solidFill>
                  <a:schemeClr val="bg2"/>
                </a:solidFill>
                <a:latin typeface="Calibri" panose="020F0502020204030204" pitchFamily="34" charset="0"/>
                <a:cs typeface="Calibri" panose="020F0502020204030204" pitchFamily="34" charset="0"/>
              </a:rPr>
              <a:t> </a:t>
            </a:r>
          </a:p>
          <a:p>
            <a:pPr algn="ctr">
              <a:spcBef>
                <a:spcPts val="1120"/>
              </a:spcBef>
              <a:buSzPts val="3200"/>
            </a:pPr>
            <a:r>
              <a:rPr lang="en-US" sz="2000" b="1" dirty="0">
                <a:latin typeface="Calibri" panose="020F0502020204030204" pitchFamily="34" charset="0"/>
                <a:ea typeface="Calibri" panose="020F0502020204030204" pitchFamily="34" charset="0"/>
                <a:cs typeface="Calibri" panose="020F0502020204030204" pitchFamily="34" charset="0"/>
              </a:rPr>
              <a:t>Faculty Name : Dr Geeta Rani              </a:t>
            </a:r>
            <a:r>
              <a:rPr lang="en-US" sz="2000" b="1" dirty="0" err="1">
                <a:latin typeface="Calibri" panose="020F0502020204030204" pitchFamily="34" charset="0"/>
                <a:ea typeface="Calibri" panose="020F0502020204030204" pitchFamily="34" charset="0"/>
                <a:cs typeface="Calibri" panose="020F0502020204030204" pitchFamily="34" charset="0"/>
              </a:rPr>
              <a:t>CUmail</a:t>
            </a:r>
            <a:r>
              <a:rPr lang="en-US" sz="2000" b="1" dirty="0">
                <a:latin typeface="Calibri" panose="020F0502020204030204" pitchFamily="34" charset="0"/>
                <a:ea typeface="Calibri" panose="020F0502020204030204" pitchFamily="34" charset="0"/>
                <a:cs typeface="Calibri" panose="020F0502020204030204" pitchFamily="34" charset="0"/>
              </a:rPr>
              <a:t>-ID : geeta.e15227@cumail.in</a:t>
            </a:r>
          </a:p>
          <a:p>
            <a:pPr>
              <a:spcBef>
                <a:spcPts val="1120"/>
              </a:spcBef>
              <a:buSzPts val="3200"/>
            </a:pPr>
            <a:r>
              <a:rPr lang="en-US" sz="2000" b="1" dirty="0">
                <a:latin typeface="Calibri" panose="020F0502020204030204" pitchFamily="34" charset="0"/>
                <a:ea typeface="Calibri" panose="020F0502020204030204" pitchFamily="34" charset="0"/>
                <a:cs typeface="Calibri" panose="020F0502020204030204" pitchFamily="34" charset="0"/>
              </a:rPr>
              <a:t>Designation : Associate Professor</a:t>
            </a:r>
            <a:endParaRPr lang="en-US" sz="3600" b="1" dirty="0">
              <a:solidFill>
                <a:schemeClr val="bg2"/>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5284800" y="0"/>
            <a:ext cx="3859199" cy="677108"/>
          </a:xfrm>
          <a:prstGeom prst="rect">
            <a:avLst/>
          </a:prstGeom>
          <a:noFill/>
        </p:spPr>
        <p:txBody>
          <a:bodyPr wrap="square" rtlCol="0">
            <a:spAutoFit/>
          </a:bodyPr>
          <a:lstStyle/>
          <a:p>
            <a:pPr algn="r"/>
            <a:r>
              <a:rPr lang="en-IN" sz="20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1800" b="1" dirty="0">
                <a:latin typeface="Calibri" panose="020F0502020204030204" pitchFamily="34" charset="0"/>
                <a:ea typeface="Calibri" panose="020F0502020204030204" pitchFamily="34" charset="0"/>
                <a:cs typeface="Calibri" panose="020F0502020204030204" pitchFamily="34" charset="0"/>
              </a:rPr>
              <a:t>EVEN Semester Jan-Jun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7">
          <a:extLst>
            <a:ext uri="{FF2B5EF4-FFF2-40B4-BE49-F238E27FC236}">
              <a16:creationId xmlns:a16="http://schemas.microsoft.com/office/drawing/2014/main" id="{99AA823F-7647-EC23-1D1D-BE99682D04DF}"/>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B68E489D-DEF7-172C-BBAC-D35CA1568FA2}"/>
              </a:ext>
            </a:extLst>
          </p:cNvPr>
          <p:cNvGrpSpPr/>
          <p:nvPr/>
        </p:nvGrpSpPr>
        <p:grpSpPr>
          <a:xfrm>
            <a:off x="557644" y="482539"/>
            <a:ext cx="8277101" cy="444600"/>
            <a:chOff x="0" y="6299"/>
            <a:chExt cx="5580934" cy="444600"/>
          </a:xfrm>
          <a:noFill/>
        </p:grpSpPr>
        <p:sp>
          <p:nvSpPr>
            <p:cNvPr id="109" name="Google Shape;109;p2">
              <a:extLst>
                <a:ext uri="{FF2B5EF4-FFF2-40B4-BE49-F238E27FC236}">
                  <a16:creationId xmlns:a16="http://schemas.microsoft.com/office/drawing/2014/main" id="{18D3AC0D-843C-8079-7685-CF8E1B7049EE}"/>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0A2AB195-9CC4-1DA1-CFC9-569DD2CAE32C}"/>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Course Objectives </a:t>
              </a:r>
            </a:p>
          </p:txBody>
        </p:sp>
      </p:grpSp>
      <p:sp>
        <p:nvSpPr>
          <p:cNvPr id="111" name="Google Shape;111;p2">
            <a:extLst>
              <a:ext uri="{FF2B5EF4-FFF2-40B4-BE49-F238E27FC236}">
                <a16:creationId xmlns:a16="http://schemas.microsoft.com/office/drawing/2014/main" id="{826FD4B4-7817-D0EB-1F71-78AE2F3112A1}"/>
              </a:ext>
            </a:extLst>
          </p:cNvPr>
          <p:cNvSpPr txBox="1">
            <a:spLocks noGrp="1"/>
          </p:cNvSpPr>
          <p:nvPr>
            <p:ph type="body" idx="1"/>
          </p:nvPr>
        </p:nvSpPr>
        <p:spPr>
          <a:xfrm>
            <a:off x="385500" y="133058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C97C741A-FADA-20D3-9798-F44278B29F12}"/>
              </a:ext>
            </a:extLst>
          </p:cNvPr>
          <p:cNvSpPr txBox="1"/>
          <p:nvPr/>
        </p:nvSpPr>
        <p:spPr>
          <a:xfrm>
            <a:off x="797860" y="1015914"/>
            <a:ext cx="7796667" cy="2862322"/>
          </a:xfrm>
          <a:prstGeom prst="rect">
            <a:avLst/>
          </a:prstGeom>
          <a:noFill/>
        </p:spPr>
        <p:txBody>
          <a:bodyPr wrap="square">
            <a:spAutoFit/>
          </a:bodyPr>
          <a:lstStyle/>
          <a:p>
            <a:pPr marL="285750" lvl="0" indent="-285750" algn="just">
              <a:buFont typeface="Arial" panose="020B0604020202020204" pitchFamily="34" charset="0"/>
              <a:buChar char="•"/>
            </a:pPr>
            <a:r>
              <a:rPr lang="en-US" sz="1800" dirty="0">
                <a:latin typeface="Calibri" panose="020F0502020204030204" pitchFamily="34" charset="0"/>
                <a:cs typeface="Calibri" panose="020F0502020204030204" pitchFamily="34" charset="0"/>
              </a:rPr>
              <a:t>Understand fundamental software engineering processes, SDLC models, and requirement engineering techniques used in real-world projects.</a:t>
            </a:r>
            <a:endParaRPr lang="en-IN" sz="1800" dirty="0">
              <a:latin typeface="Calibri" panose="020F0502020204030204" pitchFamily="34" charset="0"/>
              <a:cs typeface="Calibri" panose="020F0502020204030204" pitchFamily="34" charset="0"/>
            </a:endParaRPr>
          </a:p>
          <a:p>
            <a:pPr marL="285750" lvl="0" indent="-285750" algn="just">
              <a:buFont typeface="Arial" panose="020B0604020202020204" pitchFamily="34" charset="0"/>
              <a:buChar char="•"/>
            </a:pPr>
            <a:r>
              <a:rPr lang="en-US" sz="1800" dirty="0">
                <a:latin typeface="Calibri" panose="020F0502020204030204" pitchFamily="34" charset="0"/>
                <a:cs typeface="Calibri" panose="020F0502020204030204" pitchFamily="34" charset="0"/>
              </a:rPr>
              <a:t>Apply modeling concepts, design principles, and UML diagrams to represent system structures and behaviors effectively.</a:t>
            </a:r>
            <a:endParaRPr lang="en-IN" sz="1800" dirty="0">
              <a:latin typeface="Calibri" panose="020F0502020204030204" pitchFamily="34" charset="0"/>
              <a:cs typeface="Calibri" panose="020F0502020204030204" pitchFamily="34" charset="0"/>
            </a:endParaRPr>
          </a:p>
          <a:p>
            <a:pPr marL="285750" lvl="0" indent="-285750" algn="just">
              <a:buFont typeface="Arial" panose="020B0604020202020204" pitchFamily="34" charset="0"/>
              <a:buChar char="•"/>
            </a:pPr>
            <a:r>
              <a:rPr lang="en-US" sz="1800" dirty="0">
                <a:latin typeface="Calibri" panose="020F0502020204030204" pitchFamily="34" charset="0"/>
                <a:cs typeface="Calibri" panose="020F0502020204030204" pitchFamily="34" charset="0"/>
              </a:rPr>
              <a:t>Analyze various software development, design, and testing strategies to determine their suitability for different project scenarios.</a:t>
            </a:r>
            <a:endParaRPr lang="en-IN" sz="1800" dirty="0">
              <a:latin typeface="Calibri" panose="020F0502020204030204" pitchFamily="34" charset="0"/>
              <a:cs typeface="Calibri" panose="020F0502020204030204" pitchFamily="34" charset="0"/>
            </a:endParaRPr>
          </a:p>
          <a:p>
            <a:pPr marL="285750" lvl="0" indent="-285750" algn="just">
              <a:buFont typeface="Arial" panose="020B0604020202020204" pitchFamily="34" charset="0"/>
              <a:buChar char="•"/>
            </a:pPr>
            <a:r>
              <a:rPr lang="en-US" sz="1800" dirty="0">
                <a:latin typeface="Calibri" panose="020F0502020204030204" pitchFamily="34" charset="0"/>
                <a:cs typeface="Calibri" panose="020F0502020204030204" pitchFamily="34" charset="0"/>
              </a:rPr>
              <a:t>Evaluate software solutions and project management practices based on quality metrics, design principles, and testing outcomes.</a:t>
            </a:r>
            <a:endParaRPr lang="en-IN" sz="1800" dirty="0">
              <a:latin typeface="Calibri" panose="020F0502020204030204" pitchFamily="34" charset="0"/>
              <a:cs typeface="Calibri" panose="020F0502020204030204" pitchFamily="34" charset="0"/>
            </a:endParaRPr>
          </a:p>
          <a:p>
            <a:pPr marL="285750" lvl="0" indent="-285750" algn="just">
              <a:buFont typeface="Arial" panose="020B0604020202020204" pitchFamily="34" charset="0"/>
              <a:buChar char="•"/>
            </a:pPr>
            <a:r>
              <a:rPr lang="en-US" sz="1800" dirty="0">
                <a:latin typeface="Calibri" panose="020F0502020204030204" pitchFamily="34" charset="0"/>
                <a:cs typeface="Calibri" panose="020F0502020204030204" pitchFamily="34" charset="0"/>
              </a:rPr>
              <a:t>Create structured requirement documents, UML models, test plans, and project management artifacts for medium-scale software systems.</a:t>
            </a:r>
            <a:endParaRPr lang="en-IN"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20432287"/>
      </p:ext>
    </p:extLst>
  </p:cSld>
  <p:clrMapOvr>
    <a:overrideClrMapping bg1="lt1" tx1="dk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4BED8776-82A9-C3BD-5844-FF05405138EE}"/>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00E0E5BE-FA8F-5957-A3CD-8C1DD3BFF409}"/>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D89AB046-BF5D-9FB0-A377-F7F7D02D466C}"/>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E02AF8FA-0EE9-C2FB-6C1E-80FEF5B5E3AC}"/>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Course Outcomes</a:t>
              </a:r>
            </a:p>
          </p:txBody>
        </p:sp>
      </p:grpSp>
      <p:sp>
        <p:nvSpPr>
          <p:cNvPr id="111" name="Google Shape;111;p2">
            <a:extLst>
              <a:ext uri="{FF2B5EF4-FFF2-40B4-BE49-F238E27FC236}">
                <a16:creationId xmlns:a16="http://schemas.microsoft.com/office/drawing/2014/main" id="{6C9CDB22-B6A6-EEC4-E538-5F62E68049E9}"/>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graphicFrame>
        <p:nvGraphicFramePr>
          <p:cNvPr id="2" name="Table 1">
            <a:extLst>
              <a:ext uri="{FF2B5EF4-FFF2-40B4-BE49-F238E27FC236}">
                <a16:creationId xmlns:a16="http://schemas.microsoft.com/office/drawing/2014/main" id="{DF55B9C3-0D82-6862-B56F-2DBD19B3AEFD}"/>
              </a:ext>
            </a:extLst>
          </p:cNvPr>
          <p:cNvGraphicFramePr>
            <a:graphicFrameLocks noGrp="1"/>
          </p:cNvGraphicFramePr>
          <p:nvPr>
            <p:extLst>
              <p:ext uri="{D42A27DB-BD31-4B8C-83A1-F6EECF244321}">
                <p14:modId xmlns:p14="http://schemas.microsoft.com/office/powerpoint/2010/main" val="1402585700"/>
              </p:ext>
            </p:extLst>
          </p:nvPr>
        </p:nvGraphicFramePr>
        <p:xfrm>
          <a:off x="731672" y="758190"/>
          <a:ext cx="7914307" cy="4385310"/>
        </p:xfrm>
        <a:graphic>
          <a:graphicData uri="http://schemas.openxmlformats.org/drawingml/2006/table">
            <a:tbl>
              <a:tblPr firstRow="1" firstCol="1" bandRow="1">
                <a:tableStyleId>{2D5ABB26-0587-4C30-8999-92F81FD0307C}</a:tableStyleId>
              </a:tblPr>
              <a:tblGrid>
                <a:gridCol w="844747">
                  <a:extLst>
                    <a:ext uri="{9D8B030D-6E8A-4147-A177-3AD203B41FA5}">
                      <a16:colId xmlns:a16="http://schemas.microsoft.com/office/drawing/2014/main" val="194261115"/>
                    </a:ext>
                  </a:extLst>
                </a:gridCol>
                <a:gridCol w="7069560">
                  <a:extLst>
                    <a:ext uri="{9D8B030D-6E8A-4147-A177-3AD203B41FA5}">
                      <a16:colId xmlns:a16="http://schemas.microsoft.com/office/drawing/2014/main" val="3570576572"/>
                    </a:ext>
                  </a:extLst>
                </a:gridCol>
              </a:tblGrid>
              <a:tr h="362785">
                <a:tc>
                  <a:txBody>
                    <a:bodyPr/>
                    <a:lstStyle/>
                    <a:p>
                      <a:pPr marL="0" marR="0" lvl="0" indent="0" algn="l" rtl="0">
                        <a:lnSpc>
                          <a:spcPct val="150000"/>
                        </a:lnSpc>
                        <a:spcBef>
                          <a:spcPts val="0"/>
                        </a:spcBef>
                        <a:spcAft>
                          <a:spcPts val="0"/>
                        </a:spcAft>
                        <a:buClr>
                          <a:srgbClr val="000000"/>
                        </a:buClr>
                        <a:buFont typeface="Arial" panose="020B0604020202020204" pitchFamily="34" charset="0"/>
                        <a:buNone/>
                      </a:pPr>
                      <a:r>
                        <a:rPr lang="en-US" sz="1800" b="0" i="0" u="none" strike="noStrike" cap="none" dirty="0">
                          <a:solidFill>
                            <a:srgbClr val="000000"/>
                          </a:solidFill>
                          <a:latin typeface="Calibri" panose="020F0502020204030204" pitchFamily="34" charset="0"/>
                          <a:cs typeface="Calibri" panose="020F0502020204030204" pitchFamily="34" charset="0"/>
                          <a:sym typeface="Arial"/>
                        </a:rPr>
                        <a:t>CO No.</a:t>
                      </a:r>
                      <a:endParaRPr lang="en-IN" sz="1800" b="0" i="0" u="none" strike="noStrike" cap="none" dirty="0">
                        <a:solidFill>
                          <a:srgbClr val="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lvl="0" indent="0" algn="l" rtl="0">
                        <a:lnSpc>
                          <a:spcPct val="150000"/>
                        </a:lnSpc>
                        <a:spcBef>
                          <a:spcPts val="0"/>
                        </a:spcBef>
                        <a:spcAft>
                          <a:spcPts val="0"/>
                        </a:spcAft>
                        <a:buClr>
                          <a:srgbClr val="000000"/>
                        </a:buClr>
                        <a:buFont typeface="Arial" panose="020B0604020202020204" pitchFamily="34" charset="0"/>
                        <a:buNone/>
                      </a:pPr>
                      <a:r>
                        <a:rPr lang="en-US" sz="1800" b="0" i="0" u="none" strike="noStrike" cap="none" dirty="0">
                          <a:solidFill>
                            <a:srgbClr val="000000"/>
                          </a:solidFill>
                          <a:latin typeface="Calibri" panose="020F0502020204030204" pitchFamily="34" charset="0"/>
                          <a:cs typeface="Calibri" panose="020F0502020204030204" pitchFamily="34" charset="0"/>
                          <a:sym typeface="Arial"/>
                        </a:rPr>
                        <a:t>  Statement</a:t>
                      </a:r>
                      <a:endParaRPr lang="en-IN" sz="1800" b="0" i="0" u="none" strike="noStrike" cap="none" dirty="0">
                        <a:solidFill>
                          <a:srgbClr val="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4005914877"/>
                  </a:ext>
                </a:extLst>
              </a:tr>
              <a:tr h="740392">
                <a:tc>
                  <a:txBody>
                    <a:bodyPr/>
                    <a:lstStyle/>
                    <a:p>
                      <a:pPr marL="0" marR="0" lvl="0" indent="0" algn="l" rtl="0">
                        <a:lnSpc>
                          <a:spcPct val="150000"/>
                        </a:lnSpc>
                        <a:spcBef>
                          <a:spcPts val="0"/>
                        </a:spcBef>
                        <a:spcAft>
                          <a:spcPts val="0"/>
                        </a:spcAft>
                        <a:buClr>
                          <a:srgbClr val="000000"/>
                        </a:buClr>
                        <a:buFont typeface="Arial" panose="020B0604020202020204" pitchFamily="34" charset="0"/>
                        <a:buNone/>
                      </a:pPr>
                      <a:r>
                        <a:rPr lang="en-US" sz="1800" b="0" i="0" u="none" strike="noStrike" cap="none" dirty="0">
                          <a:solidFill>
                            <a:srgbClr val="000000"/>
                          </a:solidFill>
                          <a:latin typeface="Calibri" panose="020F0502020204030204" pitchFamily="34" charset="0"/>
                          <a:cs typeface="Calibri" panose="020F0502020204030204" pitchFamily="34" charset="0"/>
                          <a:sym typeface="Arial"/>
                        </a:rPr>
                        <a:t>CO1</a:t>
                      </a:r>
                      <a:endParaRPr lang="en-IN" sz="1800" b="0" i="0" u="none" strike="noStrike" cap="none" dirty="0">
                        <a:solidFill>
                          <a:srgbClr val="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lvl="0" indent="0" algn="l" rtl="0">
                        <a:lnSpc>
                          <a:spcPct val="150000"/>
                        </a:lnSpc>
                        <a:spcBef>
                          <a:spcPts val="0"/>
                        </a:spcBef>
                        <a:spcAft>
                          <a:spcPts val="0"/>
                        </a:spcAft>
                        <a:buClr>
                          <a:srgbClr val="000000"/>
                        </a:buClr>
                        <a:buFont typeface="Arial" panose="020B0604020202020204" pitchFamily="34" charset="0"/>
                        <a:buNone/>
                      </a:pPr>
                      <a:r>
                        <a:rPr lang="en-US" sz="1800" b="0" i="0" u="none" strike="noStrike" cap="none" dirty="0">
                          <a:solidFill>
                            <a:srgbClr val="000000"/>
                          </a:solidFill>
                          <a:latin typeface="Calibri" panose="020F0502020204030204" pitchFamily="34" charset="0"/>
                          <a:cs typeface="Calibri" panose="020F0502020204030204" pitchFamily="34" charset="0"/>
                          <a:sym typeface="Arial"/>
                        </a:rPr>
                        <a:t>  Explain SDLC models, requirement principles, testing strategies, and   project management concepts.</a:t>
                      </a:r>
                      <a:endParaRPr lang="en-IN" sz="1800" b="0" i="0" u="none" strike="noStrike" cap="none" dirty="0">
                        <a:solidFill>
                          <a:srgbClr val="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995475364"/>
                  </a:ext>
                </a:extLst>
              </a:tr>
              <a:tr h="740392">
                <a:tc>
                  <a:txBody>
                    <a:bodyPr/>
                    <a:lstStyle/>
                    <a:p>
                      <a:pPr marL="0" marR="0" lvl="0" indent="0" algn="l" rtl="0">
                        <a:lnSpc>
                          <a:spcPct val="150000"/>
                        </a:lnSpc>
                        <a:spcBef>
                          <a:spcPts val="0"/>
                        </a:spcBef>
                        <a:spcAft>
                          <a:spcPts val="0"/>
                        </a:spcAft>
                        <a:buClr>
                          <a:srgbClr val="000000"/>
                        </a:buClr>
                        <a:buFont typeface="Arial" panose="020B0604020202020204" pitchFamily="34" charset="0"/>
                        <a:buNone/>
                      </a:pPr>
                      <a:r>
                        <a:rPr lang="en-US" sz="1800" b="0" i="0" u="none" strike="noStrike" cap="none" dirty="0">
                          <a:solidFill>
                            <a:srgbClr val="000000"/>
                          </a:solidFill>
                          <a:latin typeface="Calibri" panose="020F0502020204030204" pitchFamily="34" charset="0"/>
                          <a:cs typeface="Calibri" panose="020F0502020204030204" pitchFamily="34" charset="0"/>
                          <a:sym typeface="Arial"/>
                        </a:rPr>
                        <a:t>CO2</a:t>
                      </a:r>
                      <a:endParaRPr lang="en-IN" sz="1800" b="0" i="0" u="none" strike="noStrike" cap="none" dirty="0">
                        <a:solidFill>
                          <a:srgbClr val="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lvl="0" indent="0" algn="l" rtl="0">
                        <a:lnSpc>
                          <a:spcPct val="150000"/>
                        </a:lnSpc>
                        <a:spcBef>
                          <a:spcPts val="0"/>
                        </a:spcBef>
                        <a:spcAft>
                          <a:spcPts val="0"/>
                        </a:spcAft>
                        <a:buClr>
                          <a:srgbClr val="000000"/>
                        </a:buClr>
                        <a:buFont typeface="Arial" panose="020B0604020202020204" pitchFamily="34" charset="0"/>
                        <a:buNone/>
                      </a:pPr>
                      <a:r>
                        <a:rPr lang="en-US" sz="1800" b="0" i="0" u="none" strike="noStrike" cap="none" dirty="0">
                          <a:solidFill>
                            <a:srgbClr val="000000"/>
                          </a:solidFill>
                          <a:latin typeface="Calibri" panose="020F0502020204030204" pitchFamily="34" charset="0"/>
                          <a:cs typeface="Calibri" panose="020F0502020204030204" pitchFamily="34" charset="0"/>
                          <a:sym typeface="Arial"/>
                        </a:rPr>
                        <a:t>  Construct UML diagrams and apply design patterns to solve software design problems</a:t>
                      </a:r>
                      <a:endParaRPr lang="en-IN" sz="1800" b="0" i="0" u="none" strike="noStrike" cap="none" dirty="0">
                        <a:solidFill>
                          <a:srgbClr val="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38146710"/>
                  </a:ext>
                </a:extLst>
              </a:tr>
              <a:tr h="369592">
                <a:tc>
                  <a:txBody>
                    <a:bodyPr/>
                    <a:lstStyle/>
                    <a:p>
                      <a:pPr marL="0" marR="0" lvl="0" indent="0" algn="l" rtl="0">
                        <a:lnSpc>
                          <a:spcPct val="150000"/>
                        </a:lnSpc>
                        <a:spcBef>
                          <a:spcPts val="0"/>
                        </a:spcBef>
                        <a:spcAft>
                          <a:spcPts val="0"/>
                        </a:spcAft>
                        <a:buClr>
                          <a:srgbClr val="000000"/>
                        </a:buClr>
                        <a:buFont typeface="Arial" panose="020B0604020202020204" pitchFamily="34" charset="0"/>
                        <a:buNone/>
                      </a:pPr>
                      <a:r>
                        <a:rPr lang="en-US" sz="1800" b="0" i="0" u="none" strike="noStrike" cap="none">
                          <a:solidFill>
                            <a:srgbClr val="000000"/>
                          </a:solidFill>
                          <a:latin typeface="Calibri" panose="020F0502020204030204" pitchFamily="34" charset="0"/>
                          <a:cs typeface="Calibri" panose="020F0502020204030204" pitchFamily="34" charset="0"/>
                          <a:sym typeface="Arial"/>
                        </a:rPr>
                        <a:t>CO3</a:t>
                      </a:r>
                      <a:endParaRPr lang="en-IN" sz="1800" b="0" i="0" u="none" strike="noStrike" cap="none">
                        <a:solidFill>
                          <a:srgbClr val="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lvl="0" indent="0" algn="l" rtl="0">
                        <a:lnSpc>
                          <a:spcPct val="150000"/>
                        </a:lnSpc>
                        <a:spcBef>
                          <a:spcPts val="0"/>
                        </a:spcBef>
                        <a:spcAft>
                          <a:spcPts val="0"/>
                        </a:spcAft>
                        <a:buClr>
                          <a:srgbClr val="000000"/>
                        </a:buClr>
                        <a:buFont typeface="Arial" panose="020B0604020202020204" pitchFamily="34" charset="0"/>
                        <a:buNone/>
                      </a:pPr>
                      <a:r>
                        <a:rPr lang="en-US" sz="1800" b="0" i="0" u="none" strike="noStrike" cap="none" dirty="0">
                          <a:solidFill>
                            <a:srgbClr val="000000"/>
                          </a:solidFill>
                          <a:latin typeface="Calibri" panose="020F0502020204030204" pitchFamily="34" charset="0"/>
                          <a:cs typeface="Calibri" panose="020F0502020204030204" pitchFamily="34" charset="0"/>
                          <a:sym typeface="Arial"/>
                        </a:rPr>
                        <a:t>Compare SDLC models, testing strategies for different scenarios.</a:t>
                      </a:r>
                      <a:endParaRPr lang="en-IN" sz="1800" b="0" i="0" u="none" strike="noStrike" cap="none" dirty="0">
                        <a:solidFill>
                          <a:srgbClr val="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313777814"/>
                  </a:ext>
                </a:extLst>
              </a:tr>
              <a:tr h="740392">
                <a:tc>
                  <a:txBody>
                    <a:bodyPr/>
                    <a:lstStyle/>
                    <a:p>
                      <a:pPr marL="0" marR="0" lvl="0" indent="0" algn="l" rtl="0">
                        <a:lnSpc>
                          <a:spcPct val="150000"/>
                        </a:lnSpc>
                        <a:spcBef>
                          <a:spcPts val="0"/>
                        </a:spcBef>
                        <a:spcAft>
                          <a:spcPts val="0"/>
                        </a:spcAft>
                        <a:buClr>
                          <a:srgbClr val="000000"/>
                        </a:buClr>
                        <a:buFont typeface="Arial" panose="020B0604020202020204" pitchFamily="34" charset="0"/>
                        <a:buNone/>
                      </a:pPr>
                      <a:r>
                        <a:rPr lang="en-US" sz="1800" b="0" i="0" u="none" strike="noStrike" cap="none">
                          <a:solidFill>
                            <a:srgbClr val="000000"/>
                          </a:solidFill>
                          <a:latin typeface="Calibri" panose="020F0502020204030204" pitchFamily="34" charset="0"/>
                          <a:cs typeface="Calibri" panose="020F0502020204030204" pitchFamily="34" charset="0"/>
                          <a:sym typeface="Arial"/>
                        </a:rPr>
                        <a:t>CO4</a:t>
                      </a:r>
                      <a:endParaRPr lang="en-IN" sz="1800" b="0" i="0" u="none" strike="noStrike" cap="none">
                        <a:solidFill>
                          <a:srgbClr val="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lvl="0" indent="0" algn="l" rtl="0">
                        <a:lnSpc>
                          <a:spcPct val="150000"/>
                        </a:lnSpc>
                        <a:spcBef>
                          <a:spcPts val="0"/>
                        </a:spcBef>
                        <a:spcAft>
                          <a:spcPts val="0"/>
                        </a:spcAft>
                        <a:buClr>
                          <a:srgbClr val="000000"/>
                        </a:buClr>
                        <a:buFont typeface="Arial" panose="020B0604020202020204" pitchFamily="34" charset="0"/>
                        <a:buNone/>
                      </a:pPr>
                      <a:r>
                        <a:rPr lang="en-US" sz="1800" b="0" i="0" u="none" strike="noStrike" cap="none" dirty="0">
                          <a:solidFill>
                            <a:srgbClr val="000000"/>
                          </a:solidFill>
                          <a:latin typeface="Calibri" panose="020F0502020204030204" pitchFamily="34" charset="0"/>
                          <a:cs typeface="Calibri" panose="020F0502020204030204" pitchFamily="34" charset="0"/>
                          <a:sym typeface="Arial"/>
                        </a:rPr>
                        <a:t>Assess testing strategies, maintenance approaches, and project metrics to ensure software quality.</a:t>
                      </a:r>
                      <a:endParaRPr lang="en-IN" sz="1800" b="0" i="0" u="none" strike="noStrike" cap="none" dirty="0">
                        <a:solidFill>
                          <a:srgbClr val="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562861669"/>
                  </a:ext>
                </a:extLst>
              </a:tr>
              <a:tr h="1121467">
                <a:tc>
                  <a:txBody>
                    <a:bodyPr/>
                    <a:lstStyle/>
                    <a:p>
                      <a:pPr marL="0" marR="0" lvl="0" indent="0" algn="l" rtl="0">
                        <a:lnSpc>
                          <a:spcPct val="150000"/>
                        </a:lnSpc>
                        <a:spcBef>
                          <a:spcPts val="0"/>
                        </a:spcBef>
                        <a:spcAft>
                          <a:spcPts val="0"/>
                        </a:spcAft>
                        <a:buClr>
                          <a:srgbClr val="000000"/>
                        </a:buClr>
                        <a:buFont typeface="Arial" panose="020B0604020202020204" pitchFamily="34" charset="0"/>
                        <a:buNone/>
                      </a:pPr>
                      <a:r>
                        <a:rPr lang="en-US" sz="1800" b="0" i="0" u="none" strike="noStrike" cap="none">
                          <a:solidFill>
                            <a:srgbClr val="000000"/>
                          </a:solidFill>
                          <a:latin typeface="Calibri" panose="020F0502020204030204" pitchFamily="34" charset="0"/>
                          <a:cs typeface="Calibri" panose="020F0502020204030204" pitchFamily="34" charset="0"/>
                          <a:sym typeface="Arial"/>
                        </a:rPr>
                        <a:t>CO5</a:t>
                      </a:r>
                      <a:endParaRPr lang="en-IN" sz="1800" b="0" i="0" u="none" strike="noStrike" cap="none">
                        <a:solidFill>
                          <a:srgbClr val="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lvl="0" indent="0" algn="l" rtl="0">
                        <a:lnSpc>
                          <a:spcPct val="150000"/>
                        </a:lnSpc>
                        <a:spcBef>
                          <a:spcPts val="0"/>
                        </a:spcBef>
                        <a:spcAft>
                          <a:spcPts val="0"/>
                        </a:spcAft>
                        <a:buClr>
                          <a:srgbClr val="000000"/>
                        </a:buClr>
                        <a:buFont typeface="Arial" panose="020B0604020202020204" pitchFamily="34" charset="0"/>
                        <a:buNone/>
                      </a:pPr>
                      <a:r>
                        <a:rPr lang="en-US" sz="1800" b="0" i="0" u="none" strike="noStrike" cap="none" dirty="0">
                          <a:solidFill>
                            <a:srgbClr val="000000"/>
                          </a:solidFill>
                          <a:latin typeface="Calibri" panose="020F0502020204030204" pitchFamily="34" charset="0"/>
                          <a:cs typeface="Calibri" panose="020F0502020204030204" pitchFamily="34" charset="0"/>
                          <a:sym typeface="Arial"/>
                        </a:rPr>
                        <a:t>Develop complete requirement specifications, design models, test plans, and project management documents (including Jira-based defect tracking) for real-world case studies</a:t>
                      </a:r>
                      <a:endParaRPr lang="en-IN" sz="1800" b="0" i="0" u="none" strike="noStrike" cap="none" dirty="0">
                        <a:solidFill>
                          <a:srgbClr val="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199479134"/>
                  </a:ext>
                </a:extLst>
              </a:tr>
            </a:tbl>
          </a:graphicData>
        </a:graphic>
      </p:graphicFrame>
      <p:pic>
        <p:nvPicPr>
          <p:cNvPr id="3" name="Graphic 2" descr="Chevron arrows with solid fill">
            <a:extLst>
              <a:ext uri="{FF2B5EF4-FFF2-40B4-BE49-F238E27FC236}">
                <a16:creationId xmlns:a16="http://schemas.microsoft.com/office/drawing/2014/main" id="{2139EB93-65F3-1AFD-8324-B3DCBE9220E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0800000">
            <a:off x="385500" y="1436121"/>
            <a:ext cx="346172" cy="216000"/>
          </a:xfrm>
          <a:prstGeom prst="rect">
            <a:avLst/>
          </a:prstGeom>
        </p:spPr>
      </p:pic>
    </p:spTree>
    <p:extLst>
      <p:ext uri="{BB962C8B-B14F-4D97-AF65-F5344CB8AC3E}">
        <p14:creationId xmlns:p14="http://schemas.microsoft.com/office/powerpoint/2010/main" val="1210374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23510B7-C3A2-E27A-3736-0F10336312B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78445F02-A161-533C-83C3-5BC21C2F7F4B}"/>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20A44487-169C-8822-4CE0-BBB62C89DEBF}"/>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67D92D25-44E7-E9BB-697B-B5F6A519F27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Suggestive Readings</a:t>
              </a:r>
            </a:p>
          </p:txBody>
        </p:sp>
      </p:grpSp>
      <p:sp>
        <p:nvSpPr>
          <p:cNvPr id="111" name="Google Shape;111;p2">
            <a:extLst>
              <a:ext uri="{FF2B5EF4-FFF2-40B4-BE49-F238E27FC236}">
                <a16:creationId xmlns:a16="http://schemas.microsoft.com/office/drawing/2014/main" id="{95329CA0-B433-F78D-DDAC-218F49813DA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D72EB782-99A3-BCFF-B22A-E7B8A5618FAF}"/>
              </a:ext>
            </a:extLst>
          </p:cNvPr>
          <p:cNvSpPr txBox="1"/>
          <p:nvPr/>
        </p:nvSpPr>
        <p:spPr>
          <a:xfrm>
            <a:off x="780333" y="1275011"/>
            <a:ext cx="8001000" cy="3569567"/>
          </a:xfrm>
          <a:prstGeom prst="rect">
            <a:avLst/>
          </a:prstGeom>
          <a:noFill/>
        </p:spPr>
        <p:txBody>
          <a:bodyPr wrap="square">
            <a:spAutoFit/>
          </a:bodyPr>
          <a:lstStyle/>
          <a:p>
            <a:pPr algn="just">
              <a:lnSpc>
                <a:spcPct val="200000"/>
              </a:lnSpc>
              <a:spcBef>
                <a:spcPts val="600"/>
              </a:spcBef>
              <a:spcAft>
                <a:spcPts val="600"/>
              </a:spcAft>
              <a:buNone/>
            </a:pPr>
            <a:r>
              <a:rPr lang="en-US" sz="1800" b="1" dirty="0">
                <a:effectLst/>
                <a:latin typeface="Calibri" panose="020F0502020204030204" pitchFamily="34" charset="0"/>
                <a:ea typeface="Times New Roman" panose="02020603050405020304" pitchFamily="18" charset="0"/>
                <a:cs typeface="Calibri" panose="020F0502020204030204" pitchFamily="34" charset="0"/>
              </a:rPr>
              <a:t>Text Books:</a:t>
            </a:r>
            <a:endParaRPr lang="en-IN" sz="1800" dirty="0">
              <a:effectLst/>
              <a:latin typeface="Calibri" panose="020F0502020204030204" pitchFamily="34" charset="0"/>
              <a:ea typeface="Times New Roman" panose="02020603050405020304" pitchFamily="18" charset="0"/>
              <a:cs typeface="Calibri" panose="020F0502020204030204" pitchFamily="34" charset="0"/>
            </a:endParaRPr>
          </a:p>
          <a:p>
            <a:pPr marL="285750" lvl="0" indent="-285750">
              <a:lnSpc>
                <a:spcPct val="20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Pressman, R. S., “Software Engineering: A Practitioner’s Approach,” McGraw Hill.</a:t>
            </a:r>
            <a:endParaRPr lang="en-IN" sz="1800" dirty="0">
              <a:latin typeface="Calibri" panose="020F0502020204030204" pitchFamily="34" charset="0"/>
              <a:cs typeface="Calibri" panose="020F0502020204030204" pitchFamily="34" charset="0"/>
            </a:endParaRPr>
          </a:p>
          <a:p>
            <a:pPr marL="285750" lvl="0" indent="-285750">
              <a:lnSpc>
                <a:spcPct val="20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Ian Sommerville, “Software Engineering,” Pearson.</a:t>
            </a:r>
            <a:endParaRPr lang="en-IN" sz="1800" dirty="0">
              <a:latin typeface="Calibri" panose="020F0502020204030204" pitchFamily="34" charset="0"/>
              <a:cs typeface="Calibri" panose="020F0502020204030204" pitchFamily="34" charset="0"/>
            </a:endParaRPr>
          </a:p>
          <a:p>
            <a:pPr algn="just">
              <a:lnSpc>
                <a:spcPct val="200000"/>
              </a:lnSpc>
              <a:spcBef>
                <a:spcPts val="600"/>
              </a:spcBef>
              <a:spcAft>
                <a:spcPts val="600"/>
              </a:spcAft>
              <a:buNone/>
            </a:pPr>
            <a:r>
              <a:rPr lang="en-US" sz="1800" b="1" dirty="0">
                <a:effectLst/>
                <a:latin typeface="Calibri" panose="020F0502020204030204" pitchFamily="34" charset="0"/>
                <a:ea typeface="Times New Roman" panose="02020603050405020304" pitchFamily="18" charset="0"/>
                <a:cs typeface="Calibri" panose="020F0502020204030204" pitchFamily="34" charset="0"/>
              </a:rPr>
              <a:t>Reference Books:</a:t>
            </a:r>
            <a:endParaRPr lang="en-IN" sz="1800" dirty="0">
              <a:effectLst/>
              <a:latin typeface="Calibri" panose="020F0502020204030204" pitchFamily="34" charset="0"/>
              <a:ea typeface="Times New Roman" panose="02020603050405020304" pitchFamily="18" charset="0"/>
              <a:cs typeface="Calibri" panose="020F0502020204030204" pitchFamily="34" charset="0"/>
            </a:endParaRPr>
          </a:p>
          <a:p>
            <a:pPr marL="285750" lvl="0" indent="-285750">
              <a:lnSpc>
                <a:spcPct val="20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Pankaj </a:t>
            </a:r>
            <a:r>
              <a:rPr lang="en-US" sz="1800" dirty="0" err="1">
                <a:latin typeface="Calibri" panose="020F0502020204030204" pitchFamily="34" charset="0"/>
                <a:cs typeface="Calibri" panose="020F0502020204030204" pitchFamily="34" charset="0"/>
              </a:rPr>
              <a:t>Jalote</a:t>
            </a:r>
            <a:r>
              <a:rPr lang="en-US" sz="1800" dirty="0">
                <a:latin typeface="Calibri" panose="020F0502020204030204" pitchFamily="34" charset="0"/>
                <a:cs typeface="Calibri" panose="020F0502020204030204" pitchFamily="34" charset="0"/>
              </a:rPr>
              <a:t>, “An Integrated Approach to Software Engineering,” </a:t>
            </a:r>
            <a:r>
              <a:rPr lang="en-US" sz="1800" dirty="0" err="1">
                <a:latin typeface="Calibri" panose="020F0502020204030204" pitchFamily="34" charset="0"/>
                <a:cs typeface="Calibri" panose="020F0502020204030204" pitchFamily="34" charset="0"/>
              </a:rPr>
              <a:t>Narosa</a:t>
            </a:r>
            <a:r>
              <a:rPr lang="en-US" sz="1800" dirty="0">
                <a:latin typeface="Calibri" panose="020F0502020204030204" pitchFamily="34" charset="0"/>
                <a:cs typeface="Calibri" panose="020F0502020204030204" pitchFamily="34" charset="0"/>
              </a:rPr>
              <a:t>.</a:t>
            </a:r>
            <a:endParaRPr lang="en-IN" sz="1800" dirty="0">
              <a:latin typeface="Calibri" panose="020F0502020204030204" pitchFamily="34" charset="0"/>
              <a:cs typeface="Calibri" panose="020F0502020204030204" pitchFamily="34" charset="0"/>
            </a:endParaRPr>
          </a:p>
          <a:p>
            <a:pPr marL="285750" lvl="0" indent="-285750">
              <a:lnSpc>
                <a:spcPct val="20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Ghezzi, Jazayeri, </a:t>
            </a:r>
            <a:r>
              <a:rPr lang="en-US" sz="1800" dirty="0" err="1">
                <a:latin typeface="Calibri" panose="020F0502020204030204" pitchFamily="34" charset="0"/>
                <a:cs typeface="Calibri" panose="020F0502020204030204" pitchFamily="34" charset="0"/>
              </a:rPr>
              <a:t>Mandrioli</a:t>
            </a:r>
            <a:r>
              <a:rPr lang="en-US" sz="1800" dirty="0">
                <a:latin typeface="Calibri" panose="020F0502020204030204" pitchFamily="34" charset="0"/>
                <a:cs typeface="Calibri" panose="020F0502020204030204" pitchFamily="34" charset="0"/>
              </a:rPr>
              <a:t>, “Fundamentals of Software Engineering,” PHI.</a:t>
            </a:r>
            <a:endParaRPr lang="en-IN"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35429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B83A878-A8C8-7563-ACC5-60FA0ECC44FD}"/>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99A4CEF4-12CF-768B-A34D-158E7C86A758}"/>
              </a:ext>
            </a:extLst>
          </p:cNvPr>
          <p:cNvGrpSpPr/>
          <p:nvPr/>
        </p:nvGrpSpPr>
        <p:grpSpPr>
          <a:xfrm>
            <a:off x="616475" y="562737"/>
            <a:ext cx="8277101" cy="444600"/>
            <a:chOff x="0" y="6299"/>
            <a:chExt cx="5580934" cy="444600"/>
          </a:xfrm>
          <a:noFill/>
        </p:grpSpPr>
        <p:sp>
          <p:nvSpPr>
            <p:cNvPr id="109" name="Google Shape;109;p2">
              <a:extLst>
                <a:ext uri="{FF2B5EF4-FFF2-40B4-BE49-F238E27FC236}">
                  <a16:creationId xmlns:a16="http://schemas.microsoft.com/office/drawing/2014/main" id="{AF07FB58-ECE4-103C-FAE0-D4F3B657187C}"/>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3622E3EC-0CED-9721-7595-ED925977BC7E}"/>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Unit-I Syllabus </a:t>
              </a:r>
            </a:p>
          </p:txBody>
        </p:sp>
      </p:grpSp>
      <p:graphicFrame>
        <p:nvGraphicFramePr>
          <p:cNvPr id="2" name="Table 1">
            <a:extLst>
              <a:ext uri="{FF2B5EF4-FFF2-40B4-BE49-F238E27FC236}">
                <a16:creationId xmlns:a16="http://schemas.microsoft.com/office/drawing/2014/main" id="{EE777444-8FB4-66CE-F759-1573782085CD}"/>
              </a:ext>
            </a:extLst>
          </p:cNvPr>
          <p:cNvGraphicFramePr>
            <a:graphicFrameLocks noGrp="1"/>
          </p:cNvGraphicFramePr>
          <p:nvPr>
            <p:extLst>
              <p:ext uri="{D42A27DB-BD31-4B8C-83A1-F6EECF244321}">
                <p14:modId xmlns:p14="http://schemas.microsoft.com/office/powerpoint/2010/main" val="972064685"/>
              </p:ext>
            </p:extLst>
          </p:nvPr>
        </p:nvGraphicFramePr>
        <p:xfrm>
          <a:off x="648664" y="1176310"/>
          <a:ext cx="7452359" cy="3040809"/>
        </p:xfrm>
        <a:graphic>
          <a:graphicData uri="http://schemas.openxmlformats.org/drawingml/2006/table">
            <a:tbl>
              <a:tblPr firstRow="1" firstCol="1" bandRow="1">
                <a:tableStyleId>{2D5ABB26-0587-4C30-8999-92F81FD0307C}</a:tableStyleId>
              </a:tblPr>
              <a:tblGrid>
                <a:gridCol w="1764351">
                  <a:extLst>
                    <a:ext uri="{9D8B030D-6E8A-4147-A177-3AD203B41FA5}">
                      <a16:colId xmlns:a16="http://schemas.microsoft.com/office/drawing/2014/main" val="38313313"/>
                    </a:ext>
                  </a:extLst>
                </a:gridCol>
                <a:gridCol w="5688008">
                  <a:extLst>
                    <a:ext uri="{9D8B030D-6E8A-4147-A177-3AD203B41FA5}">
                      <a16:colId xmlns:a16="http://schemas.microsoft.com/office/drawing/2014/main" val="1926233377"/>
                    </a:ext>
                  </a:extLst>
                </a:gridCol>
              </a:tblGrid>
              <a:tr h="699564">
                <a:tc>
                  <a:txBody>
                    <a:bodyPr/>
                    <a:lstStyle/>
                    <a:p>
                      <a:pPr marR="0" algn="l" rtl="0">
                        <a:lnSpc>
                          <a:spcPct val="200000"/>
                        </a:lnSpc>
                        <a:spcBef>
                          <a:spcPts val="0"/>
                        </a:spcBef>
                        <a:spcAft>
                          <a:spcPts val="0"/>
                        </a:spcAft>
                        <a:buClr>
                          <a:srgbClr val="000000"/>
                        </a:buClr>
                        <a:buFont typeface="Arial"/>
                        <a:buNone/>
                      </a:pPr>
                      <a:r>
                        <a:rPr lang="en-US" sz="1800" b="1" i="0" u="none" strike="noStrike" cap="none" dirty="0">
                          <a:solidFill>
                            <a:srgbClr val="000000"/>
                          </a:solidFill>
                          <a:effectLst/>
                          <a:latin typeface="Calibri" panose="020F0502020204030204" pitchFamily="34" charset="0"/>
                          <a:ea typeface="+mn-ea"/>
                          <a:cs typeface="Calibri" panose="020F0502020204030204" pitchFamily="34" charset="0"/>
                          <a:sym typeface="Arial"/>
                        </a:rPr>
                        <a:t>Unit</a:t>
                      </a:r>
                      <a:r>
                        <a:rPr lang="en-GB" sz="1800" b="1" i="0" u="none" strike="noStrike" cap="none" dirty="0">
                          <a:solidFill>
                            <a:srgbClr val="000000"/>
                          </a:solidFill>
                          <a:effectLst/>
                          <a:latin typeface="Calibri" panose="020F0502020204030204" pitchFamily="34" charset="0"/>
                          <a:ea typeface="+mn-ea"/>
                          <a:cs typeface="Calibri" panose="020F0502020204030204" pitchFamily="34" charset="0"/>
                          <a:sym typeface="Arial"/>
                        </a:rPr>
                        <a:t>-1</a:t>
                      </a:r>
                      <a:endParaRPr lang="en-IN" sz="1800" b="1" i="0" u="none" strike="noStrike" cap="none" dirty="0">
                        <a:solidFill>
                          <a:srgbClr val="000000"/>
                        </a:solidFill>
                        <a:effectLst/>
                        <a:latin typeface="Calibri" panose="020F0502020204030204" pitchFamily="34" charset="0"/>
                        <a:ea typeface="+mn-ea"/>
                        <a:cs typeface="Calibri" panose="020F0502020204030204" pitchFamily="34" charset="0"/>
                        <a:sym typeface="Arial"/>
                      </a:endParaRPr>
                    </a:p>
                  </a:txBody>
                  <a:tcPr marL="68580" marR="6858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R="0" algn="l" rtl="0">
                        <a:lnSpc>
                          <a:spcPct val="150000"/>
                        </a:lnSpc>
                        <a:spcBef>
                          <a:spcPts val="0"/>
                        </a:spcBef>
                        <a:spcAft>
                          <a:spcPts val="0"/>
                        </a:spcAft>
                        <a:buClr>
                          <a:srgbClr val="000000"/>
                        </a:buClr>
                        <a:buFont typeface="Arial"/>
                        <a:buNone/>
                      </a:pPr>
                      <a:r>
                        <a:rPr lang="en-US" sz="1800" b="1" i="0" u="none" strike="noStrike" cap="none" dirty="0">
                          <a:solidFill>
                            <a:srgbClr val="000000"/>
                          </a:solidFill>
                          <a:effectLst/>
                          <a:latin typeface="Calibri" panose="020F0502020204030204" pitchFamily="34" charset="0"/>
                          <a:ea typeface="+mn-ea"/>
                          <a:cs typeface="Calibri" panose="020F0502020204030204" pitchFamily="34" charset="0"/>
                          <a:sym typeface="Arial"/>
                        </a:rPr>
                        <a:t>Unit 1: Software Process and Requirement Engineering (15 hours)</a:t>
                      </a:r>
                      <a:endParaRPr lang="en-IN" sz="1800" b="1" i="0" u="none" strike="noStrike" cap="none" dirty="0">
                        <a:solidFill>
                          <a:srgbClr val="000000"/>
                        </a:solidFill>
                        <a:effectLst/>
                        <a:latin typeface="Calibri" panose="020F0502020204030204" pitchFamily="34" charset="0"/>
                        <a:ea typeface="+mn-ea"/>
                        <a:cs typeface="Calibri" panose="020F0502020204030204" pitchFamily="34" charset="0"/>
                        <a:sym typeface="Arial"/>
                      </a:endParaRPr>
                    </a:p>
                  </a:txBody>
                  <a:tcPr marL="68580" marR="6858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955392206"/>
                  </a:ext>
                </a:extLst>
              </a:tr>
              <a:tr h="699564">
                <a:tc>
                  <a:txBody>
                    <a:bodyPr/>
                    <a:lstStyle/>
                    <a:p>
                      <a:pPr marR="0" rtl="0">
                        <a:lnSpc>
                          <a:spcPct val="200000"/>
                        </a:lnSpc>
                        <a:spcAft>
                          <a:spcPts val="800"/>
                        </a:spcAft>
                        <a:buClr>
                          <a:srgbClr val="000000"/>
                        </a:buClr>
                        <a:buNone/>
                      </a:pPr>
                      <a:r>
                        <a:rPr lang="en-US" sz="1800" b="1" i="0" u="none" strike="noStrike" cap="none" dirty="0">
                          <a:solidFill>
                            <a:srgbClr val="000000"/>
                          </a:solidFill>
                          <a:effectLst/>
                          <a:latin typeface="Calibri" panose="020F0502020204030204" pitchFamily="34" charset="0"/>
                          <a:cs typeface="Calibri" panose="020F0502020204030204" pitchFamily="34" charset="0"/>
                          <a:sym typeface="Arial"/>
                        </a:rPr>
                        <a:t>Chapter 1.1</a:t>
                      </a:r>
                      <a:endParaRPr lang="en-IN" sz="1800" b="1"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endParaRPr>
                    </a:p>
                  </a:txBody>
                  <a:tcPr marL="68580" marR="6858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R="0" rtl="0">
                        <a:lnSpc>
                          <a:spcPct val="150000"/>
                        </a:lnSpc>
                        <a:buClr>
                          <a:srgbClr val="000000"/>
                        </a:buClr>
                        <a:buNone/>
                      </a:pPr>
                      <a:r>
                        <a:rPr lang="en-US" sz="1800" b="0" i="0" u="none" strike="noStrike" cap="none" dirty="0">
                          <a:solidFill>
                            <a:srgbClr val="000000"/>
                          </a:solidFill>
                          <a:effectLst/>
                          <a:latin typeface="Calibri" panose="020F0502020204030204" pitchFamily="34" charset="0"/>
                          <a:cs typeface="Calibri" panose="020F0502020204030204" pitchFamily="34" charset="0"/>
                          <a:sym typeface="Arial"/>
                        </a:rPr>
                        <a:t>Software Engineering: Introduction, SDLC, Agile vs Traditional models.</a:t>
                      </a:r>
                      <a:endParaRPr lang="en-IN" sz="1800" b="0"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marL="68580" marR="6858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928326827"/>
                  </a:ext>
                </a:extLst>
              </a:tr>
              <a:tr h="699564">
                <a:tc>
                  <a:txBody>
                    <a:bodyPr/>
                    <a:lstStyle/>
                    <a:p>
                      <a:pPr marR="0" rtl="0">
                        <a:lnSpc>
                          <a:spcPct val="200000"/>
                        </a:lnSpc>
                        <a:spcAft>
                          <a:spcPts val="800"/>
                        </a:spcAft>
                        <a:buClr>
                          <a:srgbClr val="000000"/>
                        </a:buClr>
                        <a:buNone/>
                      </a:pPr>
                      <a:r>
                        <a:rPr lang="en-US" sz="1800" b="1" i="0" u="none" strike="noStrike" cap="none">
                          <a:solidFill>
                            <a:srgbClr val="000000"/>
                          </a:solidFill>
                          <a:effectLst/>
                          <a:latin typeface="Calibri" panose="020F0502020204030204" pitchFamily="34" charset="0"/>
                          <a:cs typeface="Calibri" panose="020F0502020204030204" pitchFamily="34" charset="0"/>
                          <a:sym typeface="Arial"/>
                        </a:rPr>
                        <a:t>Chapter 1.2</a:t>
                      </a:r>
                      <a:endParaRPr lang="en-IN" sz="1800" b="1" i="0" u="none" strike="noStrike" cap="none">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endParaRPr>
                    </a:p>
                  </a:txBody>
                  <a:tcPr marL="68580" marR="6858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R="0" rtl="0">
                        <a:lnSpc>
                          <a:spcPct val="150000"/>
                        </a:lnSpc>
                        <a:buClr>
                          <a:srgbClr val="000000"/>
                        </a:buClr>
                        <a:buNone/>
                      </a:pPr>
                      <a:r>
                        <a:rPr lang="en-US" sz="1800" b="0" i="0" u="none" strike="noStrike" cap="none" dirty="0">
                          <a:solidFill>
                            <a:srgbClr val="000000"/>
                          </a:solidFill>
                          <a:effectLst/>
                          <a:latin typeface="Calibri" panose="020F0502020204030204" pitchFamily="34" charset="0"/>
                          <a:cs typeface="Calibri" panose="020F0502020204030204" pitchFamily="34" charset="0"/>
                          <a:sym typeface="Arial"/>
                        </a:rPr>
                        <a:t>Requirement Engineering: Elicitation, Analysis, Specification, Validation.</a:t>
                      </a:r>
                      <a:endParaRPr lang="en-IN" sz="1800" b="0"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marL="68580" marR="6858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662942923"/>
                  </a:ext>
                </a:extLst>
              </a:tr>
              <a:tr h="699564">
                <a:tc>
                  <a:txBody>
                    <a:bodyPr/>
                    <a:lstStyle/>
                    <a:p>
                      <a:pPr marR="0" rtl="0">
                        <a:lnSpc>
                          <a:spcPct val="200000"/>
                        </a:lnSpc>
                        <a:spcAft>
                          <a:spcPts val="800"/>
                        </a:spcAft>
                        <a:buClr>
                          <a:srgbClr val="000000"/>
                        </a:buClr>
                        <a:buNone/>
                      </a:pPr>
                      <a:r>
                        <a:rPr lang="en-US" sz="1800" b="1" i="0" u="none" strike="noStrike" cap="none">
                          <a:solidFill>
                            <a:srgbClr val="000000"/>
                          </a:solidFill>
                          <a:effectLst/>
                          <a:latin typeface="Calibri" panose="020F0502020204030204" pitchFamily="34" charset="0"/>
                          <a:cs typeface="Calibri" panose="020F0502020204030204" pitchFamily="34" charset="0"/>
                          <a:sym typeface="Arial"/>
                        </a:rPr>
                        <a:t>Chapter 1.3</a:t>
                      </a:r>
                      <a:endParaRPr lang="en-IN" sz="1800" b="1" i="0" u="none" strike="noStrike" cap="none">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endParaRPr>
                    </a:p>
                  </a:txBody>
                  <a:tcPr marL="68580" marR="6858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R="0" rtl="0">
                        <a:lnSpc>
                          <a:spcPct val="150000"/>
                        </a:lnSpc>
                        <a:buClr>
                          <a:srgbClr val="000000"/>
                        </a:buClr>
                        <a:buNone/>
                      </a:pPr>
                      <a:r>
                        <a:rPr lang="en-US" sz="1800" b="0" i="0" u="none" strike="noStrike" cap="none" dirty="0">
                          <a:solidFill>
                            <a:srgbClr val="000000"/>
                          </a:solidFill>
                          <a:effectLst/>
                          <a:latin typeface="Calibri" panose="020F0502020204030204" pitchFamily="34" charset="0"/>
                          <a:cs typeface="Calibri" panose="020F0502020204030204" pitchFamily="34" charset="0"/>
                          <a:sym typeface="Arial"/>
                        </a:rPr>
                        <a:t>Case Studies: Requirements in online payment systems.</a:t>
                      </a:r>
                      <a:endParaRPr lang="en-IN" sz="1800" b="0"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marL="68580" marR="6858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665356180"/>
                  </a:ext>
                </a:extLst>
              </a:tr>
            </a:tbl>
          </a:graphicData>
        </a:graphic>
      </p:graphicFrame>
    </p:spTree>
    <p:extLst>
      <p:ext uri="{BB962C8B-B14F-4D97-AF65-F5344CB8AC3E}">
        <p14:creationId xmlns:p14="http://schemas.microsoft.com/office/powerpoint/2010/main" val="26912309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D2933D2-A694-4C02-9490-F8DF1D65E6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D457F1-73E5-C92E-69E7-B0F511A25100}"/>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Table of Contents</a:t>
            </a:r>
          </a:p>
        </p:txBody>
      </p:sp>
      <p:sp>
        <p:nvSpPr>
          <p:cNvPr id="3" name="Rectangle 2">
            <a:extLst>
              <a:ext uri="{FF2B5EF4-FFF2-40B4-BE49-F238E27FC236}">
                <a16:creationId xmlns:a16="http://schemas.microsoft.com/office/drawing/2014/main" id="{24A4B515-1583-F553-4D7C-021764E7BA41}"/>
              </a:ext>
            </a:extLst>
          </p:cNvPr>
          <p:cNvSpPr/>
          <p:nvPr/>
        </p:nvSpPr>
        <p:spPr>
          <a:xfrm>
            <a:off x="808264" y="1033556"/>
            <a:ext cx="8085312" cy="3737946"/>
          </a:xfrm>
          <a:prstGeom prst="rect">
            <a:avLst/>
          </a:prstGeom>
        </p:spPr>
        <p:txBody>
          <a:bodyPr wrap="square">
            <a:spAutoFit/>
          </a:bodyPr>
          <a:lstStyle/>
          <a:p>
            <a:pPr marL="285750" indent="-285750" algn="just">
              <a:lnSpc>
                <a:spcPct val="150000"/>
              </a:lnSpc>
              <a:buFont typeface="Times New Roman" panose="02020603050405020304" pitchFamily="18" charset="0"/>
              <a:buChar char="֍"/>
            </a:pPr>
            <a:r>
              <a:rPr lang="en-US" sz="2000" dirty="0">
                <a:latin typeface="Calibri" panose="020F0502020204030204" pitchFamily="34" charset="0"/>
                <a:ea typeface="Calibri" panose="020F0502020204030204" pitchFamily="34" charset="0"/>
                <a:cs typeface="Calibri" panose="020F0502020204030204" pitchFamily="34" charset="0"/>
              </a:rPr>
              <a:t>Basic Definitions </a:t>
            </a:r>
          </a:p>
          <a:p>
            <a:pPr marL="285750" indent="-285750" algn="just">
              <a:lnSpc>
                <a:spcPct val="150000"/>
              </a:lnSpc>
              <a:buFont typeface="Times New Roman" panose="02020603050405020304" pitchFamily="18" charset="0"/>
              <a:buChar char="֍"/>
            </a:pPr>
            <a:r>
              <a:rPr lang="en-US" sz="2000" dirty="0">
                <a:latin typeface="Calibri" panose="020F0502020204030204" pitchFamily="34" charset="0"/>
                <a:ea typeface="Calibri" panose="020F0502020204030204" pitchFamily="34" charset="0"/>
                <a:cs typeface="Calibri" panose="020F0502020204030204" pitchFamily="34" charset="0"/>
              </a:rPr>
              <a:t>Software vs Program </a:t>
            </a:r>
          </a:p>
          <a:p>
            <a:pPr marL="285750" indent="-285750" algn="just">
              <a:lnSpc>
                <a:spcPct val="150000"/>
              </a:lnSpc>
              <a:buFont typeface="Times New Roman" panose="02020603050405020304" pitchFamily="18"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Types of software </a:t>
            </a:r>
          </a:p>
          <a:p>
            <a:pPr marL="285750" indent="-285750" algn="just">
              <a:lnSpc>
                <a:spcPct val="150000"/>
              </a:lnSpc>
              <a:buFont typeface="Times New Roman" panose="02020603050405020304" pitchFamily="18" charset="0"/>
              <a:buChar char="֍"/>
            </a:pPr>
            <a:r>
              <a:rPr lang="en-US" sz="2000" dirty="0">
                <a:latin typeface="Calibri" panose="020F0502020204030204" pitchFamily="34" charset="0"/>
                <a:ea typeface="Calibri" panose="020F0502020204030204" pitchFamily="34" charset="0"/>
                <a:cs typeface="Calibri" panose="020F0502020204030204" pitchFamily="34" charset="0"/>
              </a:rPr>
              <a:t>Issues /Challenges</a:t>
            </a:r>
          </a:p>
          <a:p>
            <a:pPr marL="285750" indent="-285750" algn="just">
              <a:lnSpc>
                <a:spcPct val="150000"/>
              </a:lnSpc>
              <a:buFont typeface="Times New Roman" panose="02020603050405020304" pitchFamily="18" charset="0"/>
              <a:buChar char="֍"/>
            </a:pPr>
            <a:r>
              <a:rPr lang="en-GB" sz="2000" kern="1200" dirty="0">
                <a:solidFill>
                  <a:srgbClr val="46424D"/>
                </a:solidFill>
                <a:latin typeface="Calibri" panose="020F0502020204030204" pitchFamily="34" charset="0"/>
                <a:ea typeface="ＭＳ Ｐゴシック" charset="-128"/>
                <a:cs typeface="Calibri" panose="020F0502020204030204" pitchFamily="34" charset="0"/>
              </a:rPr>
              <a:t>Attributes Of Good Software</a:t>
            </a:r>
            <a:r>
              <a:rPr lang="en-US" sz="2000" dirty="0">
                <a:latin typeface="Calibri" panose="020F0502020204030204" pitchFamily="34" charset="0"/>
                <a:ea typeface="Calibri" panose="020F0502020204030204" pitchFamily="34" charset="0"/>
                <a:cs typeface="Calibri" panose="020F0502020204030204" pitchFamily="34" charset="0"/>
              </a:rPr>
              <a:t> </a:t>
            </a:r>
          </a:p>
          <a:p>
            <a:pPr marL="285750" indent="-285750" algn="just">
              <a:lnSpc>
                <a:spcPct val="150000"/>
              </a:lnSpc>
              <a:buFont typeface="Times New Roman" panose="02020603050405020304" pitchFamily="18" charset="0"/>
              <a:buChar char="֍"/>
            </a:pPr>
            <a:r>
              <a:rPr lang="en-US" sz="2000" dirty="0">
                <a:latin typeface="Calibri" panose="020F0502020204030204" pitchFamily="34" charset="0"/>
                <a:ea typeface="Calibri" panose="020F0502020204030204" pitchFamily="34" charset="0"/>
                <a:cs typeface="Calibri" panose="020F0502020204030204" pitchFamily="34" charset="0"/>
              </a:rPr>
              <a:t>Introduction to Software Engineering</a:t>
            </a:r>
          </a:p>
          <a:p>
            <a:pPr marL="285750" indent="-285750" algn="just">
              <a:lnSpc>
                <a:spcPct val="150000"/>
              </a:lnSpc>
              <a:buFont typeface="Times New Roman" panose="02020603050405020304" pitchFamily="18" charset="0"/>
              <a:buChar char="֍"/>
            </a:pPr>
            <a:r>
              <a:rPr lang="en-IN" sz="2000" dirty="0">
                <a:latin typeface="Calibri" panose="020F0502020204030204" pitchFamily="34" charset="0"/>
                <a:ea typeface="Calibri" panose="020F0502020204030204" pitchFamily="34" charset="0"/>
                <a:cs typeface="Calibri" panose="020F0502020204030204" pitchFamily="34" charset="0"/>
              </a:rPr>
              <a:t>Principles of Software Engineering </a:t>
            </a:r>
          </a:p>
          <a:p>
            <a:pPr marL="285750" indent="-285750" algn="just">
              <a:lnSpc>
                <a:spcPct val="150000"/>
              </a:lnSpc>
              <a:buFont typeface="Times New Roman" panose="02020603050405020304" pitchFamily="18" charset="0"/>
              <a:buChar char="֍"/>
            </a:pPr>
            <a:r>
              <a:rPr lang="en-IN" sz="2000" dirty="0">
                <a:latin typeface="Calibri" panose="020F0502020204030204" pitchFamily="34" charset="0"/>
                <a:ea typeface="Calibri" panose="020F0502020204030204" pitchFamily="34" charset="0"/>
                <a:cs typeface="Calibri" panose="020F0502020204030204" pitchFamily="34" charset="0"/>
              </a:rPr>
              <a:t>Summary </a:t>
            </a:r>
          </a:p>
        </p:txBody>
      </p:sp>
    </p:spTree>
    <p:extLst>
      <p:ext uri="{BB962C8B-B14F-4D97-AF65-F5344CB8AC3E}">
        <p14:creationId xmlns:p14="http://schemas.microsoft.com/office/powerpoint/2010/main" val="164736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3D4904D-0FD1-CBAE-75E0-0CFD3F57E94B}"/>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0B6DAA06-5806-E756-E96C-DD15265B4A30}"/>
              </a:ext>
            </a:extLst>
          </p:cNvPr>
          <p:cNvGrpSpPr/>
          <p:nvPr/>
        </p:nvGrpSpPr>
        <p:grpSpPr>
          <a:xfrm>
            <a:off x="783770" y="218172"/>
            <a:ext cx="8946970" cy="576784"/>
            <a:chOff x="0" y="6299"/>
            <a:chExt cx="5580934" cy="576784"/>
          </a:xfrm>
          <a:noFill/>
        </p:grpSpPr>
        <p:sp>
          <p:nvSpPr>
            <p:cNvPr id="109" name="Google Shape;109;p2">
              <a:extLst>
                <a:ext uri="{FF2B5EF4-FFF2-40B4-BE49-F238E27FC236}">
                  <a16:creationId xmlns:a16="http://schemas.microsoft.com/office/drawing/2014/main" id="{DFE893A7-32B8-085A-3D74-C0963B465C82}"/>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EAD54701-8F9C-B502-AF02-9EBB92F70E84}"/>
                </a:ext>
              </a:extLst>
            </p:cNvPr>
            <p:cNvSpPr txBox="1"/>
            <p:nvPr/>
          </p:nvSpPr>
          <p:spPr>
            <a:xfrm>
              <a:off x="0" y="181891"/>
              <a:ext cx="5035918"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Basic Definitions  </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graphicFrame>
        <p:nvGraphicFramePr>
          <p:cNvPr id="5" name="Diagram 4">
            <a:extLst>
              <a:ext uri="{FF2B5EF4-FFF2-40B4-BE49-F238E27FC236}">
                <a16:creationId xmlns:a16="http://schemas.microsoft.com/office/drawing/2014/main" id="{A0FB25DA-C5B0-62F5-329E-A18B323338E4}"/>
              </a:ext>
            </a:extLst>
          </p:cNvPr>
          <p:cNvGraphicFramePr/>
          <p:nvPr>
            <p:extLst>
              <p:ext uri="{D42A27DB-BD31-4B8C-83A1-F6EECF244321}">
                <p14:modId xmlns:p14="http://schemas.microsoft.com/office/powerpoint/2010/main" val="3895277613"/>
              </p:ext>
            </p:extLst>
          </p:nvPr>
        </p:nvGraphicFramePr>
        <p:xfrm>
          <a:off x="818564" y="1264670"/>
          <a:ext cx="7411036" cy="24500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5370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38F69D1-D6EC-E0F5-C482-652AADD59D8E}"/>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4F0020BA-D896-9475-544F-4130AA8E0AF4}"/>
              </a:ext>
            </a:extLst>
          </p:cNvPr>
          <p:cNvGrpSpPr/>
          <p:nvPr/>
        </p:nvGrpSpPr>
        <p:grpSpPr>
          <a:xfrm>
            <a:off x="783770" y="218172"/>
            <a:ext cx="8946970" cy="444600"/>
            <a:chOff x="0" y="6299"/>
            <a:chExt cx="5580934" cy="444600"/>
          </a:xfrm>
          <a:noFill/>
        </p:grpSpPr>
        <p:sp>
          <p:nvSpPr>
            <p:cNvPr id="109" name="Google Shape;109;p2">
              <a:extLst>
                <a:ext uri="{FF2B5EF4-FFF2-40B4-BE49-F238E27FC236}">
                  <a16:creationId xmlns:a16="http://schemas.microsoft.com/office/drawing/2014/main" id="{67FA2326-FD1C-AC9C-D682-42F0C22D3329}"/>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ABCA1167-7493-D3C0-708B-6A45D4EA0B92}"/>
                </a:ext>
              </a:extLst>
            </p:cNvPr>
            <p:cNvSpPr txBox="1"/>
            <p:nvPr/>
          </p:nvSpPr>
          <p:spPr>
            <a:xfrm>
              <a:off x="21704" y="28003"/>
              <a:ext cx="5035918"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Types of Software </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pic>
        <p:nvPicPr>
          <p:cNvPr id="12" name="Picture 11">
            <a:extLst>
              <a:ext uri="{FF2B5EF4-FFF2-40B4-BE49-F238E27FC236}">
                <a16:creationId xmlns:a16="http://schemas.microsoft.com/office/drawing/2014/main" id="{5341A397-0750-FA5E-76C6-7A4815AC167F}"/>
              </a:ext>
            </a:extLst>
          </p:cNvPr>
          <p:cNvPicPr>
            <a:picLocks noChangeAspect="1"/>
          </p:cNvPicPr>
          <p:nvPr/>
        </p:nvPicPr>
        <p:blipFill>
          <a:blip r:embed="rId3"/>
          <a:stretch>
            <a:fillRect/>
          </a:stretch>
        </p:blipFill>
        <p:spPr>
          <a:xfrm>
            <a:off x="1830676" y="1089892"/>
            <a:ext cx="5482648" cy="3524014"/>
          </a:xfrm>
          <a:prstGeom prst="rect">
            <a:avLst/>
          </a:prstGeom>
        </p:spPr>
      </p:pic>
    </p:spTree>
    <p:extLst>
      <p:ext uri="{BB962C8B-B14F-4D97-AF65-F5344CB8AC3E}">
        <p14:creationId xmlns:p14="http://schemas.microsoft.com/office/powerpoint/2010/main" val="651603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0EBD51C-694C-CEA2-3030-B7C63A6EFC64}"/>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817BCB9D-BED0-1895-4969-0F042B6258E6}"/>
              </a:ext>
            </a:extLst>
          </p:cNvPr>
          <p:cNvGrpSpPr/>
          <p:nvPr/>
        </p:nvGrpSpPr>
        <p:grpSpPr>
          <a:xfrm>
            <a:off x="783770" y="218172"/>
            <a:ext cx="8946970" cy="444600"/>
            <a:chOff x="0" y="6299"/>
            <a:chExt cx="5580934" cy="444600"/>
          </a:xfrm>
          <a:noFill/>
        </p:grpSpPr>
        <p:sp>
          <p:nvSpPr>
            <p:cNvPr id="109" name="Google Shape;109;p2">
              <a:extLst>
                <a:ext uri="{FF2B5EF4-FFF2-40B4-BE49-F238E27FC236}">
                  <a16:creationId xmlns:a16="http://schemas.microsoft.com/office/drawing/2014/main" id="{A884D9A6-17E9-19AE-4284-478DAC56F8DF}"/>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84943C81-CB5E-0423-EFC3-EAEC3C6D7A72}"/>
                </a:ext>
              </a:extLst>
            </p:cNvPr>
            <p:cNvSpPr txBox="1"/>
            <p:nvPr/>
          </p:nvSpPr>
          <p:spPr>
            <a:xfrm>
              <a:off x="21704" y="28003"/>
              <a:ext cx="5035918"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5" name="TextBox 4">
            <a:extLst>
              <a:ext uri="{FF2B5EF4-FFF2-40B4-BE49-F238E27FC236}">
                <a16:creationId xmlns:a16="http://schemas.microsoft.com/office/drawing/2014/main" id="{F38762BE-0591-D21A-A328-A2CBCCD36C6C}"/>
              </a:ext>
            </a:extLst>
          </p:cNvPr>
          <p:cNvSpPr txBox="1"/>
          <p:nvPr/>
        </p:nvSpPr>
        <p:spPr>
          <a:xfrm>
            <a:off x="981456" y="162931"/>
            <a:ext cx="7781544" cy="707886"/>
          </a:xfrm>
          <a:prstGeom prst="rect">
            <a:avLst/>
          </a:prstGeom>
          <a:noFill/>
        </p:spPr>
        <p:txBody>
          <a:bodyPr wrap="square">
            <a:spAutoFit/>
          </a:bodyPr>
          <a:lstStyle/>
          <a:p>
            <a:pPr algn="ctr"/>
            <a:r>
              <a:rPr kumimoji="0" lang="en-US" sz="4000" b="1" i="0" u="none" strike="noStrike" kern="1200" cap="none" spc="0" normalizeH="0" baseline="0" noProof="0" dirty="0">
                <a:ln>
                  <a:noFill/>
                </a:ln>
                <a:solidFill>
                  <a:srgbClr val="46424D"/>
                </a:solidFill>
                <a:effectLst/>
                <a:uLnTx/>
                <a:uFillTx/>
                <a:latin typeface="Calibri" panose="020F0502020204030204" pitchFamily="34" charset="0"/>
                <a:ea typeface="ＭＳ Ｐゴシック" charset="-128"/>
                <a:cs typeface="Calibri" panose="020F0502020204030204" pitchFamily="34" charset="0"/>
              </a:rPr>
              <a:t>Software products</a:t>
            </a:r>
            <a:endParaRPr lang="en-IN" sz="2400" dirty="0">
              <a:latin typeface="Calibri" panose="020F0502020204030204" pitchFamily="34" charset="0"/>
              <a:cs typeface="Calibri" panose="020F0502020204030204" pitchFamily="34" charset="0"/>
            </a:endParaRPr>
          </a:p>
        </p:txBody>
      </p:sp>
      <p:sp>
        <p:nvSpPr>
          <p:cNvPr id="7" name="Content Placeholder 2">
            <a:extLst>
              <a:ext uri="{FF2B5EF4-FFF2-40B4-BE49-F238E27FC236}">
                <a16:creationId xmlns:a16="http://schemas.microsoft.com/office/drawing/2014/main" id="{D915FF92-A02E-8AA4-EE3D-5F2A29D90527}"/>
              </a:ext>
            </a:extLst>
          </p:cNvPr>
          <p:cNvSpPr txBox="1">
            <a:spLocks/>
          </p:cNvSpPr>
          <p:nvPr/>
        </p:nvSpPr>
        <p:spPr>
          <a:xfrm>
            <a:off x="662202" y="954024"/>
            <a:ext cx="8229600" cy="4525963"/>
          </a:xfrm>
          <a:prstGeom prst="rect">
            <a:avLst/>
          </a:prstGeom>
        </p:spPr>
        <p:txBody>
          <a:bodyPr/>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base" latinLnBrk="0" hangingPunct="1">
              <a:lnSpc>
                <a:spcPct val="100000"/>
              </a:lnSpc>
              <a:spcBef>
                <a:spcPts val="600"/>
              </a:spcBef>
              <a:spcAft>
                <a:spcPts val="600"/>
              </a:spcAft>
              <a:buClrTx/>
              <a:buSzTx/>
              <a:buFont typeface="Wingdings" charset="2"/>
              <a:buChar char="²"/>
              <a:tabLst/>
              <a:defRPr/>
            </a:pPr>
            <a:r>
              <a:rPr kumimoji="0" lang="en-US" sz="2000" b="1"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Generic products</a:t>
            </a:r>
          </a:p>
          <a:p>
            <a:pPr marL="742950" marR="0" lvl="1" indent="-285750" algn="just" defTabSz="457200" rtl="0" eaLnBrk="1" fontAlgn="base" latinLnBrk="0" hangingPunct="1">
              <a:lnSpc>
                <a:spcPct val="100000"/>
              </a:lnSpc>
              <a:spcBef>
                <a:spcPts val="300"/>
              </a:spcBef>
              <a:spcAft>
                <a:spcPts val="300"/>
              </a:spcAft>
              <a:buClrTx/>
              <a:buSzTx/>
              <a:buFont typeface="Wingdings" charset="2"/>
              <a:buChar char="§"/>
              <a:tabLst/>
              <a:defRPr/>
            </a:pPr>
            <a:r>
              <a:rPr kumimoji="0" lang="en-US"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Stand-alone systems that are marketed and sold to any customer who wishes to buy them.</a:t>
            </a:r>
          </a:p>
          <a:p>
            <a:pPr marL="742950" marR="0" lvl="1" indent="-285750" algn="just" defTabSz="457200" rtl="0" eaLnBrk="1" fontAlgn="base" latinLnBrk="0" hangingPunct="1">
              <a:lnSpc>
                <a:spcPct val="100000"/>
              </a:lnSpc>
              <a:spcBef>
                <a:spcPts val="300"/>
              </a:spcBef>
              <a:spcAft>
                <a:spcPts val="300"/>
              </a:spcAft>
              <a:buClrTx/>
              <a:buSzTx/>
              <a:buFont typeface="Wingdings" charset="2"/>
              <a:buChar char="§"/>
              <a:tabLst/>
              <a:defRPr/>
            </a:pPr>
            <a:r>
              <a:rPr kumimoji="0" lang="en-US"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Examples – PC software such as graphics programs, project management tools; CAD software; software for specific markets such as appointment systems for dentists.</a:t>
            </a:r>
          </a:p>
          <a:p>
            <a:pPr algn="just">
              <a:buClrTx/>
              <a:defRPr/>
            </a:pPr>
            <a:r>
              <a:rPr lang="en-US" sz="2000" b="1" dirty="0">
                <a:latin typeface="Calibri" panose="020F0502020204030204" pitchFamily="34" charset="0"/>
                <a:cs typeface="Calibri" panose="020F0502020204030204" pitchFamily="34" charset="0"/>
              </a:rPr>
              <a:t>Customized products</a:t>
            </a:r>
          </a:p>
          <a:p>
            <a:pPr marL="742950" marR="0" lvl="1" indent="-285750" algn="just" defTabSz="457200" rtl="0" eaLnBrk="1" fontAlgn="base" latinLnBrk="0" hangingPunct="1">
              <a:lnSpc>
                <a:spcPct val="100000"/>
              </a:lnSpc>
              <a:spcBef>
                <a:spcPts val="300"/>
              </a:spcBef>
              <a:spcAft>
                <a:spcPts val="300"/>
              </a:spcAft>
              <a:buClrTx/>
              <a:buSzTx/>
              <a:buFont typeface="Wingdings" charset="2"/>
              <a:buChar char="§"/>
              <a:tabLst/>
              <a:defRPr/>
            </a:pPr>
            <a:r>
              <a:rPr kumimoji="0" lang="en-US"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Software that is commissioned by a specific customer to meet their own needs. </a:t>
            </a:r>
          </a:p>
          <a:p>
            <a:pPr marL="742950" marR="0" lvl="1" indent="-285750" algn="just" defTabSz="457200" rtl="0" eaLnBrk="1" fontAlgn="base" latinLnBrk="0" hangingPunct="1">
              <a:lnSpc>
                <a:spcPct val="100000"/>
              </a:lnSpc>
              <a:spcBef>
                <a:spcPts val="300"/>
              </a:spcBef>
              <a:spcAft>
                <a:spcPts val="300"/>
              </a:spcAft>
              <a:buClrTx/>
              <a:buSzTx/>
              <a:buFont typeface="Wingdings" charset="2"/>
              <a:buChar char="§"/>
              <a:tabLst/>
              <a:defRPr/>
            </a:pPr>
            <a:r>
              <a:rPr kumimoji="0" lang="en-US"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Examples – embedded control systems, air traffic control software, traffic monitoring systems</a:t>
            </a:r>
            <a:r>
              <a:rPr kumimoji="0" lang="en-US" sz="1800" b="0" i="0" u="none" strike="noStrike" kern="1200" cap="none" spc="0" normalizeH="0" baseline="0" noProof="0" dirty="0">
                <a:ln>
                  <a:noFill/>
                </a:ln>
                <a:solidFill>
                  <a:srgbClr val="46424D"/>
                </a:solidFill>
                <a:effectLst/>
                <a:uLnTx/>
                <a:uFillTx/>
                <a:latin typeface="Arial"/>
                <a:ea typeface="ＭＳ Ｐゴシック" charset="-128"/>
                <a:cs typeface="Arial"/>
              </a:rPr>
              <a:t>.</a:t>
            </a:r>
          </a:p>
        </p:txBody>
      </p:sp>
    </p:spTree>
    <p:extLst>
      <p:ext uri="{BB962C8B-B14F-4D97-AF65-F5344CB8AC3E}">
        <p14:creationId xmlns:p14="http://schemas.microsoft.com/office/powerpoint/2010/main" val="2942761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B9819D45-CCE7-1005-1404-A308F63719F8}"/>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C2E07AE2-507F-AC4F-8C4F-935F3A2C6C19}"/>
              </a:ext>
            </a:extLst>
          </p:cNvPr>
          <p:cNvGrpSpPr/>
          <p:nvPr/>
        </p:nvGrpSpPr>
        <p:grpSpPr>
          <a:xfrm>
            <a:off x="783770" y="218172"/>
            <a:ext cx="8946970" cy="444600"/>
            <a:chOff x="0" y="6299"/>
            <a:chExt cx="5580934" cy="444600"/>
          </a:xfrm>
          <a:noFill/>
        </p:grpSpPr>
        <p:sp>
          <p:nvSpPr>
            <p:cNvPr id="109" name="Google Shape;109;p2">
              <a:extLst>
                <a:ext uri="{FF2B5EF4-FFF2-40B4-BE49-F238E27FC236}">
                  <a16:creationId xmlns:a16="http://schemas.microsoft.com/office/drawing/2014/main" id="{3FA72604-AC71-A388-28E3-EB8083484B9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9BBBBDE5-CDB3-AC5C-F690-89D97B932730}"/>
                </a:ext>
              </a:extLst>
            </p:cNvPr>
            <p:cNvSpPr txBox="1"/>
            <p:nvPr/>
          </p:nvSpPr>
          <p:spPr>
            <a:xfrm>
              <a:off x="21704" y="28003"/>
              <a:ext cx="5035918" cy="401192"/>
            </a:xfrm>
            <a:prstGeom prst="rect">
              <a:avLst/>
            </a:prstGeom>
            <a:grpFill/>
            <a:ln>
              <a:noFill/>
            </a:ln>
          </p:spPr>
          <p:txBody>
            <a:bodyPr spcFirstLastPara="1" wrap="square" lIns="72375" tIns="72375" rIns="72375" bIns="72375" anchor="ctr" anchorCtr="0">
              <a:noAutofit/>
            </a:bodyPr>
            <a:lstStyle/>
            <a:p>
              <a:pPr marL="0" lvl="0" indent="0" algn="ctr">
                <a:buSzPts val="1900"/>
                <a:buFont typeface="Arial"/>
                <a:buNone/>
              </a:pPr>
              <a:r>
                <a:rPr lang="en-US" sz="4000" b="1" kern="1200" dirty="0">
                  <a:solidFill>
                    <a:srgbClr val="46424D"/>
                  </a:solidFill>
                  <a:latin typeface="Calibri" panose="020F0502020204030204" pitchFamily="34" charset="0"/>
                  <a:ea typeface="ＭＳ Ｐゴシック" charset="-128"/>
                  <a:cs typeface="Calibri" panose="020F0502020204030204" pitchFamily="34" charset="0"/>
                </a:rPr>
                <a:t>Product specification</a:t>
              </a:r>
            </a:p>
          </p:txBody>
        </p:sp>
      </p:grpSp>
      <p:sp>
        <p:nvSpPr>
          <p:cNvPr id="2" name="Content Placeholder 2">
            <a:extLst>
              <a:ext uri="{FF2B5EF4-FFF2-40B4-BE49-F238E27FC236}">
                <a16:creationId xmlns:a16="http://schemas.microsoft.com/office/drawing/2014/main" id="{ECEC39DD-C0DD-5B8D-4739-80D434BB1096}"/>
              </a:ext>
            </a:extLst>
          </p:cNvPr>
          <p:cNvSpPr txBox="1">
            <a:spLocks/>
          </p:cNvSpPr>
          <p:nvPr/>
        </p:nvSpPr>
        <p:spPr>
          <a:xfrm>
            <a:off x="783770" y="1051560"/>
            <a:ext cx="7621321" cy="4525963"/>
          </a:xfrm>
          <a:prstGeom prst="rect">
            <a:avLst/>
          </a:prstGeom>
        </p:spPr>
        <p:txBody>
          <a:bodyPr/>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lvl="0" indent="-342900" latinLnBrk="0">
              <a:spcBef>
                <a:spcPts val="600"/>
              </a:spcBef>
              <a:spcAft>
                <a:spcPts val="600"/>
              </a:spcAft>
              <a:buClrTx/>
              <a:buSzTx/>
              <a:buFont typeface="Wingdings" charset="2"/>
              <a:buChar char="²"/>
              <a:tabLst/>
              <a:defRPr/>
            </a:pPr>
            <a:r>
              <a:rPr lang="en-US" sz="2000" b="1" dirty="0">
                <a:latin typeface="Calibri" panose="020F0502020204030204" pitchFamily="34" charset="0"/>
                <a:cs typeface="Calibri" panose="020F0502020204030204" pitchFamily="34" charset="0"/>
              </a:rPr>
              <a:t>Generic products</a:t>
            </a:r>
          </a:p>
          <a:p>
            <a:pPr marL="742950" lvl="1" indent="-285750" algn="just" latinLnBrk="0">
              <a:spcBef>
                <a:spcPts val="300"/>
              </a:spcBef>
              <a:spcAft>
                <a:spcPts val="300"/>
              </a:spcAft>
              <a:buClrTx/>
              <a:buSzTx/>
              <a:buFont typeface="Wingdings" charset="2"/>
              <a:buChar char="§"/>
              <a:tabLst/>
              <a:defRPr/>
            </a:pPr>
            <a:r>
              <a:rPr lang="en-US" dirty="0">
                <a:latin typeface="Calibri" panose="020F0502020204030204" pitchFamily="34" charset="0"/>
                <a:cs typeface="Calibri" panose="020F0502020204030204" pitchFamily="34" charset="0"/>
              </a:rPr>
              <a:t>The specification of what the software should do is owned by the software developer and decisions on software change are made by the developer.</a:t>
            </a:r>
          </a:p>
          <a:p>
            <a:pPr marL="342900" lvl="0" indent="-342900" algn="just" latinLnBrk="0">
              <a:spcBef>
                <a:spcPts val="600"/>
              </a:spcBef>
              <a:spcAft>
                <a:spcPts val="600"/>
              </a:spcAft>
              <a:buClrTx/>
              <a:buSzTx/>
              <a:buFont typeface="Wingdings" charset="2"/>
              <a:buChar char="²"/>
              <a:tabLst/>
              <a:defRPr/>
            </a:pPr>
            <a:r>
              <a:rPr lang="en-US" sz="2000" b="1" dirty="0">
                <a:latin typeface="Calibri" panose="020F0502020204030204" pitchFamily="34" charset="0"/>
                <a:cs typeface="Calibri" panose="020F0502020204030204" pitchFamily="34" charset="0"/>
              </a:rPr>
              <a:t>Customized products</a:t>
            </a:r>
          </a:p>
          <a:p>
            <a:pPr marL="742950" lvl="1" indent="-285750" algn="just" latinLnBrk="0">
              <a:spcBef>
                <a:spcPts val="300"/>
              </a:spcBef>
              <a:spcAft>
                <a:spcPts val="300"/>
              </a:spcAft>
              <a:buClrTx/>
              <a:buSzTx/>
              <a:buFont typeface="Wingdings" charset="2"/>
              <a:buChar char="§"/>
              <a:tabLst/>
              <a:defRPr/>
            </a:pPr>
            <a:r>
              <a:rPr lang="en-US" dirty="0">
                <a:latin typeface="Calibri" panose="020F0502020204030204" pitchFamily="34" charset="0"/>
                <a:cs typeface="Calibri" panose="020F0502020204030204" pitchFamily="34" charset="0"/>
              </a:rPr>
              <a:t>The specification of what the software should do is owned by the customer for the software and they make decisions on software changes that are required.</a:t>
            </a:r>
          </a:p>
        </p:txBody>
      </p:sp>
    </p:spTree>
    <p:extLst>
      <p:ext uri="{BB962C8B-B14F-4D97-AF65-F5344CB8AC3E}">
        <p14:creationId xmlns:p14="http://schemas.microsoft.com/office/powerpoint/2010/main" val="757202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72E0F64-742E-E5EB-8B4E-C500EDD8B691}"/>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B978BBDB-9890-29B5-3AEC-73B7449C76AF}"/>
              </a:ext>
            </a:extLst>
          </p:cNvPr>
          <p:cNvGrpSpPr/>
          <p:nvPr/>
        </p:nvGrpSpPr>
        <p:grpSpPr>
          <a:xfrm>
            <a:off x="736270" y="218172"/>
            <a:ext cx="8288976" cy="444600"/>
            <a:chOff x="0" y="6299"/>
            <a:chExt cx="5580934" cy="444600"/>
          </a:xfrm>
          <a:noFill/>
        </p:grpSpPr>
        <p:sp>
          <p:nvSpPr>
            <p:cNvPr id="109" name="Google Shape;109;p2">
              <a:extLst>
                <a:ext uri="{FF2B5EF4-FFF2-40B4-BE49-F238E27FC236}">
                  <a16:creationId xmlns:a16="http://schemas.microsoft.com/office/drawing/2014/main" id="{6539632E-0FA6-40A0-BF4A-4770E33B47E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EA475726-F75B-CCF6-70FA-8B1877FA55E8}"/>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algn="ctr">
                <a:buSzPts val="1900"/>
              </a:pPr>
              <a:r>
                <a:rPr lang="en-US" sz="4000" b="1" kern="1200" dirty="0">
                  <a:solidFill>
                    <a:srgbClr val="46424D"/>
                  </a:solidFill>
                  <a:latin typeface="Calibri" panose="020F0502020204030204" pitchFamily="34" charset="0"/>
                  <a:ea typeface="ＭＳ Ｐゴシック" charset="-128"/>
                  <a:cs typeface="Calibri" panose="020F0502020204030204" pitchFamily="34" charset="0"/>
                </a:rPr>
                <a:t>General Issues That Affect Software</a:t>
              </a:r>
            </a:p>
          </p:txBody>
        </p:sp>
      </p:grpSp>
      <p:sp>
        <p:nvSpPr>
          <p:cNvPr id="111" name="Google Shape;111;p2">
            <a:extLst>
              <a:ext uri="{FF2B5EF4-FFF2-40B4-BE49-F238E27FC236}">
                <a16:creationId xmlns:a16="http://schemas.microsoft.com/office/drawing/2014/main" id="{6005F649-F7DD-E15E-CE01-49A3423A11ED}"/>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2" name="Content Placeholder 2">
            <a:extLst>
              <a:ext uri="{FF2B5EF4-FFF2-40B4-BE49-F238E27FC236}">
                <a16:creationId xmlns:a16="http://schemas.microsoft.com/office/drawing/2014/main" id="{CD65B3E8-0D60-C6C5-5CBD-865A85D696A6}"/>
              </a:ext>
            </a:extLst>
          </p:cNvPr>
          <p:cNvSpPr txBox="1">
            <a:spLocks/>
          </p:cNvSpPr>
          <p:nvPr/>
        </p:nvSpPr>
        <p:spPr>
          <a:xfrm>
            <a:off x="914400" y="1211580"/>
            <a:ext cx="7780020" cy="4525963"/>
          </a:xfrm>
          <a:prstGeom prst="rect">
            <a:avLst/>
          </a:prstGeom>
        </p:spPr>
        <p:txBody>
          <a:bodyPr/>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base" latinLnBrk="0" hangingPunct="1">
              <a:lnSpc>
                <a:spcPct val="100000"/>
              </a:lnSpc>
              <a:spcBef>
                <a:spcPts val="600"/>
              </a:spcBef>
              <a:spcAft>
                <a:spcPts val="600"/>
              </a:spcAft>
              <a:buClrTx/>
              <a:buSzTx/>
              <a:buFont typeface="Wingdings" charset="2"/>
              <a:buChar char="²"/>
              <a:tabLst/>
              <a:defRPr/>
            </a:pPr>
            <a:r>
              <a:rPr kumimoji="0" lang="en-GB" sz="2000" b="1"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Heterogeneity </a:t>
            </a:r>
          </a:p>
          <a:p>
            <a:pPr marL="742950" marR="0" lvl="1" indent="-285750" algn="l" defTabSz="457200" rtl="0" eaLnBrk="1" fontAlgn="base" latinLnBrk="0" hangingPunct="1">
              <a:lnSpc>
                <a:spcPct val="100000"/>
              </a:lnSpc>
              <a:spcBef>
                <a:spcPts val="300"/>
              </a:spcBef>
              <a:spcAft>
                <a:spcPts val="300"/>
              </a:spcAft>
              <a:buClrTx/>
              <a:buSzTx/>
              <a:buFont typeface="Wingdings" charset="2"/>
              <a:buChar char="§"/>
              <a:tabLst/>
              <a:defRPr/>
            </a:pPr>
            <a:r>
              <a:rPr kumimoji="0" lang="en-GB"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Increasingly, systems are required to operate as distributed systems across networks that include different types of computer and mobile devices. </a:t>
            </a:r>
          </a:p>
          <a:p>
            <a:pPr>
              <a:buClrTx/>
              <a:defRPr/>
            </a:pPr>
            <a:r>
              <a:rPr lang="en-GB" sz="2000" b="1" dirty="0">
                <a:latin typeface="Calibri" panose="020F0502020204030204" pitchFamily="34" charset="0"/>
                <a:cs typeface="Calibri" panose="020F0502020204030204" pitchFamily="34" charset="0"/>
              </a:rPr>
              <a:t>Business and social change </a:t>
            </a:r>
          </a:p>
          <a:p>
            <a:pPr marL="742950" marR="0" lvl="1" indent="-285750" algn="l" defTabSz="457200" rtl="0" eaLnBrk="1" fontAlgn="base" latinLnBrk="0" hangingPunct="1">
              <a:lnSpc>
                <a:spcPct val="100000"/>
              </a:lnSpc>
              <a:spcBef>
                <a:spcPts val="300"/>
              </a:spcBef>
              <a:spcAft>
                <a:spcPts val="300"/>
              </a:spcAft>
              <a:buClrTx/>
              <a:buSzTx/>
              <a:buFont typeface="Wingdings" charset="2"/>
              <a:buChar char="§"/>
              <a:tabLst/>
              <a:defRPr/>
            </a:pPr>
            <a:r>
              <a:rPr kumimoji="0" lang="en-GB"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Business and society are changing incredibly quickly as emerging economies develop and new technologies become available. They need to be able to change their existing software and to rapidly develop new software. </a:t>
            </a:r>
          </a:p>
          <a:p>
            <a:pPr marL="342900" marR="0" lvl="0" indent="-342900" algn="l" defTabSz="457200" rtl="0" eaLnBrk="1" fontAlgn="base" latinLnBrk="0" hangingPunct="1">
              <a:lnSpc>
                <a:spcPct val="100000"/>
              </a:lnSpc>
              <a:spcBef>
                <a:spcPts val="600"/>
              </a:spcBef>
              <a:spcAft>
                <a:spcPts val="600"/>
              </a:spcAft>
              <a:buClrTx/>
              <a:buSzTx/>
              <a:buFont typeface="Wingdings" charset="2"/>
              <a:buChar char="²"/>
              <a:tabLst/>
              <a:defRPr/>
            </a:pPr>
            <a:endParaRPr kumimoji="0" lang="en-US" sz="2400" b="0" i="0" u="none" strike="noStrike" kern="1200" cap="none" spc="0" normalizeH="0" baseline="0" noProof="0" dirty="0">
              <a:ln>
                <a:noFill/>
              </a:ln>
              <a:solidFill>
                <a:srgbClr val="46424D"/>
              </a:solidFill>
              <a:effectLst/>
              <a:uLnTx/>
              <a:uFillTx/>
              <a:latin typeface="Arial"/>
              <a:ea typeface="ＭＳ Ｐゴシック" charset="-128"/>
              <a:cs typeface="Arial"/>
            </a:endParaRPr>
          </a:p>
        </p:txBody>
      </p:sp>
    </p:spTree>
    <p:extLst>
      <p:ext uri="{BB962C8B-B14F-4D97-AF65-F5344CB8AC3E}">
        <p14:creationId xmlns:p14="http://schemas.microsoft.com/office/powerpoint/2010/main" val="2009443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E879C52-94ED-6BA4-EF62-1211D3EC6A2E}"/>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F4293C87-32C1-03E0-172C-0E8D0BDBD29B}"/>
              </a:ext>
            </a:extLst>
          </p:cNvPr>
          <p:cNvGrpSpPr/>
          <p:nvPr/>
        </p:nvGrpSpPr>
        <p:grpSpPr>
          <a:xfrm>
            <a:off x="736270" y="218172"/>
            <a:ext cx="8288976" cy="444600"/>
            <a:chOff x="0" y="6299"/>
            <a:chExt cx="5580934" cy="444600"/>
          </a:xfrm>
          <a:noFill/>
        </p:grpSpPr>
        <p:sp>
          <p:nvSpPr>
            <p:cNvPr id="109" name="Google Shape;109;p2">
              <a:extLst>
                <a:ext uri="{FF2B5EF4-FFF2-40B4-BE49-F238E27FC236}">
                  <a16:creationId xmlns:a16="http://schemas.microsoft.com/office/drawing/2014/main" id="{192B6D01-0926-D3CC-31A0-E2F909F4DCA2}"/>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DD496AE5-E242-289E-B7D7-24548A642DF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lvl="0" indent="0" algn="ctr">
                <a:buSzPts val="1900"/>
                <a:buFont typeface="Arial"/>
                <a:buNone/>
              </a:pPr>
              <a:r>
                <a:rPr lang="en-US" sz="4000" b="1" kern="1200" dirty="0">
                  <a:solidFill>
                    <a:srgbClr val="46424D"/>
                  </a:solidFill>
                  <a:latin typeface="Calibri" panose="020F0502020204030204" pitchFamily="34" charset="0"/>
                  <a:ea typeface="ＭＳ Ｐゴシック" charset="-128"/>
                  <a:cs typeface="Calibri" panose="020F0502020204030204" pitchFamily="34" charset="0"/>
                </a:rPr>
                <a:t>General Issues That Affect Software</a:t>
              </a:r>
            </a:p>
          </p:txBody>
        </p:sp>
      </p:grpSp>
      <p:sp>
        <p:nvSpPr>
          <p:cNvPr id="111" name="Google Shape;111;p2">
            <a:extLst>
              <a:ext uri="{FF2B5EF4-FFF2-40B4-BE49-F238E27FC236}">
                <a16:creationId xmlns:a16="http://schemas.microsoft.com/office/drawing/2014/main" id="{49E6B784-F65F-D0F1-F4A0-D37B15BD0B57}"/>
              </a:ext>
            </a:extLst>
          </p:cNvPr>
          <p:cNvSpPr txBox="1">
            <a:spLocks noGrp="1"/>
          </p:cNvSpPr>
          <p:nvPr>
            <p:ph type="body" idx="1"/>
          </p:nvPr>
        </p:nvSpPr>
        <p:spPr>
          <a:xfrm>
            <a:off x="385500" y="1422025"/>
            <a:ext cx="766122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3" name="Content Placeholder 2">
            <a:extLst>
              <a:ext uri="{FF2B5EF4-FFF2-40B4-BE49-F238E27FC236}">
                <a16:creationId xmlns:a16="http://schemas.microsoft.com/office/drawing/2014/main" id="{D8341989-4411-0A23-A861-83FDCAA6EA1D}"/>
              </a:ext>
            </a:extLst>
          </p:cNvPr>
          <p:cNvSpPr txBox="1">
            <a:spLocks/>
          </p:cNvSpPr>
          <p:nvPr/>
        </p:nvSpPr>
        <p:spPr>
          <a:xfrm>
            <a:off x="736270" y="1063752"/>
            <a:ext cx="7394270" cy="4525963"/>
          </a:xfrm>
          <a:prstGeom prst="rect">
            <a:avLst/>
          </a:prstGeom>
        </p:spPr>
        <p:txBody>
          <a:bodyPr/>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latinLnBrk="0">
              <a:buClrTx/>
              <a:buSzTx/>
              <a:tabLst/>
              <a:defRPr/>
            </a:pPr>
            <a:r>
              <a:rPr lang="en-GB" sz="2000" b="1" dirty="0">
                <a:latin typeface="Calibri" panose="020F0502020204030204" pitchFamily="34" charset="0"/>
                <a:cs typeface="Calibri" panose="020F0502020204030204" pitchFamily="34" charset="0"/>
              </a:rPr>
              <a:t>Security and trust </a:t>
            </a:r>
          </a:p>
          <a:p>
            <a:pPr marL="742950" marR="0" lvl="1" indent="-285750" algn="just" defTabSz="457200" rtl="0" eaLnBrk="1" fontAlgn="base" latinLnBrk="0" hangingPunct="1">
              <a:lnSpc>
                <a:spcPct val="100000"/>
              </a:lnSpc>
              <a:spcBef>
                <a:spcPts val="300"/>
              </a:spcBef>
              <a:spcAft>
                <a:spcPts val="300"/>
              </a:spcAft>
              <a:buClrTx/>
              <a:buSzTx/>
              <a:buFont typeface="Wingdings" charset="2"/>
              <a:buChar char="§"/>
              <a:tabLst/>
              <a:defRPr/>
            </a:pPr>
            <a:r>
              <a:rPr kumimoji="0" lang="en-GB"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As software is intertwined with all aspects of our lives, it is essential that we can trust that software. </a:t>
            </a:r>
          </a:p>
          <a:p>
            <a:pPr>
              <a:buClrTx/>
              <a:defRPr/>
            </a:pPr>
            <a:r>
              <a:rPr lang="en-GB" sz="2000" b="1" dirty="0">
                <a:latin typeface="Calibri" panose="020F0502020204030204" pitchFamily="34" charset="0"/>
                <a:cs typeface="Calibri" panose="020F0502020204030204" pitchFamily="34" charset="0"/>
              </a:rPr>
              <a:t>Scale</a:t>
            </a:r>
          </a:p>
          <a:p>
            <a:pPr marL="742950" marR="0" lvl="1" indent="-285750" algn="just" defTabSz="457200" rtl="0" eaLnBrk="1" fontAlgn="base" latinLnBrk="0" hangingPunct="1">
              <a:lnSpc>
                <a:spcPct val="100000"/>
              </a:lnSpc>
              <a:spcBef>
                <a:spcPts val="300"/>
              </a:spcBef>
              <a:spcAft>
                <a:spcPts val="300"/>
              </a:spcAft>
              <a:buClrTx/>
              <a:buSzTx/>
              <a:buFont typeface="Wingdings" charset="2"/>
              <a:buChar char="§"/>
              <a:tabLst/>
              <a:defRPr/>
            </a:pPr>
            <a:r>
              <a:rPr kumimoji="0" lang="en-GB" sz="20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Software has to be developed across a very wide range of scales, from very small embedded systems in portable or wearable devices through to Internet-scale, cloud-based systems that serve a global community. </a:t>
            </a:r>
            <a:endParaRPr kumimoji="0" lang="en-US" sz="20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7762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7">
          <a:extLst>
            <a:ext uri="{FF2B5EF4-FFF2-40B4-BE49-F238E27FC236}">
              <a16:creationId xmlns:a16="http://schemas.microsoft.com/office/drawing/2014/main" id="{5DB138CD-0443-74AB-8DB0-7A60CB13DE45}"/>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B7ABC11-E6F0-3A13-C50B-9ED85A254839}"/>
              </a:ext>
            </a:extLst>
          </p:cNvPr>
          <p:cNvGrpSpPr/>
          <p:nvPr/>
        </p:nvGrpSpPr>
        <p:grpSpPr>
          <a:xfrm>
            <a:off x="736270" y="218172"/>
            <a:ext cx="8288976" cy="444600"/>
            <a:chOff x="0" y="6299"/>
            <a:chExt cx="5580934" cy="444600"/>
          </a:xfrm>
          <a:noFill/>
        </p:grpSpPr>
        <p:sp>
          <p:nvSpPr>
            <p:cNvPr id="109" name="Google Shape;109;p2">
              <a:extLst>
                <a:ext uri="{FF2B5EF4-FFF2-40B4-BE49-F238E27FC236}">
                  <a16:creationId xmlns:a16="http://schemas.microsoft.com/office/drawing/2014/main" id="{4FEB2437-8C30-09ED-3676-AFB9B2BC54B5}"/>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BEFB44BA-27DB-0299-FF22-EB9B3DC9F196}"/>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kumimoji="0" lang="en-US" sz="4000" b="1" i="0" u="none" strike="noStrike" kern="1200" cap="none" spc="0" normalizeH="0" baseline="0" noProof="0" dirty="0">
                  <a:ln>
                    <a:noFill/>
                  </a:ln>
                  <a:solidFill>
                    <a:srgbClr val="46424D"/>
                  </a:solidFill>
                  <a:effectLst/>
                  <a:uLnTx/>
                  <a:uFillTx/>
                  <a:latin typeface="Calibri" panose="020F0502020204030204" pitchFamily="34" charset="0"/>
                  <a:ea typeface="ＭＳ Ｐゴシック" charset="-128"/>
                  <a:cs typeface="Calibri" panose="020F0502020204030204" pitchFamily="34" charset="0"/>
                </a:rPr>
                <a:t>Software Engineering Diversity</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61255F34-3B89-9404-48E0-9A7333B51BEA}"/>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2" name="Content Placeholder 2">
            <a:extLst>
              <a:ext uri="{FF2B5EF4-FFF2-40B4-BE49-F238E27FC236}">
                <a16:creationId xmlns:a16="http://schemas.microsoft.com/office/drawing/2014/main" id="{AD6BC4BD-3491-4E70-1B95-A6EA35B4B344}"/>
              </a:ext>
            </a:extLst>
          </p:cNvPr>
          <p:cNvSpPr txBox="1">
            <a:spLocks/>
          </p:cNvSpPr>
          <p:nvPr/>
        </p:nvSpPr>
        <p:spPr>
          <a:xfrm>
            <a:off x="763410" y="1043941"/>
            <a:ext cx="7724808" cy="4904048"/>
          </a:xfrm>
          <a:prstGeom prst="rect">
            <a:avLst/>
          </a:prstGeom>
        </p:spPr>
        <p:txBody>
          <a:bodyPr/>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just" defTabSz="457200" rtl="0" eaLnBrk="1" fontAlgn="base" latinLnBrk="0" hangingPunct="1">
              <a:lnSpc>
                <a:spcPct val="150000"/>
              </a:lnSpc>
              <a:spcBef>
                <a:spcPts val="600"/>
              </a:spcBef>
              <a:spcAft>
                <a:spcPts val="600"/>
              </a:spcAft>
              <a:buClrTx/>
              <a:buSzTx/>
              <a:buFont typeface="Wingdings" charset="2"/>
              <a:buChar char="²"/>
              <a:tabLst/>
              <a:defRPr/>
            </a:pPr>
            <a:r>
              <a:rPr kumimoji="0" lang="en-US"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There are many different types of software system and there is no universal set of software techniques that is applicable to all of these.</a:t>
            </a:r>
          </a:p>
          <a:p>
            <a:pPr marL="342900" marR="0" lvl="0" indent="-342900" algn="just" defTabSz="457200" rtl="0" eaLnBrk="1" fontAlgn="base" latinLnBrk="0" hangingPunct="1">
              <a:lnSpc>
                <a:spcPct val="150000"/>
              </a:lnSpc>
              <a:spcBef>
                <a:spcPts val="600"/>
              </a:spcBef>
              <a:spcAft>
                <a:spcPts val="600"/>
              </a:spcAft>
              <a:buClrTx/>
              <a:buSzTx/>
              <a:buFont typeface="Wingdings" charset="2"/>
              <a:buChar char="²"/>
              <a:tabLst/>
              <a:defRPr/>
            </a:pPr>
            <a:r>
              <a:rPr kumimoji="0" lang="en-US"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The software engineering methods and tools used depend on the type of application being developed, the requirements of the customer and the background of the development team</a:t>
            </a:r>
            <a:r>
              <a:rPr kumimoji="0" lang="en-US" sz="2400" b="0" i="0" u="none" strike="noStrike" kern="1200" cap="none" spc="0" normalizeH="0" baseline="0" noProof="0" dirty="0">
                <a:ln>
                  <a:noFill/>
                </a:ln>
                <a:solidFill>
                  <a:srgbClr val="46424D"/>
                </a:solidFill>
                <a:effectLst/>
                <a:uLnTx/>
                <a:uFillTx/>
                <a:latin typeface="Arial"/>
                <a:ea typeface="ＭＳ Ｐゴシック" charset="-128"/>
                <a:cs typeface="Arial"/>
              </a:rPr>
              <a:t>.</a:t>
            </a:r>
          </a:p>
        </p:txBody>
      </p:sp>
    </p:spTree>
    <p:extLst>
      <p:ext uri="{BB962C8B-B14F-4D97-AF65-F5344CB8AC3E}">
        <p14:creationId xmlns:p14="http://schemas.microsoft.com/office/powerpoint/2010/main" val="1400991190"/>
      </p:ext>
    </p:extLst>
  </p:cSld>
  <p:clrMapOvr>
    <a:overrideClrMapping bg1="lt1" tx1="dk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5E2D568-95CA-F65B-9792-3515106607BD}"/>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67333872-CA14-5EC0-03D0-CB6AA64AB16C}"/>
              </a:ext>
            </a:extLst>
          </p:cNvPr>
          <p:cNvGrpSpPr/>
          <p:nvPr/>
        </p:nvGrpSpPr>
        <p:grpSpPr>
          <a:xfrm>
            <a:off x="783770" y="218172"/>
            <a:ext cx="8946970" cy="444600"/>
            <a:chOff x="0" y="6299"/>
            <a:chExt cx="5580934" cy="444600"/>
          </a:xfrm>
          <a:noFill/>
        </p:grpSpPr>
        <p:sp>
          <p:nvSpPr>
            <p:cNvPr id="109" name="Google Shape;109;p2">
              <a:extLst>
                <a:ext uri="{FF2B5EF4-FFF2-40B4-BE49-F238E27FC236}">
                  <a16:creationId xmlns:a16="http://schemas.microsoft.com/office/drawing/2014/main" id="{B5CE6A5B-B655-4A93-3B5C-A5C26CEBA5C6}"/>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24D14E24-A93D-F71B-D5D7-A2AD2A577C07}"/>
                </a:ext>
              </a:extLst>
            </p:cNvPr>
            <p:cNvSpPr txBox="1"/>
            <p:nvPr/>
          </p:nvSpPr>
          <p:spPr>
            <a:xfrm>
              <a:off x="21704" y="28003"/>
              <a:ext cx="5035918"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2" name="Title 1">
            <a:extLst>
              <a:ext uri="{FF2B5EF4-FFF2-40B4-BE49-F238E27FC236}">
                <a16:creationId xmlns:a16="http://schemas.microsoft.com/office/drawing/2014/main" id="{61040762-0262-EE89-67E4-6B2AE87A25E7}"/>
              </a:ext>
            </a:extLst>
          </p:cNvPr>
          <p:cNvSpPr txBox="1">
            <a:spLocks/>
          </p:cNvSpPr>
          <p:nvPr/>
        </p:nvSpPr>
        <p:spPr>
          <a:xfrm>
            <a:off x="931981" y="216888"/>
            <a:ext cx="7293232" cy="11430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457200" fontAlgn="base">
              <a:lnSpc>
                <a:spcPct val="90000"/>
              </a:lnSpc>
              <a:buSzPts val="1900"/>
              <a:defRPr/>
            </a:pPr>
            <a:r>
              <a:rPr lang="en-GB" sz="3200" b="1" kern="1200" dirty="0">
                <a:solidFill>
                  <a:srgbClr val="46424D"/>
                </a:solidFill>
                <a:latin typeface="Calibri" panose="020F0502020204030204" pitchFamily="34" charset="0"/>
                <a:ea typeface="ＭＳ Ｐゴシック" charset="-128"/>
                <a:cs typeface="Calibri" panose="020F0502020204030204" pitchFamily="34" charset="0"/>
              </a:rPr>
              <a:t>Essential Attributes Of Good Software</a:t>
            </a:r>
            <a:endParaRPr lang="en-US" sz="3200" b="1" kern="1200" dirty="0">
              <a:solidFill>
                <a:srgbClr val="46424D"/>
              </a:solidFill>
              <a:latin typeface="Calibri" panose="020F0502020204030204" pitchFamily="34" charset="0"/>
              <a:ea typeface="ＭＳ Ｐゴシック" charset="-128"/>
              <a:cs typeface="Calibri" panose="020F0502020204030204" pitchFamily="34" charset="0"/>
            </a:endParaRPr>
          </a:p>
        </p:txBody>
      </p:sp>
      <p:graphicFrame>
        <p:nvGraphicFramePr>
          <p:cNvPr id="3" name="Table 2">
            <a:extLst>
              <a:ext uri="{FF2B5EF4-FFF2-40B4-BE49-F238E27FC236}">
                <a16:creationId xmlns:a16="http://schemas.microsoft.com/office/drawing/2014/main" id="{1C1AE862-EFEE-BE31-BC98-076A2E2268C5}"/>
              </a:ext>
            </a:extLst>
          </p:cNvPr>
          <p:cNvGraphicFramePr>
            <a:graphicFrameLocks noGrp="1"/>
          </p:cNvGraphicFramePr>
          <p:nvPr>
            <p:extLst>
              <p:ext uri="{D42A27DB-BD31-4B8C-83A1-F6EECF244321}">
                <p14:modId xmlns:p14="http://schemas.microsoft.com/office/powerpoint/2010/main" val="2392447903"/>
              </p:ext>
            </p:extLst>
          </p:nvPr>
        </p:nvGraphicFramePr>
        <p:xfrm>
          <a:off x="836077" y="846138"/>
          <a:ext cx="7485040" cy="4190531"/>
        </p:xfrm>
        <a:graphic>
          <a:graphicData uri="http://schemas.openxmlformats.org/drawingml/2006/table">
            <a:tbl>
              <a:tblPr firstRow="1" bandRow="1">
                <a:tableStyleId>{B301B821-A1FF-4177-AEE7-76D212191A09}</a:tableStyleId>
              </a:tblPr>
              <a:tblGrid>
                <a:gridCol w="2132105">
                  <a:extLst>
                    <a:ext uri="{9D8B030D-6E8A-4147-A177-3AD203B41FA5}">
                      <a16:colId xmlns:a16="http://schemas.microsoft.com/office/drawing/2014/main" val="20000"/>
                    </a:ext>
                  </a:extLst>
                </a:gridCol>
                <a:gridCol w="5352935">
                  <a:extLst>
                    <a:ext uri="{9D8B030D-6E8A-4147-A177-3AD203B41FA5}">
                      <a16:colId xmlns:a16="http://schemas.microsoft.com/office/drawing/2014/main" val="20001"/>
                    </a:ext>
                  </a:extLst>
                </a:gridCol>
              </a:tblGrid>
              <a:tr h="497387">
                <a:tc>
                  <a:txBody>
                    <a:bodyPr/>
                    <a:lstStyle/>
                    <a:p>
                      <a:pPr algn="just">
                        <a:spcAft>
                          <a:spcPts val="0"/>
                        </a:spcAft>
                      </a:pPr>
                      <a:r>
                        <a:rPr lang="en-GB" sz="1400" dirty="0">
                          <a:latin typeface="Arial"/>
                          <a:cs typeface="Arial"/>
                        </a:rPr>
                        <a:t>Product characteristic</a:t>
                      </a:r>
                      <a:endParaRPr lang="en-GB" sz="14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GB" sz="1400" dirty="0">
                          <a:latin typeface="Arial"/>
                          <a:cs typeface="Arial"/>
                        </a:rPr>
                        <a:t>Description</a:t>
                      </a:r>
                      <a:endParaRPr lang="en-GB" sz="1400" b="1" dirty="0">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val="10000"/>
                  </a:ext>
                </a:extLst>
              </a:tr>
              <a:tr h="858504">
                <a:tc>
                  <a:txBody>
                    <a:bodyPr/>
                    <a:lstStyle/>
                    <a:p>
                      <a:pPr algn="just">
                        <a:spcAft>
                          <a:spcPts val="0"/>
                        </a:spcAft>
                      </a:pPr>
                      <a:r>
                        <a:rPr lang="en-GB" sz="1400" dirty="0">
                          <a:solidFill>
                            <a:schemeClr val="bg2"/>
                          </a:solidFill>
                          <a:latin typeface="Arial"/>
                          <a:cs typeface="Arial"/>
                        </a:rPr>
                        <a:t>Maintainability</a:t>
                      </a:r>
                      <a:endParaRPr lang="en-GB" sz="1400" dirty="0">
                        <a:solidFill>
                          <a:schemeClr val="bg2"/>
                        </a:solidFill>
                        <a:latin typeface="Arial"/>
                        <a:ea typeface="Times New Roman"/>
                        <a:cs typeface="Arial"/>
                      </a:endParaRPr>
                    </a:p>
                  </a:txBody>
                  <a:tcPr marL="54610" marR="54610" marT="0" marB="91440"/>
                </a:tc>
                <a:tc>
                  <a:txBody>
                    <a:bodyPr/>
                    <a:lstStyle/>
                    <a:p>
                      <a:pPr algn="just">
                        <a:spcAft>
                          <a:spcPts val="0"/>
                        </a:spcAft>
                      </a:pPr>
                      <a:r>
                        <a:rPr lang="en-GB" sz="1400">
                          <a:solidFill>
                            <a:schemeClr val="bg2"/>
                          </a:solidFill>
                          <a:latin typeface="Arial"/>
                          <a:cs typeface="Arial"/>
                        </a:rPr>
                        <a:t>Software should be written in such a way so that it can evolve to meet the changing needs of customers. This is a critical attribute because software change is an inevitable requirement of a changing business environment.</a:t>
                      </a:r>
                      <a:endParaRPr lang="en-GB" sz="1400">
                        <a:solidFill>
                          <a:schemeClr val="bg2"/>
                        </a:solidFill>
                        <a:latin typeface="Arial"/>
                        <a:ea typeface="Times New Roman"/>
                        <a:cs typeface="Arial"/>
                      </a:endParaRPr>
                    </a:p>
                  </a:txBody>
                  <a:tcPr marL="54610" marR="54610" marT="0" marB="91440"/>
                </a:tc>
                <a:extLst>
                  <a:ext uri="{0D108BD9-81ED-4DB2-BD59-A6C34878D82A}">
                    <a16:rowId xmlns:a16="http://schemas.microsoft.com/office/drawing/2014/main" val="10001"/>
                  </a:ext>
                </a:extLst>
              </a:tr>
              <a:tr h="1042469">
                <a:tc>
                  <a:txBody>
                    <a:bodyPr/>
                    <a:lstStyle/>
                    <a:p>
                      <a:pPr algn="l">
                        <a:spcAft>
                          <a:spcPts val="0"/>
                        </a:spcAft>
                      </a:pPr>
                      <a:r>
                        <a:rPr lang="en-GB" sz="1400" dirty="0">
                          <a:solidFill>
                            <a:schemeClr val="bg2"/>
                          </a:solidFill>
                          <a:latin typeface="Arial"/>
                          <a:cs typeface="Arial"/>
                        </a:rPr>
                        <a:t>Dependability and security</a:t>
                      </a:r>
                      <a:endParaRPr lang="en-GB" sz="1400" dirty="0">
                        <a:solidFill>
                          <a:schemeClr val="bg2"/>
                        </a:solidFill>
                        <a:latin typeface="Arial"/>
                        <a:ea typeface="Times New Roman"/>
                        <a:cs typeface="Arial"/>
                      </a:endParaRPr>
                    </a:p>
                  </a:txBody>
                  <a:tcPr marL="54610" marR="54610" marT="0" marB="91440"/>
                </a:tc>
                <a:tc>
                  <a:txBody>
                    <a:bodyPr/>
                    <a:lstStyle/>
                    <a:p>
                      <a:pPr algn="just">
                        <a:spcAft>
                          <a:spcPts val="0"/>
                        </a:spcAft>
                      </a:pPr>
                      <a:r>
                        <a:rPr lang="en-GB" sz="1400" dirty="0">
                          <a:solidFill>
                            <a:schemeClr val="bg2"/>
                          </a:solidFill>
                          <a:latin typeface="Arial"/>
                          <a:cs typeface="Arial"/>
                        </a:rPr>
                        <a:t>Software dependability includes a range of characteristics including reliability, security and safety. Dependable software should not cause physical or economic damage in the event of system failure. Malicious users should not be  able to access or damage the system.</a:t>
                      </a:r>
                      <a:endParaRPr lang="en-GB" sz="1400" dirty="0">
                        <a:solidFill>
                          <a:schemeClr val="bg2"/>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r h="858504">
                <a:tc>
                  <a:txBody>
                    <a:bodyPr/>
                    <a:lstStyle/>
                    <a:p>
                      <a:pPr algn="just">
                        <a:spcAft>
                          <a:spcPts val="0"/>
                        </a:spcAft>
                      </a:pPr>
                      <a:r>
                        <a:rPr lang="en-GB" sz="1400">
                          <a:solidFill>
                            <a:schemeClr val="bg2"/>
                          </a:solidFill>
                          <a:latin typeface="Arial"/>
                          <a:cs typeface="Arial"/>
                        </a:rPr>
                        <a:t>Efficiency</a:t>
                      </a:r>
                      <a:endParaRPr lang="en-GB" sz="1400">
                        <a:solidFill>
                          <a:schemeClr val="bg2"/>
                        </a:solidFill>
                        <a:latin typeface="Arial"/>
                        <a:ea typeface="Times New Roman"/>
                        <a:cs typeface="Arial"/>
                      </a:endParaRPr>
                    </a:p>
                  </a:txBody>
                  <a:tcPr marL="54610" marR="54610" marT="0" marB="91440"/>
                </a:tc>
                <a:tc>
                  <a:txBody>
                    <a:bodyPr/>
                    <a:lstStyle/>
                    <a:p>
                      <a:pPr algn="just">
                        <a:spcAft>
                          <a:spcPts val="0"/>
                        </a:spcAft>
                      </a:pPr>
                      <a:r>
                        <a:rPr lang="en-GB" sz="1400" dirty="0">
                          <a:solidFill>
                            <a:schemeClr val="bg2"/>
                          </a:solidFill>
                          <a:latin typeface="Arial"/>
                          <a:cs typeface="Arial"/>
                        </a:rPr>
                        <a:t>Software should not make wasteful use of system resources such as memory and processor cycles. Efficiency therefore includes responsiveness, processing time, memory utilisation, etc.</a:t>
                      </a:r>
                      <a:endParaRPr lang="en-GB" sz="1400" dirty="0">
                        <a:solidFill>
                          <a:schemeClr val="bg2"/>
                        </a:solidFill>
                        <a:latin typeface="Arial"/>
                        <a:ea typeface="Times New Roman"/>
                        <a:cs typeface="Arial"/>
                      </a:endParaRPr>
                    </a:p>
                  </a:txBody>
                  <a:tcPr marL="54610" marR="54610" marT="0" marB="91440"/>
                </a:tc>
                <a:extLst>
                  <a:ext uri="{0D108BD9-81ED-4DB2-BD59-A6C34878D82A}">
                    <a16:rowId xmlns:a16="http://schemas.microsoft.com/office/drawing/2014/main" val="10003"/>
                  </a:ext>
                </a:extLst>
              </a:tr>
              <a:tr h="674539">
                <a:tc>
                  <a:txBody>
                    <a:bodyPr/>
                    <a:lstStyle/>
                    <a:p>
                      <a:pPr algn="just">
                        <a:spcAft>
                          <a:spcPts val="0"/>
                        </a:spcAft>
                      </a:pPr>
                      <a:r>
                        <a:rPr lang="en-GB" sz="1400" dirty="0">
                          <a:solidFill>
                            <a:schemeClr val="bg2"/>
                          </a:solidFill>
                          <a:latin typeface="Arial"/>
                          <a:cs typeface="Arial"/>
                        </a:rPr>
                        <a:t>Acceptability</a:t>
                      </a:r>
                      <a:endParaRPr lang="en-GB" sz="1400" dirty="0">
                        <a:solidFill>
                          <a:schemeClr val="bg2"/>
                        </a:solidFill>
                        <a:latin typeface="Arial"/>
                        <a:ea typeface="Times New Roman"/>
                        <a:cs typeface="Arial"/>
                      </a:endParaRPr>
                    </a:p>
                  </a:txBody>
                  <a:tcPr marL="54610" marR="54610" marT="0" marB="91440"/>
                </a:tc>
                <a:tc>
                  <a:txBody>
                    <a:bodyPr/>
                    <a:lstStyle/>
                    <a:p>
                      <a:pPr algn="just">
                        <a:spcAft>
                          <a:spcPts val="0"/>
                        </a:spcAft>
                      </a:pPr>
                      <a:r>
                        <a:rPr lang="en-GB" sz="1400" dirty="0">
                          <a:solidFill>
                            <a:schemeClr val="bg2"/>
                          </a:solidFill>
                          <a:latin typeface="Arial"/>
                          <a:cs typeface="Arial"/>
                        </a:rPr>
                        <a:t>Software must be acceptable to the type of users for which it is designed. This means that it must be understandable, usable and compatible with other systems that they use. </a:t>
                      </a:r>
                      <a:endParaRPr lang="en-GB" sz="1400" dirty="0">
                        <a:solidFill>
                          <a:schemeClr val="bg2"/>
                        </a:solidFill>
                        <a:latin typeface="Arial"/>
                        <a:ea typeface="Times New Roman"/>
                        <a:cs typeface="Arial"/>
                      </a:endParaRPr>
                    </a:p>
                  </a:txBody>
                  <a:tcPr marL="54610" marR="54610" marT="0" marB="9144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179651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1E1FC50-B7F1-B097-7B87-53D1593CF147}"/>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B34C20F6-7E00-590B-00F3-C7785567C93B}"/>
              </a:ext>
            </a:extLst>
          </p:cNvPr>
          <p:cNvGrpSpPr/>
          <p:nvPr/>
        </p:nvGrpSpPr>
        <p:grpSpPr>
          <a:xfrm>
            <a:off x="783770" y="218172"/>
            <a:ext cx="8946970" cy="444600"/>
            <a:chOff x="0" y="6299"/>
            <a:chExt cx="5580934" cy="444600"/>
          </a:xfrm>
          <a:noFill/>
        </p:grpSpPr>
        <p:sp>
          <p:nvSpPr>
            <p:cNvPr id="109" name="Google Shape;109;p2">
              <a:extLst>
                <a:ext uri="{FF2B5EF4-FFF2-40B4-BE49-F238E27FC236}">
                  <a16:creationId xmlns:a16="http://schemas.microsoft.com/office/drawing/2014/main" id="{59FFB20B-DF8E-511B-C144-80724FEB5F3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61094F3D-BE4A-5A95-AF33-789F6688C515}"/>
                </a:ext>
              </a:extLst>
            </p:cNvPr>
            <p:cNvSpPr txBox="1"/>
            <p:nvPr/>
          </p:nvSpPr>
          <p:spPr>
            <a:xfrm>
              <a:off x="21704" y="28003"/>
              <a:ext cx="5035918"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Software Engineering</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7" name="TextBox 6">
            <a:extLst>
              <a:ext uri="{FF2B5EF4-FFF2-40B4-BE49-F238E27FC236}">
                <a16:creationId xmlns:a16="http://schemas.microsoft.com/office/drawing/2014/main" id="{9B2EA627-318A-5B4D-FEA0-CDAFFA8FAE95}"/>
              </a:ext>
            </a:extLst>
          </p:cNvPr>
          <p:cNvSpPr txBox="1"/>
          <p:nvPr/>
        </p:nvSpPr>
        <p:spPr>
          <a:xfrm>
            <a:off x="818564" y="1264670"/>
            <a:ext cx="7189363" cy="2677656"/>
          </a:xfrm>
          <a:prstGeom prst="rect">
            <a:avLst/>
          </a:prstGeom>
          <a:noFill/>
        </p:spPr>
        <p:txBody>
          <a:bodyPr wrap="square">
            <a:spAutoFit/>
          </a:bodyPr>
          <a:lstStyle/>
          <a:p>
            <a:pPr algn="just"/>
            <a:r>
              <a:rPr lang="en-US" sz="2400" b="1" dirty="0">
                <a:latin typeface="Calibri" panose="020F0502020204030204" pitchFamily="34" charset="0"/>
                <a:cs typeface="Calibri" panose="020F0502020204030204" pitchFamily="34" charset="0"/>
              </a:rPr>
              <a:t>Software engineering </a:t>
            </a:r>
            <a:r>
              <a:rPr lang="en-US" sz="2400" dirty="0">
                <a:latin typeface="Calibri" panose="020F0502020204030204" pitchFamily="34" charset="0"/>
                <a:cs typeface="Calibri" panose="020F0502020204030204" pitchFamily="34" charset="0"/>
              </a:rPr>
              <a:t>is a systematic, disciplined, and quantifiable approach to the design, development, operation, and maintenance of software. It is the application of engineering principles to software creation to ensure the resulting product is reliable, efficient, and meets user requirements within time and budget constraints</a:t>
            </a:r>
            <a:endParaRPr kumimoji="0" lang="en-GB" sz="2400" b="0" i="0" u="none" strike="noStrike" kern="1200" cap="none" spc="0" normalizeH="0" baseline="0" noProof="0" dirty="0">
              <a:ln>
                <a:noFill/>
              </a:ln>
              <a:solidFill>
                <a:srgbClr val="46424D"/>
              </a:solidFill>
              <a:effectLst/>
              <a:uLnTx/>
              <a:uFillTx/>
              <a:latin typeface="Calibri" panose="020F0502020204030204" pitchFamily="34" charset="0"/>
              <a:ea typeface="ＭＳ Ｐゴシック" charset="-128"/>
              <a:cs typeface="Calibri" panose="020F0502020204030204" pitchFamily="34" charset="0"/>
            </a:endParaRPr>
          </a:p>
        </p:txBody>
      </p:sp>
    </p:spTree>
    <p:extLst>
      <p:ext uri="{BB962C8B-B14F-4D97-AF65-F5344CB8AC3E}">
        <p14:creationId xmlns:p14="http://schemas.microsoft.com/office/powerpoint/2010/main" val="3751081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14B5F39-2C71-7B05-1628-A640365F4E97}"/>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159404F6-B21F-13D3-A9F9-0E12FEB56ACA}"/>
              </a:ext>
            </a:extLst>
          </p:cNvPr>
          <p:cNvGrpSpPr/>
          <p:nvPr/>
        </p:nvGrpSpPr>
        <p:grpSpPr>
          <a:xfrm>
            <a:off x="783770" y="218172"/>
            <a:ext cx="8946970" cy="444600"/>
            <a:chOff x="0" y="6299"/>
            <a:chExt cx="5580934" cy="444600"/>
          </a:xfrm>
          <a:noFill/>
        </p:grpSpPr>
        <p:sp>
          <p:nvSpPr>
            <p:cNvPr id="109" name="Google Shape;109;p2">
              <a:extLst>
                <a:ext uri="{FF2B5EF4-FFF2-40B4-BE49-F238E27FC236}">
                  <a16:creationId xmlns:a16="http://schemas.microsoft.com/office/drawing/2014/main" id="{8DCC7F10-26C2-C081-43B4-4A36A619AC65}"/>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C700F7B-A5FC-7252-ABA2-E8C5CED51217}"/>
                </a:ext>
              </a:extLst>
            </p:cNvPr>
            <p:cNvSpPr txBox="1"/>
            <p:nvPr/>
          </p:nvSpPr>
          <p:spPr>
            <a:xfrm>
              <a:off x="21704" y="28003"/>
              <a:ext cx="5035918"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Software Engineering</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2" name="Content Placeholder 2">
            <a:extLst>
              <a:ext uri="{FF2B5EF4-FFF2-40B4-BE49-F238E27FC236}">
                <a16:creationId xmlns:a16="http://schemas.microsoft.com/office/drawing/2014/main" id="{3843F65A-0A4C-5B8D-DB96-F34B98133F36}"/>
              </a:ext>
            </a:extLst>
          </p:cNvPr>
          <p:cNvSpPr txBox="1">
            <a:spLocks/>
          </p:cNvSpPr>
          <p:nvPr/>
        </p:nvSpPr>
        <p:spPr>
          <a:xfrm>
            <a:off x="783770" y="794957"/>
            <a:ext cx="7732157" cy="4525963"/>
          </a:xfrm>
          <a:prstGeom prst="rect">
            <a:avLst/>
          </a:prstGeom>
        </p:spPr>
        <p:txBody>
          <a:bodyPr/>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just" defTabSz="457200" rtl="0" eaLnBrk="1" fontAlgn="base" latinLnBrk="0" hangingPunct="1">
              <a:lnSpc>
                <a:spcPct val="100000"/>
              </a:lnSpc>
              <a:spcBef>
                <a:spcPts val="600"/>
              </a:spcBef>
              <a:spcAft>
                <a:spcPts val="600"/>
              </a:spcAft>
              <a:buClrTx/>
              <a:buSzTx/>
              <a:buFont typeface="Wingdings" charset="2"/>
              <a:buChar char="²"/>
              <a:tabLst/>
              <a:defRPr/>
            </a:pPr>
            <a:r>
              <a:rPr kumimoji="0" lang="en-US"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Software engineering is an engineering discipline that is concerned with all aspects of software production from the early stages of system specification through to maintaining the system after it has gone into use.</a:t>
            </a:r>
          </a:p>
          <a:p>
            <a:pPr marL="342900" marR="0" lvl="0" indent="-342900" algn="just" defTabSz="457200" rtl="0" eaLnBrk="1" fontAlgn="base" latinLnBrk="0" hangingPunct="1">
              <a:lnSpc>
                <a:spcPct val="100000"/>
              </a:lnSpc>
              <a:spcBef>
                <a:spcPts val="600"/>
              </a:spcBef>
              <a:spcAft>
                <a:spcPts val="600"/>
              </a:spcAft>
              <a:buClrTx/>
              <a:buSzTx/>
              <a:buFont typeface="Wingdings" charset="2"/>
              <a:buChar char="²"/>
              <a:tabLst/>
              <a:defRPr/>
            </a:pPr>
            <a:r>
              <a:rPr kumimoji="0" lang="en-US" sz="2000" b="1"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Engineering discipline</a:t>
            </a:r>
          </a:p>
          <a:p>
            <a:pPr marL="742950" marR="0" lvl="1" indent="-285750" algn="just" defTabSz="457200" rtl="0" eaLnBrk="1" fontAlgn="base" latinLnBrk="0" hangingPunct="1">
              <a:lnSpc>
                <a:spcPct val="100000"/>
              </a:lnSpc>
              <a:spcBef>
                <a:spcPts val="300"/>
              </a:spcBef>
              <a:spcAft>
                <a:spcPts val="300"/>
              </a:spcAft>
              <a:buClrTx/>
              <a:buSzTx/>
              <a:buFont typeface="Wingdings" charset="2"/>
              <a:buChar char="§"/>
              <a:tabLst/>
              <a:defRPr/>
            </a:pPr>
            <a:r>
              <a:rPr kumimoji="0" lang="en-US"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Using appropriate theories and methods to solve problems bearing in mind organizational and financial constraints.</a:t>
            </a:r>
          </a:p>
          <a:p>
            <a:pPr marL="342900" marR="0" lvl="0" indent="-342900" algn="just" defTabSz="457200" rtl="0" eaLnBrk="1" fontAlgn="base" latinLnBrk="0" hangingPunct="1">
              <a:lnSpc>
                <a:spcPct val="100000"/>
              </a:lnSpc>
              <a:spcBef>
                <a:spcPts val="600"/>
              </a:spcBef>
              <a:spcAft>
                <a:spcPts val="600"/>
              </a:spcAft>
              <a:buClrTx/>
              <a:buSzTx/>
              <a:buFont typeface="Wingdings" charset="2"/>
              <a:buChar char="²"/>
              <a:tabLst/>
              <a:defRPr/>
            </a:pPr>
            <a:r>
              <a:rPr kumimoji="0" lang="en-US" sz="2000" b="1"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All aspects of software production</a:t>
            </a:r>
          </a:p>
          <a:p>
            <a:pPr marL="742950" marR="0" lvl="1" indent="-285750" algn="just" defTabSz="457200" rtl="0" eaLnBrk="1" fontAlgn="base" latinLnBrk="0" hangingPunct="1">
              <a:lnSpc>
                <a:spcPct val="100000"/>
              </a:lnSpc>
              <a:spcBef>
                <a:spcPts val="300"/>
              </a:spcBef>
              <a:spcAft>
                <a:spcPts val="300"/>
              </a:spcAft>
              <a:buClrTx/>
              <a:buSzTx/>
              <a:buFont typeface="Wingdings" charset="2"/>
              <a:buChar char="§"/>
              <a:tabLst/>
              <a:defRPr/>
            </a:pPr>
            <a:r>
              <a:rPr kumimoji="0" lang="en-US"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Not just technical process of development. Also project management and the development of tools, methods etc. to support software production.</a:t>
            </a:r>
          </a:p>
        </p:txBody>
      </p:sp>
    </p:spTree>
    <p:extLst>
      <p:ext uri="{BB962C8B-B14F-4D97-AF65-F5344CB8AC3E}">
        <p14:creationId xmlns:p14="http://schemas.microsoft.com/office/powerpoint/2010/main" val="4050101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4C58F09B-A58A-A145-1DA5-AC94B49187ED}"/>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9BE55F0A-F97B-7288-96CF-B86FAFC96608}"/>
              </a:ext>
            </a:extLst>
          </p:cNvPr>
          <p:cNvGrpSpPr/>
          <p:nvPr/>
        </p:nvGrpSpPr>
        <p:grpSpPr>
          <a:xfrm>
            <a:off x="818564" y="180072"/>
            <a:ext cx="9052429" cy="576785"/>
            <a:chOff x="-65783" y="6299"/>
            <a:chExt cx="5646717" cy="576785"/>
          </a:xfrm>
          <a:noFill/>
        </p:grpSpPr>
        <p:sp>
          <p:nvSpPr>
            <p:cNvPr id="109" name="Google Shape;109;p2">
              <a:extLst>
                <a:ext uri="{FF2B5EF4-FFF2-40B4-BE49-F238E27FC236}">
                  <a16:creationId xmlns:a16="http://schemas.microsoft.com/office/drawing/2014/main" id="{1500C279-820E-F96E-2833-3A9604B58B53}"/>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3E933A2E-29AA-2B7F-75E0-6D26CA71D597}"/>
                </a:ext>
              </a:extLst>
            </p:cNvPr>
            <p:cNvSpPr txBox="1"/>
            <p:nvPr/>
          </p:nvSpPr>
          <p:spPr>
            <a:xfrm>
              <a:off x="-65783" y="181892"/>
              <a:ext cx="5035918"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2400" b="1" dirty="0">
                  <a:solidFill>
                    <a:schemeClr val="bg2"/>
                  </a:solidFill>
                  <a:latin typeface="Calibri" panose="020F0502020204030204" pitchFamily="34" charset="0"/>
                  <a:ea typeface="Calibri" panose="020F0502020204030204" pitchFamily="34" charset="0"/>
                  <a:cs typeface="Calibri" panose="020F0502020204030204" pitchFamily="34" charset="0"/>
                </a:rPr>
                <a:t> </a:t>
              </a:r>
            </a:p>
            <a:p>
              <a:pPr marL="0" marR="0" lvl="0" indent="0" algn="ctr" rtl="0">
                <a:lnSpc>
                  <a:spcPct val="90000"/>
                </a:lnSpc>
                <a:spcBef>
                  <a:spcPts val="0"/>
                </a:spcBef>
                <a:spcAft>
                  <a:spcPts val="0"/>
                </a:spcAft>
                <a:buClr>
                  <a:srgbClr val="000000"/>
                </a:buClr>
                <a:buSzPts val="1900"/>
                <a:buFont typeface="Arial"/>
                <a:buNone/>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Why Software Engineering</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graphicFrame>
        <p:nvGraphicFramePr>
          <p:cNvPr id="3" name="Diagram 2">
            <a:extLst>
              <a:ext uri="{FF2B5EF4-FFF2-40B4-BE49-F238E27FC236}">
                <a16:creationId xmlns:a16="http://schemas.microsoft.com/office/drawing/2014/main" id="{3BA708BD-77BC-E402-C258-D7E5E57CE012}"/>
              </a:ext>
            </a:extLst>
          </p:cNvPr>
          <p:cNvGraphicFramePr/>
          <p:nvPr>
            <p:extLst>
              <p:ext uri="{D42A27DB-BD31-4B8C-83A1-F6EECF244321}">
                <p14:modId xmlns:p14="http://schemas.microsoft.com/office/powerpoint/2010/main" val="793412083"/>
              </p:ext>
            </p:extLst>
          </p:nvPr>
        </p:nvGraphicFramePr>
        <p:xfrm>
          <a:off x="818564" y="1264670"/>
          <a:ext cx="6969076" cy="27891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206802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1F22C7CB-1475-3277-ED58-85B24C2E8F15}"/>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99982928-3C6A-A9AD-14D5-5134A0117159}"/>
              </a:ext>
            </a:extLst>
          </p:cNvPr>
          <p:cNvSpPr/>
          <p:nvPr/>
        </p:nvSpPr>
        <p:spPr>
          <a:xfrm>
            <a:off x="736270" y="218172"/>
            <a:ext cx="8288976"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2" name="Title 1">
            <a:extLst>
              <a:ext uri="{FF2B5EF4-FFF2-40B4-BE49-F238E27FC236}">
                <a16:creationId xmlns:a16="http://schemas.microsoft.com/office/drawing/2014/main" id="{217678B6-2ED7-EF40-F8E9-F1C768F3818C}"/>
              </a:ext>
            </a:extLst>
          </p:cNvPr>
          <p:cNvSpPr txBox="1">
            <a:spLocks/>
          </p:cNvSpPr>
          <p:nvPr/>
        </p:nvSpPr>
        <p:spPr bwMode="auto">
          <a:xfrm>
            <a:off x="1093268" y="218172"/>
            <a:ext cx="7293232" cy="66277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a:lstStyle>
          <a:p>
            <a:pPr algn="ctr" defTabSz="457200" eaLnBrk="1" fontAlgn="base" latinLnBrk="0" hangingPunct="1">
              <a:lnSpc>
                <a:spcPct val="90000"/>
              </a:lnSpc>
              <a:spcBef>
                <a:spcPts val="0"/>
              </a:spcBef>
              <a:spcAft>
                <a:spcPts val="0"/>
              </a:spcAft>
              <a:buSzPts val="1900"/>
              <a:tabLst/>
              <a:defRPr/>
            </a:pPr>
            <a:r>
              <a:rPr lang="en-US" sz="3600" dirty="0">
                <a:solidFill>
                  <a:schemeClr val="bg2"/>
                </a:solidFill>
                <a:latin typeface="Calibri" panose="020F0502020204030204" pitchFamily="34" charset="0"/>
                <a:cs typeface="Calibri" panose="020F0502020204030204" pitchFamily="34" charset="0"/>
              </a:rPr>
              <a:t>Software Engineering Fundamentals</a:t>
            </a:r>
          </a:p>
        </p:txBody>
      </p:sp>
      <p:sp>
        <p:nvSpPr>
          <p:cNvPr id="3" name="Content Placeholder 2">
            <a:extLst>
              <a:ext uri="{FF2B5EF4-FFF2-40B4-BE49-F238E27FC236}">
                <a16:creationId xmlns:a16="http://schemas.microsoft.com/office/drawing/2014/main" id="{D8780206-F8EE-6CCD-6BF6-FD739146D3FF}"/>
              </a:ext>
            </a:extLst>
          </p:cNvPr>
          <p:cNvSpPr txBox="1">
            <a:spLocks/>
          </p:cNvSpPr>
          <p:nvPr/>
        </p:nvSpPr>
        <p:spPr>
          <a:xfrm>
            <a:off x="625084" y="880944"/>
            <a:ext cx="8229600" cy="4525963"/>
          </a:xfrm>
          <a:prstGeom prst="rect">
            <a:avLst/>
          </a:prstGeom>
        </p:spPr>
        <p:txBody>
          <a:bodyPr/>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just" defTabSz="457200" rtl="0" eaLnBrk="1" fontAlgn="base" latinLnBrk="0" hangingPunct="1">
              <a:lnSpc>
                <a:spcPct val="100000"/>
              </a:lnSpc>
              <a:spcBef>
                <a:spcPts val="600"/>
              </a:spcBef>
              <a:spcAft>
                <a:spcPts val="600"/>
              </a:spcAft>
              <a:buClrTx/>
              <a:buSzTx/>
              <a:buFont typeface="Wingdings" charset="2"/>
              <a:buChar char="²"/>
              <a:tabLst/>
              <a:defRPr/>
            </a:pPr>
            <a:r>
              <a:rPr kumimoji="0" lang="en-US"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Some fundamental principles apply to all types of software system, irrespective of the development techniques used:</a:t>
            </a:r>
          </a:p>
          <a:p>
            <a:pPr marL="742950" marR="0" lvl="1" indent="-285750" algn="just" defTabSz="457200" rtl="0" eaLnBrk="1" fontAlgn="base" latinLnBrk="0" hangingPunct="1">
              <a:lnSpc>
                <a:spcPct val="100000"/>
              </a:lnSpc>
              <a:spcBef>
                <a:spcPts val="300"/>
              </a:spcBef>
              <a:spcAft>
                <a:spcPts val="300"/>
              </a:spcAft>
              <a:buClrTx/>
              <a:buSzTx/>
              <a:buFont typeface="Wingdings" charset="2"/>
              <a:buChar char="§"/>
              <a:tabLst/>
              <a:defRPr/>
            </a:pPr>
            <a:r>
              <a:rPr kumimoji="0" lang="en-GB"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Systems should be developed using a managed and understood development process. Of course, different processes are used for different types of software.</a:t>
            </a:r>
          </a:p>
          <a:p>
            <a:pPr marL="742950" marR="0" lvl="1" indent="-285750" algn="just" defTabSz="457200" rtl="0" eaLnBrk="1" fontAlgn="base" latinLnBrk="0" hangingPunct="1">
              <a:lnSpc>
                <a:spcPct val="100000"/>
              </a:lnSpc>
              <a:spcBef>
                <a:spcPts val="300"/>
              </a:spcBef>
              <a:spcAft>
                <a:spcPts val="300"/>
              </a:spcAft>
              <a:buClrTx/>
              <a:buSzTx/>
              <a:buFont typeface="Wingdings" charset="2"/>
              <a:buChar char="§"/>
              <a:tabLst/>
              <a:defRPr/>
            </a:pPr>
            <a:r>
              <a:rPr kumimoji="0" lang="en-GB"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Dependability and performance are important for all types of system. </a:t>
            </a:r>
          </a:p>
          <a:p>
            <a:pPr marL="742950" marR="0" lvl="1" indent="-285750" algn="just" defTabSz="457200" rtl="0" eaLnBrk="1" fontAlgn="base" latinLnBrk="0" hangingPunct="1">
              <a:lnSpc>
                <a:spcPct val="100000"/>
              </a:lnSpc>
              <a:spcBef>
                <a:spcPts val="300"/>
              </a:spcBef>
              <a:spcAft>
                <a:spcPts val="300"/>
              </a:spcAft>
              <a:buClrTx/>
              <a:buSzTx/>
              <a:buFont typeface="Wingdings" charset="2"/>
              <a:buChar char="§"/>
              <a:tabLst/>
              <a:defRPr/>
            </a:pPr>
            <a:r>
              <a:rPr kumimoji="0" lang="en-GB"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Understanding and managing the software specification and requirements (what the software should do) are important. </a:t>
            </a:r>
          </a:p>
          <a:p>
            <a:pPr marL="742950" marR="0" lvl="1" indent="-285750" algn="just" defTabSz="457200" rtl="0" eaLnBrk="1" fontAlgn="base" latinLnBrk="0" hangingPunct="1">
              <a:lnSpc>
                <a:spcPct val="100000"/>
              </a:lnSpc>
              <a:spcBef>
                <a:spcPts val="300"/>
              </a:spcBef>
              <a:spcAft>
                <a:spcPts val="300"/>
              </a:spcAft>
              <a:buClrTx/>
              <a:buSzTx/>
              <a:buFont typeface="Wingdings" charset="2"/>
              <a:buChar char="§"/>
              <a:tabLst/>
              <a:defRPr/>
            </a:pPr>
            <a:r>
              <a:rPr kumimoji="0" lang="en-GB"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Where appropriate, you should reuse software that has already been developed rather than write new software.</a:t>
            </a:r>
          </a:p>
          <a:p>
            <a:pPr marL="742950" marR="0" lvl="1" indent="-285750" algn="l" defTabSz="457200" rtl="0" eaLnBrk="1" fontAlgn="base" latinLnBrk="0" hangingPunct="1">
              <a:lnSpc>
                <a:spcPct val="100000"/>
              </a:lnSpc>
              <a:spcBef>
                <a:spcPts val="300"/>
              </a:spcBef>
              <a:spcAft>
                <a:spcPts val="300"/>
              </a:spcAft>
              <a:buClrTx/>
              <a:buSzTx/>
              <a:buFont typeface="Wingdings" charset="2"/>
              <a:buChar char="§"/>
              <a:tabLst/>
              <a:defRPr/>
            </a:pPr>
            <a:endParaRPr kumimoji="0" lang="en-US" sz="2000" b="0" i="0" u="none" strike="noStrike" kern="1200" cap="none" spc="0" normalizeH="0" baseline="0" noProof="0" dirty="0">
              <a:ln>
                <a:noFill/>
              </a:ln>
              <a:solidFill>
                <a:srgbClr val="46424D"/>
              </a:solidFill>
              <a:effectLst/>
              <a:uLnTx/>
              <a:uFillTx/>
              <a:latin typeface="Arial"/>
              <a:ea typeface="ＭＳ Ｐゴシック" charset="-128"/>
              <a:cs typeface="Arial"/>
            </a:endParaRPr>
          </a:p>
        </p:txBody>
      </p:sp>
    </p:spTree>
    <p:extLst>
      <p:ext uri="{BB962C8B-B14F-4D97-AF65-F5344CB8AC3E}">
        <p14:creationId xmlns:p14="http://schemas.microsoft.com/office/powerpoint/2010/main" val="443300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F1A71372-B014-307D-6154-2C9E638CD11B}"/>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27463C9E-EE99-A9D7-FCED-1185005F48F1}"/>
              </a:ext>
            </a:extLst>
          </p:cNvPr>
          <p:cNvSpPr/>
          <p:nvPr/>
        </p:nvSpPr>
        <p:spPr>
          <a:xfrm>
            <a:off x="736270" y="218172"/>
            <a:ext cx="8288976"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1" name="Google Shape;111;p2">
            <a:extLst>
              <a:ext uri="{FF2B5EF4-FFF2-40B4-BE49-F238E27FC236}">
                <a16:creationId xmlns:a16="http://schemas.microsoft.com/office/drawing/2014/main" id="{021A92BF-2EAE-86ED-1A52-97FD472F5620}"/>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2" name="Title 1">
            <a:extLst>
              <a:ext uri="{FF2B5EF4-FFF2-40B4-BE49-F238E27FC236}">
                <a16:creationId xmlns:a16="http://schemas.microsoft.com/office/drawing/2014/main" id="{5F5D94F2-7EF5-ED8C-AAC0-CE49B790F7DC}"/>
              </a:ext>
            </a:extLst>
          </p:cNvPr>
          <p:cNvSpPr txBox="1">
            <a:spLocks/>
          </p:cNvSpPr>
          <p:nvPr/>
        </p:nvSpPr>
        <p:spPr bwMode="auto">
          <a:xfrm>
            <a:off x="1114498" y="85987"/>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4000" b="1"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Internet Software Engineering</a:t>
            </a:r>
          </a:p>
        </p:txBody>
      </p:sp>
      <p:sp>
        <p:nvSpPr>
          <p:cNvPr id="3" name="Content Placeholder 2">
            <a:extLst>
              <a:ext uri="{FF2B5EF4-FFF2-40B4-BE49-F238E27FC236}">
                <a16:creationId xmlns:a16="http://schemas.microsoft.com/office/drawing/2014/main" id="{C6B049B7-7D34-1167-142B-5A97EBB6E200}"/>
              </a:ext>
            </a:extLst>
          </p:cNvPr>
          <p:cNvSpPr txBox="1">
            <a:spLocks/>
          </p:cNvSpPr>
          <p:nvPr/>
        </p:nvSpPr>
        <p:spPr>
          <a:xfrm>
            <a:off x="765958" y="1014984"/>
            <a:ext cx="8229600" cy="4525963"/>
          </a:xfrm>
          <a:prstGeom prst="rect">
            <a:avLst/>
          </a:prstGeom>
        </p:spPr>
        <p:txBody>
          <a:bodyPr/>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just" defTabSz="457200" rtl="0" eaLnBrk="1" fontAlgn="base" latinLnBrk="0" hangingPunct="1">
              <a:lnSpc>
                <a:spcPct val="100000"/>
              </a:lnSpc>
              <a:spcBef>
                <a:spcPts val="600"/>
              </a:spcBef>
              <a:spcAft>
                <a:spcPts val="600"/>
              </a:spcAft>
              <a:buClrTx/>
              <a:buSzTx/>
              <a:buFont typeface="Wingdings" charset="2"/>
              <a:buChar char="²"/>
              <a:tabLst/>
              <a:defRPr/>
            </a:pPr>
            <a:r>
              <a:rPr kumimoji="0" lang="en-US"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The Web is now a platform for running application and organizations are increasingly developing web-based systems rather than local systems.</a:t>
            </a:r>
          </a:p>
          <a:p>
            <a:pPr marL="342900" marR="0" lvl="0" indent="-342900" algn="just" defTabSz="457200" rtl="0" eaLnBrk="1" fontAlgn="base" latinLnBrk="0" hangingPunct="1">
              <a:lnSpc>
                <a:spcPct val="100000"/>
              </a:lnSpc>
              <a:spcBef>
                <a:spcPts val="600"/>
              </a:spcBef>
              <a:spcAft>
                <a:spcPts val="600"/>
              </a:spcAft>
              <a:buClrTx/>
              <a:buSzTx/>
              <a:buFont typeface="Wingdings" charset="2"/>
              <a:buChar char="²"/>
              <a:tabLst/>
              <a:defRPr/>
            </a:pPr>
            <a:r>
              <a:rPr kumimoji="0" lang="en-US"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Web services allow application functionality to be accessed over the web.</a:t>
            </a:r>
          </a:p>
          <a:p>
            <a:pPr marL="342900" marR="0" lvl="0" indent="-342900" algn="just" defTabSz="457200" rtl="0" eaLnBrk="1" fontAlgn="base" latinLnBrk="0" hangingPunct="1">
              <a:lnSpc>
                <a:spcPct val="100000"/>
              </a:lnSpc>
              <a:spcBef>
                <a:spcPts val="600"/>
              </a:spcBef>
              <a:spcAft>
                <a:spcPts val="600"/>
              </a:spcAft>
              <a:buClrTx/>
              <a:buSzTx/>
              <a:buFont typeface="Wingdings" charset="2"/>
              <a:buChar char="²"/>
              <a:tabLst/>
              <a:defRPr/>
            </a:pPr>
            <a:r>
              <a:rPr kumimoji="0" lang="en-US"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Cloud computing is an approach to the provision of computer services where applications run remotely on the ‘cloud’. </a:t>
            </a:r>
          </a:p>
          <a:p>
            <a:pPr marL="742950" marR="0" lvl="1" indent="-285750" algn="just" defTabSz="457200" rtl="0" eaLnBrk="1" fontAlgn="base" latinLnBrk="0" hangingPunct="1">
              <a:lnSpc>
                <a:spcPct val="100000"/>
              </a:lnSpc>
              <a:spcBef>
                <a:spcPts val="300"/>
              </a:spcBef>
              <a:spcAft>
                <a:spcPts val="300"/>
              </a:spcAft>
              <a:buClrTx/>
              <a:buSzTx/>
              <a:buFont typeface="Wingdings" charset="2"/>
              <a:buChar char="§"/>
              <a:tabLst/>
              <a:defRPr/>
            </a:pPr>
            <a:r>
              <a:rPr kumimoji="0" lang="en-US"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Users do not buy software buy pay according to use.</a:t>
            </a:r>
          </a:p>
        </p:txBody>
      </p:sp>
    </p:spTree>
    <p:extLst>
      <p:ext uri="{BB962C8B-B14F-4D97-AF65-F5344CB8AC3E}">
        <p14:creationId xmlns:p14="http://schemas.microsoft.com/office/powerpoint/2010/main" val="4021941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88F0545-DB58-3330-865F-9639C1985D5D}"/>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9872CECD-B8FC-9F7E-C93F-B65DB3BE66B1}"/>
              </a:ext>
            </a:extLst>
          </p:cNvPr>
          <p:cNvSpPr/>
          <p:nvPr/>
        </p:nvSpPr>
        <p:spPr>
          <a:xfrm>
            <a:off x="736270" y="218172"/>
            <a:ext cx="8288976"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7" name="TextBox 6">
            <a:extLst>
              <a:ext uri="{FF2B5EF4-FFF2-40B4-BE49-F238E27FC236}">
                <a16:creationId xmlns:a16="http://schemas.microsoft.com/office/drawing/2014/main" id="{0BF5FFD2-B7D3-6456-4778-6C82120D5C6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7</a:t>
            </a:r>
          </a:p>
        </p:txBody>
      </p:sp>
      <p:sp>
        <p:nvSpPr>
          <p:cNvPr id="4" name="Title 1">
            <a:extLst>
              <a:ext uri="{FF2B5EF4-FFF2-40B4-BE49-F238E27FC236}">
                <a16:creationId xmlns:a16="http://schemas.microsoft.com/office/drawing/2014/main" id="{B2860526-9510-76A4-FE03-B4FB9C818509}"/>
              </a:ext>
            </a:extLst>
          </p:cNvPr>
          <p:cNvSpPr txBox="1">
            <a:spLocks/>
          </p:cNvSpPr>
          <p:nvPr/>
        </p:nvSpPr>
        <p:spPr bwMode="auto">
          <a:xfrm>
            <a:off x="925384" y="0"/>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4000" b="1"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Web-based software engineering</a:t>
            </a:r>
          </a:p>
        </p:txBody>
      </p:sp>
      <p:sp>
        <p:nvSpPr>
          <p:cNvPr id="5" name="Content Placeholder 2">
            <a:extLst>
              <a:ext uri="{FF2B5EF4-FFF2-40B4-BE49-F238E27FC236}">
                <a16:creationId xmlns:a16="http://schemas.microsoft.com/office/drawing/2014/main" id="{C555A99E-4A88-6279-7289-C684D5549ECD}"/>
              </a:ext>
            </a:extLst>
          </p:cNvPr>
          <p:cNvSpPr txBox="1">
            <a:spLocks/>
          </p:cNvSpPr>
          <p:nvPr/>
        </p:nvSpPr>
        <p:spPr>
          <a:xfrm>
            <a:off x="736270" y="880944"/>
            <a:ext cx="8229600" cy="4525963"/>
          </a:xfrm>
          <a:prstGeom prst="rect">
            <a:avLst/>
          </a:prstGeom>
        </p:spPr>
        <p:txBody>
          <a:bodyPr/>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base" latinLnBrk="0" hangingPunct="1">
              <a:lnSpc>
                <a:spcPct val="150000"/>
              </a:lnSpc>
              <a:spcBef>
                <a:spcPts val="600"/>
              </a:spcBef>
              <a:spcAft>
                <a:spcPts val="600"/>
              </a:spcAft>
              <a:buClrTx/>
              <a:buSzTx/>
              <a:buFont typeface="Wingdings" charset="2"/>
              <a:buChar char="²"/>
              <a:tabLst/>
              <a:defRPr/>
            </a:pPr>
            <a:r>
              <a:rPr kumimoji="0" lang="en-US"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Web-based systems are complex distributed systems but the fundamental principles of software engineering discussed previously are as applicable to them as they are to any other types of system.</a:t>
            </a:r>
          </a:p>
          <a:p>
            <a:pPr marL="342900" marR="0" lvl="0" indent="-342900" algn="l" defTabSz="457200" rtl="0" eaLnBrk="1" fontAlgn="base" latinLnBrk="0" hangingPunct="1">
              <a:lnSpc>
                <a:spcPct val="150000"/>
              </a:lnSpc>
              <a:spcBef>
                <a:spcPts val="600"/>
              </a:spcBef>
              <a:spcAft>
                <a:spcPts val="600"/>
              </a:spcAft>
              <a:buClrTx/>
              <a:buSzTx/>
              <a:buFont typeface="Wingdings" charset="2"/>
              <a:buChar char="²"/>
              <a:tabLst/>
              <a:defRPr/>
            </a:pPr>
            <a:r>
              <a:rPr kumimoji="0" lang="en-GB"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The fundamental ideas of software engineering apply to web-based software in the same way that they apply to other types of software system. </a:t>
            </a:r>
            <a:endParaRPr kumimoji="0" lang="en-US"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027602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A37C503-6005-1C2A-B76D-B302E1ADDF1F}"/>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361E6C33-5C1A-8407-0B7D-EC431642294D}"/>
              </a:ext>
            </a:extLst>
          </p:cNvPr>
          <p:cNvGrpSpPr/>
          <p:nvPr/>
        </p:nvGrpSpPr>
        <p:grpSpPr>
          <a:xfrm>
            <a:off x="783770" y="218172"/>
            <a:ext cx="8946970" cy="444600"/>
            <a:chOff x="0" y="6299"/>
            <a:chExt cx="5580934" cy="444600"/>
          </a:xfrm>
          <a:noFill/>
        </p:grpSpPr>
        <p:sp>
          <p:nvSpPr>
            <p:cNvPr id="109" name="Google Shape;109;p2">
              <a:extLst>
                <a:ext uri="{FF2B5EF4-FFF2-40B4-BE49-F238E27FC236}">
                  <a16:creationId xmlns:a16="http://schemas.microsoft.com/office/drawing/2014/main" id="{4403065C-61E3-0B73-BDC6-5A52D84ED84B}"/>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9191DF1C-1932-3F44-19EB-98459B541734}"/>
                </a:ext>
              </a:extLst>
            </p:cNvPr>
            <p:cNvSpPr txBox="1"/>
            <p:nvPr/>
          </p:nvSpPr>
          <p:spPr>
            <a:xfrm>
              <a:off x="21704" y="28003"/>
              <a:ext cx="5035918" cy="401192"/>
            </a:xfrm>
            <a:prstGeom prst="rect">
              <a:avLst/>
            </a:prstGeom>
            <a:grpFill/>
            <a:ln>
              <a:noFill/>
            </a:ln>
          </p:spPr>
          <p:txBody>
            <a:bodyPr spcFirstLastPara="1" wrap="square" lIns="72375" tIns="72375" rIns="72375" bIns="72375" anchor="ctr" anchorCtr="0">
              <a:noAutofit/>
            </a:bodyPr>
            <a:lstStyle/>
            <a:p>
              <a:pPr algn="ctr" defTabSz="457200" fontAlgn="base">
                <a:spcBef>
                  <a:spcPct val="0"/>
                </a:spcBef>
                <a:spcAft>
                  <a:spcPct val="0"/>
                </a:spcAft>
                <a:buClrTx/>
                <a:defRPr/>
              </a:pPr>
              <a:r>
                <a:rPr lang="en-IN" sz="4000" b="1" kern="1200" dirty="0">
                  <a:solidFill>
                    <a:srgbClr val="46424D"/>
                  </a:solidFill>
                  <a:latin typeface="Calibri" panose="020F0502020204030204" pitchFamily="34" charset="0"/>
                  <a:ea typeface="ＭＳ Ｐゴシック" charset="-128"/>
                  <a:cs typeface="Calibri" panose="020F0502020204030204" pitchFamily="34" charset="0"/>
                </a:rPr>
                <a:t>Core Activities</a:t>
              </a:r>
              <a:endParaRPr lang="en-US" sz="4000" b="1" kern="1200" dirty="0">
                <a:solidFill>
                  <a:srgbClr val="46424D"/>
                </a:solidFill>
                <a:latin typeface="Calibri" panose="020F0502020204030204" pitchFamily="34" charset="0"/>
                <a:ea typeface="ＭＳ Ｐゴシック" charset="-128"/>
                <a:cs typeface="Calibri" panose="020F0502020204030204" pitchFamily="34" charset="0"/>
              </a:endParaRPr>
            </a:p>
          </p:txBody>
        </p:sp>
      </p:grpSp>
      <p:sp>
        <p:nvSpPr>
          <p:cNvPr id="2" name="Rectangle 5">
            <a:extLst>
              <a:ext uri="{FF2B5EF4-FFF2-40B4-BE49-F238E27FC236}">
                <a16:creationId xmlns:a16="http://schemas.microsoft.com/office/drawing/2014/main" id="{1D676B1D-7626-08D3-EA70-F90C62BF863B}"/>
              </a:ext>
            </a:extLst>
          </p:cNvPr>
          <p:cNvSpPr txBox="1">
            <a:spLocks noChangeArrowheads="1"/>
          </p:cNvSpPr>
          <p:nvPr/>
        </p:nvSpPr>
        <p:spPr>
          <a:xfrm>
            <a:off x="521950" y="990600"/>
            <a:ext cx="8229600" cy="4525963"/>
          </a:xfrm>
          <a:prstGeom prst="rect">
            <a:avLst/>
          </a:prstGeom>
        </p:spPr>
        <p:txBody>
          <a:bodyPr/>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800" dirty="0">
                <a:latin typeface="Calibri" panose="020F0502020204030204" pitchFamily="34" charset="0"/>
                <a:cs typeface="Calibri" panose="020F0502020204030204" pitchFamily="34" charset="0"/>
              </a:rPr>
              <a:t>Software engineering encompasses the entire software development life cycle (SDLC), which involves several key activities: </a:t>
            </a:r>
          </a:p>
          <a:p>
            <a:r>
              <a:rPr lang="en-US" sz="2000" b="1" dirty="0">
                <a:latin typeface="Calibri" panose="020F0502020204030204" pitchFamily="34" charset="0"/>
                <a:cs typeface="Calibri" panose="020F0502020204030204" pitchFamily="34" charset="0"/>
              </a:rPr>
              <a:t>Requirements Analysis</a:t>
            </a:r>
            <a:r>
              <a:rPr lang="en-US" sz="1800" b="1" dirty="0">
                <a:latin typeface="Calibri" panose="020F0502020204030204" pitchFamily="34" charset="0"/>
                <a:cs typeface="Calibri" panose="020F0502020204030204" pitchFamily="34" charset="0"/>
              </a:rPr>
              <a:t>:</a:t>
            </a:r>
            <a:r>
              <a:rPr lang="en-US" sz="1800" dirty="0">
                <a:latin typeface="Calibri" panose="020F0502020204030204" pitchFamily="34" charset="0"/>
                <a:cs typeface="Calibri" panose="020F0502020204030204" pitchFamily="34" charset="0"/>
              </a:rPr>
              <a:t> Collaborating with stakeholders to understand and document the desired functions and constraints of the software.</a:t>
            </a:r>
          </a:p>
          <a:p>
            <a:r>
              <a:rPr lang="en-US" sz="2000" b="1" dirty="0">
                <a:latin typeface="Calibri" panose="020F0502020204030204" pitchFamily="34" charset="0"/>
                <a:cs typeface="Calibri" panose="020F0502020204030204" pitchFamily="34" charset="0"/>
              </a:rPr>
              <a:t>Design:</a:t>
            </a:r>
            <a:r>
              <a:rPr lang="en-US" sz="1800" dirty="0">
                <a:latin typeface="Calibri" panose="020F0502020204030204" pitchFamily="34" charset="0"/>
                <a:cs typeface="Calibri" panose="020F0502020204030204" pitchFamily="34" charset="0"/>
              </a:rPr>
              <a:t> Creating a high-level blueprint for the software architecture, defining components, data structures, and interfaces.</a:t>
            </a:r>
          </a:p>
          <a:p>
            <a:r>
              <a:rPr lang="en-US" sz="2000" b="1" dirty="0">
                <a:latin typeface="Calibri" panose="020F0502020204030204" pitchFamily="34" charset="0"/>
                <a:cs typeface="Calibri" panose="020F0502020204030204" pitchFamily="34" charset="0"/>
              </a:rPr>
              <a:t>Implementation (Coding): </a:t>
            </a:r>
            <a:r>
              <a:rPr lang="en-US" sz="1800" dirty="0">
                <a:latin typeface="Calibri" panose="020F0502020204030204" pitchFamily="34" charset="0"/>
                <a:cs typeface="Calibri" panose="020F0502020204030204" pitchFamily="34" charset="0"/>
              </a:rPr>
              <a:t>Writing the actual program code in appropriate languages based on the design specifications.</a:t>
            </a:r>
          </a:p>
        </p:txBody>
      </p:sp>
    </p:spTree>
    <p:extLst>
      <p:ext uri="{BB962C8B-B14F-4D97-AF65-F5344CB8AC3E}">
        <p14:creationId xmlns:p14="http://schemas.microsoft.com/office/powerpoint/2010/main" val="27579962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2162A07-CEE0-E39A-BF15-BA755DD306D6}"/>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BAD9890C-AD8F-1600-66DD-D9475C7D60CC}"/>
              </a:ext>
            </a:extLst>
          </p:cNvPr>
          <p:cNvGrpSpPr/>
          <p:nvPr/>
        </p:nvGrpSpPr>
        <p:grpSpPr>
          <a:xfrm>
            <a:off x="783770" y="218172"/>
            <a:ext cx="8946970" cy="444600"/>
            <a:chOff x="0" y="6299"/>
            <a:chExt cx="5580934" cy="444600"/>
          </a:xfrm>
          <a:noFill/>
        </p:grpSpPr>
        <p:sp>
          <p:nvSpPr>
            <p:cNvPr id="109" name="Google Shape;109;p2">
              <a:extLst>
                <a:ext uri="{FF2B5EF4-FFF2-40B4-BE49-F238E27FC236}">
                  <a16:creationId xmlns:a16="http://schemas.microsoft.com/office/drawing/2014/main" id="{3655D4BD-6B88-9432-67BA-BF6D2DD767AC}"/>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96B41EF7-522D-80CB-2B1F-B8A0B7283534}"/>
                </a:ext>
              </a:extLst>
            </p:cNvPr>
            <p:cNvSpPr txBox="1"/>
            <p:nvPr/>
          </p:nvSpPr>
          <p:spPr>
            <a:xfrm>
              <a:off x="21704" y="28003"/>
              <a:ext cx="5035918" cy="401192"/>
            </a:xfrm>
            <a:prstGeom prst="rect">
              <a:avLst/>
            </a:prstGeom>
            <a:grpFill/>
            <a:ln>
              <a:noFill/>
            </a:ln>
          </p:spPr>
          <p:txBody>
            <a:bodyPr spcFirstLastPara="1" wrap="square" lIns="72375" tIns="72375" rIns="72375" bIns="72375" anchor="ctr" anchorCtr="0">
              <a:noAutofit/>
            </a:bodyPr>
            <a:lstStyle/>
            <a:p>
              <a:pPr algn="ctr" defTabSz="457200" fontAlgn="base">
                <a:spcBef>
                  <a:spcPct val="0"/>
                </a:spcBef>
                <a:spcAft>
                  <a:spcPct val="0"/>
                </a:spcAft>
                <a:buClrTx/>
                <a:buSzPts val="1900"/>
                <a:defRPr/>
              </a:pPr>
              <a:r>
                <a:rPr lang="en-IN" sz="4000" b="1" kern="1200" dirty="0">
                  <a:solidFill>
                    <a:srgbClr val="46424D"/>
                  </a:solidFill>
                  <a:latin typeface="Calibri" panose="020F0502020204030204" pitchFamily="34" charset="0"/>
                  <a:ea typeface="ＭＳ Ｐゴシック" charset="-128"/>
                  <a:cs typeface="Calibri" panose="020F0502020204030204" pitchFamily="34" charset="0"/>
                </a:rPr>
                <a:t>Core Activities</a:t>
              </a:r>
              <a:endParaRPr lang="en-US" sz="4000" b="1" kern="1200" dirty="0">
                <a:solidFill>
                  <a:srgbClr val="46424D"/>
                </a:solidFill>
                <a:latin typeface="Calibri" panose="020F0502020204030204" pitchFamily="34" charset="0"/>
                <a:ea typeface="ＭＳ Ｐゴシック" charset="-128"/>
                <a:cs typeface="Calibri" panose="020F0502020204030204" pitchFamily="34" charset="0"/>
              </a:endParaRPr>
            </a:p>
          </p:txBody>
        </p:sp>
      </p:grpSp>
      <p:sp>
        <p:nvSpPr>
          <p:cNvPr id="2" name="Rectangle 5">
            <a:extLst>
              <a:ext uri="{FF2B5EF4-FFF2-40B4-BE49-F238E27FC236}">
                <a16:creationId xmlns:a16="http://schemas.microsoft.com/office/drawing/2014/main" id="{B409FAEE-9470-801F-ED23-271962932647}"/>
              </a:ext>
            </a:extLst>
          </p:cNvPr>
          <p:cNvSpPr txBox="1">
            <a:spLocks noChangeArrowheads="1"/>
          </p:cNvSpPr>
          <p:nvPr/>
        </p:nvSpPr>
        <p:spPr>
          <a:xfrm>
            <a:off x="521950" y="990600"/>
            <a:ext cx="8229600" cy="4525963"/>
          </a:xfrm>
          <a:prstGeom prst="rect">
            <a:avLst/>
          </a:prstGeom>
        </p:spPr>
        <p:txBody>
          <a:bodyPr/>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800" dirty="0">
                <a:latin typeface="Calibri" panose="020F0502020204030204" pitchFamily="34" charset="0"/>
                <a:cs typeface="Calibri" panose="020F0502020204030204" pitchFamily="34" charset="0"/>
              </a:rPr>
              <a:t>Software engineering encompasses the entire software development life cycle (SDLC), which involves several key activities: </a:t>
            </a:r>
          </a:p>
          <a:p>
            <a:r>
              <a:rPr lang="en-US" sz="2000" b="1" dirty="0">
                <a:latin typeface="Calibri" panose="020F0502020204030204" pitchFamily="34" charset="0"/>
                <a:cs typeface="Calibri" panose="020F0502020204030204" pitchFamily="34" charset="0"/>
              </a:rPr>
              <a:t>Testing</a:t>
            </a:r>
            <a:r>
              <a:rPr lang="en-US" sz="1800" b="1" dirty="0">
                <a:latin typeface="Calibri" panose="020F0502020204030204" pitchFamily="34" charset="0"/>
                <a:cs typeface="Calibri" panose="020F0502020204030204" pitchFamily="34" charset="0"/>
              </a:rPr>
              <a:t>:</a:t>
            </a:r>
            <a:r>
              <a:rPr lang="en-US" sz="1800" dirty="0">
                <a:latin typeface="Calibri" panose="020F0502020204030204" pitchFamily="34" charset="0"/>
                <a:cs typeface="Calibri" panose="020F0502020204030204" pitchFamily="34" charset="0"/>
              </a:rPr>
              <a:t> Verifying that the software meets its requirements and is free of bugs and errors through various testing levels (unit, integration, system, etc.).</a:t>
            </a:r>
          </a:p>
          <a:p>
            <a:r>
              <a:rPr lang="en-US" sz="2000" b="1" dirty="0">
                <a:latin typeface="Calibri" panose="020F0502020204030204" pitchFamily="34" charset="0"/>
                <a:cs typeface="Calibri" panose="020F0502020204030204" pitchFamily="34" charset="0"/>
              </a:rPr>
              <a:t>Maintenance: </a:t>
            </a:r>
            <a:r>
              <a:rPr lang="en-US" sz="1800" dirty="0">
                <a:latin typeface="Calibri" panose="020F0502020204030204" pitchFamily="34" charset="0"/>
                <a:cs typeface="Calibri" panose="020F0502020204030204" pitchFamily="34" charset="0"/>
              </a:rPr>
              <a:t>Regularly updating, modifying, and enhancing the software after deployment to fix bugs, adapt to new environments, and add new features.</a:t>
            </a:r>
          </a:p>
          <a:p>
            <a:r>
              <a:rPr lang="en-US" sz="2000" b="1" dirty="0">
                <a:latin typeface="Calibri" panose="020F0502020204030204" pitchFamily="34" charset="0"/>
                <a:cs typeface="Calibri" panose="020F0502020204030204" pitchFamily="34" charset="0"/>
              </a:rPr>
              <a:t>Project Management: </a:t>
            </a:r>
            <a:r>
              <a:rPr lang="en-US" sz="1800" dirty="0">
                <a:latin typeface="Calibri" panose="020F0502020204030204" pitchFamily="34" charset="0"/>
                <a:cs typeface="Calibri" panose="020F0502020204030204" pitchFamily="34" charset="0"/>
              </a:rPr>
              <a:t>Planning, monitoring, and controlling the software project to manage scope, cost, time, and quality. </a:t>
            </a:r>
          </a:p>
        </p:txBody>
      </p:sp>
    </p:spTree>
    <p:extLst>
      <p:ext uri="{BB962C8B-B14F-4D97-AF65-F5344CB8AC3E}">
        <p14:creationId xmlns:p14="http://schemas.microsoft.com/office/powerpoint/2010/main" val="18414852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5ABFCCD-6F17-4BC2-E267-ECFE67431D7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2F568134-665F-2323-68AE-AC99ABF1E2EF}"/>
              </a:ext>
            </a:extLst>
          </p:cNvPr>
          <p:cNvGrpSpPr/>
          <p:nvPr/>
        </p:nvGrpSpPr>
        <p:grpSpPr>
          <a:xfrm>
            <a:off x="783770" y="218172"/>
            <a:ext cx="8946970" cy="444600"/>
            <a:chOff x="0" y="6299"/>
            <a:chExt cx="5580934" cy="444600"/>
          </a:xfrm>
          <a:noFill/>
        </p:grpSpPr>
        <p:sp>
          <p:nvSpPr>
            <p:cNvPr id="109" name="Google Shape;109;p2">
              <a:extLst>
                <a:ext uri="{FF2B5EF4-FFF2-40B4-BE49-F238E27FC236}">
                  <a16:creationId xmlns:a16="http://schemas.microsoft.com/office/drawing/2014/main" id="{88B46902-7AC9-F17C-02E0-36356EC11DE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8A8DA77D-EB6D-A966-40DC-EAE9C2C1F1AB}"/>
                </a:ext>
              </a:extLst>
            </p:cNvPr>
            <p:cNvSpPr txBox="1"/>
            <p:nvPr/>
          </p:nvSpPr>
          <p:spPr>
            <a:xfrm>
              <a:off x="21704" y="28003"/>
              <a:ext cx="5035918"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rPr>
                <a:t> </a:t>
              </a:r>
              <a:r>
                <a:rPr lang="en-US" sz="4000" b="1" kern="1200" dirty="0">
                  <a:solidFill>
                    <a:srgbClr val="46424D"/>
                  </a:solidFill>
                  <a:latin typeface="Calibri" panose="020F0502020204030204" pitchFamily="34" charset="0"/>
                  <a:ea typeface="ＭＳ Ｐゴシック" charset="-128"/>
                  <a:cs typeface="Calibri" panose="020F0502020204030204" pitchFamily="34" charset="0"/>
                </a:rPr>
                <a:t>Principles of Software Engineering</a:t>
              </a:r>
            </a:p>
          </p:txBody>
        </p:sp>
      </p:grpSp>
      <p:sp>
        <p:nvSpPr>
          <p:cNvPr id="2" name="Content Placeholder 2">
            <a:extLst>
              <a:ext uri="{FF2B5EF4-FFF2-40B4-BE49-F238E27FC236}">
                <a16:creationId xmlns:a16="http://schemas.microsoft.com/office/drawing/2014/main" id="{992B5834-EAB3-6598-1568-E339CBA17E4B}"/>
              </a:ext>
            </a:extLst>
          </p:cNvPr>
          <p:cNvSpPr txBox="1">
            <a:spLocks/>
          </p:cNvSpPr>
          <p:nvPr/>
        </p:nvSpPr>
        <p:spPr>
          <a:xfrm>
            <a:off x="379924" y="794957"/>
            <a:ext cx="8229600" cy="4525963"/>
          </a:xfrm>
          <a:prstGeom prst="rect">
            <a:avLst/>
          </a:prstGeom>
        </p:spPr>
        <p:txBody>
          <a:bodyPr/>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r>
              <a:rPr lang="en-US" sz="1800" dirty="0">
                <a:latin typeface="Calibri" panose="020F0502020204030204" pitchFamily="34" charset="0"/>
                <a:cs typeface="Calibri" panose="020F0502020204030204" pitchFamily="34" charset="0"/>
              </a:rPr>
              <a:t>Unlike simple programming, which can be an informal activity, software engineering relies on established principles to manage complexity and ensure quality, especially for large and intricate systems: </a:t>
            </a:r>
          </a:p>
          <a:p>
            <a:r>
              <a:rPr lang="en-US" sz="2000" b="1" dirty="0">
                <a:latin typeface="Calibri" panose="020F0502020204030204" pitchFamily="34" charset="0"/>
                <a:cs typeface="Calibri" panose="020F0502020204030204" pitchFamily="34" charset="0"/>
              </a:rPr>
              <a:t>Modularity</a:t>
            </a:r>
            <a:r>
              <a:rPr lang="en-US" sz="1800" b="1" dirty="0">
                <a:latin typeface="Calibri" panose="020F0502020204030204" pitchFamily="34" charset="0"/>
                <a:cs typeface="Calibri" panose="020F0502020204030204" pitchFamily="34" charset="0"/>
              </a:rPr>
              <a:t>:</a:t>
            </a:r>
            <a:r>
              <a:rPr lang="en-US" sz="1800" dirty="0">
                <a:latin typeface="Calibri" panose="020F0502020204030204" pitchFamily="34" charset="0"/>
                <a:cs typeface="Calibri" panose="020F0502020204030204" pitchFamily="34" charset="0"/>
              </a:rPr>
              <a:t> Breaking down complex software into smaller, manageable components.</a:t>
            </a:r>
          </a:p>
          <a:p>
            <a:r>
              <a:rPr lang="en-US" sz="2000" b="1" dirty="0">
                <a:latin typeface="Calibri" panose="020F0502020204030204" pitchFamily="34" charset="0"/>
                <a:cs typeface="Calibri" panose="020F0502020204030204" pitchFamily="34" charset="0"/>
              </a:rPr>
              <a:t>Abstraction and Encapsulation</a:t>
            </a:r>
            <a:r>
              <a:rPr lang="en-US" sz="1800" b="1" dirty="0">
                <a:latin typeface="Calibri" panose="020F0502020204030204" pitchFamily="34" charset="0"/>
                <a:cs typeface="Calibri" panose="020F0502020204030204" pitchFamily="34" charset="0"/>
              </a:rPr>
              <a:t>:</a:t>
            </a:r>
            <a:r>
              <a:rPr lang="en-US" sz="1800" dirty="0">
                <a:latin typeface="Calibri" panose="020F0502020204030204" pitchFamily="34" charset="0"/>
                <a:cs typeface="Calibri" panose="020F0502020204030204" pitchFamily="34" charset="0"/>
              </a:rPr>
              <a:t> Hiding implementation details to simplify interaction and protect internal data.</a:t>
            </a:r>
          </a:p>
          <a:p>
            <a:r>
              <a:rPr lang="en-US" sz="1800" b="1" dirty="0">
                <a:latin typeface="Calibri" panose="020F0502020204030204" pitchFamily="34" charset="0"/>
                <a:cs typeface="Calibri" panose="020F0502020204030204" pitchFamily="34" charset="0"/>
              </a:rPr>
              <a:t>R</a:t>
            </a:r>
            <a:r>
              <a:rPr lang="en-US" sz="2000" b="1" dirty="0">
                <a:latin typeface="Calibri" panose="020F0502020204030204" pitchFamily="34" charset="0"/>
                <a:cs typeface="Calibri" panose="020F0502020204030204" pitchFamily="34" charset="0"/>
              </a:rPr>
              <a:t>eusability</a:t>
            </a:r>
            <a:r>
              <a:rPr lang="en-US" sz="1800" b="1" dirty="0">
                <a:latin typeface="Calibri" panose="020F0502020204030204" pitchFamily="34" charset="0"/>
                <a:cs typeface="Calibri" panose="020F0502020204030204" pitchFamily="34" charset="0"/>
              </a:rPr>
              <a:t>:</a:t>
            </a:r>
            <a:r>
              <a:rPr lang="en-US" sz="1800" dirty="0">
                <a:latin typeface="Calibri" panose="020F0502020204030204" pitchFamily="34" charset="0"/>
                <a:cs typeface="Calibri" panose="020F0502020204030204" pitchFamily="34" charset="0"/>
              </a:rPr>
              <a:t> Designing components that can be used across multiple projects to save time and resources</a:t>
            </a:r>
            <a:r>
              <a:rPr lang="en-US" sz="2000" dirty="0"/>
              <a:t>.</a:t>
            </a:r>
          </a:p>
        </p:txBody>
      </p:sp>
    </p:spTree>
    <p:extLst>
      <p:ext uri="{BB962C8B-B14F-4D97-AF65-F5344CB8AC3E}">
        <p14:creationId xmlns:p14="http://schemas.microsoft.com/office/powerpoint/2010/main" val="27055244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57D1079-BC62-D8D8-5DAF-7217739DBFFE}"/>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149AB65A-AE11-4FD3-6956-A8F02C1404E6}"/>
              </a:ext>
            </a:extLst>
          </p:cNvPr>
          <p:cNvGrpSpPr/>
          <p:nvPr/>
        </p:nvGrpSpPr>
        <p:grpSpPr>
          <a:xfrm>
            <a:off x="783770" y="218172"/>
            <a:ext cx="8946970" cy="444600"/>
            <a:chOff x="0" y="6299"/>
            <a:chExt cx="5580934" cy="444600"/>
          </a:xfrm>
          <a:noFill/>
        </p:grpSpPr>
        <p:sp>
          <p:nvSpPr>
            <p:cNvPr id="109" name="Google Shape;109;p2">
              <a:extLst>
                <a:ext uri="{FF2B5EF4-FFF2-40B4-BE49-F238E27FC236}">
                  <a16:creationId xmlns:a16="http://schemas.microsoft.com/office/drawing/2014/main" id="{D6A7904D-B39F-9F6D-A188-52ABFCBABD32}"/>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89CD6675-26E9-DDA2-79E6-C2E4554A6819}"/>
                </a:ext>
              </a:extLst>
            </p:cNvPr>
            <p:cNvSpPr txBox="1"/>
            <p:nvPr/>
          </p:nvSpPr>
          <p:spPr>
            <a:xfrm>
              <a:off x="21704" y="28003"/>
              <a:ext cx="5035918"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rPr>
                <a:t> </a:t>
              </a:r>
              <a:r>
                <a:rPr lang="en-US" sz="4000" b="1" kern="1200" dirty="0">
                  <a:solidFill>
                    <a:srgbClr val="46424D"/>
                  </a:solidFill>
                  <a:latin typeface="Calibri" panose="020F0502020204030204" pitchFamily="34" charset="0"/>
                  <a:ea typeface="ＭＳ Ｐゴシック" charset="-128"/>
                  <a:cs typeface="Calibri" panose="020F0502020204030204" pitchFamily="34" charset="0"/>
                </a:rPr>
                <a:t>Principles of Software Engineering</a:t>
              </a:r>
            </a:p>
          </p:txBody>
        </p:sp>
      </p:grpSp>
      <p:sp>
        <p:nvSpPr>
          <p:cNvPr id="2" name="Content Placeholder 2">
            <a:extLst>
              <a:ext uri="{FF2B5EF4-FFF2-40B4-BE49-F238E27FC236}">
                <a16:creationId xmlns:a16="http://schemas.microsoft.com/office/drawing/2014/main" id="{CB950971-01A8-D0EC-1C47-24FA0AC26932}"/>
              </a:ext>
            </a:extLst>
          </p:cNvPr>
          <p:cNvSpPr txBox="1">
            <a:spLocks/>
          </p:cNvSpPr>
          <p:nvPr/>
        </p:nvSpPr>
        <p:spPr>
          <a:xfrm>
            <a:off x="379924" y="1157288"/>
            <a:ext cx="8229600" cy="4163632"/>
          </a:xfrm>
          <a:prstGeom prst="rect">
            <a:avLst/>
          </a:prstGeom>
        </p:spPr>
        <p:txBody>
          <a:bodyPr/>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r>
              <a:rPr lang="en-US" sz="1800" dirty="0">
                <a:latin typeface="Calibri" panose="020F0502020204030204" pitchFamily="34" charset="0"/>
                <a:cs typeface="Calibri" panose="020F0502020204030204" pitchFamily="34" charset="0"/>
              </a:rPr>
              <a:t>Unlike simple programming, which can be an informal activity, software engineering relies on established principles to manage complexity and ensure quality, especially for large and intricate systems: </a:t>
            </a:r>
          </a:p>
          <a:p>
            <a:pPr algn="just"/>
            <a:r>
              <a:rPr lang="en-US" sz="1800" b="1" dirty="0">
                <a:latin typeface="Calibri" panose="020F0502020204030204" pitchFamily="34" charset="0"/>
                <a:cs typeface="Calibri" panose="020F0502020204030204" pitchFamily="34" charset="0"/>
              </a:rPr>
              <a:t>Quality Focus:</a:t>
            </a:r>
            <a:r>
              <a:rPr lang="en-US" sz="1800" dirty="0">
                <a:latin typeface="Calibri" panose="020F0502020204030204" pitchFamily="34" charset="0"/>
                <a:cs typeface="Calibri" panose="020F0502020204030204" pitchFamily="34" charset="0"/>
              </a:rPr>
              <a:t> Applying rigorous testing and quality assurance practices throughout the entire process.</a:t>
            </a:r>
          </a:p>
          <a:p>
            <a:pPr algn="just"/>
            <a:r>
              <a:rPr lang="en-US" sz="1800" b="1" dirty="0">
                <a:latin typeface="Calibri" panose="020F0502020204030204" pitchFamily="34" charset="0"/>
                <a:cs typeface="Calibri" panose="020F0502020204030204" pitchFamily="34" charset="0"/>
              </a:rPr>
              <a:t>Systematic Approach:</a:t>
            </a:r>
            <a:r>
              <a:rPr lang="en-US" sz="1800" dirty="0">
                <a:latin typeface="Calibri" panose="020F0502020204030204" pitchFamily="34" charset="0"/>
                <a:cs typeface="Calibri" panose="020F0502020204030204" pitchFamily="34" charset="0"/>
              </a:rPr>
              <a:t> Following structured methodologies (like Agile or Waterfall) to guide development from conception to retirement. </a:t>
            </a:r>
          </a:p>
        </p:txBody>
      </p:sp>
    </p:spTree>
    <p:extLst>
      <p:ext uri="{BB962C8B-B14F-4D97-AF65-F5344CB8AC3E}">
        <p14:creationId xmlns:p14="http://schemas.microsoft.com/office/powerpoint/2010/main" val="40855737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4157EE15-7D4A-61FD-30E3-8F354EE814AE}"/>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9876FACB-8334-8AE1-431B-0101F29F92E4}"/>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99BD7B1D-B2E9-C5D1-A570-EAC7145E7E3B}"/>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7</a:t>
            </a:r>
          </a:p>
        </p:txBody>
      </p:sp>
      <p:sp>
        <p:nvSpPr>
          <p:cNvPr id="2" name="Title 1">
            <a:extLst>
              <a:ext uri="{FF2B5EF4-FFF2-40B4-BE49-F238E27FC236}">
                <a16:creationId xmlns:a16="http://schemas.microsoft.com/office/drawing/2014/main" id="{17F62297-D3D7-1ABF-F467-892430B04553}"/>
              </a:ext>
            </a:extLst>
          </p:cNvPr>
          <p:cNvSpPr txBox="1">
            <a:spLocks/>
          </p:cNvSpPr>
          <p:nvPr/>
        </p:nvSpPr>
        <p:spPr bwMode="auto">
          <a:xfrm>
            <a:off x="1008888" y="7733"/>
            <a:ext cx="6873874" cy="836957"/>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GB" sz="4000" b="1"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Summary </a:t>
            </a:r>
            <a:endParaRPr kumimoji="0" lang="en-US" sz="4000" b="1"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endParaRPr>
          </a:p>
        </p:txBody>
      </p:sp>
      <p:sp>
        <p:nvSpPr>
          <p:cNvPr id="4" name="Content Placeholder 2">
            <a:extLst>
              <a:ext uri="{FF2B5EF4-FFF2-40B4-BE49-F238E27FC236}">
                <a16:creationId xmlns:a16="http://schemas.microsoft.com/office/drawing/2014/main" id="{7DE973E3-C765-6FE2-1745-3AD054AE45A5}"/>
              </a:ext>
            </a:extLst>
          </p:cNvPr>
          <p:cNvSpPr txBox="1">
            <a:spLocks/>
          </p:cNvSpPr>
          <p:nvPr/>
        </p:nvSpPr>
        <p:spPr>
          <a:xfrm>
            <a:off x="663976" y="806675"/>
            <a:ext cx="8229600" cy="4525963"/>
          </a:xfrm>
          <a:prstGeom prst="rect">
            <a:avLst/>
          </a:prstGeom>
        </p:spPr>
        <p:txBody>
          <a:bodyPr/>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just" defTabSz="457200" rtl="0" eaLnBrk="1" fontAlgn="base" latinLnBrk="0" hangingPunct="1">
              <a:lnSpc>
                <a:spcPct val="100000"/>
              </a:lnSpc>
              <a:spcBef>
                <a:spcPts val="600"/>
              </a:spcBef>
              <a:spcAft>
                <a:spcPts val="600"/>
              </a:spcAft>
              <a:buClrTx/>
              <a:buSzTx/>
              <a:buFont typeface="Wingdings" charset="2"/>
              <a:buChar char="²"/>
              <a:tabLst/>
              <a:defRPr/>
            </a:pPr>
            <a:r>
              <a:rPr kumimoji="0" lang="en-GB" sz="24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Software engineering is an engineering discipline that is concerned with all aspects of software production.</a:t>
            </a:r>
          </a:p>
          <a:p>
            <a:pPr marL="342900" marR="0" lvl="0" indent="-342900" algn="just" defTabSz="457200" rtl="0" eaLnBrk="1" fontAlgn="base" latinLnBrk="0" hangingPunct="1">
              <a:lnSpc>
                <a:spcPct val="100000"/>
              </a:lnSpc>
              <a:spcBef>
                <a:spcPts val="600"/>
              </a:spcBef>
              <a:spcAft>
                <a:spcPts val="600"/>
              </a:spcAft>
              <a:buClrTx/>
              <a:buSzTx/>
              <a:buFont typeface="Wingdings" charset="2"/>
              <a:buChar char="²"/>
              <a:tabLst/>
              <a:defRPr/>
            </a:pPr>
            <a:r>
              <a:rPr kumimoji="0" lang="en-GB" sz="24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Essential software product attributes are maintainability, dependability and security, efficiency and acceptability.</a:t>
            </a:r>
          </a:p>
          <a:p>
            <a:pPr marL="342900" marR="0" lvl="0" indent="-342900" algn="just" defTabSz="457200" rtl="0" eaLnBrk="1" fontAlgn="base" latinLnBrk="0" hangingPunct="1">
              <a:lnSpc>
                <a:spcPct val="100000"/>
              </a:lnSpc>
              <a:spcBef>
                <a:spcPts val="600"/>
              </a:spcBef>
              <a:spcAft>
                <a:spcPts val="600"/>
              </a:spcAft>
              <a:buClrTx/>
              <a:buSzTx/>
              <a:buFont typeface="Wingdings" charset="2"/>
              <a:buChar char="²"/>
              <a:tabLst/>
              <a:defRPr/>
            </a:pPr>
            <a:r>
              <a:rPr kumimoji="0" lang="en-GB" sz="24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The high-level activities of specification, development, validation and evolution are part of all software processes.</a:t>
            </a:r>
          </a:p>
          <a:p>
            <a:pPr marL="342900" marR="0" lvl="0" indent="-342900" algn="just" defTabSz="457200" rtl="0" eaLnBrk="1" fontAlgn="base" latinLnBrk="0" hangingPunct="1">
              <a:lnSpc>
                <a:spcPct val="100000"/>
              </a:lnSpc>
              <a:spcBef>
                <a:spcPts val="600"/>
              </a:spcBef>
              <a:spcAft>
                <a:spcPts val="600"/>
              </a:spcAft>
              <a:buClrTx/>
              <a:buSzTx/>
              <a:buFont typeface="Wingdings" charset="2"/>
              <a:buChar char="²"/>
              <a:tabLst/>
              <a:defRPr/>
            </a:pPr>
            <a:r>
              <a:rPr kumimoji="0" lang="en-GB" sz="24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The fundamental notions of software engineering are universally applicable to all types of system development.  </a:t>
            </a:r>
          </a:p>
        </p:txBody>
      </p:sp>
    </p:spTree>
    <p:extLst>
      <p:ext uri="{BB962C8B-B14F-4D97-AF65-F5344CB8AC3E}">
        <p14:creationId xmlns:p14="http://schemas.microsoft.com/office/powerpoint/2010/main" val="24554009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712518" y="218172"/>
            <a:ext cx="8312727" cy="44460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Quiz/ FAQ’s</a:t>
              </a:r>
            </a:p>
          </p:txBody>
        </p:sp>
      </p:grpSp>
      <p:sp>
        <p:nvSpPr>
          <p:cNvPr id="111" name="Google Shape;111;p2">
            <a:extLst>
              <a:ext uri="{FF2B5EF4-FFF2-40B4-BE49-F238E27FC236}">
                <a16:creationId xmlns:a16="http://schemas.microsoft.com/office/drawing/2014/main" id="{BD6EBDB1-8664-1692-8A39-12350449E110}"/>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R="0" lvl="0" indent="-457200" algn="just" rtl="0">
              <a:lnSpc>
                <a:spcPct val="100000"/>
              </a:lnSpc>
              <a:spcBef>
                <a:spcPts val="0"/>
              </a:spcBef>
              <a:spcAft>
                <a:spcPts val="0"/>
              </a:spcAft>
              <a:buClr>
                <a:schemeClr val="dk1"/>
              </a:buClr>
              <a:buSzPts val="2400"/>
              <a:buFont typeface="+mj-lt"/>
              <a:buAutoNum type="arabicPeriod"/>
            </a:pPr>
            <a:r>
              <a:rPr lang="en-US" b="0" i="0" dirty="0">
                <a:solidFill>
                  <a:schemeClr val="bg2"/>
                </a:solidFill>
                <a:effectLst/>
                <a:latin typeface="fkGroteskNeue"/>
              </a:rPr>
              <a:t>How is software different from a program?</a:t>
            </a:r>
          </a:p>
          <a:p>
            <a:pPr marR="0" lvl="0" indent="-457200" algn="just" rtl="0">
              <a:lnSpc>
                <a:spcPct val="100000"/>
              </a:lnSpc>
              <a:spcBef>
                <a:spcPts val="0"/>
              </a:spcBef>
              <a:spcAft>
                <a:spcPts val="0"/>
              </a:spcAft>
              <a:buClr>
                <a:schemeClr val="dk1"/>
              </a:buClr>
              <a:buSzPts val="2400"/>
              <a:buFont typeface="+mj-lt"/>
              <a:buAutoNum type="arabicPeriod"/>
            </a:pPr>
            <a:r>
              <a:rPr lang="en-US" b="0" i="0" dirty="0">
                <a:solidFill>
                  <a:schemeClr val="bg2"/>
                </a:solidFill>
                <a:effectLst/>
                <a:latin typeface="fkGroteskNeue"/>
              </a:rPr>
              <a:t>What are the main activities involved in software engineering?</a:t>
            </a:r>
          </a:p>
          <a:p>
            <a:pPr marR="0" lvl="0" indent="-457200" algn="just" rtl="0">
              <a:lnSpc>
                <a:spcPct val="100000"/>
              </a:lnSpc>
              <a:spcBef>
                <a:spcPts val="0"/>
              </a:spcBef>
              <a:spcAft>
                <a:spcPts val="0"/>
              </a:spcAft>
              <a:buClr>
                <a:schemeClr val="dk1"/>
              </a:buClr>
              <a:buSzPts val="2400"/>
              <a:buFont typeface="+mj-lt"/>
              <a:buAutoNum type="arabicPeriod"/>
            </a:pPr>
            <a:r>
              <a:rPr lang="en-US" b="0" i="0" dirty="0">
                <a:solidFill>
                  <a:schemeClr val="bg2"/>
                </a:solidFill>
                <a:effectLst/>
                <a:latin typeface="fkGroteskNeue"/>
              </a:rPr>
              <a:t>What is the difference between a software engineer and a programmer?</a:t>
            </a:r>
            <a:endParaRPr sz="2400" b="0" i="0" u="none" dirty="0">
              <a:solidFill>
                <a:schemeClr val="bg2"/>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0270363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87ED0C6-7719-FB97-ED94-7F5CE38D07A8}"/>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91D700B6-6EB7-B931-A6BA-3293795C4FD6}"/>
              </a:ext>
            </a:extLst>
          </p:cNvPr>
          <p:cNvGrpSpPr/>
          <p:nvPr/>
        </p:nvGrpSpPr>
        <p:grpSpPr>
          <a:xfrm>
            <a:off x="715861" y="-42871"/>
            <a:ext cx="8277101" cy="1217475"/>
            <a:chOff x="0" y="6299"/>
            <a:chExt cx="5580934" cy="1217475"/>
          </a:xfrm>
          <a:noFill/>
        </p:grpSpPr>
        <p:sp>
          <p:nvSpPr>
            <p:cNvPr id="109" name="Google Shape;109;p2">
              <a:extLst>
                <a:ext uri="{FF2B5EF4-FFF2-40B4-BE49-F238E27FC236}">
                  <a16:creationId xmlns:a16="http://schemas.microsoft.com/office/drawing/2014/main" id="{D9F7BC64-7A52-69C2-0340-DEC4747604CB}"/>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DD12C81D-38E2-6BA8-4944-E9161F70F1EA}"/>
                </a:ext>
              </a:extLst>
            </p:cNvPr>
            <p:cNvSpPr txBox="1"/>
            <p:nvPr/>
          </p:nvSpPr>
          <p:spPr>
            <a:xfrm>
              <a:off x="0" y="822582"/>
              <a:ext cx="5537526" cy="401192"/>
            </a:xfrm>
            <a:prstGeom prst="rect">
              <a:avLst/>
            </a:prstGeom>
            <a:grpFill/>
            <a:ln>
              <a:noFill/>
            </a:ln>
          </p:spPr>
          <p:txBody>
            <a:bodyPr spcFirstLastPara="1" wrap="square" lIns="72375" tIns="72375" rIns="72375" bIns="72375" anchor="ctr" anchorCtr="0">
              <a:noAutofit/>
            </a:bodyPr>
            <a:lstStyle/>
            <a:p>
              <a:pPr lvl="0" algn="just">
                <a:lnSpc>
                  <a:spcPct val="90000"/>
                </a:lnSpc>
                <a:buSzPts val="1900"/>
              </a:pPr>
              <a:r>
                <a:rPr lang="en-US" sz="2800" b="1" dirty="0">
                  <a:solidFill>
                    <a:schemeClr val="bg2"/>
                  </a:solidFill>
                  <a:latin typeface="Calibri" panose="020F0502020204030204" pitchFamily="34" charset="0"/>
                  <a:ea typeface="Calibri" panose="020F0502020204030204" pitchFamily="34" charset="0"/>
                  <a:cs typeface="Calibri" panose="020F0502020204030204" pitchFamily="34" charset="0"/>
                </a:rPr>
                <a:t>Faculty-curated videos, NPTEL, Coursera, LinkedIn, or other relevant learning resources</a:t>
              </a:r>
            </a:p>
          </p:txBody>
        </p:sp>
      </p:grpSp>
      <p:sp>
        <p:nvSpPr>
          <p:cNvPr id="111" name="Google Shape;111;p2">
            <a:extLst>
              <a:ext uri="{FF2B5EF4-FFF2-40B4-BE49-F238E27FC236}">
                <a16:creationId xmlns:a16="http://schemas.microsoft.com/office/drawing/2014/main" id="{5AD00F48-AF9F-87AF-B3AB-2CA9606A4E8B}"/>
              </a:ext>
            </a:extLst>
          </p:cNvPr>
          <p:cNvSpPr txBox="1">
            <a:spLocks noGrp="1"/>
          </p:cNvSpPr>
          <p:nvPr>
            <p:ph type="body" idx="1"/>
          </p:nvPr>
        </p:nvSpPr>
        <p:spPr>
          <a:xfrm>
            <a:off x="398900" y="1455288"/>
            <a:ext cx="8001000" cy="2914800"/>
          </a:xfrm>
          <a:prstGeom prst="rect">
            <a:avLst/>
          </a:prstGeom>
          <a:noFill/>
          <a:ln>
            <a:noFill/>
          </a:ln>
        </p:spPr>
        <p:txBody>
          <a:bodyPr spcFirstLastPara="1" wrap="square" lIns="91425" tIns="45700" rIns="91425" bIns="45700" anchor="t" anchorCtr="0">
            <a:normAutofit fontScale="92500" lnSpcReduction="10000"/>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1800" b="1" i="0" u="none" strike="noStrike" cap="none" dirty="0">
              <a:solidFill>
                <a:schemeClr val="bg2"/>
              </a:solidFill>
              <a:latin typeface="Calibri" panose="020F0502020204030204" pitchFamily="34" charset="0"/>
              <a:ea typeface="Times New Roman"/>
              <a:cs typeface="Calibri" panose="020F0502020204030204" pitchFamily="34" charset="0"/>
              <a:sym typeface="Times New Roman"/>
            </a:endParaRPr>
          </a:p>
          <a:p>
            <a:pPr lvl="0" indent="-457200" algn="just">
              <a:lnSpc>
                <a:spcPct val="100000"/>
              </a:lnSpc>
              <a:buClr>
                <a:schemeClr val="bg2"/>
              </a:buClr>
              <a:buSzPct val="100000"/>
              <a:buFont typeface="Arial"/>
              <a:buAutoNum type="arabicPeriod"/>
            </a:pPr>
            <a:r>
              <a:rPr lang="en-US" sz="1800" dirty="0">
                <a:solidFill>
                  <a:schemeClr val="bg2"/>
                </a:solidFill>
                <a:latin typeface="Calibri" panose="020F0502020204030204" pitchFamily="34" charset="0"/>
                <a:cs typeface="Calibri" panose="020F0502020204030204" pitchFamily="34" charset="0"/>
              </a:rPr>
              <a:t>NPTEL — “Software Engineering” course from IIT Kharagpur / Indian Institutes </a:t>
            </a:r>
            <a:r>
              <a:rPr lang="en-US" sz="1800" dirty="0">
                <a:solidFill>
                  <a:srgbClr val="1C3678"/>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https://onlinecourses.nptel.ac.in/noc25_cs108/preview?utm_source=chatgpt.</a:t>
            </a:r>
            <a:r>
              <a:rPr lang="en-US" sz="1800" dirty="0">
                <a:solidFill>
                  <a:schemeClr val="bg2"/>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com</a:t>
            </a:r>
            <a:endParaRPr lang="en-US" sz="1800" dirty="0">
              <a:solidFill>
                <a:schemeClr val="bg2"/>
              </a:solidFill>
              <a:latin typeface="Calibri" panose="020F0502020204030204" pitchFamily="34" charset="0"/>
              <a:cs typeface="Calibri" panose="020F0502020204030204" pitchFamily="34" charset="0"/>
            </a:endParaRPr>
          </a:p>
          <a:p>
            <a:pPr lvl="0" indent="-457200" algn="just">
              <a:lnSpc>
                <a:spcPct val="100000"/>
              </a:lnSpc>
              <a:buClr>
                <a:schemeClr val="bg2"/>
              </a:buClr>
              <a:buSzPct val="100000"/>
              <a:buFont typeface="Arial"/>
              <a:buAutoNum type="arabicPeriod"/>
            </a:pPr>
            <a:r>
              <a:rPr lang="en-US" sz="1800" dirty="0" err="1">
                <a:solidFill>
                  <a:schemeClr val="bg2"/>
                </a:solidFill>
              </a:rPr>
              <a:t>nptelhrd</a:t>
            </a:r>
            <a:r>
              <a:rPr lang="en-US" sz="1800" dirty="0">
                <a:solidFill>
                  <a:schemeClr val="bg2"/>
                </a:solidFill>
              </a:rPr>
              <a:t> (IIT/Bombay) — Lecture series “Introduction to Software Engineering” (free video lecture) </a:t>
            </a:r>
            <a:r>
              <a:rPr lang="en-US" sz="1800" dirty="0">
                <a:solidFill>
                  <a:srgbClr val="1C3678"/>
                </a:solidFill>
                <a:hlinkClick r:id="rId4">
                  <a:extLst>
                    <a:ext uri="{A12FA001-AC4F-418D-AE19-62706E023703}">
                      <ahyp:hlinkClr xmlns:ahyp="http://schemas.microsoft.com/office/drawing/2018/hyperlinkcolor" val="tx"/>
                    </a:ext>
                  </a:extLst>
                </a:hlinkClick>
              </a:rPr>
              <a:t>https://www.youtube.com/watch?v=Z6f9ckEElsU&amp;utm_source=chatgpt.</a:t>
            </a:r>
            <a:r>
              <a:rPr lang="en-US" sz="1800" dirty="0">
                <a:solidFill>
                  <a:schemeClr val="bg2"/>
                </a:solidFill>
                <a:hlinkClick r:id="rId4">
                  <a:extLst>
                    <a:ext uri="{A12FA001-AC4F-418D-AE19-62706E023703}">
                      <ahyp:hlinkClr xmlns:ahyp="http://schemas.microsoft.com/office/drawing/2018/hyperlinkcolor" val="tx"/>
                    </a:ext>
                  </a:extLst>
                </a:hlinkClick>
              </a:rPr>
              <a:t>com</a:t>
            </a:r>
            <a:endParaRPr lang="en-US" sz="1800" dirty="0">
              <a:solidFill>
                <a:schemeClr val="bg2"/>
              </a:solidFill>
            </a:endParaRPr>
          </a:p>
          <a:p>
            <a:pPr lvl="0" indent="-457200" algn="just">
              <a:lnSpc>
                <a:spcPct val="100000"/>
              </a:lnSpc>
              <a:buClr>
                <a:schemeClr val="bg2"/>
              </a:buClr>
              <a:buSzPct val="100000"/>
              <a:buFont typeface="Arial"/>
              <a:buAutoNum type="arabicPeriod"/>
            </a:pPr>
            <a:r>
              <a:rPr lang="en-US" sz="1800" dirty="0">
                <a:solidFill>
                  <a:schemeClr val="bg2"/>
                </a:solidFill>
              </a:rPr>
              <a:t>CS &amp; IT Tutorials by Vrushali — “SE 1: Learn Software Engineering from Scratch” (YouTube) </a:t>
            </a:r>
            <a:r>
              <a:rPr lang="en-US" sz="1800" dirty="0">
                <a:solidFill>
                  <a:srgbClr val="1C3678"/>
                </a:solidFill>
                <a:hlinkClick r:id="rId5">
                  <a:extLst>
                    <a:ext uri="{A12FA001-AC4F-418D-AE19-62706E023703}">
                      <ahyp:hlinkClr xmlns:ahyp="http://schemas.microsoft.com/office/drawing/2018/hyperlinkcolor" val="tx"/>
                    </a:ext>
                  </a:extLst>
                </a:hlinkClick>
              </a:rPr>
              <a:t>https://www.youtube.com/watch?v=</a:t>
            </a:r>
            <a:r>
              <a:rPr lang="en-US" sz="1800" dirty="0">
                <a:solidFill>
                  <a:schemeClr val="bg2"/>
                </a:solidFill>
                <a:hlinkClick r:id="rId5">
                  <a:extLst>
                    <a:ext uri="{A12FA001-AC4F-418D-AE19-62706E023703}">
                      <ahyp:hlinkClr xmlns:ahyp="http://schemas.microsoft.com/office/drawing/2018/hyperlinkcolor" val="tx"/>
                    </a:ext>
                  </a:extLst>
                </a:hlinkClick>
              </a:rPr>
              <a:t>IHx9ImEMuzQ</a:t>
            </a:r>
            <a:endParaRPr lang="en-US" sz="1800" dirty="0">
              <a:solidFill>
                <a:schemeClr val="bg2"/>
              </a:solidFill>
            </a:endParaRPr>
          </a:p>
          <a:p>
            <a:pPr lvl="0" indent="-457200" algn="just">
              <a:lnSpc>
                <a:spcPct val="100000"/>
              </a:lnSpc>
              <a:buClr>
                <a:schemeClr val="bg2"/>
              </a:buClr>
              <a:buSzPct val="100000"/>
              <a:buFont typeface="Arial"/>
              <a:buAutoNum type="arabicPeriod"/>
            </a:pPr>
            <a:r>
              <a:rPr lang="en-US" sz="1800" dirty="0">
                <a:solidFill>
                  <a:schemeClr val="bg2"/>
                </a:solidFill>
              </a:rPr>
              <a:t>Coursera – Introduction to Software Engineering (IBM) </a:t>
            </a:r>
            <a:r>
              <a:rPr lang="en-IN" sz="1800" dirty="0">
                <a:solidFill>
                  <a:schemeClr val="bg2"/>
                </a:solidFill>
              </a:rPr>
              <a:t>https://www.coursera.org/learn/introduction-to-software-engineering</a:t>
            </a:r>
            <a:endParaRPr sz="1800" b="0" i="0" u="none" dirty="0">
              <a:solidFill>
                <a:schemeClr val="bg2"/>
              </a:solidFill>
              <a:latin typeface="Calibri" panose="020F0502020204030204" pitchFamily="34" charset="0"/>
              <a:ea typeface="Times New Roman"/>
              <a:cs typeface="Calibri" panose="020F0502020204030204" pitchFamily="34" charset="0"/>
              <a:sym typeface="Times New Roman"/>
            </a:endParaRPr>
          </a:p>
        </p:txBody>
      </p:sp>
    </p:spTree>
    <p:extLst>
      <p:ext uri="{BB962C8B-B14F-4D97-AF65-F5344CB8AC3E}">
        <p14:creationId xmlns:p14="http://schemas.microsoft.com/office/powerpoint/2010/main" val="32888665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A525799-B627-EABD-6F95-B01E70B350EE}"/>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B11A8074-A1E1-E4EA-4297-A979F5985FAF}"/>
              </a:ext>
            </a:extLst>
          </p:cNvPr>
          <p:cNvGrpSpPr/>
          <p:nvPr/>
        </p:nvGrpSpPr>
        <p:grpSpPr>
          <a:xfrm>
            <a:off x="715861" y="-42871"/>
            <a:ext cx="8277101" cy="1217475"/>
            <a:chOff x="0" y="6299"/>
            <a:chExt cx="5580934" cy="1217475"/>
          </a:xfrm>
          <a:noFill/>
        </p:grpSpPr>
        <p:sp>
          <p:nvSpPr>
            <p:cNvPr id="109" name="Google Shape;109;p2">
              <a:extLst>
                <a:ext uri="{FF2B5EF4-FFF2-40B4-BE49-F238E27FC236}">
                  <a16:creationId xmlns:a16="http://schemas.microsoft.com/office/drawing/2014/main" id="{1E88B249-9EB8-982D-7990-60FD26BC1333}"/>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CA78F93E-F041-2AD9-DC64-C940C34E84ED}"/>
                </a:ext>
              </a:extLst>
            </p:cNvPr>
            <p:cNvSpPr txBox="1"/>
            <p:nvPr/>
          </p:nvSpPr>
          <p:spPr>
            <a:xfrm>
              <a:off x="0" y="822582"/>
              <a:ext cx="5537526" cy="401192"/>
            </a:xfrm>
            <a:prstGeom prst="rect">
              <a:avLst/>
            </a:prstGeom>
            <a:grpFill/>
            <a:ln>
              <a:noFill/>
            </a:ln>
          </p:spPr>
          <p:txBody>
            <a:bodyPr spcFirstLastPara="1" wrap="square" lIns="72375" tIns="72375" rIns="72375" bIns="72375" anchor="ctr" anchorCtr="0">
              <a:noAutofit/>
            </a:bodyPr>
            <a:lstStyle/>
            <a:p>
              <a:pPr lvl="0" algn="just">
                <a:lnSpc>
                  <a:spcPct val="90000"/>
                </a:lnSpc>
                <a:buSzPts val="1900"/>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Next lecture </a:t>
              </a:r>
            </a:p>
          </p:txBody>
        </p:sp>
      </p:grpSp>
      <p:sp>
        <p:nvSpPr>
          <p:cNvPr id="111" name="Google Shape;111;p2">
            <a:extLst>
              <a:ext uri="{FF2B5EF4-FFF2-40B4-BE49-F238E27FC236}">
                <a16:creationId xmlns:a16="http://schemas.microsoft.com/office/drawing/2014/main" id="{CD9A8891-1ED0-3C05-9B83-BB4C9C0EB93D}"/>
              </a:ext>
            </a:extLst>
          </p:cNvPr>
          <p:cNvSpPr txBox="1">
            <a:spLocks noGrp="1"/>
          </p:cNvSpPr>
          <p:nvPr>
            <p:ph type="body" idx="1"/>
          </p:nvPr>
        </p:nvSpPr>
        <p:spPr>
          <a:xfrm>
            <a:off x="406520" y="1863313"/>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0" indent="0" algn="just">
              <a:lnSpc>
                <a:spcPct val="100000"/>
              </a:lnSpc>
              <a:buNone/>
            </a:pPr>
            <a:r>
              <a:rPr lang="en-IN" b="1" dirty="0">
                <a:solidFill>
                  <a:schemeClr val="bg2"/>
                </a:solidFill>
                <a:latin typeface="Times New Roman"/>
                <a:cs typeface="Times New Roman"/>
              </a:rPr>
              <a:t>Software development life cycle (SDLC)</a:t>
            </a:r>
          </a:p>
          <a:p>
            <a:pPr marL="0" marR="0" lvl="0" indent="0" algn="just" rtl="0">
              <a:lnSpc>
                <a:spcPct val="100000"/>
              </a:lnSpc>
              <a:spcBef>
                <a:spcPts val="480"/>
              </a:spcBef>
              <a:spcAft>
                <a:spcPts val="0"/>
              </a:spcAft>
              <a:buClr>
                <a:schemeClr val="dk1"/>
              </a:buClr>
              <a:buSzPts val="2400"/>
              <a:buNone/>
            </a:pPr>
            <a:r>
              <a:rPr lang="en-IN" sz="2400" b="1" i="0" u="none" dirty="0">
                <a:solidFill>
                  <a:schemeClr val="bg2"/>
                </a:solidFill>
                <a:latin typeface="Times New Roman"/>
                <a:ea typeface="Times New Roman"/>
                <a:cs typeface="Times New Roman"/>
                <a:sym typeface="Times New Roman"/>
              </a:rPr>
              <a:t>SDLC Models </a:t>
            </a:r>
            <a:endParaRPr sz="2400" b="1" i="0" u="none" dirty="0">
              <a:solidFill>
                <a:schemeClr val="bg2"/>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8734549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712518" y="218172"/>
            <a:ext cx="8312727" cy="44460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Class-Wise </a:t>
              </a:r>
              <a:r>
                <a:rPr lang="en-IN" sz="4000" b="1" dirty="0">
                  <a:solidFill>
                    <a:schemeClr val="bg2"/>
                  </a:solidFill>
                  <a:latin typeface="Calibri" panose="020F0502020204030204" pitchFamily="34" charset="0"/>
                  <a:ea typeface="Calibri" panose="020F0502020204030204" pitchFamily="34" charset="0"/>
                  <a:cs typeface="Calibri" panose="020F0502020204030204" pitchFamily="34" charset="0"/>
                </a:rPr>
                <a:t>Feedback</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6" name="TextBox 5"/>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11</a:t>
            </a:r>
          </a:p>
        </p:txBody>
      </p:sp>
      <p:pic>
        <p:nvPicPr>
          <p:cNvPr id="4" name="Picture 3">
            <a:extLst>
              <a:ext uri="{FF2B5EF4-FFF2-40B4-BE49-F238E27FC236}">
                <a16:creationId xmlns:a16="http://schemas.microsoft.com/office/drawing/2014/main" id="{EA32CA7B-4AE1-6762-631D-C29ACAADD3F7}"/>
              </a:ext>
            </a:extLst>
          </p:cNvPr>
          <p:cNvPicPr>
            <a:picLocks noChangeAspect="1"/>
          </p:cNvPicPr>
          <p:nvPr/>
        </p:nvPicPr>
        <p:blipFill>
          <a:blip r:embed="rId3"/>
          <a:stretch>
            <a:fillRect/>
          </a:stretch>
        </p:blipFill>
        <p:spPr>
          <a:xfrm>
            <a:off x="2931091" y="1525581"/>
            <a:ext cx="3858016" cy="2762234"/>
          </a:xfrm>
          <a:prstGeom prst="rect">
            <a:avLst/>
          </a:prstGeom>
        </p:spPr>
      </p:pic>
    </p:spTree>
    <p:extLst>
      <p:ext uri="{BB962C8B-B14F-4D97-AF65-F5344CB8AC3E}">
        <p14:creationId xmlns:p14="http://schemas.microsoft.com/office/powerpoint/2010/main" val="32179637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385500" y="2170166"/>
            <a:ext cx="8471559" cy="1200288"/>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8000" b="1" u="none" strike="noStrike" cap="none" dirty="0">
                <a:solidFill>
                  <a:srgbClr val="FF0000"/>
                </a:solidFill>
                <a:latin typeface="Vladimir Script" panose="03050402040407070305" pitchFamily="66" charset="0"/>
                <a:ea typeface="Calibri" panose="020F0502020204030204" pitchFamily="34" charset="0"/>
                <a:cs typeface="Calibri" panose="020F0502020204030204" pitchFamily="34" charset="0"/>
                <a:sym typeface="Arial"/>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385500" y="3948192"/>
            <a:ext cx="4572000" cy="707886"/>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For queries</a:t>
            </a:r>
          </a:p>
          <a:p>
            <a:r>
              <a:rPr lang="en-US" sz="2000" dirty="0">
                <a:latin typeface="Calibri" panose="020F0502020204030204" pitchFamily="34" charset="0"/>
                <a:ea typeface="Calibri" panose="020F0502020204030204" pitchFamily="34" charset="0"/>
                <a:cs typeface="Calibri" panose="020F0502020204030204" pitchFamily="34" charset="0"/>
              </a:rPr>
              <a:t>Email: geeta.e15227@cumail.in</a:t>
            </a:r>
          </a:p>
        </p:txBody>
      </p:sp>
    </p:spTree>
    <p:extLst>
      <p:ext uri="{BB962C8B-B14F-4D97-AF65-F5344CB8AC3E}">
        <p14:creationId xmlns:p14="http://schemas.microsoft.com/office/powerpoint/2010/main" val="1786127203"/>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themeOverride>
</file>

<file path=ppt/theme/themeOverride2.xml><?xml version="1.0" encoding="utf-8"?>
<a:themeOverride xmlns:a="http://schemas.openxmlformats.org/drawingml/2006/main">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176AE18-B432-4A0C-8613-ACF6D2C40FA0}">
  <we:reference id="wa104051163" version="1.2.0.3" store="en-US" storeType="OMEX"/>
  <we:alternateReferences>
    <we:reference id="WA104051163" version="1.2.0.3" store="WA104051163"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6959</TotalTime>
  <Words>1871</Words>
  <Application>Microsoft Office PowerPoint</Application>
  <PresentationFormat>On-screen Show (16:9)</PresentationFormat>
  <Paragraphs>185</Paragraphs>
  <Slides>30</Slides>
  <Notes>30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Calibri</vt:lpstr>
      <vt:lpstr>Arial</vt:lpstr>
      <vt:lpstr>Vladimir Script</vt:lpstr>
      <vt:lpstr>Arial Black</vt:lpstr>
      <vt:lpstr>fkGroteskNeue</vt:lpstr>
      <vt:lpstr>Wingdings</vt:lpstr>
      <vt:lpstr>Cambria</vt:lpstr>
      <vt:lpstr>Lato</vt:lpstr>
      <vt:lpstr>Times New Roman</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Geeta arora</cp:lastModifiedBy>
  <cp:revision>79</cp:revision>
  <dcterms:modified xsi:type="dcterms:W3CDTF">2026-01-05T09:35:11Z</dcterms:modified>
</cp:coreProperties>
</file>