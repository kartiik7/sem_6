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362" r:id="rId2"/>
    <p:sldId id="363" r:id="rId3"/>
    <p:sldId id="297" r:id="rId4"/>
    <p:sldId id="364" r:id="rId5"/>
    <p:sldId id="365" r:id="rId6"/>
    <p:sldId id="284" r:id="rId7"/>
    <p:sldId id="306" r:id="rId8"/>
    <p:sldId id="256" r:id="rId9"/>
    <p:sldId id="257" r:id="rId10"/>
    <p:sldId id="266" r:id="rId11"/>
    <p:sldId id="258" r:id="rId12"/>
    <p:sldId id="259" r:id="rId13"/>
    <p:sldId id="260" r:id="rId14"/>
    <p:sldId id="261" r:id="rId15"/>
    <p:sldId id="267" r:id="rId16"/>
    <p:sldId id="262" r:id="rId17"/>
    <p:sldId id="263" r:id="rId18"/>
    <p:sldId id="288" r:id="rId19"/>
    <p:sldId id="343" r:id="rId20"/>
    <p:sldId id="366" r:id="rId21"/>
    <p:sldId id="367" r:id="rId22"/>
    <p:sldId id="368" r:id="rId23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Vladimir Script" panose="03050402040407070305" pitchFamily="66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96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5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D2F2A8-00EE-4121-BA34-109D2AB5DEE4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1264019C-AB5F-458D-94B8-8D8FC056EAA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Correct.</a:t>
          </a:r>
        </a:p>
      </dgm:t>
    </dgm:pt>
    <dgm:pt modelId="{8A263200-24E5-4DEC-A95B-270975CA4746}" type="par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6221AA2-24A0-4A6E-8C84-872151A4A429}" type="sib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DD3044D-3575-41A4-BF2D-D68C1F28A75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Complete.</a:t>
          </a:r>
        </a:p>
      </dgm:t>
    </dgm:pt>
    <dgm:pt modelId="{6E029AE7-B67D-49E5-A235-80EE7857B85A}" type="par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8AC07CF-99BA-479F-89B4-B31036260B64}" type="sib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CF2927DF-C437-40F3-B4A8-3A5E6E2559A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Consistent.</a:t>
          </a:r>
        </a:p>
      </dgm:t>
    </dgm:pt>
    <dgm:pt modelId="{5F02A671-6366-4EE5-8758-897E987EB147}" type="par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D924056F-6B01-4805-8AA7-43C3E06CE5AC}" type="sib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B83D014-E4DB-4F1A-B278-AA1517628676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Unambiguous.</a:t>
          </a:r>
        </a:p>
      </dgm:t>
    </dgm:pt>
    <dgm:pt modelId="{F7F5A404-C742-4AF0-B5AD-6AC502E85F62}" type="par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20BAD04-0ACF-40FA-87DD-A6528D5EB5A6}" type="sib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1E5C0C2-17FC-4D37-AA1D-E5EC0B15FD7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Verifiable.</a:t>
          </a:r>
        </a:p>
      </dgm:t>
    </dgm:pt>
    <dgm:pt modelId="{3B9D3127-9B40-40AA-AD82-D4679A031B9C}" type="par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F9903CF-63F4-4403-8F51-EE563971B15B}" type="sib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502CFA6-62F0-494A-99F2-108209CDE585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Modifiable.</a:t>
          </a:r>
        </a:p>
      </dgm:t>
    </dgm:pt>
    <dgm:pt modelId="{1A979D88-D6F7-4CB8-BD9C-3C44F4A12A4E}" type="par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341E5D6-8F96-40EA-B956-27D706C8022C}" type="sib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3411448E-8A98-4CB6-9ABC-A01B8E03D6AD}">
      <dgm:prSet/>
      <dgm:spPr/>
      <dgm:t>
        <a:bodyPr/>
        <a:lstStyle/>
        <a:p>
          <a:r>
            <a:rPr lang="en-IN" b="1" dirty="0">
              <a:solidFill>
                <a:schemeClr val="bg2"/>
              </a:solidFill>
            </a:rPr>
            <a:t>• Traceable.</a:t>
          </a:r>
        </a:p>
      </dgm:t>
    </dgm:pt>
    <dgm:pt modelId="{13A6269A-3E08-4996-88B9-EE6B88F6457C}" type="par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88AD892-01F5-4179-AEAB-E8CAF668C78E}" type="sib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6EFBEC2-EA99-47B0-ABEF-760DCCE06E3E}">
      <dgm:prSet/>
      <dgm:spPr/>
    </dgm:pt>
    <dgm:pt modelId="{432941BA-82EE-472E-8D5E-31442989ACC3}" type="par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BB970D6-EC62-4117-ACBF-4B35D355BD9C}" type="sib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22C2D83-3165-45A5-A4CF-D5065DC95C20}" type="pres">
      <dgm:prSet presAssocID="{F9D2F2A8-00EE-4121-BA34-109D2AB5DEE4}" presName="compositeShape" presStyleCnt="0">
        <dgm:presLayoutVars>
          <dgm:chMax val="7"/>
          <dgm:dir/>
          <dgm:resizeHandles val="exact"/>
        </dgm:presLayoutVars>
      </dgm:prSet>
      <dgm:spPr/>
    </dgm:pt>
    <dgm:pt modelId="{AE32CB0F-D009-4338-99D1-FB46314943F0}" type="pres">
      <dgm:prSet presAssocID="{1264019C-AB5F-458D-94B8-8D8FC056EAAF}" presName="circ1" presStyleLbl="vennNode1" presStyleIdx="0" presStyleCnt="7"/>
      <dgm:spPr/>
    </dgm:pt>
    <dgm:pt modelId="{322DAA5D-E6D9-4EEB-934E-043ED16F29C2}" type="pres">
      <dgm:prSet presAssocID="{1264019C-AB5F-458D-94B8-8D8FC056EAA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32537D7-1064-4219-A28E-7FCFFBA5290B}" type="pres">
      <dgm:prSet presAssocID="{7DD3044D-3575-41A4-BF2D-D68C1F28A75F}" presName="circ2" presStyleLbl="vennNode1" presStyleIdx="1" presStyleCnt="7"/>
      <dgm:spPr/>
    </dgm:pt>
    <dgm:pt modelId="{19A9E765-33FB-443B-AA9A-E6630E6DA2AB}" type="pres">
      <dgm:prSet presAssocID="{7DD3044D-3575-41A4-BF2D-D68C1F28A75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FA3D45B-5EFC-4F67-A2F4-FF10E593E489}" type="pres">
      <dgm:prSet presAssocID="{CF2927DF-C437-40F3-B4A8-3A5E6E2559A7}" presName="circ3" presStyleLbl="vennNode1" presStyleIdx="2" presStyleCnt="7"/>
      <dgm:spPr/>
    </dgm:pt>
    <dgm:pt modelId="{0D1B6D21-E881-47F8-9711-13EF5D2B54F8}" type="pres">
      <dgm:prSet presAssocID="{CF2927DF-C437-40F3-B4A8-3A5E6E2559A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C951A60-C564-48BA-845D-5895D61909B9}" type="pres">
      <dgm:prSet presAssocID="{8B83D014-E4DB-4F1A-B278-AA1517628676}" presName="circ4" presStyleLbl="vennNode1" presStyleIdx="3" presStyleCnt="7"/>
      <dgm:spPr/>
    </dgm:pt>
    <dgm:pt modelId="{2B2BE9F5-D1AF-4CCE-A522-F568F3396BD7}" type="pres">
      <dgm:prSet presAssocID="{8B83D014-E4DB-4F1A-B278-AA151762867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0839418-614A-4AEA-B80E-98A725E1D9BD}" type="pres">
      <dgm:prSet presAssocID="{01E5C0C2-17FC-4D37-AA1D-E5EC0B15FD77}" presName="circ5" presStyleLbl="vennNode1" presStyleIdx="4" presStyleCnt="7"/>
      <dgm:spPr/>
    </dgm:pt>
    <dgm:pt modelId="{56DA4363-EBA6-46AB-AAA3-57C16160A34A}" type="pres">
      <dgm:prSet presAssocID="{01E5C0C2-17FC-4D37-AA1D-E5EC0B15FD7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710A02-D336-4E20-BFE1-B8B03562C519}" type="pres">
      <dgm:prSet presAssocID="{9502CFA6-62F0-494A-99F2-108209CDE585}" presName="circ6" presStyleLbl="vennNode1" presStyleIdx="5" presStyleCnt="7"/>
      <dgm:spPr/>
    </dgm:pt>
    <dgm:pt modelId="{4D686AFB-F177-4F67-8737-B3BEC5494A02}" type="pres">
      <dgm:prSet presAssocID="{9502CFA6-62F0-494A-99F2-108209CDE585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2B265F1-BFCC-4A3A-832E-B2D415144E9E}" type="pres">
      <dgm:prSet presAssocID="{3411448E-8A98-4CB6-9ABC-A01B8E03D6AD}" presName="circ7" presStyleLbl="vennNode1" presStyleIdx="6" presStyleCnt="7"/>
      <dgm:spPr/>
    </dgm:pt>
    <dgm:pt modelId="{5DFADEA4-10B7-4295-81F3-89C72B05F003}" type="pres">
      <dgm:prSet presAssocID="{3411448E-8A98-4CB6-9ABC-A01B8E03D6AD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3736A03-F7E1-4A94-8CDB-DFAD95D7F15D}" srcId="{F9D2F2A8-00EE-4121-BA34-109D2AB5DEE4}" destId="{CF2927DF-C437-40F3-B4A8-3A5E6E2559A7}" srcOrd="2" destOrd="0" parTransId="{5F02A671-6366-4EE5-8758-897E987EB147}" sibTransId="{D924056F-6B01-4805-8AA7-43C3E06CE5AC}"/>
    <dgm:cxn modelId="{E211F21F-1433-4A24-8C84-3A4F13AC4291}" type="presOf" srcId="{9502CFA6-62F0-494A-99F2-108209CDE585}" destId="{4D686AFB-F177-4F67-8737-B3BEC5494A02}" srcOrd="0" destOrd="0" presId="urn:microsoft.com/office/officeart/2005/8/layout/venn1"/>
    <dgm:cxn modelId="{5AF54E2D-9701-405C-991B-1E2B736E321C}" srcId="{F9D2F2A8-00EE-4121-BA34-109D2AB5DEE4}" destId="{01E5C0C2-17FC-4D37-AA1D-E5EC0B15FD77}" srcOrd="4" destOrd="0" parTransId="{3B9D3127-9B40-40AA-AD82-D4679A031B9C}" sibTransId="{7F9903CF-63F4-4403-8F51-EE563971B15B}"/>
    <dgm:cxn modelId="{C3BF7645-D9B0-41E3-AE4F-1ECA09E1177F}" srcId="{F9D2F2A8-00EE-4121-BA34-109D2AB5DEE4}" destId="{9502CFA6-62F0-494A-99F2-108209CDE585}" srcOrd="5" destOrd="0" parTransId="{1A979D88-D6F7-4CB8-BD9C-3C44F4A12A4E}" sibTransId="{0341E5D6-8F96-40EA-B956-27D706C8022C}"/>
    <dgm:cxn modelId="{EBFC9A4F-F771-40AE-AFB4-6142BCDB1128}" type="presOf" srcId="{7DD3044D-3575-41A4-BF2D-D68C1F28A75F}" destId="{19A9E765-33FB-443B-AA9A-E6630E6DA2AB}" srcOrd="0" destOrd="0" presId="urn:microsoft.com/office/officeart/2005/8/layout/venn1"/>
    <dgm:cxn modelId="{08549155-4472-41DB-BB39-C3F9D9713261}" srcId="{F9D2F2A8-00EE-4121-BA34-109D2AB5DEE4}" destId="{3411448E-8A98-4CB6-9ABC-A01B8E03D6AD}" srcOrd="6" destOrd="0" parTransId="{13A6269A-3E08-4996-88B9-EE6B88F6457C}" sibTransId="{988AD892-01F5-4179-AEAB-E8CAF668C78E}"/>
    <dgm:cxn modelId="{2360077B-9920-4C83-8119-1C585E19EACC}" type="presOf" srcId="{CF2927DF-C437-40F3-B4A8-3A5E6E2559A7}" destId="{0D1B6D21-E881-47F8-9711-13EF5D2B54F8}" srcOrd="0" destOrd="0" presId="urn:microsoft.com/office/officeart/2005/8/layout/venn1"/>
    <dgm:cxn modelId="{4E8DCE83-6B1E-4050-9590-818570E9C9FF}" srcId="{F9D2F2A8-00EE-4121-BA34-109D2AB5DEE4}" destId="{1264019C-AB5F-458D-94B8-8D8FC056EAAF}" srcOrd="0" destOrd="0" parTransId="{8A263200-24E5-4DEC-A95B-270975CA4746}" sibTransId="{96221AA2-24A0-4A6E-8C84-872151A4A429}"/>
    <dgm:cxn modelId="{07B3B385-A583-4F13-9353-4A724204ECAD}" type="presOf" srcId="{F9D2F2A8-00EE-4121-BA34-109D2AB5DEE4}" destId="{122C2D83-3165-45A5-A4CF-D5065DC95C20}" srcOrd="0" destOrd="0" presId="urn:microsoft.com/office/officeart/2005/8/layout/venn1"/>
    <dgm:cxn modelId="{0A08B88D-549F-474C-B9B2-CC51F190EE88}" type="presOf" srcId="{3411448E-8A98-4CB6-9ABC-A01B8E03D6AD}" destId="{5DFADEA4-10B7-4295-81F3-89C72B05F003}" srcOrd="0" destOrd="0" presId="urn:microsoft.com/office/officeart/2005/8/layout/venn1"/>
    <dgm:cxn modelId="{3EF6D99D-3182-40AF-BE60-CA6919D742BB}" srcId="{F9D2F2A8-00EE-4121-BA34-109D2AB5DEE4}" destId="{8B83D014-E4DB-4F1A-B278-AA1517628676}" srcOrd="3" destOrd="0" parTransId="{F7F5A404-C742-4AF0-B5AD-6AC502E85F62}" sibTransId="{820BAD04-0ACF-40FA-87DD-A6528D5EB5A6}"/>
    <dgm:cxn modelId="{AB3EF6B5-CA59-48BF-9181-D2127286B54E}" type="presOf" srcId="{8B83D014-E4DB-4F1A-B278-AA1517628676}" destId="{2B2BE9F5-D1AF-4CCE-A522-F568F3396BD7}" srcOrd="0" destOrd="0" presId="urn:microsoft.com/office/officeart/2005/8/layout/venn1"/>
    <dgm:cxn modelId="{05EA34B6-FCD7-4169-B373-7FEE71664569}" type="presOf" srcId="{1264019C-AB5F-458D-94B8-8D8FC056EAAF}" destId="{322DAA5D-E6D9-4EEB-934E-043ED16F29C2}" srcOrd="0" destOrd="0" presId="urn:microsoft.com/office/officeart/2005/8/layout/venn1"/>
    <dgm:cxn modelId="{99EBCDBA-66E0-4E89-9004-C733B91AB064}" srcId="{F9D2F2A8-00EE-4121-BA34-109D2AB5DEE4}" destId="{7DD3044D-3575-41A4-BF2D-D68C1F28A75F}" srcOrd="1" destOrd="0" parTransId="{6E029AE7-B67D-49E5-A235-80EE7857B85A}" sibTransId="{78AC07CF-99BA-479F-89B4-B31036260B64}"/>
    <dgm:cxn modelId="{00DB81C3-120C-4011-B855-41D421A166AB}" srcId="{F9D2F2A8-00EE-4121-BA34-109D2AB5DEE4}" destId="{16EFBEC2-EA99-47B0-ABEF-760DCCE06E3E}" srcOrd="7" destOrd="0" parTransId="{432941BA-82EE-472E-8D5E-31442989ACC3}" sibTransId="{1BB970D6-EC62-4117-ACBF-4B35D355BD9C}"/>
    <dgm:cxn modelId="{64E403E8-3E47-4ED3-93EC-5B1619D1328C}" type="presOf" srcId="{01E5C0C2-17FC-4D37-AA1D-E5EC0B15FD77}" destId="{56DA4363-EBA6-46AB-AAA3-57C16160A34A}" srcOrd="0" destOrd="0" presId="urn:microsoft.com/office/officeart/2005/8/layout/venn1"/>
    <dgm:cxn modelId="{9B6CEE55-B25D-4D5B-8863-30EE90C32F81}" type="presParOf" srcId="{122C2D83-3165-45A5-A4CF-D5065DC95C20}" destId="{AE32CB0F-D009-4338-99D1-FB46314943F0}" srcOrd="0" destOrd="0" presId="urn:microsoft.com/office/officeart/2005/8/layout/venn1"/>
    <dgm:cxn modelId="{11E69E6C-D0A7-4A73-B463-031A549F63F6}" type="presParOf" srcId="{122C2D83-3165-45A5-A4CF-D5065DC95C20}" destId="{322DAA5D-E6D9-4EEB-934E-043ED16F29C2}" srcOrd="1" destOrd="0" presId="urn:microsoft.com/office/officeart/2005/8/layout/venn1"/>
    <dgm:cxn modelId="{0790A94E-3614-4124-B4F4-141755A49F67}" type="presParOf" srcId="{122C2D83-3165-45A5-A4CF-D5065DC95C20}" destId="{332537D7-1064-4219-A28E-7FCFFBA5290B}" srcOrd="2" destOrd="0" presId="urn:microsoft.com/office/officeart/2005/8/layout/venn1"/>
    <dgm:cxn modelId="{C2525A42-A7C4-4E65-AD92-55D6119D78D8}" type="presParOf" srcId="{122C2D83-3165-45A5-A4CF-D5065DC95C20}" destId="{19A9E765-33FB-443B-AA9A-E6630E6DA2AB}" srcOrd="3" destOrd="0" presId="urn:microsoft.com/office/officeart/2005/8/layout/venn1"/>
    <dgm:cxn modelId="{1B787FB6-E1D1-432D-8819-7BD09AA78A6B}" type="presParOf" srcId="{122C2D83-3165-45A5-A4CF-D5065DC95C20}" destId="{2FA3D45B-5EFC-4F67-A2F4-FF10E593E489}" srcOrd="4" destOrd="0" presId="urn:microsoft.com/office/officeart/2005/8/layout/venn1"/>
    <dgm:cxn modelId="{C1957923-9C69-4FA3-95A4-D0979E959B1B}" type="presParOf" srcId="{122C2D83-3165-45A5-A4CF-D5065DC95C20}" destId="{0D1B6D21-E881-47F8-9711-13EF5D2B54F8}" srcOrd="5" destOrd="0" presId="urn:microsoft.com/office/officeart/2005/8/layout/venn1"/>
    <dgm:cxn modelId="{45583780-B450-4B13-98F6-7D7AD96C1548}" type="presParOf" srcId="{122C2D83-3165-45A5-A4CF-D5065DC95C20}" destId="{8C951A60-C564-48BA-845D-5895D61909B9}" srcOrd="6" destOrd="0" presId="urn:microsoft.com/office/officeart/2005/8/layout/venn1"/>
    <dgm:cxn modelId="{DA9113B9-FC75-4F60-B7CE-9C1C05B97146}" type="presParOf" srcId="{122C2D83-3165-45A5-A4CF-D5065DC95C20}" destId="{2B2BE9F5-D1AF-4CCE-A522-F568F3396BD7}" srcOrd="7" destOrd="0" presId="urn:microsoft.com/office/officeart/2005/8/layout/venn1"/>
    <dgm:cxn modelId="{CF984D6A-830D-4480-95A3-AE8830CE5586}" type="presParOf" srcId="{122C2D83-3165-45A5-A4CF-D5065DC95C20}" destId="{10839418-614A-4AEA-B80E-98A725E1D9BD}" srcOrd="8" destOrd="0" presId="urn:microsoft.com/office/officeart/2005/8/layout/venn1"/>
    <dgm:cxn modelId="{D2CD3C70-ADF2-4150-8263-86027FF6BB43}" type="presParOf" srcId="{122C2D83-3165-45A5-A4CF-D5065DC95C20}" destId="{56DA4363-EBA6-46AB-AAA3-57C16160A34A}" srcOrd="9" destOrd="0" presId="urn:microsoft.com/office/officeart/2005/8/layout/venn1"/>
    <dgm:cxn modelId="{5C5FF211-AC3F-477D-AD58-BABE0EF9AD42}" type="presParOf" srcId="{122C2D83-3165-45A5-A4CF-D5065DC95C20}" destId="{65710A02-D336-4E20-BFE1-B8B03562C519}" srcOrd="10" destOrd="0" presId="urn:microsoft.com/office/officeart/2005/8/layout/venn1"/>
    <dgm:cxn modelId="{EFA5304A-CBCE-4910-B414-C3F8004A18DC}" type="presParOf" srcId="{122C2D83-3165-45A5-A4CF-D5065DC95C20}" destId="{4D686AFB-F177-4F67-8737-B3BEC5494A02}" srcOrd="11" destOrd="0" presId="urn:microsoft.com/office/officeart/2005/8/layout/venn1"/>
    <dgm:cxn modelId="{EF684F22-EE19-4793-A445-4EF4FE1774A9}" type="presParOf" srcId="{122C2D83-3165-45A5-A4CF-D5065DC95C20}" destId="{F2B265F1-BFCC-4A3A-832E-B2D415144E9E}" srcOrd="12" destOrd="0" presId="urn:microsoft.com/office/officeart/2005/8/layout/venn1"/>
    <dgm:cxn modelId="{0526DE36-849E-4019-B114-4B74C386729A}" type="presParOf" srcId="{122C2D83-3165-45A5-A4CF-D5065DC95C20}" destId="{5DFADEA4-10B7-4295-81F3-89C72B05F003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2CB0F-D009-4338-99D1-FB46314943F0}">
      <dsp:nvSpPr>
        <dsp:cNvPr id="0" name=""/>
        <dsp:cNvSpPr/>
      </dsp:nvSpPr>
      <dsp:spPr>
        <a:xfrm>
          <a:off x="2532529" y="864232"/>
          <a:ext cx="1107140" cy="110727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22DAA5D-E6D9-4EEB-934E-043ED16F29C2}">
      <dsp:nvSpPr>
        <dsp:cNvPr id="0" name=""/>
        <dsp:cNvSpPr/>
      </dsp:nvSpPr>
      <dsp:spPr>
        <a:xfrm>
          <a:off x="2451800" y="0"/>
          <a:ext cx="1268599" cy="6788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Correct.</a:t>
          </a:r>
        </a:p>
      </dsp:txBody>
      <dsp:txXfrm>
        <a:off x="2451800" y="0"/>
        <a:ext cx="1268599" cy="678894"/>
      </dsp:txXfrm>
    </dsp:sp>
    <dsp:sp modelId="{332537D7-1064-4219-A28E-7FCFFBA5290B}">
      <dsp:nvSpPr>
        <dsp:cNvPr id="0" name=""/>
        <dsp:cNvSpPr/>
      </dsp:nvSpPr>
      <dsp:spPr>
        <a:xfrm>
          <a:off x="2857290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2088484"/>
            <a:satOff val="6306"/>
            <a:lumOff val="87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9A9E765-33FB-443B-AA9A-E6630E6DA2AB}">
      <dsp:nvSpPr>
        <dsp:cNvPr id="0" name=""/>
        <dsp:cNvSpPr/>
      </dsp:nvSpPr>
      <dsp:spPr>
        <a:xfrm>
          <a:off x="4100979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Complete.</a:t>
          </a:r>
        </a:p>
      </dsp:txBody>
      <dsp:txXfrm>
        <a:off x="4100979" y="644949"/>
        <a:ext cx="1199402" cy="746783"/>
      </dsp:txXfrm>
    </dsp:sp>
    <dsp:sp modelId="{2FA3D45B-5EFC-4F67-A2F4-FF10E593E489}">
      <dsp:nvSpPr>
        <dsp:cNvPr id="0" name=""/>
        <dsp:cNvSpPr/>
      </dsp:nvSpPr>
      <dsp:spPr>
        <a:xfrm>
          <a:off x="2937097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4176968"/>
            <a:satOff val="12611"/>
            <a:lumOff val="175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D1B6D21-E881-47F8-9711-13EF5D2B54F8}">
      <dsp:nvSpPr>
        <dsp:cNvPr id="0" name=""/>
        <dsp:cNvSpPr/>
      </dsp:nvSpPr>
      <dsp:spPr>
        <a:xfrm>
          <a:off x="421630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Consistent.</a:t>
          </a:r>
        </a:p>
      </dsp:txBody>
      <dsp:txXfrm>
        <a:off x="4216306" y="1595401"/>
        <a:ext cx="1176337" cy="797700"/>
      </dsp:txXfrm>
    </dsp:sp>
    <dsp:sp modelId="{8C951A60-C564-48BA-845D-5895D61909B9}">
      <dsp:nvSpPr>
        <dsp:cNvPr id="0" name=""/>
        <dsp:cNvSpPr/>
      </dsp:nvSpPr>
      <dsp:spPr>
        <a:xfrm>
          <a:off x="271243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6265452"/>
            <a:satOff val="18917"/>
            <a:lumOff val="26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B2BE9F5-D1AF-4CCE-A522-F568F3396BD7}">
      <dsp:nvSpPr>
        <dsp:cNvPr id="0" name=""/>
        <dsp:cNvSpPr/>
      </dsp:nvSpPr>
      <dsp:spPr>
        <a:xfrm>
          <a:off x="3708866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Unambiguous.</a:t>
          </a:r>
        </a:p>
      </dsp:txBody>
      <dsp:txXfrm>
        <a:off x="3708866" y="2664660"/>
        <a:ext cx="1268599" cy="729811"/>
      </dsp:txXfrm>
    </dsp:sp>
    <dsp:sp modelId="{10839418-614A-4AEA-B80E-98A725E1D9BD}">
      <dsp:nvSpPr>
        <dsp:cNvPr id="0" name=""/>
        <dsp:cNvSpPr/>
      </dsp:nvSpPr>
      <dsp:spPr>
        <a:xfrm>
          <a:off x="235261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8353936"/>
            <a:satOff val="25223"/>
            <a:lumOff val="3516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6DA4363-EBA6-46AB-AAA3-57C16160A34A}">
      <dsp:nvSpPr>
        <dsp:cNvPr id="0" name=""/>
        <dsp:cNvSpPr/>
      </dsp:nvSpPr>
      <dsp:spPr>
        <a:xfrm>
          <a:off x="1194734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Verifiable.</a:t>
          </a:r>
        </a:p>
      </dsp:txBody>
      <dsp:txXfrm>
        <a:off x="1194734" y="2664660"/>
        <a:ext cx="1268599" cy="729811"/>
      </dsp:txXfrm>
    </dsp:sp>
    <dsp:sp modelId="{65710A02-D336-4E20-BFE1-B8B03562C519}">
      <dsp:nvSpPr>
        <dsp:cNvPr id="0" name=""/>
        <dsp:cNvSpPr/>
      </dsp:nvSpPr>
      <dsp:spPr>
        <a:xfrm>
          <a:off x="2127961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10442420"/>
            <a:satOff val="31528"/>
            <a:lumOff val="4395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D686AFB-F177-4F67-8737-B3BEC5494A02}">
      <dsp:nvSpPr>
        <dsp:cNvPr id="0" name=""/>
        <dsp:cNvSpPr/>
      </dsp:nvSpPr>
      <dsp:spPr>
        <a:xfrm>
          <a:off x="77955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Modifiable.</a:t>
          </a:r>
        </a:p>
      </dsp:txBody>
      <dsp:txXfrm>
        <a:off x="779556" y="1595401"/>
        <a:ext cx="1176337" cy="797700"/>
      </dsp:txXfrm>
    </dsp:sp>
    <dsp:sp modelId="{F2B265F1-BFCC-4A3A-832E-B2D415144E9E}">
      <dsp:nvSpPr>
        <dsp:cNvPr id="0" name=""/>
        <dsp:cNvSpPr/>
      </dsp:nvSpPr>
      <dsp:spPr>
        <a:xfrm>
          <a:off x="2207768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12530904"/>
            <a:satOff val="37834"/>
            <a:lumOff val="527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DFADEA4-10B7-4295-81F3-89C72B05F003}">
      <dsp:nvSpPr>
        <dsp:cNvPr id="0" name=""/>
        <dsp:cNvSpPr/>
      </dsp:nvSpPr>
      <dsp:spPr>
        <a:xfrm>
          <a:off x="871818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bg2"/>
              </a:solidFill>
            </a:rPr>
            <a:t>• Traceable.</a:t>
          </a:r>
        </a:p>
      </dsp:txBody>
      <dsp:txXfrm>
        <a:off x="871818" y="644949"/>
        <a:ext cx="1199402" cy="746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2C6AF8-29EE-B898-AED3-AF70CD88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4E2CBAD-82BD-A0FC-7CFF-1A422C386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335324-82D2-FD4A-92A0-750403AE0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0684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97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3566B8-DF3A-05B0-31BF-3E9330E9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E1D4698-774E-05EC-35A8-C442A34DE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F45E652-90CA-7AD8-28F6-16ACCE6A2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4384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03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0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5_cs108/preview?utm_source=chatgpt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Z6f9ckEElsU&amp;utm_source=chatgpt.com" TargetMode="External"/><Relationship Id="rId4" Type="http://schemas.openxmlformats.org/officeDocument/2006/relationships/hyperlink" Target="https://www.youtube.com/watch?v=IHx9ImEMuzQ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98809" y="973866"/>
            <a:ext cx="7997747" cy="390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AIT-CSE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B.E CSE </a:t>
            </a:r>
            <a:endParaRPr lang="en-IN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6</a:t>
            </a:r>
            <a:r>
              <a:rPr lang="en-IN" sz="2400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endParaRPr lang="en-IN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SOFTWARE ENGINEERING </a:t>
            </a:r>
            <a:b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23CSH-374</a:t>
            </a: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: Dr Geeta Rani             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CUmail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-ID : geeta.e15227@cumail.in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 : Associate Professor</a:t>
            </a:r>
            <a:endParaRPr lang="en-US" sz="36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AA823F-7647-EC23-1D1D-BE99682D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68E489D-DEF7-172C-BBAC-D35CA1568FA2}"/>
              </a:ext>
            </a:extLst>
          </p:cNvPr>
          <p:cNvGrpSpPr/>
          <p:nvPr/>
        </p:nvGrpSpPr>
        <p:grpSpPr>
          <a:xfrm>
            <a:off x="557644" y="482539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8D3AC0D-843C-8079-7685-CF8E1B7049E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A2AB195-9CC4-1DA1-CFC9-569DD2CAE32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Objectives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26FD4B4-7817-D0EB-1F71-78AE2F311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33058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7E2C6-9DD9-D9F6-FAFD-68257A85FB83}"/>
              </a:ext>
            </a:extLst>
          </p:cNvPr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C741A-FADA-20D3-9798-F44278B29F12}"/>
              </a:ext>
            </a:extLst>
          </p:cNvPr>
          <p:cNvSpPr txBox="1"/>
          <p:nvPr/>
        </p:nvSpPr>
        <p:spPr>
          <a:xfrm>
            <a:off x="757500" y="898115"/>
            <a:ext cx="7796667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Understand fundamental software engineering processes, SDLC models, and requirement engineering techniques used in real-world projects.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Apply modeling concepts, design principles, and UML diagrams to represent system structures and behaviors effectively.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Analyze various software development, design, and testing strategies to determine their suitability for different project scenarios.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Evaluate software solutions and project management practices based on quality metrics, design principles, and testing outcomes.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Create structured requirement documents, UML models, test plans, and project management artifacts for medium-scale software systems.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0E0E5BE-FA8F-5957-A3CD-8C1DD3BFF409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89AB046-BF5D-9FB0-A377-F7F7D02D466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02AF8FA-0EE9-C2FB-6C1E-80FEF5B5E3A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Outcomes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5B9C3-0D82-6862-B56F-2DBD19B3AEFD}"/>
              </a:ext>
            </a:extLst>
          </p:cNvPr>
          <p:cNvGraphicFramePr>
            <a:graphicFrameLocks noGrp="1"/>
          </p:cNvGraphicFramePr>
          <p:nvPr/>
        </p:nvGraphicFramePr>
        <p:xfrm>
          <a:off x="748144" y="1079124"/>
          <a:ext cx="7382396" cy="377075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44436">
                  <a:extLst>
                    <a:ext uri="{9D8B030D-6E8A-4147-A177-3AD203B41FA5}">
                      <a16:colId xmlns:a16="http://schemas.microsoft.com/office/drawing/2014/main" val="194261115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3570576572"/>
                    </a:ext>
                  </a:extLst>
                </a:gridCol>
              </a:tblGrid>
              <a:tr h="547437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CO No.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Statement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914877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CO1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Explain SDLC models, requirement principles, testing strategies, and project management concepts.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47536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CO2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Construct UML diagrams and apply design patterns to solve software design problems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46710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CO3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Compare SDLC models, testing strategies for different scenarios.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77781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CO4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Assess testing strategies, maintenance approaches, and project metrics to ensure software quality.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61669"/>
                  </a:ext>
                </a:extLst>
              </a:tr>
              <a:tr h="8365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CO5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Develop complete requirement specifications, design models, test plans, and project management documents (including Jira-based defect tracking) for real-world case studies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479134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2139EB93-65F3-1AFD-8324-B3DCBE922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19098" y="180021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Suggestive Readings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EB782-99A3-BCFF-B22A-E7B8A5618FAF}"/>
              </a:ext>
            </a:extLst>
          </p:cNvPr>
          <p:cNvSpPr txBox="1"/>
          <p:nvPr/>
        </p:nvSpPr>
        <p:spPr>
          <a:xfrm>
            <a:off x="780333" y="1275011"/>
            <a:ext cx="8001000" cy="356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Pressman, R. S., “Software Engineering: A Practitioner’s Approach,” McGraw Hill.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Ian Sommerville, “Software Engineering,” Pearson.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Pankaj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Jalote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“An Integrated Approach to Software Engineering,”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Narosa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Ghezzi, Jazayeri,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Mandrioli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“Fundamentals of Software Engineering,” PHI.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2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616475" y="56273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Unit-I Syllabus 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777444-8FB4-66CE-F759-1573782085CD}"/>
              </a:ext>
            </a:extLst>
          </p:cNvPr>
          <p:cNvGraphicFramePr>
            <a:graphicFrameLocks noGrp="1"/>
          </p:cNvGraphicFramePr>
          <p:nvPr/>
        </p:nvGraphicFramePr>
        <p:xfrm>
          <a:off x="815340" y="1537527"/>
          <a:ext cx="7719060" cy="287592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827493">
                  <a:extLst>
                    <a:ext uri="{9D8B030D-6E8A-4147-A177-3AD203B41FA5}">
                      <a16:colId xmlns:a16="http://schemas.microsoft.com/office/drawing/2014/main" val="38313313"/>
                    </a:ext>
                  </a:extLst>
                </a:gridCol>
                <a:gridCol w="5891567">
                  <a:extLst>
                    <a:ext uri="{9D8B030D-6E8A-4147-A177-3AD203B41FA5}">
                      <a16:colId xmlns:a16="http://schemas.microsoft.com/office/drawing/2014/main" val="1926233377"/>
                    </a:ext>
                  </a:extLst>
                </a:gridCol>
              </a:tblGrid>
              <a:tr h="77992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</a:t>
                      </a:r>
                      <a:r>
                        <a:rPr lang="en-GB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-1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 1: Software Process and Requirement Engineering (15 hours)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392206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Software Engineering: Introduction, SDLC, Agile vs Traditional models.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326827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1.2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Requirement Engineering: Elicitation, Analysis, Specification, Validation.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942923"/>
                  </a:ext>
                </a:extLst>
              </a:tr>
              <a:tr h="534677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1.3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Case Studies: Requirements in online payment systems.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356180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E135E308-1A0E-79EB-6C0F-C38D5CB8C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36514" y="320289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755814"/>
            <a:chOff x="0" y="6299"/>
            <a:chExt cx="5580934" cy="755814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7974" y="360921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Recap of Previous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15CC39-A72D-8FB2-99C2-19067840EBFA}"/>
              </a:ext>
            </a:extLst>
          </p:cNvPr>
          <p:cNvSpPr txBox="1">
            <a:spLocks/>
          </p:cNvSpPr>
          <p:nvPr/>
        </p:nvSpPr>
        <p:spPr>
          <a:xfrm>
            <a:off x="663976" y="1481697"/>
            <a:ext cx="8229600" cy="247308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Introduction to Requirement Analysis and </a:t>
            </a:r>
            <a:r>
              <a:rPr lang="en-US" sz="1800" dirty="0">
                <a:latin typeface="Calibri "/>
              </a:rPr>
              <a:t>Specification </a:t>
            </a:r>
          </a:p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 "/>
              </a:rPr>
              <a:t>Goals and Activities of </a:t>
            </a:r>
            <a:r>
              <a:rPr lang="en-IN" sz="1800" dirty="0">
                <a:latin typeface="Calibri "/>
              </a:rPr>
              <a:t>Requirement Analysis </a:t>
            </a:r>
            <a:endParaRPr lang="en-US" sz="1800" dirty="0">
              <a:latin typeface="Calibri "/>
            </a:endParaRPr>
          </a:p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 "/>
              </a:rPr>
              <a:t>Objectives of Requirement Specification</a:t>
            </a:r>
          </a:p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 "/>
              </a:rPr>
              <a:t>Features of a Good SRS document</a:t>
            </a:r>
            <a:endParaRPr lang="en-IN" sz="1800" dirty="0">
              <a:latin typeface="Calibri "/>
            </a:endParaRPr>
          </a:p>
          <a:p>
            <a:pPr lvl="0">
              <a:buClrTx/>
              <a:defRPr/>
            </a:pPr>
            <a:endParaRPr lang="en-US" sz="1800" dirty="0">
              <a:latin typeface="Calibri 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83127" y="31518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Contents 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901476" y="1564968"/>
            <a:ext cx="7221443" cy="413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Introduction to Requirements Validation</a:t>
            </a:r>
            <a:endParaRPr lang="en-US" sz="2000" dirty="0">
              <a:latin typeface="Calibri "/>
            </a:endParaRP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"/>
              </a:rPr>
              <a:t>Purpose of </a:t>
            </a:r>
            <a:r>
              <a:rPr lang="en-IN" sz="2000" dirty="0">
                <a:latin typeface="Calibri "/>
              </a:rPr>
              <a:t>Requirement Analysis </a:t>
            </a:r>
            <a:endParaRPr lang="en-US" sz="2000" dirty="0">
              <a:latin typeface="Calibri "/>
            </a:endParaRP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 "/>
              </a:rPr>
              <a:t>Why </a:t>
            </a:r>
            <a:r>
              <a:rPr lang="en-IN" sz="2000" dirty="0">
                <a:latin typeface="Calibri "/>
              </a:rPr>
              <a:t>Requirements Validation</a:t>
            </a:r>
            <a:endParaRPr lang="en-US" sz="2000" dirty="0">
              <a:latin typeface="Calibri "/>
            </a:endParaRP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Techniques</a:t>
            </a:r>
            <a:r>
              <a:rPr lang="en-US" sz="2000" dirty="0">
                <a:latin typeface="Calibri "/>
              </a:rPr>
              <a:t> of </a:t>
            </a:r>
            <a:r>
              <a:rPr lang="en-IN" sz="2000" dirty="0">
                <a:latin typeface="Calibri "/>
              </a:rPr>
              <a:t>Requirement Validation </a:t>
            </a:r>
            <a:endParaRPr lang="en-US" sz="2000" dirty="0">
              <a:latin typeface="Calibri "/>
            </a:endParaRP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Prototyping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Requirement Testing</a:t>
            </a:r>
            <a:endParaRPr lang="en-US" sz="2000" dirty="0">
              <a:latin typeface="Calibri "/>
            </a:endParaRPr>
          </a:p>
          <a:p>
            <a:pPr marL="34290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IN" sz="4000" b="1" dirty="0"/>
              <a:t>Requirements Validation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	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</a:t>
            </a:r>
            <a:r>
              <a:rPr lang="en-IN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46050" indent="0">
              <a:buNone/>
            </a:pPr>
            <a:r>
              <a:rPr lang="en-US" sz="1800" dirty="0"/>
              <a:t>Requirements Validation is the process of ensuring that the requirements gathered, analyzed, and specified are:</a:t>
            </a:r>
          </a:p>
          <a:p>
            <a:pPr lvl="1"/>
            <a:r>
              <a:rPr lang="en-US" sz="1600" b="1" dirty="0"/>
              <a:t>Correct</a:t>
            </a:r>
            <a:endParaRPr lang="en-US" sz="1600" dirty="0"/>
          </a:p>
          <a:p>
            <a:pPr lvl="1"/>
            <a:r>
              <a:rPr lang="en-US" sz="1600" b="1" dirty="0"/>
              <a:t>Complete</a:t>
            </a:r>
            <a:endParaRPr lang="en-US" sz="1600" dirty="0"/>
          </a:p>
          <a:p>
            <a:pPr lvl="1"/>
            <a:r>
              <a:rPr lang="en-US" sz="1600" b="1" dirty="0"/>
              <a:t>Consistent</a:t>
            </a:r>
            <a:endParaRPr lang="en-US" sz="1600" dirty="0"/>
          </a:p>
          <a:p>
            <a:pPr lvl="1"/>
            <a:r>
              <a:rPr lang="en-US" sz="1600" b="1" dirty="0"/>
              <a:t>Feasible</a:t>
            </a:r>
            <a:endParaRPr lang="en-US" sz="1600" dirty="0"/>
          </a:p>
          <a:p>
            <a:pPr lvl="1"/>
            <a:r>
              <a:rPr lang="en-US" sz="1600" b="1" dirty="0"/>
              <a:t>Meeting stakeholder expectations</a:t>
            </a:r>
            <a:endParaRPr lang="en-US" sz="1600" dirty="0"/>
          </a:p>
          <a:p>
            <a:pPr marL="146050" indent="0">
              <a:buNone/>
            </a:pPr>
            <a:r>
              <a:rPr lang="en-US" sz="1800" dirty="0"/>
              <a:t>It ensures that the final SRS truly represents </a:t>
            </a:r>
            <a:r>
              <a:rPr lang="en-US" sz="1800" b="1" dirty="0"/>
              <a:t>what the customer wants</a:t>
            </a:r>
            <a:r>
              <a:rPr lang="en-US" sz="1800" dirty="0"/>
              <a:t>, not what developers assume.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C50F-EBAA-64D2-D483-E7748D07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1800" b="1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2F96C-7A83-7544-C991-E3263741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/>
              <a:t>Requirement Analysis is the </a:t>
            </a:r>
            <a:r>
              <a:rPr lang="en-US" sz="1350" b="1" dirty="0"/>
              <a:t>process of examining, refining, and modeling</a:t>
            </a:r>
            <a:r>
              <a:rPr lang="en-US" sz="1350" dirty="0"/>
              <a:t> the collected requirements to understand: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What the system must do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Constraints under which the system must operate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Conflicts or ambiguities in requirements</a:t>
            </a:r>
          </a:p>
          <a:p>
            <a:pPr>
              <a:lnSpc>
                <a:spcPct val="150000"/>
              </a:lnSpc>
            </a:pPr>
            <a:r>
              <a:rPr lang="en-US" sz="1350" dirty="0"/>
              <a:t>Prioritization and categorization of requirements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/>
              <a:t>It focuses on </a:t>
            </a:r>
            <a:r>
              <a:rPr lang="en-US" sz="1350" b="1" dirty="0"/>
              <a:t>analyzing</a:t>
            </a:r>
            <a:r>
              <a:rPr lang="en-US" sz="1350" dirty="0"/>
              <a:t> the raw information gathered during elicitation.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8CE7D-FB74-DE83-DE55-62FA065C4141}"/>
              </a:ext>
            </a:extLst>
          </p:cNvPr>
          <p:cNvSpPr txBox="1"/>
          <p:nvPr/>
        </p:nvSpPr>
        <p:spPr>
          <a:xfrm>
            <a:off x="1622066" y="220682"/>
            <a:ext cx="61544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+mj-lt"/>
              </a:rPr>
              <a:t>Requirement Analysis</a:t>
            </a:r>
          </a:p>
        </p:txBody>
      </p:sp>
    </p:spTree>
    <p:extLst>
      <p:ext uri="{BB962C8B-B14F-4D97-AF65-F5344CB8AC3E}">
        <p14:creationId xmlns:p14="http://schemas.microsoft.com/office/powerpoint/2010/main" val="277492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</a:t>
            </a:r>
            <a:r>
              <a:rPr lang="en-IN" sz="4000" b="1" dirty="0"/>
              <a:t>Purpose of Requirements Validation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66A70-E720-53B4-E831-543FF6D04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422819"/>
            <a:ext cx="8520600" cy="3416400"/>
          </a:xfrm>
        </p:spPr>
        <p:txBody>
          <a:bodyPr/>
          <a:lstStyle/>
          <a:p>
            <a:pPr marL="146050" indent="0">
              <a:buNone/>
            </a:pPr>
            <a:r>
              <a:rPr lang="en-US" sz="1800" dirty="0">
                <a:latin typeface="+mj-lt"/>
              </a:rPr>
              <a:t>The main purposes are:</a:t>
            </a:r>
          </a:p>
          <a:p>
            <a:r>
              <a:rPr lang="en-US" sz="1800" dirty="0">
                <a:latin typeface="+mj-lt"/>
              </a:rPr>
              <a:t>Ensure the requirements correctly describe user needs</a:t>
            </a:r>
          </a:p>
          <a:p>
            <a:r>
              <a:rPr lang="en-US" sz="1800" dirty="0">
                <a:latin typeface="+mj-lt"/>
              </a:rPr>
              <a:t>Detect errors or missing information early</a:t>
            </a:r>
          </a:p>
          <a:p>
            <a:r>
              <a:rPr lang="en-US" sz="1800" dirty="0">
                <a:latin typeface="+mj-lt"/>
              </a:rPr>
              <a:t>Prevent costly rework in later development stages</a:t>
            </a:r>
          </a:p>
          <a:p>
            <a:r>
              <a:rPr lang="en-US" sz="1800" dirty="0">
                <a:latin typeface="+mj-lt"/>
              </a:rPr>
              <a:t>Confirm that requirements are feasible and realistic</a:t>
            </a:r>
          </a:p>
          <a:p>
            <a:r>
              <a:rPr lang="en-US" sz="1800" dirty="0">
                <a:latin typeface="+mj-lt"/>
              </a:rPr>
              <a:t>Ensure agreement among all stakeholders</a:t>
            </a:r>
          </a:p>
          <a:p>
            <a:pPr marL="146050" indent="0">
              <a:buNone/>
            </a:pP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</a:t>
            </a:r>
            <a:r>
              <a:rPr lang="en-US" sz="4000" b="1" dirty="0"/>
              <a:t> Why Validation Is Important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D7EEA0-F04B-0A6B-F3D8-E5B74E2B4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+mj-lt"/>
              </a:rPr>
              <a:t>Errors found in requirements are </a:t>
            </a:r>
            <a:r>
              <a:rPr lang="en-US" sz="1800" b="1" dirty="0">
                <a:latin typeface="+mj-lt"/>
              </a:rPr>
              <a:t>10–100 times cheaper</a:t>
            </a:r>
            <a:r>
              <a:rPr lang="en-US" sz="1800" dirty="0">
                <a:latin typeface="+mj-lt"/>
              </a:rPr>
              <a:t> to fix than errors found later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+mj-lt"/>
              </a:rPr>
              <a:t>Prevents building wrong systems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+mj-lt"/>
              </a:rPr>
              <a:t>Detects ambiguous, conflicting, or incomplete requirements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+mj-lt"/>
              </a:rPr>
              <a:t>Improves software quality and project success rate</a:t>
            </a:r>
          </a:p>
          <a:p>
            <a:pPr marL="146050" indent="0">
              <a:lnSpc>
                <a:spcPct val="150000"/>
              </a:lnSpc>
              <a:buNone/>
            </a:pPr>
            <a:br>
              <a:rPr lang="en-US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</a:t>
            </a:r>
            <a:r>
              <a:rPr lang="en-IN" sz="4000" b="1" dirty="0"/>
              <a:t>What Is Validated?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BF67D-8A72-2085-7555-22818B047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dirty="0"/>
              <a:t> </a:t>
            </a:r>
            <a:r>
              <a:rPr lang="en-US" sz="1800" dirty="0">
                <a:latin typeface="+mj-lt"/>
              </a:rPr>
              <a:t>During validation, the following are checked:</a:t>
            </a:r>
          </a:p>
          <a:p>
            <a:r>
              <a:rPr lang="en-US" sz="1800" dirty="0">
                <a:latin typeface="+mj-lt"/>
              </a:rPr>
              <a:t>Functional requirements</a:t>
            </a:r>
          </a:p>
          <a:p>
            <a:r>
              <a:rPr lang="en-US" sz="1800" dirty="0">
                <a:latin typeface="+mj-lt"/>
              </a:rPr>
              <a:t>Non-functional requirements</a:t>
            </a:r>
          </a:p>
          <a:p>
            <a:r>
              <a:rPr lang="en-US" sz="1800" dirty="0">
                <a:latin typeface="+mj-lt"/>
              </a:rPr>
              <a:t>Constraints and assumptions</a:t>
            </a:r>
          </a:p>
          <a:p>
            <a:r>
              <a:rPr lang="en-US" sz="1800" dirty="0">
                <a:latin typeface="+mj-lt"/>
              </a:rPr>
              <a:t>Interface requirements</a:t>
            </a:r>
          </a:p>
          <a:p>
            <a:r>
              <a:rPr lang="en-US" sz="1800" dirty="0">
                <a:latin typeface="+mj-lt"/>
              </a:rPr>
              <a:t>Domain/business rules</a:t>
            </a:r>
          </a:p>
          <a:p>
            <a:r>
              <a:rPr lang="en-US" sz="1800" dirty="0">
                <a:latin typeface="+mj-lt"/>
              </a:rPr>
              <a:t>Models and diagrams (DFD, Use Case, UML)</a:t>
            </a:r>
          </a:p>
          <a:p>
            <a:r>
              <a:rPr lang="en-US" sz="1800" dirty="0">
                <a:latin typeface="+mj-lt"/>
              </a:rPr>
              <a:t>The entire SRS document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</a:t>
            </a:r>
            <a:r>
              <a:rPr lang="en-IN" sz="4000" b="1" dirty="0"/>
              <a:t>Requirements Validation Techniques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r>
              <a:rPr lang="en-US" sz="1800" b="1" dirty="0">
                <a:latin typeface="+mj-lt"/>
              </a:rPr>
              <a:t>Reviews</a:t>
            </a:r>
          </a:p>
          <a:p>
            <a:pPr marL="146050" indent="0">
              <a:buNone/>
            </a:pPr>
            <a:r>
              <a:rPr lang="en-US" sz="1800" dirty="0">
                <a:latin typeface="+mj-lt"/>
              </a:rPr>
              <a:t>A group of reviewers examines requirements documents.</a:t>
            </a:r>
          </a:p>
          <a:p>
            <a:pPr marL="146050" indent="0">
              <a:buNone/>
            </a:pPr>
            <a:r>
              <a:rPr lang="en-US" sz="1800" dirty="0">
                <a:latin typeface="+mj-lt"/>
              </a:rPr>
              <a:t>Types:</a:t>
            </a:r>
          </a:p>
          <a:p>
            <a:pPr lvl="1"/>
            <a:r>
              <a:rPr lang="en-US" sz="1800" b="1" dirty="0">
                <a:latin typeface="+mj-lt"/>
              </a:rPr>
              <a:t>Informal Review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b="1" dirty="0">
                <a:latin typeface="+mj-lt"/>
              </a:rPr>
              <a:t>Walkthrough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b="1" dirty="0">
                <a:latin typeface="+mj-lt"/>
              </a:rPr>
              <a:t>Technical Review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b="1" dirty="0">
                <a:latin typeface="+mj-lt"/>
              </a:rPr>
              <a:t>Formal Inspection</a:t>
            </a:r>
            <a:endParaRPr lang="en-US" sz="1800" dirty="0">
              <a:latin typeface="+mj-lt"/>
            </a:endParaRPr>
          </a:p>
          <a:p>
            <a:pPr marL="146050" indent="0">
              <a:buNone/>
            </a:pPr>
            <a:r>
              <a:rPr lang="en-US" sz="1800" dirty="0">
                <a:latin typeface="+mj-lt"/>
              </a:rPr>
              <a:t>Reviews help identify inconsistencies, missing details, and unclear statements.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F6C4-3169-20B9-5907-1E373803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C1E54-5564-7406-C292-2F9119A442C0}"/>
              </a:ext>
            </a:extLst>
          </p:cNvPr>
          <p:cNvSpPr txBox="1"/>
          <p:nvPr/>
        </p:nvSpPr>
        <p:spPr>
          <a:xfrm>
            <a:off x="640080" y="394988"/>
            <a:ext cx="79019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+mj-lt"/>
              </a:rPr>
              <a:t>Outputs of Requirements Validation</a:t>
            </a:r>
            <a:endParaRPr lang="en-IN" sz="4000" dirty="0"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077D3B-2978-D8B8-69DF-6DB53F17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r>
              <a:rPr lang="en-US" sz="1800" dirty="0">
                <a:latin typeface="+mj-lt"/>
              </a:rPr>
              <a:t>After validation, the following outcomes are produced:</a:t>
            </a:r>
          </a:p>
          <a:p>
            <a:r>
              <a:rPr lang="en-US" sz="1800" dirty="0">
                <a:latin typeface="+mj-lt"/>
              </a:rPr>
              <a:t>List of errors and inconsistencies found</a:t>
            </a:r>
          </a:p>
          <a:p>
            <a:r>
              <a:rPr lang="en-US" sz="1800" dirty="0">
                <a:latin typeface="+mj-lt"/>
              </a:rPr>
              <a:t>Corrected and updated SRS</a:t>
            </a:r>
          </a:p>
          <a:p>
            <a:r>
              <a:rPr lang="en-US" sz="1800" dirty="0">
                <a:latin typeface="+mj-lt"/>
              </a:rPr>
              <a:t>Review reports</a:t>
            </a:r>
          </a:p>
          <a:p>
            <a:r>
              <a:rPr lang="en-US" sz="1800" dirty="0">
                <a:latin typeface="+mj-lt"/>
              </a:rPr>
              <a:t>Approval from stakeholders</a:t>
            </a:r>
          </a:p>
          <a:p>
            <a:r>
              <a:rPr lang="en-US" sz="1800" dirty="0">
                <a:latin typeface="+mj-lt"/>
              </a:rPr>
              <a:t>Baseline SRS ready for design phase</a:t>
            </a:r>
          </a:p>
          <a:p>
            <a:pPr marL="146050" indent="0">
              <a:buNone/>
            </a:pPr>
            <a:br>
              <a:rPr lang="en-US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7840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sz="3200" dirty="0"/>
              <a:t>                                                                                                     </a:t>
            </a:r>
            <a:r>
              <a:rPr lang="en-US" sz="3200" b="1" dirty="0"/>
              <a:t>Difference Between Verification and Validation </a:t>
            </a:r>
            <a:endParaRPr lang="en-US" sz="320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C55E0E2-2419-44B0-90DE-B39E3143BF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480901"/>
              </p:ext>
            </p:extLst>
          </p:nvPr>
        </p:nvGraphicFramePr>
        <p:xfrm>
          <a:off x="494030" y="1216079"/>
          <a:ext cx="8133136" cy="2751620"/>
        </p:xfrm>
        <a:graphic>
          <a:graphicData uri="http://schemas.openxmlformats.org/drawingml/2006/table">
            <a:tbl>
              <a:tblPr/>
              <a:tblGrid>
                <a:gridCol w="4066568">
                  <a:extLst>
                    <a:ext uri="{9D8B030D-6E8A-4147-A177-3AD203B41FA5}">
                      <a16:colId xmlns:a16="http://schemas.microsoft.com/office/drawing/2014/main" val="2710985577"/>
                    </a:ext>
                  </a:extLst>
                </a:gridCol>
                <a:gridCol w="4066568">
                  <a:extLst>
                    <a:ext uri="{9D8B030D-6E8A-4147-A177-3AD203B41FA5}">
                      <a16:colId xmlns:a16="http://schemas.microsoft.com/office/drawing/2014/main" val="122050124"/>
                    </a:ext>
                  </a:extLst>
                </a:gridCol>
              </a:tblGrid>
              <a:tr h="55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  <a:latin typeface="+mj-lt"/>
                        </a:rPr>
                        <a:t>Verification</a:t>
                      </a:r>
                      <a:endParaRPr lang="en-IN" sz="18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2"/>
                          </a:solidFill>
                          <a:latin typeface="+mj-lt"/>
                        </a:rPr>
                        <a:t>Validation</a:t>
                      </a:r>
                      <a:endParaRPr lang="en-IN" sz="180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377115"/>
                  </a:ext>
                </a:extLst>
              </a:tr>
              <a:tr h="55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  <a:latin typeface="+mj-lt"/>
                        </a:rPr>
                        <a:t>Are we building the product right?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2"/>
                          </a:solidFill>
                          <a:latin typeface="+mj-lt"/>
                        </a:rPr>
                        <a:t>Are we building the right product?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86756"/>
                  </a:ext>
                </a:extLst>
              </a:tr>
              <a:tr h="55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  <a:latin typeface="+mj-lt"/>
                        </a:rPr>
                        <a:t>Checks compliance with specifications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2"/>
                          </a:solidFill>
                          <a:latin typeface="+mj-lt"/>
                        </a:rPr>
                        <a:t>Checks if it meets user needs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831200"/>
                  </a:ext>
                </a:extLst>
              </a:tr>
              <a:tr h="55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  <a:latin typeface="+mj-lt"/>
                        </a:rPr>
                        <a:t>Internal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  <a:latin typeface="+mj-lt"/>
                        </a:rPr>
                        <a:t>Involves users and stakeholders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4488"/>
                  </a:ext>
                </a:extLst>
              </a:tr>
              <a:tr h="55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+mj-lt"/>
                        </a:rPr>
                        <a:t>Ensures correctness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  <a:latin typeface="+mj-lt"/>
                        </a:rPr>
                        <a:t>Ensures usefulness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4377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</a:t>
            </a:r>
            <a:r>
              <a:rPr dirty="0"/>
              <a:t>Characteristics of a Good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52C759-4B3C-AB45-6D3D-B39D2E5CC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904631"/>
              </p:ext>
            </p:extLst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16050C-43AD-2BB6-51B5-E899F3A1F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alibri "/>
              </a:rPr>
              <a:t>Explain the importance of Requirements Validation in software engineering.</a:t>
            </a:r>
          </a:p>
          <a:p>
            <a:r>
              <a:rPr lang="en-US" sz="1800" dirty="0">
                <a:solidFill>
                  <a:schemeClr val="bg2"/>
                </a:solidFill>
                <a:latin typeface="Calibri "/>
              </a:rPr>
              <a:t>Describe any four techniques used for validating requirements.</a:t>
            </a:r>
          </a:p>
          <a:p>
            <a:r>
              <a:rPr lang="en-US" sz="1800" dirty="0">
                <a:solidFill>
                  <a:schemeClr val="bg2"/>
                </a:solidFill>
                <a:latin typeface="Calibri "/>
              </a:rPr>
              <a:t>What items are checked during the Requirements Validation process?</a:t>
            </a:r>
          </a:p>
          <a:p>
            <a:r>
              <a:rPr lang="en-US" sz="1800" dirty="0">
                <a:solidFill>
                  <a:schemeClr val="bg2"/>
                </a:solidFill>
                <a:latin typeface="Calibri "/>
              </a:rPr>
              <a:t>Differentiate between Verification and Validation with suitable examples.</a:t>
            </a:r>
          </a:p>
          <a:p>
            <a:r>
              <a:rPr lang="en-US" sz="1800" dirty="0">
                <a:solidFill>
                  <a:schemeClr val="bg2"/>
                </a:solidFill>
                <a:latin typeface="Calibri "/>
              </a:rPr>
              <a:t>List and explain the characteristics used in the Requirements Validation checklist.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A525799-B627-EABD-6F95-B01E70B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11A8074-A1E1-E4EA-4297-A979F5985FAF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E88B249-9EB8-982D-7990-60FD26BC133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A78F93E-F041-2AD9-DC64-C940C34E84ED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Next lecture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D9A8891-1ED0-3C05-9B83-BB4C9C0EB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034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+mj-lt"/>
              </a:rPr>
              <a:t>Comparison of SDLC models with examples</a:t>
            </a:r>
            <a:endParaRPr sz="180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BD43D-1BAA-ABC7-D202-004C2BF4B3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3454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28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890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NPTEL — “Software Engineering” course from IIT Kharagpur / Indian Institutes </a:t>
            </a:r>
            <a:r>
              <a:rPr lang="en-US" sz="1800" dirty="0">
                <a:solidFill>
                  <a:srgbClr val="1C367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https://onlinecourses.nptel.ac.in/noc25_cs108/preview?utm_source=chatgpt.</a:t>
            </a: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CS &amp; IT Tutorials by Vrushali — “SE 1: Learn Software Engineering from Scratch” (YouTube) </a:t>
            </a:r>
            <a:r>
              <a:rPr lang="en-US" sz="1800" dirty="0">
                <a:solidFill>
                  <a:srgbClr val="1C367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</a:t>
            </a:r>
            <a:r>
              <a:rPr lang="en-US" sz="18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IHx9ImEMuzQ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 err="1">
                <a:solidFill>
                  <a:schemeClr val="bg2"/>
                </a:solidFill>
              </a:rPr>
              <a:t>nptelhrd</a:t>
            </a:r>
            <a:r>
              <a:rPr lang="en-US" sz="1800" dirty="0">
                <a:solidFill>
                  <a:schemeClr val="bg2"/>
                </a:solidFill>
              </a:rPr>
              <a:t> (IIT/Bombay) — Lecture series “Introduction to Software Engineering” (free video lecture) </a:t>
            </a:r>
            <a:r>
              <a:rPr lang="en-US" sz="1800" dirty="0">
                <a:solidFill>
                  <a:srgbClr val="1C367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https://www.youtube.com/watch?v=Z6f9ckEElsU&amp;utm_source=chatgpt.</a:t>
            </a:r>
            <a:r>
              <a:rPr lang="en-US" sz="18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Coursera – Introduction to Software Engineering (IBM) </a:t>
            </a:r>
            <a:r>
              <a:rPr lang="en-IN" sz="1800" dirty="0">
                <a:solidFill>
                  <a:schemeClr val="bg2"/>
                </a:solidFill>
              </a:rPr>
              <a:t>https://www.coursera.org/learn/introduction-to-software-engineering</a:t>
            </a:r>
            <a:endParaRPr sz="1800" b="0" i="0" u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6828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2CA7B-4AE1-6762-631D-C29ACAAD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91" y="1525581"/>
            <a:ext cx="3858016" cy="27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22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geeta.e15227@cumail.in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265747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76AE18-B432-4A0C-8613-ACF6D2C40FA0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3988</TotalTime>
  <Words>1001</Words>
  <Application>Microsoft Office PowerPoint</Application>
  <PresentationFormat>On-screen Show (16:9)</PresentationFormat>
  <Paragraphs>173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</vt:lpstr>
      <vt:lpstr>Arial</vt:lpstr>
      <vt:lpstr>Calibri </vt:lpstr>
      <vt:lpstr>Vladimir Script</vt:lpstr>
      <vt:lpstr>Arial Black</vt:lpstr>
      <vt:lpstr>Cambria</vt:lpstr>
      <vt:lpstr>Times New Roman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Requirements Validation</vt:lpstr>
      <vt:lpstr>                                                                                                                                                        Introduction</vt:lpstr>
      <vt:lpstr>PowerPoint Presentation</vt:lpstr>
      <vt:lpstr>                                                                                                                                                                 Purpose of Requirements Validation</vt:lpstr>
      <vt:lpstr>                                                                                                                                                                    Why Validation Is Important</vt:lpstr>
      <vt:lpstr>                                                                                                                                                             What Is Validated?</vt:lpstr>
      <vt:lpstr>                                                                          Requirements Validation Techniques</vt:lpstr>
      <vt:lpstr>             </vt:lpstr>
      <vt:lpstr>                                                                                                     Difference Between Verification and Validation </vt:lpstr>
      <vt:lpstr>                                                                            Characteristics of a Good SRS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Geeta arora</cp:lastModifiedBy>
  <cp:revision>86</cp:revision>
  <dcterms:modified xsi:type="dcterms:W3CDTF">2025-12-07T04:54:59Z</dcterms:modified>
</cp:coreProperties>
</file>